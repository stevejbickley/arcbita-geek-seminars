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02"/>
  </p:notesMasterIdLst>
  <p:sldIdLst>
    <p:sldId id="782" r:id="rId2"/>
    <p:sldId id="258" r:id="rId3"/>
    <p:sldId id="823" r:id="rId4"/>
    <p:sldId id="824" r:id="rId5"/>
    <p:sldId id="757" r:id="rId6"/>
    <p:sldId id="783" r:id="rId7"/>
    <p:sldId id="784" r:id="rId8"/>
    <p:sldId id="820" r:id="rId9"/>
    <p:sldId id="821" r:id="rId10"/>
    <p:sldId id="844" r:id="rId11"/>
    <p:sldId id="733" r:id="rId12"/>
    <p:sldId id="785" r:id="rId13"/>
    <p:sldId id="789" r:id="rId14"/>
    <p:sldId id="786" r:id="rId15"/>
    <p:sldId id="787" r:id="rId16"/>
    <p:sldId id="717" r:id="rId17"/>
    <p:sldId id="727" r:id="rId18"/>
    <p:sldId id="729" r:id="rId19"/>
    <p:sldId id="738" r:id="rId20"/>
    <p:sldId id="730" r:id="rId21"/>
    <p:sldId id="736" r:id="rId22"/>
    <p:sldId id="737" r:id="rId23"/>
    <p:sldId id="732" r:id="rId24"/>
    <p:sldId id="739" r:id="rId25"/>
    <p:sldId id="740" r:id="rId26"/>
    <p:sldId id="741" r:id="rId27"/>
    <p:sldId id="742" r:id="rId28"/>
    <p:sldId id="743" r:id="rId29"/>
    <p:sldId id="744" r:id="rId30"/>
    <p:sldId id="746" r:id="rId31"/>
    <p:sldId id="747" r:id="rId32"/>
    <p:sldId id="749" r:id="rId33"/>
    <p:sldId id="751" r:id="rId34"/>
    <p:sldId id="752" r:id="rId35"/>
    <p:sldId id="753" r:id="rId36"/>
    <p:sldId id="754" r:id="rId37"/>
    <p:sldId id="755" r:id="rId38"/>
    <p:sldId id="790" r:id="rId39"/>
    <p:sldId id="791" r:id="rId40"/>
    <p:sldId id="816" r:id="rId41"/>
    <p:sldId id="817" r:id="rId42"/>
    <p:sldId id="846" r:id="rId43"/>
    <p:sldId id="847" r:id="rId44"/>
    <p:sldId id="756" r:id="rId45"/>
    <p:sldId id="798" r:id="rId46"/>
    <p:sldId id="799" r:id="rId47"/>
    <p:sldId id="800" r:id="rId48"/>
    <p:sldId id="801" r:id="rId49"/>
    <p:sldId id="825" r:id="rId50"/>
    <p:sldId id="828" r:id="rId51"/>
    <p:sldId id="836" r:id="rId52"/>
    <p:sldId id="826" r:id="rId53"/>
    <p:sldId id="837" r:id="rId54"/>
    <p:sldId id="830" r:id="rId55"/>
    <p:sldId id="838" r:id="rId56"/>
    <p:sldId id="831" r:id="rId57"/>
    <p:sldId id="832" r:id="rId58"/>
    <p:sldId id="833" r:id="rId59"/>
    <p:sldId id="834" r:id="rId60"/>
    <p:sldId id="728" r:id="rId61"/>
    <p:sldId id="726" r:id="rId62"/>
    <p:sldId id="759" r:id="rId63"/>
    <p:sldId id="760" r:id="rId64"/>
    <p:sldId id="761" r:id="rId65"/>
    <p:sldId id="762" r:id="rId66"/>
    <p:sldId id="763" r:id="rId67"/>
    <p:sldId id="764" r:id="rId68"/>
    <p:sldId id="765" r:id="rId69"/>
    <p:sldId id="779" r:id="rId70"/>
    <p:sldId id="793" r:id="rId71"/>
    <p:sldId id="768" r:id="rId72"/>
    <p:sldId id="769" r:id="rId73"/>
    <p:sldId id="818" r:id="rId74"/>
    <p:sldId id="819" r:id="rId75"/>
    <p:sldId id="770" r:id="rId76"/>
    <p:sldId id="771" r:id="rId77"/>
    <p:sldId id="772" r:id="rId78"/>
    <p:sldId id="773" r:id="rId79"/>
    <p:sldId id="774" r:id="rId80"/>
    <p:sldId id="775" r:id="rId81"/>
    <p:sldId id="794" r:id="rId82"/>
    <p:sldId id="795" r:id="rId83"/>
    <p:sldId id="796" r:id="rId84"/>
    <p:sldId id="797" r:id="rId85"/>
    <p:sldId id="802" r:id="rId86"/>
    <p:sldId id="780" r:id="rId87"/>
    <p:sldId id="803" r:id="rId88"/>
    <p:sldId id="811" r:id="rId89"/>
    <p:sldId id="812" r:id="rId90"/>
    <p:sldId id="813" r:id="rId91"/>
    <p:sldId id="814" r:id="rId92"/>
    <p:sldId id="815" r:id="rId93"/>
    <p:sldId id="842" r:id="rId94"/>
    <p:sldId id="843" r:id="rId95"/>
    <p:sldId id="845" r:id="rId96"/>
    <p:sldId id="841" r:id="rId97"/>
    <p:sldId id="792" r:id="rId98"/>
    <p:sldId id="839" r:id="rId99"/>
    <p:sldId id="840" r:id="rId100"/>
    <p:sldId id="723" r:id="rId101"/>
  </p:sldIdLst>
  <p:sldSz cx="18288000" cy="10287000"/>
  <p:notesSz cx="6858000" cy="9144000"/>
  <p:embeddedFontLst>
    <p:embeddedFont>
      <p:font typeface="Cambria Math" panose="02040503050406030204" pitchFamily="18" charset="0"/>
      <p:regular r:id="rId103"/>
    </p:embeddedFont>
    <p:embeddedFont>
      <p:font typeface="DM Sans" pitchFamily="2" charset="77"/>
      <p:regular r:id="rId104"/>
      <p:bold r:id="rId105"/>
      <p:italic r:id="rId106"/>
      <p:boldItalic r:id="rId107"/>
    </p:embeddedFont>
    <p:embeddedFont>
      <p:font typeface="DM Sans Bold" pitchFamily="2" charset="77"/>
      <p:bold r:id="rId108"/>
    </p:embeddedFont>
    <p:embeddedFont>
      <p:font typeface="Now Bold"/>
      <p:regular r:id="rId109"/>
      <p:bold r:id="rId110"/>
    </p:embeddedFont>
    <p:embeddedFont>
      <p:font typeface="Roboto" panose="02000000000000000000" pitchFamily="2" charset="0"/>
      <p:regular r:id="rId111"/>
      <p:bold r:id="rId112"/>
      <p:italic r:id="rId113"/>
      <p:boldItalic r:id="rId11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189A603-8F9D-DB81-0A8E-AF2B6907B42B}" name="Steve Bickley" initials="SB" userId="S::bickley@qut.edu.au::6885851e-3ea1-4423-a12f-c15d47f1156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1597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06799F8-075E-4A3A-A7F6-7FBC6576F1A4}" styleName="Themed Style 2 – Acc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3703" autoAdjust="0"/>
    <p:restoredTop sz="96521" autoAdjust="0"/>
  </p:normalViewPr>
  <p:slideViewPr>
    <p:cSldViewPr>
      <p:cViewPr varScale="1">
        <p:scale>
          <a:sx n="87" d="100"/>
          <a:sy n="87" d="100"/>
        </p:scale>
        <p:origin x="248" y="312"/>
      </p:cViewPr>
      <p:guideLst>
        <p:guide orient="horz" pos="2160"/>
        <p:guide pos="2880"/>
      </p:guideLst>
    </p:cSldViewPr>
  </p:slideViewPr>
  <p:outlineViewPr>
    <p:cViewPr>
      <p:scale>
        <a:sx n="20" d="100"/>
        <a:sy n="20" d="100"/>
      </p:scale>
      <p:origin x="0" y="0"/>
    </p:cViewPr>
  </p:outlineViewPr>
  <p:notesTextViewPr>
    <p:cViewPr>
      <p:scale>
        <a:sx n="100" d="100"/>
        <a:sy n="100" d="100"/>
      </p:scale>
      <p:origin x="0" y="0"/>
    </p:cViewPr>
  </p:notesTextViewPr>
  <p:sorterViewPr>
    <p:cViewPr>
      <p:scale>
        <a:sx n="80" d="100"/>
        <a:sy n="80" d="100"/>
      </p:scale>
      <p:origin x="0" y="0"/>
    </p:cViewPr>
  </p:sorterViewPr>
  <p:notesViewPr>
    <p:cSldViewPr>
      <p:cViewPr varScale="1">
        <p:scale>
          <a:sx n="102" d="100"/>
          <a:sy n="102" d="100"/>
        </p:scale>
        <p:origin x="3856" y="200"/>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theme" Target="theme/theme1.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font" Target="fonts/font10.fntdata"/><Relationship Id="rId16" Type="http://schemas.openxmlformats.org/officeDocument/2006/relationships/slide" Target="slides/slide15.xml"/><Relationship Id="rId107" Type="http://schemas.openxmlformats.org/officeDocument/2006/relationships/font" Target="fonts/font5.fntdata"/><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notesMaster" Target="notesMasters/notesMaster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font" Target="fonts/font11.fntdata"/><Relationship Id="rId118" Type="http://schemas.openxmlformats.org/officeDocument/2006/relationships/tableStyles" Target="tableStyle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font" Target="fonts/font1.fntdata"/><Relationship Id="rId108" Type="http://schemas.openxmlformats.org/officeDocument/2006/relationships/font" Target="fonts/font6.fntdata"/><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font" Target="fonts/font12.fntdata"/><Relationship Id="rId119" Type="http://schemas.microsoft.com/office/2018/10/relationships/authors" Target="author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font" Target="fonts/font7.fntdata"/><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font" Target="fonts/font2.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font" Target="fonts/font8.fntdata"/><Relationship Id="rId115"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font" Target="fonts/font3.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font" Target="fonts/font9.fnt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font" Target="fonts/font4.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2BCFCBD-DCA2-5347-978D-03D2E280880E}" type="datetimeFigureOut">
              <a:rPr lang="en-US" smtClean="0"/>
              <a:t>4/1/26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7C49CCA-7123-7E4D-96BE-74BB9D1B415D}" type="slidenum">
              <a:rPr lang="en-US" smtClean="0"/>
              <a:t>‹#›</a:t>
            </a:fld>
            <a:endParaRPr lang="en-US"/>
          </a:p>
        </p:txBody>
      </p:sp>
    </p:spTree>
    <p:extLst>
      <p:ext uri="{BB962C8B-B14F-4D97-AF65-F5344CB8AC3E}">
        <p14:creationId xmlns:p14="http://schemas.microsoft.com/office/powerpoint/2010/main" val="23896861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7C49CCA-7123-7E4D-96BE-74BB9D1B415D}" type="slidenum">
              <a:rPr lang="en-US" smtClean="0"/>
              <a:t>2</a:t>
            </a:fld>
            <a:endParaRPr lang="en-US"/>
          </a:p>
        </p:txBody>
      </p:sp>
    </p:spTree>
    <p:extLst>
      <p:ext uri="{BB962C8B-B14F-4D97-AF65-F5344CB8AC3E}">
        <p14:creationId xmlns:p14="http://schemas.microsoft.com/office/powerpoint/2010/main" val="39243627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995662-17CD-BF6F-B4F0-6905314253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C50BFC-A222-26A3-0832-AEFEB8A344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EBA8D7-7066-03F9-56F5-3ED5396ED04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B1F82A8-9131-A929-A9B9-CB45F02156A4}"/>
              </a:ext>
            </a:extLst>
          </p:cNvPr>
          <p:cNvSpPr>
            <a:spLocks noGrp="1"/>
          </p:cNvSpPr>
          <p:nvPr>
            <p:ph type="sldNum" sz="quarter" idx="5"/>
          </p:nvPr>
        </p:nvSpPr>
        <p:spPr/>
        <p:txBody>
          <a:bodyPr/>
          <a:lstStyle/>
          <a:p>
            <a:fld id="{A7C49CCA-7123-7E4D-96BE-74BB9D1B415D}" type="slidenum">
              <a:rPr lang="en-US" smtClean="0"/>
              <a:t>3</a:t>
            </a:fld>
            <a:endParaRPr lang="en-US"/>
          </a:p>
        </p:txBody>
      </p:sp>
    </p:spTree>
    <p:extLst>
      <p:ext uri="{BB962C8B-B14F-4D97-AF65-F5344CB8AC3E}">
        <p14:creationId xmlns:p14="http://schemas.microsoft.com/office/powerpoint/2010/main" val="15215022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EB55A0-8927-62BE-48A7-B79D56ADDB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BD7E36-FCB4-B3DE-0D27-BB4E9AC643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6FB5CE-B182-4AAA-BAE9-FEE74512943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67A2975-5E45-B931-F4CC-40019E64AA3F}"/>
              </a:ext>
            </a:extLst>
          </p:cNvPr>
          <p:cNvSpPr>
            <a:spLocks noGrp="1"/>
          </p:cNvSpPr>
          <p:nvPr>
            <p:ph type="sldNum" sz="quarter" idx="5"/>
          </p:nvPr>
        </p:nvSpPr>
        <p:spPr/>
        <p:txBody>
          <a:bodyPr/>
          <a:lstStyle/>
          <a:p>
            <a:fld id="{A7C49CCA-7123-7E4D-96BE-74BB9D1B415D}" type="slidenum">
              <a:rPr lang="en-US" smtClean="0"/>
              <a:t>4</a:t>
            </a:fld>
            <a:endParaRPr lang="en-US"/>
          </a:p>
        </p:txBody>
      </p:sp>
    </p:spTree>
    <p:extLst>
      <p:ext uri="{BB962C8B-B14F-4D97-AF65-F5344CB8AC3E}">
        <p14:creationId xmlns:p14="http://schemas.microsoft.com/office/powerpoint/2010/main" val="3038343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7C49CCA-7123-7E4D-96BE-74BB9D1B415D}" type="slidenum">
              <a:rPr lang="en-US" smtClean="0"/>
              <a:t>6</a:t>
            </a:fld>
            <a:endParaRPr lang="en-US"/>
          </a:p>
        </p:txBody>
      </p:sp>
    </p:spTree>
    <p:extLst>
      <p:ext uri="{BB962C8B-B14F-4D97-AF65-F5344CB8AC3E}">
        <p14:creationId xmlns:p14="http://schemas.microsoft.com/office/powerpoint/2010/main" val="40681471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10F52E-59E2-D6C2-CF9D-3BBC5FF177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31D0B7-311B-165E-FD9A-5D36302523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F3053A-0472-CD5A-6F88-F2C5C6E5DC4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3633475-9DF0-235E-77D9-CF65C7563B32}"/>
              </a:ext>
            </a:extLst>
          </p:cNvPr>
          <p:cNvSpPr>
            <a:spLocks noGrp="1"/>
          </p:cNvSpPr>
          <p:nvPr>
            <p:ph type="sldNum" sz="quarter" idx="5"/>
          </p:nvPr>
        </p:nvSpPr>
        <p:spPr/>
        <p:txBody>
          <a:bodyPr/>
          <a:lstStyle/>
          <a:p>
            <a:fld id="{A7C49CCA-7123-7E4D-96BE-74BB9D1B415D}" type="slidenum">
              <a:rPr lang="en-US" smtClean="0"/>
              <a:t>7</a:t>
            </a:fld>
            <a:endParaRPr lang="en-US"/>
          </a:p>
        </p:txBody>
      </p:sp>
    </p:spTree>
    <p:extLst>
      <p:ext uri="{BB962C8B-B14F-4D97-AF65-F5344CB8AC3E}">
        <p14:creationId xmlns:p14="http://schemas.microsoft.com/office/powerpoint/2010/main" val="16255768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401BC-FFE4-F121-6C45-CE1810E62A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AFA8A1-C6CB-832F-9748-E320EE4C9A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182EC8-5F48-35F1-69CD-D93296AA9DD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2E1ADED-7518-606B-8D4C-5876135D51CF}"/>
              </a:ext>
            </a:extLst>
          </p:cNvPr>
          <p:cNvSpPr>
            <a:spLocks noGrp="1"/>
          </p:cNvSpPr>
          <p:nvPr>
            <p:ph type="sldNum" sz="quarter" idx="5"/>
          </p:nvPr>
        </p:nvSpPr>
        <p:spPr/>
        <p:txBody>
          <a:bodyPr/>
          <a:lstStyle/>
          <a:p>
            <a:fld id="{A7C49CCA-7123-7E4D-96BE-74BB9D1B415D}" type="slidenum">
              <a:rPr lang="en-US" smtClean="0"/>
              <a:t>8</a:t>
            </a:fld>
            <a:endParaRPr lang="en-US"/>
          </a:p>
        </p:txBody>
      </p:sp>
    </p:spTree>
    <p:extLst>
      <p:ext uri="{BB962C8B-B14F-4D97-AF65-F5344CB8AC3E}">
        <p14:creationId xmlns:p14="http://schemas.microsoft.com/office/powerpoint/2010/main" val="380076870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C0F7F3-091C-6446-6A94-E8394521CA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4E9BA0-B245-2143-C41B-0AD9FF2122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AE44C5-0BF8-E738-EDEA-039D6863242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5284BF7-430D-8434-BAF1-6C328DB4D2C2}"/>
              </a:ext>
            </a:extLst>
          </p:cNvPr>
          <p:cNvSpPr>
            <a:spLocks noGrp="1"/>
          </p:cNvSpPr>
          <p:nvPr>
            <p:ph type="sldNum" sz="quarter" idx="5"/>
          </p:nvPr>
        </p:nvSpPr>
        <p:spPr/>
        <p:txBody>
          <a:bodyPr/>
          <a:lstStyle/>
          <a:p>
            <a:fld id="{A7C49CCA-7123-7E4D-96BE-74BB9D1B415D}" type="slidenum">
              <a:rPr lang="en-US" smtClean="0"/>
              <a:t>9</a:t>
            </a:fld>
            <a:endParaRPr lang="en-US"/>
          </a:p>
        </p:txBody>
      </p:sp>
    </p:spTree>
    <p:extLst>
      <p:ext uri="{BB962C8B-B14F-4D97-AF65-F5344CB8AC3E}">
        <p14:creationId xmlns:p14="http://schemas.microsoft.com/office/powerpoint/2010/main" val="418563318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2170F4-602D-F9CF-49F5-B684B9F583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402A40-8B54-ACA4-EA78-62BC6104E5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256059-70D9-2980-5B83-7DE135C637E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452BCB8-5BB4-DE5C-ABFA-4A8208B3B977}"/>
              </a:ext>
            </a:extLst>
          </p:cNvPr>
          <p:cNvSpPr>
            <a:spLocks noGrp="1"/>
          </p:cNvSpPr>
          <p:nvPr>
            <p:ph type="sldNum" sz="quarter" idx="5"/>
          </p:nvPr>
        </p:nvSpPr>
        <p:spPr/>
        <p:txBody>
          <a:bodyPr/>
          <a:lstStyle/>
          <a:p>
            <a:fld id="{A7C49CCA-7123-7E4D-96BE-74BB9D1B415D}" type="slidenum">
              <a:rPr lang="en-US" smtClean="0"/>
              <a:t>10</a:t>
            </a:fld>
            <a:endParaRPr lang="en-US"/>
          </a:p>
        </p:txBody>
      </p:sp>
    </p:spTree>
    <p:extLst>
      <p:ext uri="{BB962C8B-B14F-4D97-AF65-F5344CB8AC3E}">
        <p14:creationId xmlns:p14="http://schemas.microsoft.com/office/powerpoint/2010/main" val="6644847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7C49CCA-7123-7E4D-96BE-74BB9D1B415D}" type="slidenum">
              <a:rPr lang="en-US" smtClean="0"/>
              <a:t>11</a:t>
            </a:fld>
            <a:endParaRPr lang="en-US"/>
          </a:p>
        </p:txBody>
      </p:sp>
    </p:spTree>
    <p:extLst>
      <p:ext uri="{BB962C8B-B14F-4D97-AF65-F5344CB8AC3E}">
        <p14:creationId xmlns:p14="http://schemas.microsoft.com/office/powerpoint/2010/main" val="18582970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F985A6-D8A1-C345-0F33-BD0CBD657B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8578E4-9F5D-3926-86D7-8C1E4E2E44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C2493A-F0CD-94F1-2D7E-E95242FB340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6AC1AB1-3E5C-26F6-7AC2-7BC972EC341B}"/>
              </a:ext>
            </a:extLst>
          </p:cNvPr>
          <p:cNvSpPr>
            <a:spLocks noGrp="1"/>
          </p:cNvSpPr>
          <p:nvPr>
            <p:ph type="sldNum" sz="quarter" idx="5"/>
          </p:nvPr>
        </p:nvSpPr>
        <p:spPr/>
        <p:txBody>
          <a:bodyPr/>
          <a:lstStyle/>
          <a:p>
            <a:fld id="{A7C49CCA-7123-7E4D-96BE-74BB9D1B415D}" type="slidenum">
              <a:rPr lang="en-US" smtClean="0"/>
              <a:t>12</a:t>
            </a:fld>
            <a:endParaRPr lang="en-US"/>
          </a:p>
        </p:txBody>
      </p:sp>
    </p:spTree>
    <p:extLst>
      <p:ext uri="{BB962C8B-B14F-4D97-AF65-F5344CB8AC3E}">
        <p14:creationId xmlns:p14="http://schemas.microsoft.com/office/powerpoint/2010/main" val="29695765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7CE70-8B91-37AD-560F-B30F06F1CA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5BB8B8-855C-76FE-B777-C021478FCD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24AE94-91CB-9473-9113-99F64FB7807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744FB6B-2CF4-C6D3-7DA4-B85F685A4404}"/>
              </a:ext>
            </a:extLst>
          </p:cNvPr>
          <p:cNvSpPr>
            <a:spLocks noGrp="1"/>
          </p:cNvSpPr>
          <p:nvPr>
            <p:ph type="sldNum" sz="quarter" idx="5"/>
          </p:nvPr>
        </p:nvSpPr>
        <p:spPr/>
        <p:txBody>
          <a:bodyPr/>
          <a:lstStyle/>
          <a:p>
            <a:fld id="{A7C49CCA-7123-7E4D-96BE-74BB9D1B415D}" type="slidenum">
              <a:rPr lang="en-US" smtClean="0"/>
              <a:t>13</a:t>
            </a:fld>
            <a:endParaRPr lang="en-US"/>
          </a:p>
        </p:txBody>
      </p:sp>
    </p:spTree>
    <p:extLst>
      <p:ext uri="{BB962C8B-B14F-4D97-AF65-F5344CB8AC3E}">
        <p14:creationId xmlns:p14="http://schemas.microsoft.com/office/powerpoint/2010/main" val="29390475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58A59C-8484-F567-AF22-0145F84091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3B6466-7D8F-762D-8BF7-DCE1B386BB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19BEB9-F841-BF81-EE63-6ADDA5D57CA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930FB18-AB99-B0CC-75A8-DB95B4AD698D}"/>
              </a:ext>
            </a:extLst>
          </p:cNvPr>
          <p:cNvSpPr>
            <a:spLocks noGrp="1"/>
          </p:cNvSpPr>
          <p:nvPr>
            <p:ph type="sldNum" sz="quarter" idx="5"/>
          </p:nvPr>
        </p:nvSpPr>
        <p:spPr/>
        <p:txBody>
          <a:bodyPr/>
          <a:lstStyle/>
          <a:p>
            <a:fld id="{A7C49CCA-7123-7E4D-96BE-74BB9D1B415D}" type="slidenum">
              <a:rPr lang="en-US" smtClean="0"/>
              <a:t>14</a:t>
            </a:fld>
            <a:endParaRPr lang="en-US"/>
          </a:p>
        </p:txBody>
      </p:sp>
    </p:spTree>
    <p:extLst>
      <p:ext uri="{BB962C8B-B14F-4D97-AF65-F5344CB8AC3E}">
        <p14:creationId xmlns:p14="http://schemas.microsoft.com/office/powerpoint/2010/main" val="260789501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B3C6C-2100-8EDB-C89C-FF4146E79E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36919C-5B22-78FC-8D0C-30B8AEBE6E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A3F300-3129-687E-2A62-192DF24DA14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BC3B0DB-17C6-AD4A-0BFA-49398B88113E}"/>
              </a:ext>
            </a:extLst>
          </p:cNvPr>
          <p:cNvSpPr>
            <a:spLocks noGrp="1"/>
          </p:cNvSpPr>
          <p:nvPr>
            <p:ph type="sldNum" sz="quarter" idx="5"/>
          </p:nvPr>
        </p:nvSpPr>
        <p:spPr/>
        <p:txBody>
          <a:bodyPr/>
          <a:lstStyle/>
          <a:p>
            <a:fld id="{A7C49CCA-7123-7E4D-96BE-74BB9D1B415D}" type="slidenum">
              <a:rPr lang="en-US" smtClean="0"/>
              <a:t>15</a:t>
            </a:fld>
            <a:endParaRPr lang="en-US"/>
          </a:p>
        </p:txBody>
      </p:sp>
    </p:spTree>
    <p:extLst>
      <p:ext uri="{BB962C8B-B14F-4D97-AF65-F5344CB8AC3E}">
        <p14:creationId xmlns:p14="http://schemas.microsoft.com/office/powerpoint/2010/main" val="21334872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7C49CCA-7123-7E4D-96BE-74BB9D1B415D}" type="slidenum">
              <a:rPr lang="en-US" smtClean="0"/>
              <a:t>17</a:t>
            </a:fld>
            <a:endParaRPr lang="en-US"/>
          </a:p>
        </p:txBody>
      </p:sp>
    </p:spTree>
    <p:extLst>
      <p:ext uri="{BB962C8B-B14F-4D97-AF65-F5344CB8AC3E}">
        <p14:creationId xmlns:p14="http://schemas.microsoft.com/office/powerpoint/2010/main" val="383423054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7C49CCA-7123-7E4D-96BE-74BB9D1B415D}" type="slidenum">
              <a:rPr lang="en-US" smtClean="0"/>
              <a:t>18</a:t>
            </a:fld>
            <a:endParaRPr lang="en-US"/>
          </a:p>
        </p:txBody>
      </p:sp>
    </p:spTree>
    <p:extLst>
      <p:ext uri="{BB962C8B-B14F-4D97-AF65-F5344CB8AC3E}">
        <p14:creationId xmlns:p14="http://schemas.microsoft.com/office/powerpoint/2010/main" val="176908295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C7D9AC-4927-D663-8D16-F5B21E5F51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E21291-0425-A6C8-DA7E-592187743A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AD6030-C5DD-A95C-A6D6-43B5231FC8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F858E8-0C39-9950-C634-B7201DBD335C}"/>
              </a:ext>
            </a:extLst>
          </p:cNvPr>
          <p:cNvSpPr>
            <a:spLocks noGrp="1"/>
          </p:cNvSpPr>
          <p:nvPr>
            <p:ph type="sldNum" sz="quarter" idx="5"/>
          </p:nvPr>
        </p:nvSpPr>
        <p:spPr/>
        <p:txBody>
          <a:bodyPr/>
          <a:lstStyle/>
          <a:p>
            <a:fld id="{A7C49CCA-7123-7E4D-96BE-74BB9D1B415D}" type="slidenum">
              <a:rPr lang="en-US" smtClean="0"/>
              <a:t>19</a:t>
            </a:fld>
            <a:endParaRPr lang="en-US"/>
          </a:p>
        </p:txBody>
      </p:sp>
    </p:spTree>
    <p:extLst>
      <p:ext uri="{BB962C8B-B14F-4D97-AF65-F5344CB8AC3E}">
        <p14:creationId xmlns:p14="http://schemas.microsoft.com/office/powerpoint/2010/main" val="150329137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0A2E10-CE80-1842-EBB8-B636DF5E73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8694CD-3A52-391E-611A-9AFDC8AF86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C6C549-BC54-92F7-959B-DDA382BB0DF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8AB0DF-4DF9-5C2C-E5D7-E4345C453DC5}"/>
              </a:ext>
            </a:extLst>
          </p:cNvPr>
          <p:cNvSpPr>
            <a:spLocks noGrp="1"/>
          </p:cNvSpPr>
          <p:nvPr>
            <p:ph type="sldNum" sz="quarter" idx="5"/>
          </p:nvPr>
        </p:nvSpPr>
        <p:spPr/>
        <p:txBody>
          <a:bodyPr/>
          <a:lstStyle/>
          <a:p>
            <a:fld id="{A7C49CCA-7123-7E4D-96BE-74BB9D1B415D}" type="slidenum">
              <a:rPr lang="en-US" smtClean="0"/>
              <a:t>20</a:t>
            </a:fld>
            <a:endParaRPr lang="en-US"/>
          </a:p>
        </p:txBody>
      </p:sp>
    </p:spTree>
    <p:extLst>
      <p:ext uri="{BB962C8B-B14F-4D97-AF65-F5344CB8AC3E}">
        <p14:creationId xmlns:p14="http://schemas.microsoft.com/office/powerpoint/2010/main" val="377465624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9F7970-7F25-B214-3449-37B502AA46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139D6A-D5E3-8BBE-776C-565DDF753C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CF4A58-C98A-ACDC-82D3-F0A25DA7732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399DFBE-7629-08C2-2011-EBA3DE36406C}"/>
              </a:ext>
            </a:extLst>
          </p:cNvPr>
          <p:cNvSpPr>
            <a:spLocks noGrp="1"/>
          </p:cNvSpPr>
          <p:nvPr>
            <p:ph type="sldNum" sz="quarter" idx="5"/>
          </p:nvPr>
        </p:nvSpPr>
        <p:spPr/>
        <p:txBody>
          <a:bodyPr/>
          <a:lstStyle/>
          <a:p>
            <a:fld id="{A7C49CCA-7123-7E4D-96BE-74BB9D1B415D}" type="slidenum">
              <a:rPr lang="en-US" smtClean="0"/>
              <a:t>21</a:t>
            </a:fld>
            <a:endParaRPr lang="en-US"/>
          </a:p>
        </p:txBody>
      </p:sp>
    </p:spTree>
    <p:extLst>
      <p:ext uri="{BB962C8B-B14F-4D97-AF65-F5344CB8AC3E}">
        <p14:creationId xmlns:p14="http://schemas.microsoft.com/office/powerpoint/2010/main" val="20839634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E52EC-2E5F-CF63-B955-D0EF0B16A6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E2AD3D-A9F2-8BE8-E47F-0A6ABDD2A6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A6A1F9-C673-AA6C-6D79-681C0B7BE53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63EEE3E-60D2-EC56-0B87-AD62B9C37811}"/>
              </a:ext>
            </a:extLst>
          </p:cNvPr>
          <p:cNvSpPr>
            <a:spLocks noGrp="1"/>
          </p:cNvSpPr>
          <p:nvPr>
            <p:ph type="sldNum" sz="quarter" idx="5"/>
          </p:nvPr>
        </p:nvSpPr>
        <p:spPr/>
        <p:txBody>
          <a:bodyPr/>
          <a:lstStyle/>
          <a:p>
            <a:fld id="{A7C49CCA-7123-7E4D-96BE-74BB9D1B415D}" type="slidenum">
              <a:rPr lang="en-US" smtClean="0"/>
              <a:t>22</a:t>
            </a:fld>
            <a:endParaRPr lang="en-US"/>
          </a:p>
        </p:txBody>
      </p:sp>
    </p:spTree>
    <p:extLst>
      <p:ext uri="{BB962C8B-B14F-4D97-AF65-F5344CB8AC3E}">
        <p14:creationId xmlns:p14="http://schemas.microsoft.com/office/powerpoint/2010/main" val="111075506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FFB8ED-A743-B86E-DEA1-870E7F9B97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5A60C0-E223-B9B4-589F-80417064D1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292858-0FDB-7ABF-4405-28294D01CDE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0FE9335-2E8E-AE3F-ABAA-7AF86A0195D6}"/>
              </a:ext>
            </a:extLst>
          </p:cNvPr>
          <p:cNvSpPr>
            <a:spLocks noGrp="1"/>
          </p:cNvSpPr>
          <p:nvPr>
            <p:ph type="sldNum" sz="quarter" idx="5"/>
          </p:nvPr>
        </p:nvSpPr>
        <p:spPr/>
        <p:txBody>
          <a:bodyPr/>
          <a:lstStyle/>
          <a:p>
            <a:fld id="{A7C49CCA-7123-7E4D-96BE-74BB9D1B415D}" type="slidenum">
              <a:rPr lang="en-US" smtClean="0"/>
              <a:t>23</a:t>
            </a:fld>
            <a:endParaRPr lang="en-US"/>
          </a:p>
        </p:txBody>
      </p:sp>
    </p:spTree>
    <p:extLst>
      <p:ext uri="{BB962C8B-B14F-4D97-AF65-F5344CB8AC3E}">
        <p14:creationId xmlns:p14="http://schemas.microsoft.com/office/powerpoint/2010/main" val="290410044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1F463B-E58D-7432-389A-7AA5906910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CF3997-8442-50F3-7F70-77F25A2980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AAC952-29AC-DBAF-717A-245BB88D986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9CA24BA-4A15-2955-4F0A-2A43680E8E3B}"/>
              </a:ext>
            </a:extLst>
          </p:cNvPr>
          <p:cNvSpPr>
            <a:spLocks noGrp="1"/>
          </p:cNvSpPr>
          <p:nvPr>
            <p:ph type="sldNum" sz="quarter" idx="5"/>
          </p:nvPr>
        </p:nvSpPr>
        <p:spPr/>
        <p:txBody>
          <a:bodyPr/>
          <a:lstStyle/>
          <a:p>
            <a:fld id="{A7C49CCA-7123-7E4D-96BE-74BB9D1B415D}" type="slidenum">
              <a:rPr lang="en-US" smtClean="0"/>
              <a:t>24</a:t>
            </a:fld>
            <a:endParaRPr lang="en-US"/>
          </a:p>
        </p:txBody>
      </p:sp>
    </p:spTree>
    <p:extLst>
      <p:ext uri="{BB962C8B-B14F-4D97-AF65-F5344CB8AC3E}">
        <p14:creationId xmlns:p14="http://schemas.microsoft.com/office/powerpoint/2010/main" val="286774127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64D526-296E-39B4-6FF7-1A056547B1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3C4EBB-7E22-C4B7-54E7-B833F66532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6828B2-A601-1D80-A78B-C1D515742F1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0603F7B-93BD-164B-834D-F42371BFEC00}"/>
              </a:ext>
            </a:extLst>
          </p:cNvPr>
          <p:cNvSpPr>
            <a:spLocks noGrp="1"/>
          </p:cNvSpPr>
          <p:nvPr>
            <p:ph type="sldNum" sz="quarter" idx="5"/>
          </p:nvPr>
        </p:nvSpPr>
        <p:spPr/>
        <p:txBody>
          <a:bodyPr/>
          <a:lstStyle/>
          <a:p>
            <a:fld id="{A7C49CCA-7123-7E4D-96BE-74BB9D1B415D}" type="slidenum">
              <a:rPr lang="en-US" smtClean="0"/>
              <a:t>25</a:t>
            </a:fld>
            <a:endParaRPr lang="en-US"/>
          </a:p>
        </p:txBody>
      </p:sp>
    </p:spTree>
    <p:extLst>
      <p:ext uri="{BB962C8B-B14F-4D97-AF65-F5344CB8AC3E}">
        <p14:creationId xmlns:p14="http://schemas.microsoft.com/office/powerpoint/2010/main" val="271838167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7B0ADA-8583-EC0F-6311-1A1A986ECB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DEF70D-5041-ACF8-2016-5D6E732264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16DFC5-B4B7-324F-B8DC-EAAB6C5577B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520294C-0731-E926-00A6-4106FEAE760B}"/>
              </a:ext>
            </a:extLst>
          </p:cNvPr>
          <p:cNvSpPr>
            <a:spLocks noGrp="1"/>
          </p:cNvSpPr>
          <p:nvPr>
            <p:ph type="sldNum" sz="quarter" idx="5"/>
          </p:nvPr>
        </p:nvSpPr>
        <p:spPr/>
        <p:txBody>
          <a:bodyPr/>
          <a:lstStyle/>
          <a:p>
            <a:fld id="{A7C49CCA-7123-7E4D-96BE-74BB9D1B415D}" type="slidenum">
              <a:rPr lang="en-US" smtClean="0"/>
              <a:t>26</a:t>
            </a:fld>
            <a:endParaRPr lang="en-US"/>
          </a:p>
        </p:txBody>
      </p:sp>
    </p:spTree>
    <p:extLst>
      <p:ext uri="{BB962C8B-B14F-4D97-AF65-F5344CB8AC3E}">
        <p14:creationId xmlns:p14="http://schemas.microsoft.com/office/powerpoint/2010/main" val="338081490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9743F5-7148-177C-B13E-EB5236D647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D79CE6-9A45-0409-40B3-9B2F019BD4F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205E23-B1EE-052B-891E-EE3BA0FB0D2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07837B3-FB72-CA1C-F8D0-AD6C416E49A1}"/>
              </a:ext>
            </a:extLst>
          </p:cNvPr>
          <p:cNvSpPr>
            <a:spLocks noGrp="1"/>
          </p:cNvSpPr>
          <p:nvPr>
            <p:ph type="sldNum" sz="quarter" idx="5"/>
          </p:nvPr>
        </p:nvSpPr>
        <p:spPr/>
        <p:txBody>
          <a:bodyPr/>
          <a:lstStyle/>
          <a:p>
            <a:fld id="{A7C49CCA-7123-7E4D-96BE-74BB9D1B415D}" type="slidenum">
              <a:rPr lang="en-US" smtClean="0"/>
              <a:t>27</a:t>
            </a:fld>
            <a:endParaRPr lang="en-US"/>
          </a:p>
        </p:txBody>
      </p:sp>
    </p:spTree>
    <p:extLst>
      <p:ext uri="{BB962C8B-B14F-4D97-AF65-F5344CB8AC3E}">
        <p14:creationId xmlns:p14="http://schemas.microsoft.com/office/powerpoint/2010/main" val="193146947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6DF930-2563-C93D-368A-04A067434B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7C0185-A897-2A1A-FE34-E287236266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E5296A-61DE-BB85-58A7-89D8301E20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931C8FB-A481-868A-A47D-D74F68D0FA14}"/>
              </a:ext>
            </a:extLst>
          </p:cNvPr>
          <p:cNvSpPr>
            <a:spLocks noGrp="1"/>
          </p:cNvSpPr>
          <p:nvPr>
            <p:ph type="sldNum" sz="quarter" idx="5"/>
          </p:nvPr>
        </p:nvSpPr>
        <p:spPr/>
        <p:txBody>
          <a:bodyPr/>
          <a:lstStyle/>
          <a:p>
            <a:fld id="{A7C49CCA-7123-7E4D-96BE-74BB9D1B415D}" type="slidenum">
              <a:rPr lang="en-US" smtClean="0"/>
              <a:t>28</a:t>
            </a:fld>
            <a:endParaRPr lang="en-US"/>
          </a:p>
        </p:txBody>
      </p:sp>
    </p:spTree>
    <p:extLst>
      <p:ext uri="{BB962C8B-B14F-4D97-AF65-F5344CB8AC3E}">
        <p14:creationId xmlns:p14="http://schemas.microsoft.com/office/powerpoint/2010/main" val="37706958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E4F32D-0E94-9C76-6E10-E79C1F014C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EB6416-1544-4B6C-002D-4C0DD64302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B6FDE6-3E91-7028-FBEF-1D47D0371F7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5E6832C-329D-F972-F0D0-AC54CBDC1155}"/>
              </a:ext>
            </a:extLst>
          </p:cNvPr>
          <p:cNvSpPr>
            <a:spLocks noGrp="1"/>
          </p:cNvSpPr>
          <p:nvPr>
            <p:ph type="sldNum" sz="quarter" idx="5"/>
          </p:nvPr>
        </p:nvSpPr>
        <p:spPr/>
        <p:txBody>
          <a:bodyPr/>
          <a:lstStyle/>
          <a:p>
            <a:fld id="{A7C49CCA-7123-7E4D-96BE-74BB9D1B415D}" type="slidenum">
              <a:rPr lang="en-US" smtClean="0"/>
              <a:t>29</a:t>
            </a:fld>
            <a:endParaRPr lang="en-US"/>
          </a:p>
        </p:txBody>
      </p:sp>
    </p:spTree>
    <p:extLst>
      <p:ext uri="{BB962C8B-B14F-4D97-AF65-F5344CB8AC3E}">
        <p14:creationId xmlns:p14="http://schemas.microsoft.com/office/powerpoint/2010/main" val="347402162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67216-9988-9E78-E696-E10B12281B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E013E5-6351-D6B3-E420-49C0E581E1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3BE595-A623-198C-2109-19387E1A7D0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482021-689C-9027-5C8D-F6AB877E8711}"/>
              </a:ext>
            </a:extLst>
          </p:cNvPr>
          <p:cNvSpPr>
            <a:spLocks noGrp="1"/>
          </p:cNvSpPr>
          <p:nvPr>
            <p:ph type="sldNum" sz="quarter" idx="5"/>
          </p:nvPr>
        </p:nvSpPr>
        <p:spPr/>
        <p:txBody>
          <a:bodyPr/>
          <a:lstStyle/>
          <a:p>
            <a:fld id="{A7C49CCA-7123-7E4D-96BE-74BB9D1B415D}" type="slidenum">
              <a:rPr lang="en-US" smtClean="0"/>
              <a:t>30</a:t>
            </a:fld>
            <a:endParaRPr lang="en-US"/>
          </a:p>
        </p:txBody>
      </p:sp>
    </p:spTree>
    <p:extLst>
      <p:ext uri="{BB962C8B-B14F-4D97-AF65-F5344CB8AC3E}">
        <p14:creationId xmlns:p14="http://schemas.microsoft.com/office/powerpoint/2010/main" val="203833962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9AC27B-FB66-A706-5162-B847E40B75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978B96-9E0E-08B5-B3B0-5D0521BF5F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5662AD-7897-B05C-92C9-0717E8EA99B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E73DD4-1861-E340-89C5-E7A1E180C61B}"/>
              </a:ext>
            </a:extLst>
          </p:cNvPr>
          <p:cNvSpPr>
            <a:spLocks noGrp="1"/>
          </p:cNvSpPr>
          <p:nvPr>
            <p:ph type="sldNum" sz="quarter" idx="5"/>
          </p:nvPr>
        </p:nvSpPr>
        <p:spPr/>
        <p:txBody>
          <a:bodyPr/>
          <a:lstStyle/>
          <a:p>
            <a:fld id="{A7C49CCA-7123-7E4D-96BE-74BB9D1B415D}" type="slidenum">
              <a:rPr lang="en-US" smtClean="0"/>
              <a:t>31</a:t>
            </a:fld>
            <a:endParaRPr lang="en-US"/>
          </a:p>
        </p:txBody>
      </p:sp>
    </p:spTree>
    <p:extLst>
      <p:ext uri="{BB962C8B-B14F-4D97-AF65-F5344CB8AC3E}">
        <p14:creationId xmlns:p14="http://schemas.microsoft.com/office/powerpoint/2010/main" val="167161823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143C0B-B896-E492-0168-12D9FB3B80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71DF21-D762-ABA6-5BB0-6627B9F255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936644-C668-065E-1F57-1417F8B0E4F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1E3409-B2A9-EAFE-F26A-7F1F4232F35A}"/>
              </a:ext>
            </a:extLst>
          </p:cNvPr>
          <p:cNvSpPr>
            <a:spLocks noGrp="1"/>
          </p:cNvSpPr>
          <p:nvPr>
            <p:ph type="sldNum" sz="quarter" idx="5"/>
          </p:nvPr>
        </p:nvSpPr>
        <p:spPr/>
        <p:txBody>
          <a:bodyPr/>
          <a:lstStyle/>
          <a:p>
            <a:fld id="{A7C49CCA-7123-7E4D-96BE-74BB9D1B415D}" type="slidenum">
              <a:rPr lang="en-US" smtClean="0"/>
              <a:t>32</a:t>
            </a:fld>
            <a:endParaRPr lang="en-US"/>
          </a:p>
        </p:txBody>
      </p:sp>
    </p:spTree>
    <p:extLst>
      <p:ext uri="{BB962C8B-B14F-4D97-AF65-F5344CB8AC3E}">
        <p14:creationId xmlns:p14="http://schemas.microsoft.com/office/powerpoint/2010/main" val="202619304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D6B70E-D7CC-C090-8FEB-2A5D213563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DF2E6B-2B44-6F33-B063-229A6415E0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15F781-BCF2-9083-3AF7-260575E45A2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53E6588-D89B-2C37-65A2-5A57D1BC4504}"/>
              </a:ext>
            </a:extLst>
          </p:cNvPr>
          <p:cNvSpPr>
            <a:spLocks noGrp="1"/>
          </p:cNvSpPr>
          <p:nvPr>
            <p:ph type="sldNum" sz="quarter" idx="5"/>
          </p:nvPr>
        </p:nvSpPr>
        <p:spPr/>
        <p:txBody>
          <a:bodyPr/>
          <a:lstStyle/>
          <a:p>
            <a:fld id="{A7C49CCA-7123-7E4D-96BE-74BB9D1B415D}" type="slidenum">
              <a:rPr lang="en-US" smtClean="0"/>
              <a:t>33</a:t>
            </a:fld>
            <a:endParaRPr lang="en-US"/>
          </a:p>
        </p:txBody>
      </p:sp>
    </p:spTree>
    <p:extLst>
      <p:ext uri="{BB962C8B-B14F-4D97-AF65-F5344CB8AC3E}">
        <p14:creationId xmlns:p14="http://schemas.microsoft.com/office/powerpoint/2010/main" val="199599621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F093AF-8D6B-EA67-EA43-DACF5C84EA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EDB129-50A5-976F-3AD8-253CDF01867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EC2A38-0AE8-A5EB-FD59-EBC10CDFB99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8A431F0-6000-5469-50D0-A38BA7526125}"/>
              </a:ext>
            </a:extLst>
          </p:cNvPr>
          <p:cNvSpPr>
            <a:spLocks noGrp="1"/>
          </p:cNvSpPr>
          <p:nvPr>
            <p:ph type="sldNum" sz="quarter" idx="5"/>
          </p:nvPr>
        </p:nvSpPr>
        <p:spPr/>
        <p:txBody>
          <a:bodyPr/>
          <a:lstStyle/>
          <a:p>
            <a:fld id="{A7C49CCA-7123-7E4D-96BE-74BB9D1B415D}" type="slidenum">
              <a:rPr lang="en-US" smtClean="0"/>
              <a:t>34</a:t>
            </a:fld>
            <a:endParaRPr lang="en-US"/>
          </a:p>
        </p:txBody>
      </p:sp>
    </p:spTree>
    <p:extLst>
      <p:ext uri="{BB962C8B-B14F-4D97-AF65-F5344CB8AC3E}">
        <p14:creationId xmlns:p14="http://schemas.microsoft.com/office/powerpoint/2010/main" val="309620614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A3FF9-ADDD-B25C-4129-FFD710799F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968067-8949-466D-C272-45F2768EBF7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E60C60-A3E5-1D12-CEC9-CBDD2BF89C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AA14680-446D-5BBB-4209-1E0393F81F37}"/>
              </a:ext>
            </a:extLst>
          </p:cNvPr>
          <p:cNvSpPr>
            <a:spLocks noGrp="1"/>
          </p:cNvSpPr>
          <p:nvPr>
            <p:ph type="sldNum" sz="quarter" idx="5"/>
          </p:nvPr>
        </p:nvSpPr>
        <p:spPr/>
        <p:txBody>
          <a:bodyPr/>
          <a:lstStyle/>
          <a:p>
            <a:fld id="{A7C49CCA-7123-7E4D-96BE-74BB9D1B415D}" type="slidenum">
              <a:rPr lang="en-US" smtClean="0"/>
              <a:t>35</a:t>
            </a:fld>
            <a:endParaRPr lang="en-US"/>
          </a:p>
        </p:txBody>
      </p:sp>
    </p:spTree>
    <p:extLst>
      <p:ext uri="{BB962C8B-B14F-4D97-AF65-F5344CB8AC3E}">
        <p14:creationId xmlns:p14="http://schemas.microsoft.com/office/powerpoint/2010/main" val="40769627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DE7B72-A41C-E332-C98D-A3A8654002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2F4988-534C-9949-9E14-9B2B6113EF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92E2A9-C8ED-5BA2-0C90-3E884F520D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27BB76D-144B-74E2-E1AC-FC41C0E4BF7C}"/>
              </a:ext>
            </a:extLst>
          </p:cNvPr>
          <p:cNvSpPr>
            <a:spLocks noGrp="1"/>
          </p:cNvSpPr>
          <p:nvPr>
            <p:ph type="sldNum" sz="quarter" idx="5"/>
          </p:nvPr>
        </p:nvSpPr>
        <p:spPr/>
        <p:txBody>
          <a:bodyPr/>
          <a:lstStyle/>
          <a:p>
            <a:fld id="{A7C49CCA-7123-7E4D-96BE-74BB9D1B415D}" type="slidenum">
              <a:rPr lang="en-US" smtClean="0"/>
              <a:t>36</a:t>
            </a:fld>
            <a:endParaRPr lang="en-US"/>
          </a:p>
        </p:txBody>
      </p:sp>
    </p:spTree>
    <p:extLst>
      <p:ext uri="{BB962C8B-B14F-4D97-AF65-F5344CB8AC3E}">
        <p14:creationId xmlns:p14="http://schemas.microsoft.com/office/powerpoint/2010/main" val="16570458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08E128-3730-9AEC-0B6E-87E22F21C1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240BA8-8509-741C-B711-0C1FBD49EE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7E551F-891A-CA21-12DF-89D788E57BA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BF38E8F-23D8-053C-FFA2-3C47E3C27FC6}"/>
              </a:ext>
            </a:extLst>
          </p:cNvPr>
          <p:cNvSpPr>
            <a:spLocks noGrp="1"/>
          </p:cNvSpPr>
          <p:nvPr>
            <p:ph type="sldNum" sz="quarter" idx="5"/>
          </p:nvPr>
        </p:nvSpPr>
        <p:spPr/>
        <p:txBody>
          <a:bodyPr/>
          <a:lstStyle/>
          <a:p>
            <a:fld id="{A7C49CCA-7123-7E4D-96BE-74BB9D1B415D}" type="slidenum">
              <a:rPr lang="en-US" smtClean="0"/>
              <a:t>37</a:t>
            </a:fld>
            <a:endParaRPr lang="en-US"/>
          </a:p>
        </p:txBody>
      </p:sp>
    </p:spTree>
    <p:extLst>
      <p:ext uri="{BB962C8B-B14F-4D97-AF65-F5344CB8AC3E}">
        <p14:creationId xmlns:p14="http://schemas.microsoft.com/office/powerpoint/2010/main" val="131938986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A011E4-66D1-A682-8443-8C74B5FCC8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522FA4-F672-8CDF-834F-6FBFFEB88B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2ABFC5-9D9C-9192-98D3-3A15BB8F7F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37B99CD-5619-76EF-CDC7-BB635B1D1F6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7C49CCA-7123-7E4D-96BE-74BB9D1B415D}"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3208094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282B6-92F9-297B-348C-8914B4ABAF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62AA08-5B25-367F-F526-E193D4228B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C65FC6-B91B-7AE5-EBAD-41364BACA83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36E3C61-622D-3095-8CD6-B318ACC39FCF}"/>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7C49CCA-7123-7E4D-96BE-74BB9D1B415D}"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61330355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418AE7-6175-EF71-B208-5D9FE97766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7E4C17-8D63-F037-4CF0-04B44E1EAA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FF9741-E97C-A825-4E10-285ED5B6004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4321BE8-0CED-ADDC-B96F-679EB34D7112}"/>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7C49CCA-7123-7E4D-96BE-74BB9D1B415D}"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980204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3E0DD0-6581-D93E-C121-9B1878EAD5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C13D5B-78C2-A0FF-A250-A326C9C793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273754-E4D6-64E7-A500-7515BA25D6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6EE4FA8-9E04-53DA-A21D-EFBF90DE654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7C49CCA-7123-7E4D-96BE-74BB9D1B415D}"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3684219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73E0B7-419A-2820-AD1D-2A5E2870AF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5479B1-B5E4-CBDE-2FCD-92757FFB36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1392DD-7F20-785B-E35B-01CF5CE7317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973FEDF-CABA-0405-960C-B8311A99974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7C49CCA-7123-7E4D-96BE-74BB9D1B415D}"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5044796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3E71D0-C9ED-429F-5C2E-85D174CE6E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9DCC7B-F031-BF08-08EF-E1D939350C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BD2D4F-E17A-A478-A876-EBFB6DA9EE19}"/>
              </a:ext>
            </a:extLst>
          </p:cNvPr>
          <p:cNvSpPr>
            <a:spLocks noGrp="1"/>
          </p:cNvSpPr>
          <p:nvPr>
            <p:ph type="body" idx="1"/>
          </p:nvPr>
        </p:nvSpPr>
        <p:spPr/>
        <p:txBody>
          <a:bodyPr/>
          <a:lstStyle/>
          <a:p>
            <a:r>
              <a:rPr lang="en-AU" b="1" dirty="0"/>
              <a:t>[SEP] — The Separator Token</a:t>
            </a:r>
          </a:p>
          <a:p>
            <a:r>
              <a:rPr lang="en-AU" dirty="0"/>
              <a:t>This one is straightforward. It's just a </a:t>
            </a:r>
            <a:r>
              <a:rPr lang="en-AU" b="1" dirty="0"/>
              <a:t>boundary marker</a:t>
            </a:r>
            <a:r>
              <a:rPr lang="en-AU" dirty="0"/>
              <a:t> that tells the model "one sequence ends here, another begins."</a:t>
            </a:r>
          </a:p>
          <a:p>
            <a:r>
              <a:rPr lang="en-AU" sz="1200" kern="1200" dirty="0">
                <a:solidFill>
                  <a:schemeClr val="tx1"/>
                </a:solidFill>
                <a:effectLst/>
                <a:latin typeface="+mn-lt"/>
                <a:ea typeface="+mn-ea"/>
                <a:cs typeface="+mn-cs"/>
              </a:rPr>
              <a:t>[CLS] What is the capital of France? [SEP] Paris is the capital of France. [SEP]</a:t>
            </a:r>
          </a:p>
          <a:p>
            <a:r>
              <a:rPr lang="en-AU" sz="1200" kern="1200" dirty="0">
                <a:solidFill>
                  <a:schemeClr val="tx1"/>
                </a:solidFill>
                <a:effectLst/>
                <a:latin typeface="+mn-lt"/>
                <a:ea typeface="+mn-ea"/>
                <a:cs typeface="+mn-cs"/>
              </a:rPr>
              <a:t>       ↑___ sequence A ___________↑         ↑___ sequence B ______________↑</a:t>
            </a:r>
          </a:p>
          <a:p>
            <a:r>
              <a:rPr lang="en-AU" dirty="0"/>
              <a:t>The second </a:t>
            </a:r>
            <a:r>
              <a:rPr lang="en-AU" sz="1200" kern="1200" dirty="0">
                <a:solidFill>
                  <a:schemeClr val="tx1"/>
                </a:solidFill>
                <a:latin typeface="+mn-lt"/>
                <a:ea typeface="+mn-ea"/>
                <a:cs typeface="+mn-cs"/>
              </a:rPr>
              <a:t>[SEP]</a:t>
            </a:r>
            <a:r>
              <a:rPr lang="en-AU" dirty="0"/>
              <a:t> at the end just marks the end of the whole input. Without </a:t>
            </a:r>
            <a:r>
              <a:rPr lang="en-AU" sz="1200" kern="1200" dirty="0">
                <a:solidFill>
                  <a:schemeClr val="tx1"/>
                </a:solidFill>
                <a:latin typeface="+mn-lt"/>
                <a:ea typeface="+mn-ea"/>
                <a:cs typeface="+mn-cs"/>
              </a:rPr>
              <a:t>[SEP]</a:t>
            </a:r>
            <a:r>
              <a:rPr lang="en-AU" dirty="0"/>
              <a:t>, the model wouldn't know where the query stops and the document begins — it would just see one long stream of tokens with no structure.</a:t>
            </a:r>
          </a:p>
          <a:p>
            <a:br>
              <a:rPr lang="en-AU" dirty="0"/>
            </a:br>
            <a:endParaRPr lang="en-AU" dirty="0"/>
          </a:p>
          <a:p>
            <a:r>
              <a:rPr lang="en-AU" b="1" dirty="0"/>
              <a:t>[CLS] — The Classification Token</a:t>
            </a:r>
          </a:p>
          <a:p>
            <a:r>
              <a:rPr lang="en-AU" dirty="0"/>
              <a:t>This is the more interesting one. </a:t>
            </a:r>
            <a:r>
              <a:rPr lang="en-AU" sz="1200" kern="1200" dirty="0">
                <a:solidFill>
                  <a:schemeClr val="tx1"/>
                </a:solidFill>
                <a:latin typeface="+mn-lt"/>
                <a:ea typeface="+mn-ea"/>
                <a:cs typeface="+mn-cs"/>
              </a:rPr>
              <a:t>[CLS]</a:t>
            </a:r>
            <a:r>
              <a:rPr lang="en-AU" dirty="0"/>
              <a:t> stands for </a:t>
            </a:r>
            <a:r>
              <a:rPr lang="en-AU" b="1" dirty="0"/>
              <a:t>classification</a:t>
            </a:r>
            <a:r>
              <a:rPr lang="en-AU" dirty="0"/>
              <a:t>, and it's prepended to the very start of every input. It starts as a meaningless placeholder, but something important happens to it during the forward pass.</a:t>
            </a:r>
          </a:p>
          <a:p>
            <a:r>
              <a:rPr lang="en-AU" dirty="0"/>
              <a:t>Because transformers use </a:t>
            </a:r>
            <a:r>
              <a:rPr lang="en-AU" b="1" dirty="0"/>
              <a:t>self-attention</a:t>
            </a:r>
            <a:r>
              <a:rPr lang="en-AU" dirty="0"/>
              <a:t>, every token attends to every other token. The </a:t>
            </a:r>
            <a:r>
              <a:rPr lang="en-AU" sz="1200" kern="1200" dirty="0">
                <a:solidFill>
                  <a:schemeClr val="tx1"/>
                </a:solidFill>
                <a:latin typeface="+mn-lt"/>
                <a:ea typeface="+mn-ea"/>
                <a:cs typeface="+mn-cs"/>
              </a:rPr>
              <a:t>[CLS]</a:t>
            </a:r>
            <a:r>
              <a:rPr lang="en-AU" dirty="0"/>
              <a:t> token has no word meaning of its own, so it has no "agenda" — it freely absorbs information from all other tokens across all layers.</a:t>
            </a:r>
          </a:p>
          <a:p>
            <a:r>
              <a:rPr lang="en-AU" sz="1200" kern="1200" dirty="0">
                <a:solidFill>
                  <a:schemeClr val="tx1"/>
                </a:solidFill>
                <a:effectLst/>
                <a:latin typeface="+mn-lt"/>
                <a:ea typeface="+mn-ea"/>
                <a:cs typeface="+mn-cs"/>
              </a:rPr>
              <a:t>Layer 1:   [CLS] weakly attends to everything</a:t>
            </a:r>
          </a:p>
          <a:p>
            <a:r>
              <a:rPr lang="en-AU" sz="1200" kern="1200" dirty="0">
                <a:solidFill>
                  <a:schemeClr val="tx1"/>
                </a:solidFill>
                <a:effectLst/>
                <a:latin typeface="+mn-lt"/>
                <a:ea typeface="+mn-ea"/>
                <a:cs typeface="+mn-cs"/>
              </a:rPr>
              <a:t>Layer 2:   [CLS] starts picking up query-document relationships</a:t>
            </a:r>
          </a:p>
          <a:p>
            <a:r>
              <a:rPr lang="en-AU" sz="1200" kern="1200" dirty="0">
                <a:solidFill>
                  <a:schemeClr val="tx1"/>
                </a:solidFill>
                <a:effectLst/>
                <a:latin typeface="+mn-lt"/>
                <a:ea typeface="+mn-ea"/>
                <a:cs typeface="+mn-cs"/>
              </a:rPr>
              <a:t>Layer 3:   [CLS] accumulates richer semantic signal</a:t>
            </a:r>
          </a:p>
          <a:p>
            <a:r>
              <a:rPr lang="en-AU" sz="1200" kern="1200" dirty="0">
                <a:solidFill>
                  <a:schemeClr val="tx1"/>
                </a:solidFill>
                <a:effectLst/>
                <a:latin typeface="+mn-lt"/>
                <a:ea typeface="+mn-ea"/>
                <a:cs typeface="+mn-cs"/>
              </a:rPr>
              <a:t>...</a:t>
            </a:r>
          </a:p>
          <a:p>
            <a:r>
              <a:rPr lang="en-AU" sz="1200" kern="1200" dirty="0">
                <a:solidFill>
                  <a:schemeClr val="tx1"/>
                </a:solidFill>
                <a:effectLst/>
                <a:latin typeface="+mn-lt"/>
                <a:ea typeface="+mn-ea"/>
                <a:cs typeface="+mn-cs"/>
              </a:rPr>
              <a:t>Layer 12:  [CLS] now contains a compressed summary of the entire input pair</a:t>
            </a:r>
          </a:p>
          <a:p>
            <a:r>
              <a:rPr lang="en-AU" dirty="0"/>
              <a:t>By the final layer, </a:t>
            </a:r>
            <a:r>
              <a:rPr lang="en-AU" sz="1200" kern="1200" dirty="0">
                <a:solidFill>
                  <a:schemeClr val="tx1"/>
                </a:solidFill>
                <a:latin typeface="+mn-lt"/>
                <a:ea typeface="+mn-ea"/>
                <a:cs typeface="+mn-cs"/>
              </a:rPr>
              <a:t>[CLS]</a:t>
            </a:r>
            <a:r>
              <a:rPr lang="en-AU" dirty="0"/>
              <a:t> has essentially become a </a:t>
            </a:r>
            <a:r>
              <a:rPr lang="en-AU" b="1" dirty="0"/>
              <a:t>summary vector of the whole sequence</a:t>
            </a:r>
            <a:r>
              <a:rPr lang="en-AU" dirty="0"/>
              <a:t>. You then take just that one vector and pass it through a small linear layer to get your score:</a:t>
            </a:r>
          </a:p>
          <a:p>
            <a:r>
              <a:rPr lang="en-AU" sz="1200" kern="1200" dirty="0">
                <a:solidFill>
                  <a:schemeClr val="tx1"/>
                </a:solidFill>
                <a:effectLst/>
                <a:latin typeface="+mn-lt"/>
                <a:ea typeface="+mn-ea"/>
                <a:cs typeface="+mn-cs"/>
              </a:rPr>
              <a:t>[CLS] final vector  →  linear layer  →  0.97  (relevance score)</a:t>
            </a:r>
          </a:p>
          <a:p>
            <a:endParaRPr lang="en-US" dirty="0"/>
          </a:p>
        </p:txBody>
      </p:sp>
      <p:sp>
        <p:nvSpPr>
          <p:cNvPr id="4" name="Slide Number Placeholder 3">
            <a:extLst>
              <a:ext uri="{FF2B5EF4-FFF2-40B4-BE49-F238E27FC236}">
                <a16:creationId xmlns:a16="http://schemas.microsoft.com/office/drawing/2014/main" id="{DDF40A83-2B4A-F46E-85E5-70EA0D7A061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7C49CCA-7123-7E4D-96BE-74BB9D1B415D}"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4556591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4138-0C61-B94A-5D72-A71BDCECE4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929C14-6DDD-955B-E0A8-0B93B12D5D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A3FB95D-90DA-1F23-543A-85C53B69400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94C575E-511D-1DEE-ED05-2834600F0FCF}"/>
              </a:ext>
            </a:extLst>
          </p:cNvPr>
          <p:cNvSpPr>
            <a:spLocks noGrp="1"/>
          </p:cNvSpPr>
          <p:nvPr>
            <p:ph type="sldNum" sz="quarter" idx="5"/>
          </p:nvPr>
        </p:nvSpPr>
        <p:spPr/>
        <p:txBody>
          <a:bodyPr/>
          <a:lstStyle/>
          <a:p>
            <a:fld id="{A7C49CCA-7123-7E4D-96BE-74BB9D1B415D}" type="slidenum">
              <a:rPr lang="en-US" smtClean="0"/>
              <a:t>44</a:t>
            </a:fld>
            <a:endParaRPr lang="en-US"/>
          </a:p>
        </p:txBody>
      </p:sp>
    </p:spTree>
    <p:extLst>
      <p:ext uri="{BB962C8B-B14F-4D97-AF65-F5344CB8AC3E}">
        <p14:creationId xmlns:p14="http://schemas.microsoft.com/office/powerpoint/2010/main" val="158997957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5425A-6591-DB85-C3ED-BC88B3FB6A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D3D5FE-7984-7B16-ACF0-77D247381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9DC0F6-7BAB-F2F1-5553-9E54640B3DD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A2DBB4-0010-FBA1-EB37-1EE95B170984}"/>
              </a:ext>
            </a:extLst>
          </p:cNvPr>
          <p:cNvSpPr>
            <a:spLocks noGrp="1"/>
          </p:cNvSpPr>
          <p:nvPr>
            <p:ph type="sldNum" sz="quarter" idx="5"/>
          </p:nvPr>
        </p:nvSpPr>
        <p:spPr/>
        <p:txBody>
          <a:bodyPr/>
          <a:lstStyle/>
          <a:p>
            <a:fld id="{A7C49CCA-7123-7E4D-96BE-74BB9D1B415D}" type="slidenum">
              <a:rPr lang="en-US" smtClean="0"/>
              <a:t>45</a:t>
            </a:fld>
            <a:endParaRPr lang="en-US"/>
          </a:p>
        </p:txBody>
      </p:sp>
    </p:spTree>
    <p:extLst>
      <p:ext uri="{BB962C8B-B14F-4D97-AF65-F5344CB8AC3E}">
        <p14:creationId xmlns:p14="http://schemas.microsoft.com/office/powerpoint/2010/main" val="427242491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9A1042-84E3-474B-A764-6D66CFB0FB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1F1208-4671-A91B-C32B-C521A00467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2464AB-A802-FF99-27D0-AEB590F8661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A440B4E-47A7-D420-FCE0-5A250015DB5B}"/>
              </a:ext>
            </a:extLst>
          </p:cNvPr>
          <p:cNvSpPr>
            <a:spLocks noGrp="1"/>
          </p:cNvSpPr>
          <p:nvPr>
            <p:ph type="sldNum" sz="quarter" idx="5"/>
          </p:nvPr>
        </p:nvSpPr>
        <p:spPr/>
        <p:txBody>
          <a:bodyPr/>
          <a:lstStyle/>
          <a:p>
            <a:fld id="{A7C49CCA-7123-7E4D-96BE-74BB9D1B415D}" type="slidenum">
              <a:rPr lang="en-US" smtClean="0"/>
              <a:t>46</a:t>
            </a:fld>
            <a:endParaRPr lang="en-US"/>
          </a:p>
        </p:txBody>
      </p:sp>
    </p:spTree>
    <p:extLst>
      <p:ext uri="{BB962C8B-B14F-4D97-AF65-F5344CB8AC3E}">
        <p14:creationId xmlns:p14="http://schemas.microsoft.com/office/powerpoint/2010/main" val="377607531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1526C7-8B45-36D3-A88E-CA50352BB6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0C0B52-767D-7404-5B0B-319EEB1EC8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125B02-6266-B100-EECF-4369AA35925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74AC4B-FDCE-FB32-CCB7-045E74FF05C7}"/>
              </a:ext>
            </a:extLst>
          </p:cNvPr>
          <p:cNvSpPr>
            <a:spLocks noGrp="1"/>
          </p:cNvSpPr>
          <p:nvPr>
            <p:ph type="sldNum" sz="quarter" idx="5"/>
          </p:nvPr>
        </p:nvSpPr>
        <p:spPr/>
        <p:txBody>
          <a:bodyPr/>
          <a:lstStyle/>
          <a:p>
            <a:fld id="{A7C49CCA-7123-7E4D-96BE-74BB9D1B415D}" type="slidenum">
              <a:rPr lang="en-US" smtClean="0"/>
              <a:t>47</a:t>
            </a:fld>
            <a:endParaRPr lang="en-US"/>
          </a:p>
        </p:txBody>
      </p:sp>
    </p:spTree>
    <p:extLst>
      <p:ext uri="{BB962C8B-B14F-4D97-AF65-F5344CB8AC3E}">
        <p14:creationId xmlns:p14="http://schemas.microsoft.com/office/powerpoint/2010/main" val="238817383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E8E70E-E9B3-5675-247A-C32CD3A66F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77CF85-1AD3-40A6-6D58-2ECB390D6BE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5B3316-3178-AFF0-42BF-056643D7945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758AB73-2FD1-4BCE-C751-DE4449A92CE6}"/>
              </a:ext>
            </a:extLst>
          </p:cNvPr>
          <p:cNvSpPr>
            <a:spLocks noGrp="1"/>
          </p:cNvSpPr>
          <p:nvPr>
            <p:ph type="sldNum" sz="quarter" idx="5"/>
          </p:nvPr>
        </p:nvSpPr>
        <p:spPr/>
        <p:txBody>
          <a:bodyPr/>
          <a:lstStyle/>
          <a:p>
            <a:fld id="{A7C49CCA-7123-7E4D-96BE-74BB9D1B415D}" type="slidenum">
              <a:rPr lang="en-US" smtClean="0"/>
              <a:t>48</a:t>
            </a:fld>
            <a:endParaRPr lang="en-US"/>
          </a:p>
        </p:txBody>
      </p:sp>
    </p:spTree>
    <p:extLst>
      <p:ext uri="{BB962C8B-B14F-4D97-AF65-F5344CB8AC3E}">
        <p14:creationId xmlns:p14="http://schemas.microsoft.com/office/powerpoint/2010/main" val="37113097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AEA285-F7F2-7C91-D718-3DE54B5AB5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DF88B6-1B03-320D-6ED0-2F6A1504AE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8C2D38-ACF0-3CA8-9F59-2685DDA7937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AC5ECC0-84EE-70AB-D82D-993972CCF077}"/>
              </a:ext>
            </a:extLst>
          </p:cNvPr>
          <p:cNvSpPr>
            <a:spLocks noGrp="1"/>
          </p:cNvSpPr>
          <p:nvPr>
            <p:ph type="sldNum" sz="quarter" idx="5"/>
          </p:nvPr>
        </p:nvSpPr>
        <p:spPr/>
        <p:txBody>
          <a:bodyPr/>
          <a:lstStyle/>
          <a:p>
            <a:fld id="{A7C49CCA-7123-7E4D-96BE-74BB9D1B415D}" type="slidenum">
              <a:rPr lang="en-US" smtClean="0"/>
              <a:t>49</a:t>
            </a:fld>
            <a:endParaRPr lang="en-US"/>
          </a:p>
        </p:txBody>
      </p:sp>
    </p:spTree>
    <p:extLst>
      <p:ext uri="{BB962C8B-B14F-4D97-AF65-F5344CB8AC3E}">
        <p14:creationId xmlns:p14="http://schemas.microsoft.com/office/powerpoint/2010/main" val="396081985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F011A-2D34-8766-0ADF-87A05DAA41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D185FA-86FE-04A0-EA83-0F0316E5A1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446DE9-BAA5-E36E-0BF9-1344C36FFEE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58D149-6B77-1304-0C0A-0A5597FFEE20}"/>
              </a:ext>
            </a:extLst>
          </p:cNvPr>
          <p:cNvSpPr>
            <a:spLocks noGrp="1"/>
          </p:cNvSpPr>
          <p:nvPr>
            <p:ph type="sldNum" sz="quarter" idx="5"/>
          </p:nvPr>
        </p:nvSpPr>
        <p:spPr/>
        <p:txBody>
          <a:bodyPr/>
          <a:lstStyle/>
          <a:p>
            <a:fld id="{A7C49CCA-7123-7E4D-96BE-74BB9D1B415D}" type="slidenum">
              <a:rPr lang="en-US" smtClean="0"/>
              <a:t>50</a:t>
            </a:fld>
            <a:endParaRPr lang="en-US"/>
          </a:p>
        </p:txBody>
      </p:sp>
    </p:spTree>
    <p:extLst>
      <p:ext uri="{BB962C8B-B14F-4D97-AF65-F5344CB8AC3E}">
        <p14:creationId xmlns:p14="http://schemas.microsoft.com/office/powerpoint/2010/main" val="360477150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DD25D9-0C4B-958B-7A2B-A158E6E425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BF0105-4CBC-5F4E-1142-0C7095E3A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A3BC79-1CAB-7A6B-6C31-C2D40883854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D0EC00C-21EA-5F69-1041-04D6C619F267}"/>
              </a:ext>
            </a:extLst>
          </p:cNvPr>
          <p:cNvSpPr>
            <a:spLocks noGrp="1"/>
          </p:cNvSpPr>
          <p:nvPr>
            <p:ph type="sldNum" sz="quarter" idx="5"/>
          </p:nvPr>
        </p:nvSpPr>
        <p:spPr/>
        <p:txBody>
          <a:bodyPr/>
          <a:lstStyle/>
          <a:p>
            <a:fld id="{A7C49CCA-7123-7E4D-96BE-74BB9D1B415D}" type="slidenum">
              <a:rPr lang="en-US" smtClean="0"/>
              <a:t>51</a:t>
            </a:fld>
            <a:endParaRPr lang="en-US"/>
          </a:p>
        </p:txBody>
      </p:sp>
    </p:spTree>
    <p:extLst>
      <p:ext uri="{BB962C8B-B14F-4D97-AF65-F5344CB8AC3E}">
        <p14:creationId xmlns:p14="http://schemas.microsoft.com/office/powerpoint/2010/main" val="367813648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7498AB-D4AC-690E-9EC0-17EA3CA223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C3350D-B34C-2EBA-812F-084D8B6290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D74C5A-972F-CA66-77FC-9488B1C6C0F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4E6A915-ECB6-A1D0-7DBC-CBA87E844252}"/>
              </a:ext>
            </a:extLst>
          </p:cNvPr>
          <p:cNvSpPr>
            <a:spLocks noGrp="1"/>
          </p:cNvSpPr>
          <p:nvPr>
            <p:ph type="sldNum" sz="quarter" idx="5"/>
          </p:nvPr>
        </p:nvSpPr>
        <p:spPr/>
        <p:txBody>
          <a:bodyPr/>
          <a:lstStyle/>
          <a:p>
            <a:fld id="{A7C49CCA-7123-7E4D-96BE-74BB9D1B415D}" type="slidenum">
              <a:rPr lang="en-US" smtClean="0"/>
              <a:t>52</a:t>
            </a:fld>
            <a:endParaRPr lang="en-US"/>
          </a:p>
        </p:txBody>
      </p:sp>
    </p:spTree>
    <p:extLst>
      <p:ext uri="{BB962C8B-B14F-4D97-AF65-F5344CB8AC3E}">
        <p14:creationId xmlns:p14="http://schemas.microsoft.com/office/powerpoint/2010/main" val="320932772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0200F-0C40-EB59-8979-EBEA4DD05A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DBB055-95F8-6E9B-5457-63C7CBB8A5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717B30-C3D0-A58B-EA22-8FA4B7E30A1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E03F3CB-EE1F-A0D0-3A7E-EBCFA7C9F6F4}"/>
              </a:ext>
            </a:extLst>
          </p:cNvPr>
          <p:cNvSpPr>
            <a:spLocks noGrp="1"/>
          </p:cNvSpPr>
          <p:nvPr>
            <p:ph type="sldNum" sz="quarter" idx="5"/>
          </p:nvPr>
        </p:nvSpPr>
        <p:spPr/>
        <p:txBody>
          <a:bodyPr/>
          <a:lstStyle/>
          <a:p>
            <a:fld id="{A7C49CCA-7123-7E4D-96BE-74BB9D1B415D}" type="slidenum">
              <a:rPr lang="en-US" smtClean="0"/>
              <a:t>53</a:t>
            </a:fld>
            <a:endParaRPr lang="en-US"/>
          </a:p>
        </p:txBody>
      </p:sp>
    </p:spTree>
    <p:extLst>
      <p:ext uri="{BB962C8B-B14F-4D97-AF65-F5344CB8AC3E}">
        <p14:creationId xmlns:p14="http://schemas.microsoft.com/office/powerpoint/2010/main" val="244802629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F80DF2-475A-8DD9-4D83-375D38763D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3B60A1-128B-9659-0835-2875852CE0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A14EE5-29C2-3A07-763C-8754130CF02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7003C33-3B19-A422-99A1-8BE40F7A692C}"/>
              </a:ext>
            </a:extLst>
          </p:cNvPr>
          <p:cNvSpPr>
            <a:spLocks noGrp="1"/>
          </p:cNvSpPr>
          <p:nvPr>
            <p:ph type="sldNum" sz="quarter" idx="5"/>
          </p:nvPr>
        </p:nvSpPr>
        <p:spPr/>
        <p:txBody>
          <a:bodyPr/>
          <a:lstStyle/>
          <a:p>
            <a:fld id="{A7C49CCA-7123-7E4D-96BE-74BB9D1B415D}" type="slidenum">
              <a:rPr lang="en-US" smtClean="0"/>
              <a:t>54</a:t>
            </a:fld>
            <a:endParaRPr lang="en-US"/>
          </a:p>
        </p:txBody>
      </p:sp>
    </p:spTree>
    <p:extLst>
      <p:ext uri="{BB962C8B-B14F-4D97-AF65-F5344CB8AC3E}">
        <p14:creationId xmlns:p14="http://schemas.microsoft.com/office/powerpoint/2010/main" val="258524223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DC6F6E-B5A3-59DA-501F-67BE198837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DC2102-7FE3-3B3C-33C9-86FC678FAD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E6DF53-6866-B077-6016-CBBF83A1F9E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6A46740-27E6-1254-F2B5-4FE7F40EADCE}"/>
              </a:ext>
            </a:extLst>
          </p:cNvPr>
          <p:cNvSpPr>
            <a:spLocks noGrp="1"/>
          </p:cNvSpPr>
          <p:nvPr>
            <p:ph type="sldNum" sz="quarter" idx="5"/>
          </p:nvPr>
        </p:nvSpPr>
        <p:spPr/>
        <p:txBody>
          <a:bodyPr/>
          <a:lstStyle/>
          <a:p>
            <a:fld id="{A7C49CCA-7123-7E4D-96BE-74BB9D1B415D}" type="slidenum">
              <a:rPr lang="en-US" smtClean="0"/>
              <a:t>55</a:t>
            </a:fld>
            <a:endParaRPr lang="en-US"/>
          </a:p>
        </p:txBody>
      </p:sp>
    </p:spTree>
    <p:extLst>
      <p:ext uri="{BB962C8B-B14F-4D97-AF65-F5344CB8AC3E}">
        <p14:creationId xmlns:p14="http://schemas.microsoft.com/office/powerpoint/2010/main" val="280996550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B9A313-58D0-A6E4-36DD-E35C903BF8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2F4516-82CD-5B69-FB21-14438D0640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B709CC-0B75-6970-6654-9A80CFBDFD2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0BF8895-F4FD-55E0-267F-BD6BE74F40F2}"/>
              </a:ext>
            </a:extLst>
          </p:cNvPr>
          <p:cNvSpPr>
            <a:spLocks noGrp="1"/>
          </p:cNvSpPr>
          <p:nvPr>
            <p:ph type="sldNum" sz="quarter" idx="5"/>
          </p:nvPr>
        </p:nvSpPr>
        <p:spPr/>
        <p:txBody>
          <a:bodyPr/>
          <a:lstStyle/>
          <a:p>
            <a:fld id="{A7C49CCA-7123-7E4D-96BE-74BB9D1B415D}" type="slidenum">
              <a:rPr lang="en-US" smtClean="0"/>
              <a:t>56</a:t>
            </a:fld>
            <a:endParaRPr lang="en-US"/>
          </a:p>
        </p:txBody>
      </p:sp>
    </p:spTree>
    <p:extLst>
      <p:ext uri="{BB962C8B-B14F-4D97-AF65-F5344CB8AC3E}">
        <p14:creationId xmlns:p14="http://schemas.microsoft.com/office/powerpoint/2010/main" val="274101912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3EB21-5A5E-1887-0DC0-04F71B56A3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B87612-51EF-A5F8-21A8-32DB73E26F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9EA541-FAD3-E42A-1A81-29E22A7107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0EE3698-521E-1415-A8A2-9DB4A8740B67}"/>
              </a:ext>
            </a:extLst>
          </p:cNvPr>
          <p:cNvSpPr>
            <a:spLocks noGrp="1"/>
          </p:cNvSpPr>
          <p:nvPr>
            <p:ph type="sldNum" sz="quarter" idx="5"/>
          </p:nvPr>
        </p:nvSpPr>
        <p:spPr/>
        <p:txBody>
          <a:bodyPr/>
          <a:lstStyle/>
          <a:p>
            <a:fld id="{A7C49CCA-7123-7E4D-96BE-74BB9D1B415D}" type="slidenum">
              <a:rPr lang="en-US" smtClean="0"/>
              <a:t>57</a:t>
            </a:fld>
            <a:endParaRPr lang="en-US"/>
          </a:p>
        </p:txBody>
      </p:sp>
    </p:spTree>
    <p:extLst>
      <p:ext uri="{BB962C8B-B14F-4D97-AF65-F5344CB8AC3E}">
        <p14:creationId xmlns:p14="http://schemas.microsoft.com/office/powerpoint/2010/main" val="401317894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89DCBB-0ED1-EFF1-279D-DD0E12EB25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AEFF50-3ECD-3CE4-0816-6C79DBC30B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0441E6-AF1B-7C80-A94A-65D7960FC90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F220565-1A8F-D93A-33DA-01F408064723}"/>
              </a:ext>
            </a:extLst>
          </p:cNvPr>
          <p:cNvSpPr>
            <a:spLocks noGrp="1"/>
          </p:cNvSpPr>
          <p:nvPr>
            <p:ph type="sldNum" sz="quarter" idx="5"/>
          </p:nvPr>
        </p:nvSpPr>
        <p:spPr/>
        <p:txBody>
          <a:bodyPr/>
          <a:lstStyle/>
          <a:p>
            <a:fld id="{A7C49CCA-7123-7E4D-96BE-74BB9D1B415D}" type="slidenum">
              <a:rPr lang="en-US" smtClean="0"/>
              <a:t>58</a:t>
            </a:fld>
            <a:endParaRPr lang="en-US"/>
          </a:p>
        </p:txBody>
      </p:sp>
    </p:spTree>
    <p:extLst>
      <p:ext uri="{BB962C8B-B14F-4D97-AF65-F5344CB8AC3E}">
        <p14:creationId xmlns:p14="http://schemas.microsoft.com/office/powerpoint/2010/main" val="140672049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5F8F5-7876-73C5-B334-9F24CB4435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7FC871-25C3-A216-EC65-1FFDA75943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F17091-DD89-322B-46CA-9ACA9C4DE51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DCE205F-28A9-C50F-D2FA-3DDFEEBA964E}"/>
              </a:ext>
            </a:extLst>
          </p:cNvPr>
          <p:cNvSpPr>
            <a:spLocks noGrp="1"/>
          </p:cNvSpPr>
          <p:nvPr>
            <p:ph type="sldNum" sz="quarter" idx="5"/>
          </p:nvPr>
        </p:nvSpPr>
        <p:spPr/>
        <p:txBody>
          <a:bodyPr/>
          <a:lstStyle/>
          <a:p>
            <a:fld id="{A7C49CCA-7123-7E4D-96BE-74BB9D1B415D}" type="slidenum">
              <a:rPr lang="en-US" smtClean="0"/>
              <a:t>59</a:t>
            </a:fld>
            <a:endParaRPr lang="en-US"/>
          </a:p>
        </p:txBody>
      </p:sp>
    </p:spTree>
    <p:extLst>
      <p:ext uri="{BB962C8B-B14F-4D97-AF65-F5344CB8AC3E}">
        <p14:creationId xmlns:p14="http://schemas.microsoft.com/office/powerpoint/2010/main" val="205258844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7C49CCA-7123-7E4D-96BE-74BB9D1B415D}" type="slidenum">
              <a:rPr lang="en-US" smtClean="0"/>
              <a:t>63</a:t>
            </a:fld>
            <a:endParaRPr lang="en-US"/>
          </a:p>
        </p:txBody>
      </p:sp>
    </p:spTree>
    <p:extLst>
      <p:ext uri="{BB962C8B-B14F-4D97-AF65-F5344CB8AC3E}">
        <p14:creationId xmlns:p14="http://schemas.microsoft.com/office/powerpoint/2010/main" val="107865618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7C49CCA-7123-7E4D-96BE-74BB9D1B415D}" type="slidenum">
              <a:rPr lang="en-US" smtClean="0"/>
              <a:t>65</a:t>
            </a:fld>
            <a:endParaRPr lang="en-US"/>
          </a:p>
        </p:txBody>
      </p:sp>
    </p:spTree>
    <p:extLst>
      <p:ext uri="{BB962C8B-B14F-4D97-AF65-F5344CB8AC3E}">
        <p14:creationId xmlns:p14="http://schemas.microsoft.com/office/powerpoint/2010/main" val="84551353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FA8F4E-4048-D442-1FB0-0FB068C74C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369698-CF99-E0E1-6A25-F9751C1FF8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4E20C3-8F03-1B49-B28B-96D2F7DB108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C71ED60-3789-927D-1E9E-686134B601B6}"/>
              </a:ext>
            </a:extLst>
          </p:cNvPr>
          <p:cNvSpPr>
            <a:spLocks noGrp="1"/>
          </p:cNvSpPr>
          <p:nvPr>
            <p:ph type="sldNum" sz="quarter" idx="5"/>
          </p:nvPr>
        </p:nvSpPr>
        <p:spPr/>
        <p:txBody>
          <a:bodyPr/>
          <a:lstStyle/>
          <a:p>
            <a:fld id="{A7C49CCA-7123-7E4D-96BE-74BB9D1B415D}" type="slidenum">
              <a:rPr lang="en-US" smtClean="0"/>
              <a:t>66</a:t>
            </a:fld>
            <a:endParaRPr lang="en-US"/>
          </a:p>
        </p:txBody>
      </p:sp>
    </p:spTree>
    <p:extLst>
      <p:ext uri="{BB962C8B-B14F-4D97-AF65-F5344CB8AC3E}">
        <p14:creationId xmlns:p14="http://schemas.microsoft.com/office/powerpoint/2010/main" val="289651835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696E42-7624-2574-3179-E52907AF25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EACEBC-333C-4153-1628-EF77FD27BA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369303-27DC-FFF7-E0BF-75A153EC311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0491626-7F85-A9EA-2570-3E79AA3A0D1E}"/>
              </a:ext>
            </a:extLst>
          </p:cNvPr>
          <p:cNvSpPr>
            <a:spLocks noGrp="1"/>
          </p:cNvSpPr>
          <p:nvPr>
            <p:ph type="sldNum" sz="quarter" idx="5"/>
          </p:nvPr>
        </p:nvSpPr>
        <p:spPr/>
        <p:txBody>
          <a:bodyPr/>
          <a:lstStyle/>
          <a:p>
            <a:fld id="{A7C49CCA-7123-7E4D-96BE-74BB9D1B415D}" type="slidenum">
              <a:rPr lang="en-US" smtClean="0"/>
              <a:t>67</a:t>
            </a:fld>
            <a:endParaRPr lang="en-US"/>
          </a:p>
        </p:txBody>
      </p:sp>
    </p:spTree>
    <p:extLst>
      <p:ext uri="{BB962C8B-B14F-4D97-AF65-F5344CB8AC3E}">
        <p14:creationId xmlns:p14="http://schemas.microsoft.com/office/powerpoint/2010/main" val="79351894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2ED516-BC78-0C73-C597-191D708B3D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7DB116-EEE3-39D3-C9D8-272B28D75F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6946AF-8C94-93AC-92C6-CC96BD7EC76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191B426-3DEC-4EA3-6F89-6534112E0066}"/>
              </a:ext>
            </a:extLst>
          </p:cNvPr>
          <p:cNvSpPr>
            <a:spLocks noGrp="1"/>
          </p:cNvSpPr>
          <p:nvPr>
            <p:ph type="sldNum" sz="quarter" idx="5"/>
          </p:nvPr>
        </p:nvSpPr>
        <p:spPr/>
        <p:txBody>
          <a:bodyPr/>
          <a:lstStyle/>
          <a:p>
            <a:fld id="{A7C49CCA-7123-7E4D-96BE-74BB9D1B415D}" type="slidenum">
              <a:rPr lang="en-US" smtClean="0"/>
              <a:t>68</a:t>
            </a:fld>
            <a:endParaRPr lang="en-US"/>
          </a:p>
        </p:txBody>
      </p:sp>
    </p:spTree>
    <p:extLst>
      <p:ext uri="{BB962C8B-B14F-4D97-AF65-F5344CB8AC3E}">
        <p14:creationId xmlns:p14="http://schemas.microsoft.com/office/powerpoint/2010/main" val="33871489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AC9DD-D927-7E46-11EF-3D2963B3A0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91E4F4-E730-7A3C-5944-40B9F45A6D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655D2A-16EE-1204-0333-4F4564EC50C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ADCAA70-B133-A8DE-C494-EE4D2FB81C4B}"/>
              </a:ext>
            </a:extLst>
          </p:cNvPr>
          <p:cNvSpPr>
            <a:spLocks noGrp="1"/>
          </p:cNvSpPr>
          <p:nvPr>
            <p:ph type="sldNum" sz="quarter" idx="5"/>
          </p:nvPr>
        </p:nvSpPr>
        <p:spPr/>
        <p:txBody>
          <a:bodyPr/>
          <a:lstStyle/>
          <a:p>
            <a:fld id="{A7C49CCA-7123-7E4D-96BE-74BB9D1B415D}" type="slidenum">
              <a:rPr lang="en-US" smtClean="0"/>
              <a:t>69</a:t>
            </a:fld>
            <a:endParaRPr lang="en-US"/>
          </a:p>
        </p:txBody>
      </p:sp>
    </p:spTree>
    <p:extLst>
      <p:ext uri="{BB962C8B-B14F-4D97-AF65-F5344CB8AC3E}">
        <p14:creationId xmlns:p14="http://schemas.microsoft.com/office/powerpoint/2010/main" val="137159800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A4AC1F-0416-9206-7935-94A8BDB294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320F1F-BCD0-0F13-D2D3-D446CC1BBE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33EB9-998D-3EEB-696A-05BF53970A6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E34898-E40D-31FC-BADB-7A0E6182F199}"/>
              </a:ext>
            </a:extLst>
          </p:cNvPr>
          <p:cNvSpPr>
            <a:spLocks noGrp="1"/>
          </p:cNvSpPr>
          <p:nvPr>
            <p:ph type="sldNum" sz="quarter" idx="5"/>
          </p:nvPr>
        </p:nvSpPr>
        <p:spPr/>
        <p:txBody>
          <a:bodyPr/>
          <a:lstStyle/>
          <a:p>
            <a:fld id="{A7C49CCA-7123-7E4D-96BE-74BB9D1B415D}" type="slidenum">
              <a:rPr lang="en-US" smtClean="0"/>
              <a:t>70</a:t>
            </a:fld>
            <a:endParaRPr lang="en-US"/>
          </a:p>
        </p:txBody>
      </p:sp>
    </p:spTree>
    <p:extLst>
      <p:ext uri="{BB962C8B-B14F-4D97-AF65-F5344CB8AC3E}">
        <p14:creationId xmlns:p14="http://schemas.microsoft.com/office/powerpoint/2010/main" val="283467468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CA700F-4E74-AA4E-3846-0E1EC13DDD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004771-082E-7325-4624-7591CDC825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F9C20C-46F2-67D1-7931-BCE73CDB623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06A80F5-781B-FDF7-C870-687FD1D036EC}"/>
              </a:ext>
            </a:extLst>
          </p:cNvPr>
          <p:cNvSpPr>
            <a:spLocks noGrp="1"/>
          </p:cNvSpPr>
          <p:nvPr>
            <p:ph type="sldNum" sz="quarter" idx="5"/>
          </p:nvPr>
        </p:nvSpPr>
        <p:spPr/>
        <p:txBody>
          <a:bodyPr/>
          <a:lstStyle/>
          <a:p>
            <a:fld id="{A7C49CCA-7123-7E4D-96BE-74BB9D1B415D}" type="slidenum">
              <a:rPr lang="en-US" smtClean="0"/>
              <a:t>71</a:t>
            </a:fld>
            <a:endParaRPr lang="en-US"/>
          </a:p>
        </p:txBody>
      </p:sp>
    </p:spTree>
    <p:extLst>
      <p:ext uri="{BB962C8B-B14F-4D97-AF65-F5344CB8AC3E}">
        <p14:creationId xmlns:p14="http://schemas.microsoft.com/office/powerpoint/2010/main" val="97060660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87DC1-BF37-A015-4C92-81E26D9A2F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809521-0A15-B7F4-3D67-ACABADEF3A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F65540-0E6F-F9BC-609F-0596150B1B0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1C7EA8B-D26F-DF8A-C181-E6645C876051}"/>
              </a:ext>
            </a:extLst>
          </p:cNvPr>
          <p:cNvSpPr>
            <a:spLocks noGrp="1"/>
          </p:cNvSpPr>
          <p:nvPr>
            <p:ph type="sldNum" sz="quarter" idx="5"/>
          </p:nvPr>
        </p:nvSpPr>
        <p:spPr/>
        <p:txBody>
          <a:bodyPr/>
          <a:lstStyle/>
          <a:p>
            <a:fld id="{A7C49CCA-7123-7E4D-96BE-74BB9D1B415D}" type="slidenum">
              <a:rPr lang="en-US" smtClean="0"/>
              <a:t>72</a:t>
            </a:fld>
            <a:endParaRPr lang="en-US"/>
          </a:p>
        </p:txBody>
      </p:sp>
    </p:spTree>
    <p:extLst>
      <p:ext uri="{BB962C8B-B14F-4D97-AF65-F5344CB8AC3E}">
        <p14:creationId xmlns:p14="http://schemas.microsoft.com/office/powerpoint/2010/main" val="179601948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880EDD-B275-A62F-381A-E972CD1E14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0F29B0-7211-6A0B-D5D9-01B9D6539F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F5C707-9ADF-C455-27C9-82DC84B89C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AB42ED-C5CA-1BF7-969C-87EF23999BA9}"/>
              </a:ext>
            </a:extLst>
          </p:cNvPr>
          <p:cNvSpPr>
            <a:spLocks noGrp="1"/>
          </p:cNvSpPr>
          <p:nvPr>
            <p:ph type="sldNum" sz="quarter" idx="5"/>
          </p:nvPr>
        </p:nvSpPr>
        <p:spPr/>
        <p:txBody>
          <a:bodyPr/>
          <a:lstStyle/>
          <a:p>
            <a:fld id="{A7C49CCA-7123-7E4D-96BE-74BB9D1B415D}" type="slidenum">
              <a:rPr lang="en-US" smtClean="0"/>
              <a:t>73</a:t>
            </a:fld>
            <a:endParaRPr lang="en-US"/>
          </a:p>
        </p:txBody>
      </p:sp>
    </p:spTree>
    <p:extLst>
      <p:ext uri="{BB962C8B-B14F-4D97-AF65-F5344CB8AC3E}">
        <p14:creationId xmlns:p14="http://schemas.microsoft.com/office/powerpoint/2010/main" val="187098328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A9A8CA-FB6B-C5DE-7A91-80BFFA070A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FCE96C-5C53-18FB-92F6-F7859325BE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1AC29B-5F15-E034-F03C-BEDF9D42B73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125DB5B-4EF4-5E67-3BA8-91037C20840D}"/>
              </a:ext>
            </a:extLst>
          </p:cNvPr>
          <p:cNvSpPr>
            <a:spLocks noGrp="1"/>
          </p:cNvSpPr>
          <p:nvPr>
            <p:ph type="sldNum" sz="quarter" idx="5"/>
          </p:nvPr>
        </p:nvSpPr>
        <p:spPr/>
        <p:txBody>
          <a:bodyPr/>
          <a:lstStyle/>
          <a:p>
            <a:fld id="{A7C49CCA-7123-7E4D-96BE-74BB9D1B415D}" type="slidenum">
              <a:rPr lang="en-US" smtClean="0"/>
              <a:t>74</a:t>
            </a:fld>
            <a:endParaRPr lang="en-US"/>
          </a:p>
        </p:txBody>
      </p:sp>
    </p:spTree>
    <p:extLst>
      <p:ext uri="{BB962C8B-B14F-4D97-AF65-F5344CB8AC3E}">
        <p14:creationId xmlns:p14="http://schemas.microsoft.com/office/powerpoint/2010/main" val="124990510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52F5B-C4D0-9007-2339-47D2DD770E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00783F-FEF1-BB19-0C43-B77F479974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EF7B71-E352-45F3-9E28-36A48A28FCF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8125D37-1BA3-4984-6952-9B2EB473E338}"/>
              </a:ext>
            </a:extLst>
          </p:cNvPr>
          <p:cNvSpPr>
            <a:spLocks noGrp="1"/>
          </p:cNvSpPr>
          <p:nvPr>
            <p:ph type="sldNum" sz="quarter" idx="5"/>
          </p:nvPr>
        </p:nvSpPr>
        <p:spPr/>
        <p:txBody>
          <a:bodyPr/>
          <a:lstStyle/>
          <a:p>
            <a:fld id="{A7C49CCA-7123-7E4D-96BE-74BB9D1B415D}" type="slidenum">
              <a:rPr lang="en-US" smtClean="0"/>
              <a:t>75</a:t>
            </a:fld>
            <a:endParaRPr lang="en-US"/>
          </a:p>
        </p:txBody>
      </p:sp>
    </p:spTree>
    <p:extLst>
      <p:ext uri="{BB962C8B-B14F-4D97-AF65-F5344CB8AC3E}">
        <p14:creationId xmlns:p14="http://schemas.microsoft.com/office/powerpoint/2010/main" val="308477023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69C8FD-6291-7577-5313-F5282EBDE2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8A46EB-1FE9-FF4E-785E-FC34F18694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755E54-C571-0611-3B69-6197E8A643E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AD4FD2E-A9BF-160D-8353-310809D7542B}"/>
              </a:ext>
            </a:extLst>
          </p:cNvPr>
          <p:cNvSpPr>
            <a:spLocks noGrp="1"/>
          </p:cNvSpPr>
          <p:nvPr>
            <p:ph type="sldNum" sz="quarter" idx="5"/>
          </p:nvPr>
        </p:nvSpPr>
        <p:spPr/>
        <p:txBody>
          <a:bodyPr/>
          <a:lstStyle/>
          <a:p>
            <a:fld id="{A7C49CCA-7123-7E4D-96BE-74BB9D1B415D}" type="slidenum">
              <a:rPr lang="en-US" smtClean="0"/>
              <a:t>77</a:t>
            </a:fld>
            <a:endParaRPr lang="en-US"/>
          </a:p>
        </p:txBody>
      </p:sp>
    </p:spTree>
    <p:extLst>
      <p:ext uri="{BB962C8B-B14F-4D97-AF65-F5344CB8AC3E}">
        <p14:creationId xmlns:p14="http://schemas.microsoft.com/office/powerpoint/2010/main" val="427144141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DF6865-93D1-0617-E955-9A1100B319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C3B525-D127-9303-88D0-34C397DC3C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FC9461-DE21-D2A4-4199-062516A7B9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11407CD-953B-F27F-BBEF-E91BDF9AE987}"/>
              </a:ext>
            </a:extLst>
          </p:cNvPr>
          <p:cNvSpPr>
            <a:spLocks noGrp="1"/>
          </p:cNvSpPr>
          <p:nvPr>
            <p:ph type="sldNum" sz="quarter" idx="5"/>
          </p:nvPr>
        </p:nvSpPr>
        <p:spPr/>
        <p:txBody>
          <a:bodyPr/>
          <a:lstStyle/>
          <a:p>
            <a:fld id="{A7C49CCA-7123-7E4D-96BE-74BB9D1B415D}" type="slidenum">
              <a:rPr lang="en-US" smtClean="0"/>
              <a:t>78</a:t>
            </a:fld>
            <a:endParaRPr lang="en-US"/>
          </a:p>
        </p:txBody>
      </p:sp>
    </p:spTree>
    <p:extLst>
      <p:ext uri="{BB962C8B-B14F-4D97-AF65-F5344CB8AC3E}">
        <p14:creationId xmlns:p14="http://schemas.microsoft.com/office/powerpoint/2010/main" val="49359117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407758-DAC0-FB47-BFAD-5576A903E4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5F182C-A89C-4084-5E02-CE4FF52438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3BF59C-FB44-AFD4-14DC-9705882BEF0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0E7C2F3-18B5-C318-F761-F8526BF51068}"/>
              </a:ext>
            </a:extLst>
          </p:cNvPr>
          <p:cNvSpPr>
            <a:spLocks noGrp="1"/>
          </p:cNvSpPr>
          <p:nvPr>
            <p:ph type="sldNum" sz="quarter" idx="5"/>
          </p:nvPr>
        </p:nvSpPr>
        <p:spPr/>
        <p:txBody>
          <a:bodyPr/>
          <a:lstStyle/>
          <a:p>
            <a:fld id="{A7C49CCA-7123-7E4D-96BE-74BB9D1B415D}" type="slidenum">
              <a:rPr lang="en-US" smtClean="0"/>
              <a:t>79</a:t>
            </a:fld>
            <a:endParaRPr lang="en-US"/>
          </a:p>
        </p:txBody>
      </p:sp>
    </p:spTree>
    <p:extLst>
      <p:ext uri="{BB962C8B-B14F-4D97-AF65-F5344CB8AC3E}">
        <p14:creationId xmlns:p14="http://schemas.microsoft.com/office/powerpoint/2010/main" val="174004749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F97D5-4C9E-A2BE-0CCD-FD07CB6EF1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8BD8E6-E7C1-2440-04F7-E1B4453D6D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761F82-3D94-6001-28FB-E485703EDA1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939D68-F8AB-206D-E44B-466982F470C2}"/>
              </a:ext>
            </a:extLst>
          </p:cNvPr>
          <p:cNvSpPr>
            <a:spLocks noGrp="1"/>
          </p:cNvSpPr>
          <p:nvPr>
            <p:ph type="sldNum" sz="quarter" idx="5"/>
          </p:nvPr>
        </p:nvSpPr>
        <p:spPr/>
        <p:txBody>
          <a:bodyPr/>
          <a:lstStyle/>
          <a:p>
            <a:fld id="{A7C49CCA-7123-7E4D-96BE-74BB9D1B415D}" type="slidenum">
              <a:rPr lang="en-US" smtClean="0"/>
              <a:t>80</a:t>
            </a:fld>
            <a:endParaRPr lang="en-US"/>
          </a:p>
        </p:txBody>
      </p:sp>
    </p:spTree>
    <p:extLst>
      <p:ext uri="{BB962C8B-B14F-4D97-AF65-F5344CB8AC3E}">
        <p14:creationId xmlns:p14="http://schemas.microsoft.com/office/powerpoint/2010/main" val="308836374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793610-D257-56D1-2BA3-01672E3D7C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02CA6D-4D2B-0E30-5D8A-E20E1833942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1518C5-8801-1D1B-46D7-446EA87C673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15D048E-3A11-27C6-3A65-742531253F1E}"/>
              </a:ext>
            </a:extLst>
          </p:cNvPr>
          <p:cNvSpPr>
            <a:spLocks noGrp="1"/>
          </p:cNvSpPr>
          <p:nvPr>
            <p:ph type="sldNum" sz="quarter" idx="5"/>
          </p:nvPr>
        </p:nvSpPr>
        <p:spPr/>
        <p:txBody>
          <a:bodyPr/>
          <a:lstStyle/>
          <a:p>
            <a:fld id="{A7C49CCA-7123-7E4D-96BE-74BB9D1B415D}" type="slidenum">
              <a:rPr lang="en-US" smtClean="0"/>
              <a:t>81</a:t>
            </a:fld>
            <a:endParaRPr lang="en-US"/>
          </a:p>
        </p:txBody>
      </p:sp>
    </p:spTree>
    <p:extLst>
      <p:ext uri="{BB962C8B-B14F-4D97-AF65-F5344CB8AC3E}">
        <p14:creationId xmlns:p14="http://schemas.microsoft.com/office/powerpoint/2010/main" val="678899056"/>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2E9964-9F22-C8CD-5DDD-358DD1CB8A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A1646F-16D7-E0BA-B15B-66191F3D0A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8E7ABF-03C0-9445-2936-1222BCDB61D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291558-1EFD-6A8D-F8B2-EF93BDC286BA}"/>
              </a:ext>
            </a:extLst>
          </p:cNvPr>
          <p:cNvSpPr>
            <a:spLocks noGrp="1"/>
          </p:cNvSpPr>
          <p:nvPr>
            <p:ph type="sldNum" sz="quarter" idx="5"/>
          </p:nvPr>
        </p:nvSpPr>
        <p:spPr/>
        <p:txBody>
          <a:bodyPr/>
          <a:lstStyle/>
          <a:p>
            <a:fld id="{A7C49CCA-7123-7E4D-96BE-74BB9D1B415D}" type="slidenum">
              <a:rPr lang="en-US" smtClean="0"/>
              <a:t>82</a:t>
            </a:fld>
            <a:endParaRPr lang="en-US"/>
          </a:p>
        </p:txBody>
      </p:sp>
    </p:spTree>
    <p:extLst>
      <p:ext uri="{BB962C8B-B14F-4D97-AF65-F5344CB8AC3E}">
        <p14:creationId xmlns:p14="http://schemas.microsoft.com/office/powerpoint/2010/main" val="302428559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7687FE-30AD-AD42-D8A0-8428263490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56227D-BC9E-F687-EB38-376D53F7DE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C1F30F-1720-CE8C-4389-49C91C21F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0DC7553-2EC4-DA96-445F-B95F89EBE156}"/>
              </a:ext>
            </a:extLst>
          </p:cNvPr>
          <p:cNvSpPr>
            <a:spLocks noGrp="1"/>
          </p:cNvSpPr>
          <p:nvPr>
            <p:ph type="sldNum" sz="quarter" idx="5"/>
          </p:nvPr>
        </p:nvSpPr>
        <p:spPr/>
        <p:txBody>
          <a:bodyPr/>
          <a:lstStyle/>
          <a:p>
            <a:fld id="{A7C49CCA-7123-7E4D-96BE-74BB9D1B415D}" type="slidenum">
              <a:rPr lang="en-US" smtClean="0"/>
              <a:t>83</a:t>
            </a:fld>
            <a:endParaRPr lang="en-US"/>
          </a:p>
        </p:txBody>
      </p:sp>
    </p:spTree>
    <p:extLst>
      <p:ext uri="{BB962C8B-B14F-4D97-AF65-F5344CB8AC3E}">
        <p14:creationId xmlns:p14="http://schemas.microsoft.com/office/powerpoint/2010/main" val="69428233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6698B9-7F20-D980-EBF7-99FA28B7F4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311003-D235-6643-98E0-4B8D0244BF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EE35DB-8BE3-88C8-2A24-E376860078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14FE060-40F2-5977-0A12-6E7E79C12F3E}"/>
              </a:ext>
            </a:extLst>
          </p:cNvPr>
          <p:cNvSpPr>
            <a:spLocks noGrp="1"/>
          </p:cNvSpPr>
          <p:nvPr>
            <p:ph type="sldNum" sz="quarter" idx="5"/>
          </p:nvPr>
        </p:nvSpPr>
        <p:spPr/>
        <p:txBody>
          <a:bodyPr/>
          <a:lstStyle/>
          <a:p>
            <a:fld id="{A7C49CCA-7123-7E4D-96BE-74BB9D1B415D}" type="slidenum">
              <a:rPr lang="en-US" smtClean="0"/>
              <a:t>84</a:t>
            </a:fld>
            <a:endParaRPr lang="en-US"/>
          </a:p>
        </p:txBody>
      </p:sp>
    </p:spTree>
    <p:extLst>
      <p:ext uri="{BB962C8B-B14F-4D97-AF65-F5344CB8AC3E}">
        <p14:creationId xmlns:p14="http://schemas.microsoft.com/office/powerpoint/2010/main" val="4233594502"/>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A05941-5DD3-F711-C4F4-87E1EAE45B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9164B7-A5CF-A120-8C96-BCD2CF94E8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544818-7A51-521C-B760-B876A9CF66C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2EFDEF2-F289-3D3F-964D-6255874AE1B3}"/>
              </a:ext>
            </a:extLst>
          </p:cNvPr>
          <p:cNvSpPr>
            <a:spLocks noGrp="1"/>
          </p:cNvSpPr>
          <p:nvPr>
            <p:ph type="sldNum" sz="quarter" idx="5"/>
          </p:nvPr>
        </p:nvSpPr>
        <p:spPr/>
        <p:txBody>
          <a:bodyPr/>
          <a:lstStyle/>
          <a:p>
            <a:fld id="{A7C49CCA-7123-7E4D-96BE-74BB9D1B415D}" type="slidenum">
              <a:rPr lang="en-US" smtClean="0"/>
              <a:t>85</a:t>
            </a:fld>
            <a:endParaRPr lang="en-US"/>
          </a:p>
        </p:txBody>
      </p:sp>
    </p:spTree>
    <p:extLst>
      <p:ext uri="{BB962C8B-B14F-4D97-AF65-F5344CB8AC3E}">
        <p14:creationId xmlns:p14="http://schemas.microsoft.com/office/powerpoint/2010/main" val="3181610166"/>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7C49CCA-7123-7E4D-96BE-74BB9D1B415D}" type="slidenum">
              <a:rPr lang="en-US" smtClean="0"/>
              <a:t>91</a:t>
            </a:fld>
            <a:endParaRPr lang="en-US"/>
          </a:p>
        </p:txBody>
      </p:sp>
    </p:spTree>
    <p:extLst>
      <p:ext uri="{BB962C8B-B14F-4D97-AF65-F5344CB8AC3E}">
        <p14:creationId xmlns:p14="http://schemas.microsoft.com/office/powerpoint/2010/main" val="1990864665"/>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1C79DB-28F6-677A-FD2E-6D300CE2CE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925DE8-50F5-878D-4910-8F38D9DB41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60B7BF-F21E-BAA2-6F0D-EC5CC631B77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B5AF6DE-72CF-8D29-E25B-94C70C5149F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7C49CCA-7123-7E4D-96BE-74BB9D1B415D}"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2450519"/>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E83120-654A-3B8C-7872-16719CA32F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8C979D-BAF4-C051-2E74-A218FC751F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C14933-A538-E343-EE55-E5CD9EE236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BD0AC7-8C93-D68E-DDDD-2FFB9F334A7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7C49CCA-7123-7E4D-96BE-74BB9D1B415D}"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68297512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019DF7-4C6B-7112-A361-7F2A0CD1D6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A4EDA1-04D5-EF6E-7DB1-9E7920C40D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2FA240-15BF-8915-5F6E-67231826ACF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39C83EB-2516-D011-1C22-8B9A19E4BB2B}"/>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7C49CCA-7123-7E4D-96BE-74BB9D1B415D}"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5174218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GB"/>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4/1/26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4/1/26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GB"/>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4/1/26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4/1/26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GB"/>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4/1/26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4/1/26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4/1/26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GB"/>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4/1/26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GB"/>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4/1/26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4/1/26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GB"/>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4/1/26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4/1/26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7.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2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2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9.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1.xml"/><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2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9.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3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30.xml"/><Relationship Id="rId1" Type="http://schemas.openxmlformats.org/officeDocument/2006/relationships/slideLayout" Target="../slideLayouts/slideLayout7.xml"/><Relationship Id="rId4" Type="http://schemas.openxmlformats.org/officeDocument/2006/relationships/image" Target="../media/image10.png"/></Relationships>
</file>

<file path=ppt/slides/_rels/slide3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31.xml"/><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3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32.xml"/><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3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36.xml"/><Relationship Id="rId1" Type="http://schemas.openxmlformats.org/officeDocument/2006/relationships/slideLayout" Target="../slideLayouts/slideLayout7.xml"/><Relationship Id="rId5" Type="http://schemas.openxmlformats.org/officeDocument/2006/relationships/image" Target="../media/image13.png"/><Relationship Id="rId4" Type="http://schemas.openxmlformats.org/officeDocument/2006/relationships/image" Target="../media/image12.png"/></Relationships>
</file>

<file path=ppt/slides/_rels/slide4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1.xml"/><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4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2.xml"/><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4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3.xml"/><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4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4.xml"/><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4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5.xml"/><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4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3.xml"/><Relationship Id="rId1" Type="http://schemas.openxmlformats.org/officeDocument/2006/relationships/slideLayout" Target="../slideLayouts/slideLayout7.xml"/><Relationship Id="rId4" Type="http://schemas.openxmlformats.org/officeDocument/2006/relationships/image" Target="../media/image17.png"/></Relationships>
</file>

<file path=ppt/slides/_rels/slide5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5.xml"/><Relationship Id="rId1" Type="http://schemas.openxmlformats.org/officeDocument/2006/relationships/slideLayout" Target="../slideLayouts/slideLayout7.xml"/><Relationship Id="rId4" Type="http://schemas.openxmlformats.org/officeDocument/2006/relationships/image" Target="../media/image18.png"/></Relationships>
</file>

<file path=ppt/slides/_rels/slide5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6.xml"/><Relationship Id="rId1" Type="http://schemas.openxmlformats.org/officeDocument/2006/relationships/slideLayout" Target="../slideLayouts/slideLayout7.xml"/><Relationship Id="rId5" Type="http://schemas.openxmlformats.org/officeDocument/2006/relationships/image" Target="../media/image20.png"/><Relationship Id="rId4" Type="http://schemas.openxmlformats.org/officeDocument/2006/relationships/image" Target="../media/image19.png"/></Relationships>
</file>

<file path=ppt/slides/_rels/slide60.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7.xml"/><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63.xml"/><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64.xml"/><Relationship Id="rId1" Type="http://schemas.openxmlformats.org/officeDocument/2006/relationships/slideLayout" Target="../slideLayouts/slideLayout7.xml"/><Relationship Id="rId4" Type="http://schemas.openxmlformats.org/officeDocument/2006/relationships/image" Target="../media/image21.png"/></Relationships>
</file>

<file path=ppt/slides/_rels/slide7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65.xml"/><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66.xml"/><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67.xml"/><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68.xml"/><Relationship Id="rId1" Type="http://schemas.openxmlformats.org/officeDocument/2006/relationships/slideLayout" Target="../slideLayouts/slideLayout7.xml"/><Relationship Id="rId4" Type="http://schemas.openxmlformats.org/officeDocument/2006/relationships/image" Target="../media/image22.png"/></Relationships>
</file>

<file path=ppt/slides/_rels/slide76.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69.xml"/><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70.xml"/><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71.xml"/><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72.xml"/><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73.xml"/><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8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74.xml"/><Relationship Id="rId1" Type="http://schemas.openxmlformats.org/officeDocument/2006/relationships/slideLayout" Target="../slideLayouts/slideLayout7.xml"/><Relationship Id="rId4" Type="http://schemas.openxmlformats.org/officeDocument/2006/relationships/image" Target="../media/image24.png"/></Relationships>
</file>

<file path=ppt/slides/_rels/slide8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75.xml"/><Relationship Id="rId1" Type="http://schemas.openxmlformats.org/officeDocument/2006/relationships/slideLayout" Target="../slideLayouts/slideLayout7.xml"/><Relationship Id="rId4" Type="http://schemas.openxmlformats.org/officeDocument/2006/relationships/image" Target="../media/image25.png"/></Relationships>
</file>

<file path=ppt/slides/_rels/slide8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76.xml"/><Relationship Id="rId1" Type="http://schemas.openxmlformats.org/officeDocument/2006/relationships/slideLayout" Target="../slideLayouts/slideLayout7.xml"/><Relationship Id="rId4" Type="http://schemas.openxmlformats.org/officeDocument/2006/relationships/image" Target="../media/image26.png"/></Relationships>
</file>

<file path=ppt/slides/_rels/slide8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77.xml"/><Relationship Id="rId1" Type="http://schemas.openxmlformats.org/officeDocument/2006/relationships/slideLayout" Target="../slideLayouts/slideLayout7.xml"/><Relationship Id="rId4" Type="http://schemas.openxmlformats.org/officeDocument/2006/relationships/image" Target="../media/image27.png"/></Relationships>
</file>

<file path=ppt/slides/_rels/slide86.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3.svg"/><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3.svg"/><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3.svg"/><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sv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78.xml"/><Relationship Id="rId1" Type="http://schemas.openxmlformats.org/officeDocument/2006/relationships/slideLayout" Target="../slideLayouts/slideLayout7.xml"/><Relationship Id="rId4" Type="http://schemas.openxmlformats.org/officeDocument/2006/relationships/image" Target="../media/image32.png"/></Relationships>
</file>

<file path=ppt/slides/_rels/slide9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sv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8" Type="http://schemas.openxmlformats.org/officeDocument/2006/relationships/hyperlink" Target="https://github.com/openinterpreter/open-interpreter" TargetMode="External"/><Relationship Id="rId13" Type="http://schemas.openxmlformats.org/officeDocument/2006/relationships/hyperlink" Target="https://github.com/NousResearch/hermes-agent" TargetMode="External"/><Relationship Id="rId3" Type="http://schemas.openxmlformats.org/officeDocument/2006/relationships/hyperlink" Target="https://github.com/cline/cline" TargetMode="External"/><Relationship Id="rId7" Type="http://schemas.openxmlformats.org/officeDocument/2006/relationships/hyperlink" Target="https://github.com/assafelovic/gpt-researcher" TargetMode="External"/><Relationship Id="rId12" Type="http://schemas.openxmlformats.org/officeDocument/2006/relationships/hyperlink" Target="https://github.com/microsoft/semantic-kernel" TargetMode="External"/><Relationship Id="rId2" Type="http://schemas.openxmlformats.org/officeDocument/2006/relationships/image" Target="../media/image3.svg"/><Relationship Id="rId1" Type="http://schemas.openxmlformats.org/officeDocument/2006/relationships/slideLayout" Target="../slideLayouts/slideLayout7.xml"/><Relationship Id="rId6" Type="http://schemas.openxmlformats.org/officeDocument/2006/relationships/hyperlink" Target="https://github.com/yoheinakajima/babyagi" TargetMode="External"/><Relationship Id="rId11" Type="http://schemas.openxmlformats.org/officeDocument/2006/relationships/hyperlink" Target="https://github.com/mudler/LocalAI" TargetMode="External"/><Relationship Id="rId5" Type="http://schemas.openxmlformats.org/officeDocument/2006/relationships/hyperlink" Target="https://github.com/Significant-Gravitas/AutoGPT" TargetMode="External"/><Relationship Id="rId10" Type="http://schemas.openxmlformats.org/officeDocument/2006/relationships/hyperlink" Target="https://github.com/FlowiseAI/Flowise" TargetMode="External"/><Relationship Id="rId4" Type="http://schemas.openxmlformats.org/officeDocument/2006/relationships/hyperlink" Target="https://github.com/Roy3838/Observer" TargetMode="External"/><Relationship Id="rId9" Type="http://schemas.openxmlformats.org/officeDocument/2006/relationships/hyperlink" Target="https://github.com/Josh-XT/AGiXT" TargetMode="External"/></Relationships>
</file>

<file path=ppt/slides/_rels/slide97.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hyperlink" Target="https://medium.com/@pragyashukla2580/rag-retrieval-augmented-generation-for-your-own-documents-5e024267140e" TargetMode="External"/><Relationship Id="rId2" Type="http://schemas.openxmlformats.org/officeDocument/2006/relationships/notesSlide" Target="../notesSlides/notesSlide79.xml"/><Relationship Id="rId1" Type="http://schemas.openxmlformats.org/officeDocument/2006/relationships/slideLayout" Target="../slideLayouts/slideLayout7.xml"/><Relationship Id="rId6" Type="http://schemas.openxmlformats.org/officeDocument/2006/relationships/hyperlink" Target="https://huggingface.co/" TargetMode="External"/><Relationship Id="rId5" Type="http://schemas.openxmlformats.org/officeDocument/2006/relationships/hyperlink" Target="https://www.anthropic.com/engineering/building-effective-agents" TargetMode="External"/><Relationship Id="rId4" Type="http://schemas.openxmlformats.org/officeDocument/2006/relationships/hyperlink" Target="https://medium.com/@rbhatia46/cross-encoders-vs-bi-encoders-a-deep-dive-into-text-encoding-methods-d9aa890d6ca4" TargetMode="External"/></Relationships>
</file>

<file path=ppt/slides/_rels/slide98.xml.rels><?xml version="1.0" encoding="UTF-8" standalone="yes"?>
<Relationships xmlns="http://schemas.openxmlformats.org/package/2006/relationships"><Relationship Id="rId8" Type="http://schemas.openxmlformats.org/officeDocument/2006/relationships/hyperlink" Target="https://next.redhat.com/2025/11/26/tool-rag-the-next-breakthrough-in-scalable-ai-agents/" TargetMode="External"/><Relationship Id="rId3" Type="http://schemas.openxmlformats.org/officeDocument/2006/relationships/image" Target="../media/image3.svg"/><Relationship Id="rId7" Type="http://schemas.openxmlformats.org/officeDocument/2006/relationships/hyperlink" Target="https://arxiv.org/pdf/2505.03275" TargetMode="External"/><Relationship Id="rId2" Type="http://schemas.openxmlformats.org/officeDocument/2006/relationships/notesSlide" Target="../notesSlides/notesSlide80.xml"/><Relationship Id="rId1" Type="http://schemas.openxmlformats.org/officeDocument/2006/relationships/slideLayout" Target="../slideLayouts/slideLayout7.xml"/><Relationship Id="rId6" Type="http://schemas.openxmlformats.org/officeDocument/2006/relationships/hyperlink" Target="https://www.anthropic.com/engineering/code-execution-with-mcp" TargetMode="External"/><Relationship Id="rId5" Type="http://schemas.openxmlformats.org/officeDocument/2006/relationships/hyperlink" Target="https://www.anthropic.com/engineering/advanced-tool-use" TargetMode="External"/><Relationship Id="rId4" Type="http://schemas.openxmlformats.org/officeDocument/2006/relationships/hyperlink" Target="https://platform.claude.com/docs/en/agents-and-tools/tool-use/tool-search-tool" TargetMode="External"/><Relationship Id="rId9" Type="http://schemas.openxmlformats.org/officeDocument/2006/relationships/hyperlink" Target="https://spring.io/blog/2025/12/11/spring-ai-tool-search-tools-tzolov/" TargetMode="External"/></Relationships>
</file>

<file path=ppt/slides/_rels/slide99.xml.rels><?xml version="1.0" encoding="UTF-8" standalone="yes"?>
<Relationships xmlns="http://schemas.openxmlformats.org/package/2006/relationships"><Relationship Id="rId8" Type="http://schemas.openxmlformats.org/officeDocument/2006/relationships/hyperlink" Target="https://www.atcyrus.com/stories/mcp-tool-search-claude-code-context-pollution-guide" TargetMode="External"/><Relationship Id="rId3" Type="http://schemas.openxmlformats.org/officeDocument/2006/relationships/image" Target="../media/image3.svg"/><Relationship Id="rId7" Type="http://schemas.openxmlformats.org/officeDocument/2006/relationships/hyperlink" Target="https://dev.to/sonaiengine/i-built-a-graph-based-tool-search-engine-for-llm-agents-heres-what-i-learned-after-1068-tools-4fj4" TargetMode="External"/><Relationship Id="rId2" Type="http://schemas.openxmlformats.org/officeDocument/2006/relationships/notesSlide" Target="../notesSlides/notesSlide81.xml"/><Relationship Id="rId1" Type="http://schemas.openxmlformats.org/officeDocument/2006/relationships/slideLayout" Target="../slideLayouts/slideLayout7.xml"/><Relationship Id="rId6" Type="http://schemas.openxmlformats.org/officeDocument/2006/relationships/hyperlink" Target="https://arxiv.org/html/2602.20426v1" TargetMode="External"/><Relationship Id="rId5" Type="http://schemas.openxmlformats.org/officeDocument/2006/relationships/hyperlink" Target="https://arxiv.org/abs/2307.16789" TargetMode="External"/><Relationship Id="rId4" Type="http://schemas.openxmlformats.org/officeDocument/2006/relationships/hyperlink" Target="https://arxiv.org/abs/2405.17935" TargetMode="External"/><Relationship Id="rId9" Type="http://schemas.openxmlformats.org/officeDocument/2006/relationships/hyperlink" Target="https://www.mmntm.net/articles/mcp-context-tax" TargetMode="External"/></Relationships>
</file>

<file path=ppt/slides/_rels/slide100.xml.rels><?xml version="1.0" encoding="UTF-8" standalone="yes"?>
<Relationships xmlns="http://schemas.openxmlformats.org/package/2006/relationships"><Relationship Id="rId3" Type="http://schemas.openxmlformats.org/officeDocument/2006/relationships/image" Target="../media/image35.jpeg"/><Relationship Id="rId2" Type="http://schemas.openxmlformats.org/officeDocument/2006/relationships/image" Target="../media/image34.svg"/><Relationship Id="rId1" Type="http://schemas.openxmlformats.org/officeDocument/2006/relationships/slideLayout" Target="../slideLayouts/slideLayout7.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p:cNvGrpSpPr/>
        <p:nvPr/>
      </p:nvGrpSpPr>
      <p:grpSpPr>
        <a:xfrm>
          <a:off x="0" y="0"/>
          <a:ext cx="0" cy="0"/>
          <a:chOff x="0" y="0"/>
          <a:chExt cx="0" cy="0"/>
        </a:xfrm>
      </p:grpSpPr>
      <p:grpSp>
        <p:nvGrpSpPr>
          <p:cNvPr id="3" name="Group 3"/>
          <p:cNvGrpSpPr>
            <a:grpSpLocks noChangeAspect="1"/>
          </p:cNvGrpSpPr>
          <p:nvPr/>
        </p:nvGrpSpPr>
        <p:grpSpPr>
          <a:xfrm>
            <a:off x="10380940" y="649592"/>
            <a:ext cx="7516996" cy="8987817"/>
            <a:chOff x="0" y="0"/>
            <a:chExt cx="8603361" cy="10286746"/>
          </a:xfrm>
        </p:grpSpPr>
        <p:sp>
          <p:nvSpPr>
            <p:cNvPr id="4" name="Freeform 4"/>
            <p:cNvSpPr/>
            <p:nvPr/>
          </p:nvSpPr>
          <p:spPr>
            <a:xfrm flipH="1">
              <a:off x="-50" y="-128"/>
              <a:ext cx="8606155" cy="10286874"/>
            </a:xfrm>
            <a:custGeom>
              <a:avLst/>
              <a:gdLst/>
              <a:ahLst/>
              <a:cxnLst/>
              <a:rect l="l" t="t" r="r" b="b"/>
              <a:pathLst>
                <a:path w="8606155" h="10286874">
                  <a:moveTo>
                    <a:pt x="0" y="10251441"/>
                  </a:moveTo>
                  <a:cubicBezTo>
                    <a:pt x="0" y="10284588"/>
                    <a:pt x="10668" y="10286874"/>
                    <a:pt x="38481" y="10286874"/>
                  </a:cubicBezTo>
                  <a:cubicBezTo>
                    <a:pt x="2893060" y="10286239"/>
                    <a:pt x="5747512" y="10286239"/>
                    <a:pt x="8602091" y="10286239"/>
                  </a:cubicBezTo>
                  <a:cubicBezTo>
                    <a:pt x="8606155" y="10272396"/>
                    <a:pt x="8599805" y="10259823"/>
                    <a:pt x="8596884" y="10246996"/>
                  </a:cubicBezTo>
                  <a:cubicBezTo>
                    <a:pt x="8471408" y="9685402"/>
                    <a:pt x="8345805" y="9123935"/>
                    <a:pt x="8219948" y="8562467"/>
                  </a:cubicBezTo>
                  <a:cubicBezTo>
                    <a:pt x="8040497" y="7761986"/>
                    <a:pt x="7860665" y="6961633"/>
                    <a:pt x="7681341" y="6161151"/>
                  </a:cubicBezTo>
                  <a:cubicBezTo>
                    <a:pt x="7459853" y="5172583"/>
                    <a:pt x="7238873" y="4184015"/>
                    <a:pt x="7017512" y="3195574"/>
                  </a:cubicBezTo>
                  <a:cubicBezTo>
                    <a:pt x="6792595" y="2191385"/>
                    <a:pt x="6567551" y="1187323"/>
                    <a:pt x="6341999" y="183261"/>
                  </a:cubicBezTo>
                  <a:cubicBezTo>
                    <a:pt x="6328283" y="122174"/>
                    <a:pt x="6319520" y="59690"/>
                    <a:pt x="6297295" y="635"/>
                  </a:cubicBezTo>
                  <a:cubicBezTo>
                    <a:pt x="4210939" y="635"/>
                    <a:pt x="2124583" y="635"/>
                    <a:pt x="38227" y="0"/>
                  </a:cubicBezTo>
                  <a:cubicBezTo>
                    <a:pt x="9906" y="0"/>
                    <a:pt x="254" y="3429"/>
                    <a:pt x="254" y="35814"/>
                  </a:cubicBezTo>
                  <a:cubicBezTo>
                    <a:pt x="1016" y="3441066"/>
                    <a:pt x="1016" y="6846317"/>
                    <a:pt x="0" y="10251441"/>
                  </a:cubicBezTo>
                  <a:close/>
                </a:path>
              </a:pathLst>
            </a:custGeom>
            <a:blipFill>
              <a:blip r:embed="rId2"/>
              <a:stretch>
                <a:fillRect l="-39675" r="-39675"/>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grpSp>
      <p:sp>
        <p:nvSpPr>
          <p:cNvPr id="6" name="Freeform 6"/>
          <p:cNvSpPr/>
          <p:nvPr/>
        </p:nvSpPr>
        <p:spPr>
          <a:xfrm>
            <a:off x="1208647" y="1109531"/>
            <a:ext cx="1182028" cy="1073533"/>
          </a:xfrm>
          <a:custGeom>
            <a:avLst/>
            <a:gdLst/>
            <a:ahLst/>
            <a:cxnLst/>
            <a:rect l="l" t="t" r="r" b="b"/>
            <a:pathLst>
              <a:path w="1182028" h="1073533">
                <a:moveTo>
                  <a:pt x="0" y="0"/>
                </a:moveTo>
                <a:lnTo>
                  <a:pt x="1182028" y="0"/>
                </a:lnTo>
                <a:lnTo>
                  <a:pt x="1182028" y="1073533"/>
                </a:lnTo>
                <a:lnTo>
                  <a:pt x="0" y="1073533"/>
                </a:lnTo>
                <a:lnTo>
                  <a:pt x="0" y="0"/>
                </a:lnTo>
                <a:close/>
              </a:path>
            </a:pathLst>
          </a:custGeom>
          <a:blipFill>
            <a:blip r:embed="rId3"/>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sp>
        <p:nvSpPr>
          <p:cNvPr id="7" name="TextBox 7"/>
          <p:cNvSpPr txBox="1"/>
          <p:nvPr/>
        </p:nvSpPr>
        <p:spPr>
          <a:xfrm>
            <a:off x="1573748" y="3625154"/>
            <a:ext cx="14771052" cy="1666097"/>
          </a:xfrm>
          <a:prstGeom prst="rect">
            <a:avLst/>
          </a:prstGeom>
        </p:spPr>
        <p:txBody>
          <a:bodyPr wrap="square" lIns="0" tIns="0" rIns="0" bIns="0" rtlCol="0" anchor="t">
            <a:spAutoFit/>
          </a:bodyPr>
          <a:lstStyle/>
          <a:p>
            <a:pPr marL="0" marR="0" lvl="0" indent="0" algn="l" defTabSz="914400" rtl="0" eaLnBrk="1" fontAlgn="auto" latinLnBrk="0" hangingPunct="1">
              <a:lnSpc>
                <a:spcPts val="12968"/>
              </a:lnSpc>
              <a:spcBef>
                <a:spcPts val="0"/>
              </a:spcBef>
              <a:spcAft>
                <a:spcPts val="0"/>
              </a:spcAft>
              <a:buClrTx/>
              <a:buSzTx/>
              <a:buFontTx/>
              <a:buNone/>
              <a:tabLst/>
              <a:defRPr/>
            </a:pPr>
            <a:r>
              <a:rPr kumimoji="0" lang="en-US" sz="10010" b="0" i="0" u="none" strike="noStrike" kern="1200" cap="none" spc="0" normalizeH="0" baseline="0" noProof="0" dirty="0">
                <a:ln>
                  <a:noFill/>
                </a:ln>
                <a:solidFill>
                  <a:srgbClr val="FFFBFB"/>
                </a:solidFill>
                <a:effectLst/>
                <a:uLnTx/>
                <a:uFillTx/>
                <a:latin typeface="Now Bold"/>
                <a:ea typeface="+mn-ea"/>
                <a:cs typeface="+mn-cs"/>
              </a:rPr>
              <a:t>AGENTIC SYSTEMS</a:t>
            </a:r>
          </a:p>
        </p:txBody>
      </p:sp>
      <p:sp>
        <p:nvSpPr>
          <p:cNvPr id="8" name="TextBox 8"/>
          <p:cNvSpPr txBox="1"/>
          <p:nvPr/>
        </p:nvSpPr>
        <p:spPr>
          <a:xfrm>
            <a:off x="2598623" y="1245875"/>
            <a:ext cx="6889045" cy="788934"/>
          </a:xfrm>
          <a:prstGeom prst="rect">
            <a:avLst/>
          </a:prstGeom>
        </p:spPr>
        <p:txBody>
          <a:bodyPr lIns="0" tIns="0" rIns="0" bIns="0" rtlCol="0" anchor="t">
            <a:spAutoFit/>
          </a:bodyPr>
          <a:lstStyle/>
          <a:p>
            <a:pPr marL="0" marR="0" lvl="0" indent="0" algn="l" defTabSz="914400" rtl="0" eaLnBrk="1" fontAlgn="auto" latinLnBrk="0" hangingPunct="1">
              <a:lnSpc>
                <a:spcPts val="3131"/>
              </a:lnSpc>
              <a:spcBef>
                <a:spcPts val="0"/>
              </a:spcBef>
              <a:spcAft>
                <a:spcPts val="0"/>
              </a:spcAft>
              <a:buClrTx/>
              <a:buSzTx/>
              <a:buFontTx/>
              <a:buNone/>
              <a:tabLst/>
              <a:defRPr/>
            </a:pPr>
            <a:r>
              <a:rPr kumimoji="0" lang="en-US" sz="2545" b="0" i="0" u="none" strike="noStrike" kern="1200" cap="none" spc="-50" normalizeH="0" baseline="0" noProof="0" dirty="0">
                <a:ln>
                  <a:noFill/>
                </a:ln>
                <a:solidFill>
                  <a:srgbClr val="FDFEFE"/>
                </a:solidFill>
                <a:effectLst/>
                <a:uLnTx/>
                <a:uFillTx/>
                <a:latin typeface="DM Sans" pitchFamily="2" charset="0"/>
                <a:ea typeface="+mn-ea"/>
                <a:cs typeface="+mn-cs"/>
              </a:rPr>
              <a:t>ARC Training Centre for Behavioural </a:t>
            </a:r>
          </a:p>
          <a:p>
            <a:pPr marL="0" marR="0" lvl="0" indent="0" algn="l" defTabSz="914400" rtl="0" eaLnBrk="1" fontAlgn="auto" latinLnBrk="0" hangingPunct="1">
              <a:lnSpc>
                <a:spcPts val="3131"/>
              </a:lnSpc>
              <a:spcBef>
                <a:spcPts val="0"/>
              </a:spcBef>
              <a:spcAft>
                <a:spcPts val="0"/>
              </a:spcAft>
              <a:buClrTx/>
              <a:buSzTx/>
              <a:buFontTx/>
              <a:buNone/>
              <a:tabLst/>
              <a:defRPr/>
            </a:pPr>
            <a:r>
              <a:rPr kumimoji="0" lang="en-US" sz="2545" b="0" i="0" u="none" strike="noStrike" kern="1200" cap="none" spc="-50" normalizeH="0" baseline="0" noProof="0" dirty="0">
                <a:ln>
                  <a:noFill/>
                </a:ln>
                <a:solidFill>
                  <a:srgbClr val="FDFEFE"/>
                </a:solidFill>
                <a:effectLst/>
                <a:uLnTx/>
                <a:uFillTx/>
                <a:latin typeface="DM Sans" pitchFamily="2" charset="0"/>
                <a:ea typeface="+mn-ea"/>
                <a:cs typeface="+mn-cs"/>
              </a:rPr>
              <a:t>Insights for Technology Adoption</a:t>
            </a:r>
          </a:p>
        </p:txBody>
      </p:sp>
      <p:sp>
        <p:nvSpPr>
          <p:cNvPr id="9" name="TextBox 9"/>
          <p:cNvSpPr txBox="1"/>
          <p:nvPr/>
        </p:nvSpPr>
        <p:spPr>
          <a:xfrm>
            <a:off x="1573748" y="5327661"/>
            <a:ext cx="9659937" cy="860107"/>
          </a:xfrm>
          <a:prstGeom prst="rect">
            <a:avLst/>
          </a:prstGeom>
        </p:spPr>
        <p:txBody>
          <a:bodyPr lIns="0" tIns="0" rIns="0" bIns="0" rtlCol="0" anchor="t">
            <a:spAutoFit/>
          </a:bodyPr>
          <a:lstStyle/>
          <a:p>
            <a:pPr marL="0" marR="0" lvl="0" indent="0" algn="l" defTabSz="914400" rtl="0" eaLnBrk="1" fontAlgn="auto" latinLnBrk="0" hangingPunct="1">
              <a:lnSpc>
                <a:spcPts val="6729"/>
              </a:lnSpc>
              <a:spcBef>
                <a:spcPts val="0"/>
              </a:spcBef>
              <a:spcAft>
                <a:spcPts val="0"/>
              </a:spcAft>
              <a:buClrTx/>
              <a:buSzTx/>
              <a:buFontTx/>
              <a:buNone/>
              <a:tabLst/>
              <a:defRPr/>
            </a:pPr>
            <a:r>
              <a:rPr kumimoji="0" lang="en-US" sz="5607" b="0" i="0" u="none" strike="noStrike" kern="1200" cap="none" spc="0" normalizeH="0" baseline="0" noProof="0" dirty="0">
                <a:ln>
                  <a:noFill/>
                </a:ln>
                <a:solidFill>
                  <a:srgbClr val="0CC0DF"/>
                </a:solidFill>
                <a:effectLst/>
                <a:uLnTx/>
                <a:uFillTx/>
                <a:latin typeface="Now Bold"/>
                <a:ea typeface="+mn-ea"/>
                <a:cs typeface="+mn-cs"/>
              </a:rPr>
              <a:t>A SHORT INTRODUCTION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p:cNvGrpSpPr/>
        <p:nvPr/>
      </p:nvGrpSpPr>
      <p:grpSpPr>
        <a:xfrm>
          <a:off x="0" y="0"/>
          <a:ext cx="0" cy="0"/>
          <a:chOff x="0" y="0"/>
          <a:chExt cx="0" cy="0"/>
        </a:xfrm>
      </p:grpSpPr>
      <p:sp>
        <p:nvSpPr>
          <p:cNvPr id="2" name="Freeform 2"/>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p:cNvSpPr/>
          <p:nvPr/>
        </p:nvSpPr>
        <p:spPr>
          <a:xfrm>
            <a:off x="-865112" y="8383860"/>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p:cNvSpPr txBox="1"/>
          <p:nvPr/>
        </p:nvSpPr>
        <p:spPr>
          <a:xfrm>
            <a:off x="1598731" y="1229280"/>
            <a:ext cx="10753172" cy="925253"/>
          </a:xfrm>
          <a:prstGeom prst="rect">
            <a:avLst/>
          </a:prstGeom>
        </p:spPr>
        <p:txBody>
          <a:bodyPr wrap="square" lIns="0" tIns="0" rIns="0" bIns="0" rtlCol="0" anchor="t">
            <a:spAutoFit/>
          </a:bodyPr>
          <a:lstStyle/>
          <a:p>
            <a:pPr marL="0" lvl="0" indent="0">
              <a:lnSpc>
                <a:spcPts val="7711"/>
              </a:lnSpc>
              <a:spcBef>
                <a:spcPct val="0"/>
              </a:spcBef>
            </a:pPr>
            <a:r>
              <a:rPr lang="en-US" sz="4800" dirty="0">
                <a:solidFill>
                  <a:srgbClr val="0CC0DF"/>
                </a:solidFill>
                <a:latin typeface="Now Bold"/>
              </a:rPr>
              <a:t>Content </a:t>
            </a:r>
          </a:p>
        </p:txBody>
      </p:sp>
      <p:sp>
        <p:nvSpPr>
          <p:cNvPr id="10" name="TextBox 10"/>
          <p:cNvSpPr txBox="1"/>
          <p:nvPr/>
        </p:nvSpPr>
        <p:spPr>
          <a:xfrm>
            <a:off x="1670962" y="2139322"/>
            <a:ext cx="9889076" cy="12071638"/>
          </a:xfrm>
          <a:prstGeom prst="rect">
            <a:avLst/>
          </a:prstGeom>
        </p:spPr>
        <p:txBody>
          <a:bodyPr wrap="square" lIns="0" tIns="0" rIns="0" bIns="0" rtlCol="0" anchor="t">
            <a:spAutoFit/>
          </a:bodyPr>
          <a:lstStyle/>
          <a:p>
            <a:pPr marL="342900" indent="-342900">
              <a:buFont typeface="Arial" panose="020B0604020202020204" pitchFamily="34" charset="0"/>
              <a:buChar char="•"/>
            </a:pPr>
            <a:r>
              <a:rPr lang="en-AU" sz="2479" spc="-49" dirty="0">
                <a:solidFill>
                  <a:srgbClr val="FFFFFF"/>
                </a:solidFill>
                <a:latin typeface="DM Sans"/>
              </a:rPr>
              <a:t>PART 1: Foundations of Agentic Systems</a:t>
            </a:r>
          </a:p>
          <a:p>
            <a:pPr marL="342900" indent="-342900">
              <a:buFont typeface="Arial" panose="020B0604020202020204" pitchFamily="34" charset="0"/>
              <a:buChar char="•"/>
            </a:pPr>
            <a:r>
              <a:rPr lang="en-AU" sz="2479" spc="-49" dirty="0">
                <a:solidFill>
                  <a:srgbClr val="FFFFFF"/>
                </a:solidFill>
                <a:latin typeface="DM Sans"/>
              </a:rPr>
              <a:t>What Is an Agent? </a:t>
            </a:r>
          </a:p>
          <a:p>
            <a:pPr marL="800100" lvl="1" indent="-342900">
              <a:buFont typeface="Arial" panose="020B0604020202020204" pitchFamily="34" charset="0"/>
              <a:buChar char="•"/>
            </a:pPr>
            <a:r>
              <a:rPr lang="en-AU" sz="2479" spc="-49" dirty="0">
                <a:solidFill>
                  <a:srgbClr val="FFFFFF"/>
                </a:solidFill>
                <a:latin typeface="DM Sans"/>
              </a:rPr>
              <a:t>Definitions: workflows vs agents</a:t>
            </a:r>
          </a:p>
          <a:p>
            <a:pPr marL="800100" lvl="1" indent="-342900">
              <a:buFont typeface="Arial" panose="020B0604020202020204" pitchFamily="34" charset="0"/>
              <a:buChar char="•"/>
            </a:pPr>
            <a:r>
              <a:rPr lang="en-AU" sz="2479" spc="-49" dirty="0">
                <a:solidFill>
                  <a:srgbClr val="FFFFFF"/>
                </a:solidFill>
                <a:latin typeface="DM Sans"/>
              </a:rPr>
              <a:t>When to use agentic systems</a:t>
            </a:r>
          </a:p>
          <a:p>
            <a:pPr marL="342900" indent="-342900">
              <a:buFont typeface="Arial" panose="020B0604020202020204" pitchFamily="34" charset="0"/>
              <a:buChar char="•"/>
            </a:pPr>
            <a:r>
              <a:rPr lang="en-AU" sz="2479" spc="-49" dirty="0">
                <a:solidFill>
                  <a:srgbClr val="FFFFFF"/>
                </a:solidFill>
                <a:latin typeface="DM Sans"/>
              </a:rPr>
              <a:t>Agents use case</a:t>
            </a:r>
          </a:p>
          <a:p>
            <a:pPr marL="342900" indent="-342900">
              <a:buFont typeface="Arial" panose="020B0604020202020204" pitchFamily="34" charset="0"/>
              <a:buChar char="•"/>
            </a:pPr>
            <a:r>
              <a:rPr lang="en-AU" sz="2479" spc="-49" dirty="0">
                <a:solidFill>
                  <a:srgbClr val="FFFFFF"/>
                </a:solidFill>
                <a:latin typeface="DM Sans"/>
              </a:rPr>
              <a:t>LLM vs Agent: What Is the Difference?</a:t>
            </a:r>
          </a:p>
          <a:p>
            <a:pPr marL="342900" indent="-342900">
              <a:buFont typeface="Arial" panose="020B0604020202020204" pitchFamily="34" charset="0"/>
              <a:buChar char="•"/>
            </a:pPr>
            <a:r>
              <a:rPr lang="en-AU" sz="2479" spc="-49" dirty="0">
                <a:solidFill>
                  <a:srgbClr val="FFFFFF"/>
                </a:solidFill>
                <a:latin typeface="DM Sans"/>
              </a:rPr>
              <a:t>Components of an Agentic System </a:t>
            </a:r>
          </a:p>
          <a:p>
            <a:pPr marL="800100" lvl="1" indent="-342900">
              <a:buFont typeface="Arial" panose="020B0604020202020204" pitchFamily="34" charset="0"/>
              <a:buChar char="•"/>
            </a:pPr>
            <a:r>
              <a:rPr lang="en-AU" sz="2479" spc="-49" dirty="0">
                <a:solidFill>
                  <a:srgbClr val="FFFFFF"/>
                </a:solidFill>
                <a:latin typeface="DM Sans"/>
              </a:rPr>
              <a:t>LLM</a:t>
            </a:r>
          </a:p>
          <a:p>
            <a:pPr marL="800100" lvl="1" indent="-342900">
              <a:buFont typeface="Arial" panose="020B0604020202020204" pitchFamily="34" charset="0"/>
              <a:buChar char="•"/>
            </a:pPr>
            <a:r>
              <a:rPr lang="en-AU" sz="2479" spc="-49" dirty="0">
                <a:solidFill>
                  <a:srgbClr val="FFFFFF"/>
                </a:solidFill>
                <a:latin typeface="DM Sans"/>
              </a:rPr>
              <a:t>Tools</a:t>
            </a:r>
          </a:p>
          <a:p>
            <a:pPr marL="800100" lvl="1" indent="-342900">
              <a:buFont typeface="Arial" panose="020B0604020202020204" pitchFamily="34" charset="0"/>
              <a:buChar char="•"/>
            </a:pPr>
            <a:r>
              <a:rPr lang="en-AU" sz="2479" spc="-49" dirty="0">
                <a:solidFill>
                  <a:srgbClr val="FFFFFF"/>
                </a:solidFill>
                <a:latin typeface="DM Sans"/>
              </a:rPr>
              <a:t>Workflow / Orchestration</a:t>
            </a: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lvl="1">
              <a:lnSpc>
                <a:spcPts val="3422"/>
              </a:lnSpc>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lvl="1">
              <a:lnSpc>
                <a:spcPts val="3422"/>
              </a:lnSpc>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1400" spc="-49" dirty="0">
              <a:solidFill>
                <a:srgbClr val="FFFFFF"/>
              </a:solidFill>
              <a:latin typeface="DM Sans"/>
            </a:endParaRPr>
          </a:p>
          <a:p>
            <a:pPr>
              <a:lnSpc>
                <a:spcPts val="3284"/>
              </a:lnSpc>
            </a:pPr>
            <a:endParaRPr lang="en-US" sz="2479" spc="-49" dirty="0">
              <a:solidFill>
                <a:srgbClr val="FFFFFF"/>
              </a:solidFill>
              <a:latin typeface="DM Sans"/>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927FC0EA-CAE1-5CA6-A9E1-C00DA86E78CF}"/>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29F94012-2960-1933-1CCD-BAEBE343B99E}"/>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1A1FE82B-0905-1476-0543-AB9B3354FB41}"/>
              </a:ext>
            </a:extLst>
          </p:cNvPr>
          <p:cNvSpPr/>
          <p:nvPr/>
        </p:nvSpPr>
        <p:spPr>
          <a:xfrm>
            <a:off x="-865112" y="8383860"/>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668A18B0-4D40-0E82-8C56-76A42EAC0C73}"/>
              </a:ext>
            </a:extLst>
          </p:cNvPr>
          <p:cNvSpPr txBox="1"/>
          <p:nvPr/>
        </p:nvSpPr>
        <p:spPr>
          <a:xfrm>
            <a:off x="1598731" y="967036"/>
            <a:ext cx="10753172" cy="925253"/>
          </a:xfrm>
          <a:prstGeom prst="rect">
            <a:avLst/>
          </a:prstGeom>
        </p:spPr>
        <p:txBody>
          <a:bodyPr wrap="square" lIns="0" tIns="0" rIns="0" bIns="0" rtlCol="0" anchor="t">
            <a:spAutoFit/>
          </a:bodyPr>
          <a:lstStyle/>
          <a:p>
            <a:pPr marL="0" lvl="0" indent="0">
              <a:lnSpc>
                <a:spcPts val="7711"/>
              </a:lnSpc>
              <a:spcBef>
                <a:spcPct val="0"/>
              </a:spcBef>
            </a:pPr>
            <a:r>
              <a:rPr lang="en-US" sz="4800" dirty="0">
                <a:solidFill>
                  <a:srgbClr val="0CC0DF"/>
                </a:solidFill>
                <a:latin typeface="Now Bold"/>
              </a:rPr>
              <a:t>Content </a:t>
            </a:r>
          </a:p>
        </p:txBody>
      </p:sp>
      <p:sp>
        <p:nvSpPr>
          <p:cNvPr id="10" name="TextBox 10">
            <a:extLst>
              <a:ext uri="{FF2B5EF4-FFF2-40B4-BE49-F238E27FC236}">
                <a16:creationId xmlns:a16="http://schemas.microsoft.com/office/drawing/2014/main" id="{E2173646-7E90-CE4A-CF1E-2FD1900D060B}"/>
              </a:ext>
            </a:extLst>
          </p:cNvPr>
          <p:cNvSpPr txBox="1"/>
          <p:nvPr/>
        </p:nvSpPr>
        <p:spPr>
          <a:xfrm>
            <a:off x="2159224" y="1907843"/>
            <a:ext cx="9889076" cy="12289646"/>
          </a:xfrm>
          <a:prstGeom prst="rect">
            <a:avLst/>
          </a:prstGeom>
        </p:spPr>
        <p:txBody>
          <a:bodyPr wrap="square" lIns="0" tIns="0" rIns="0" bIns="0" rtlCol="0" anchor="t">
            <a:spAutoFit/>
          </a:bodyPr>
          <a:lstStyle/>
          <a:p>
            <a:pPr marL="342900" indent="-342900">
              <a:buFont typeface="Arial" panose="020B0604020202020204" pitchFamily="34" charset="0"/>
              <a:buChar char="•"/>
            </a:pPr>
            <a:r>
              <a:rPr lang="en-AU" sz="2479" spc="-49" dirty="0">
                <a:solidFill>
                  <a:srgbClr val="FFFFFF"/>
                </a:solidFill>
                <a:latin typeface="DM Sans"/>
              </a:rPr>
              <a:t>Tools and Tool Calling </a:t>
            </a:r>
          </a:p>
          <a:p>
            <a:pPr marL="800100" lvl="1" indent="-342900">
              <a:buFont typeface="Arial" panose="020B0604020202020204" pitchFamily="34" charset="0"/>
              <a:buChar char="•"/>
            </a:pPr>
            <a:r>
              <a:rPr lang="en-AU" sz="2479" spc="-49" dirty="0">
                <a:solidFill>
                  <a:srgbClr val="FFFFFF"/>
                </a:solidFill>
                <a:latin typeface="DM Sans"/>
              </a:rPr>
              <a:t>What is a tool?</a:t>
            </a:r>
          </a:p>
          <a:p>
            <a:pPr marL="800100" lvl="1" indent="-342900">
              <a:buFont typeface="Arial" panose="020B0604020202020204" pitchFamily="34" charset="0"/>
              <a:buChar char="•"/>
            </a:pPr>
            <a:r>
              <a:rPr lang="en-AU" sz="2479" spc="-49" dirty="0">
                <a:solidFill>
                  <a:srgbClr val="FFFFFF"/>
                </a:solidFill>
                <a:latin typeface="DM Sans"/>
              </a:rPr>
              <a:t>Types of tools</a:t>
            </a:r>
          </a:p>
          <a:p>
            <a:pPr marL="800100" lvl="1" indent="-342900">
              <a:buFont typeface="Arial" panose="020B0604020202020204" pitchFamily="34" charset="0"/>
              <a:buChar char="•"/>
            </a:pPr>
            <a:r>
              <a:rPr lang="en-AU" sz="2479" spc="-49" dirty="0">
                <a:solidFill>
                  <a:srgbClr val="FFFFFF"/>
                </a:solidFill>
                <a:latin typeface="DM Sans"/>
              </a:rPr>
              <a:t>API libraries</a:t>
            </a:r>
          </a:p>
          <a:p>
            <a:pPr marL="800100" lvl="1" indent="-342900">
              <a:buFont typeface="Arial" panose="020B0604020202020204" pitchFamily="34" charset="0"/>
              <a:buChar char="•"/>
            </a:pPr>
            <a:r>
              <a:rPr lang="en-AU" sz="2479" spc="-49" dirty="0">
                <a:solidFill>
                  <a:srgbClr val="FFFFFF"/>
                </a:solidFill>
                <a:latin typeface="DM Sans"/>
              </a:rPr>
              <a:t>Search engines and search services</a:t>
            </a:r>
          </a:p>
          <a:p>
            <a:pPr marL="800100" lvl="1" indent="-342900">
              <a:buFont typeface="Arial" panose="020B0604020202020204" pitchFamily="34" charset="0"/>
              <a:buChar char="•"/>
            </a:pPr>
            <a:r>
              <a:rPr lang="en-AU" sz="2479" spc="-49" dirty="0">
                <a:solidFill>
                  <a:srgbClr val="FFFFFF"/>
                </a:solidFill>
                <a:latin typeface="DM Sans"/>
              </a:rPr>
              <a:t>Retrieval-Augmented Generation (RAG) </a:t>
            </a:r>
          </a:p>
          <a:p>
            <a:pPr marL="1257300" lvl="2" indent="-342900">
              <a:buFont typeface="Arial" panose="020B0604020202020204" pitchFamily="34" charset="0"/>
              <a:buChar char="•"/>
            </a:pPr>
            <a:r>
              <a:rPr lang="en-AU" sz="2479" spc="-49" dirty="0">
                <a:solidFill>
                  <a:srgbClr val="FFFFFF"/>
                </a:solidFill>
                <a:latin typeface="DM Sans"/>
              </a:rPr>
              <a:t>Chunking (with and without overlap)</a:t>
            </a:r>
          </a:p>
          <a:p>
            <a:pPr marL="1257300" lvl="2" indent="-342900">
              <a:buFont typeface="Arial" panose="020B0604020202020204" pitchFamily="34" charset="0"/>
              <a:buChar char="•"/>
            </a:pPr>
            <a:r>
              <a:rPr lang="en-AU" sz="2479" spc="-49" dirty="0">
                <a:solidFill>
                  <a:srgbClr val="FFFFFF"/>
                </a:solidFill>
                <a:latin typeface="DM Sans"/>
              </a:rPr>
              <a:t>Embeddings and semantic similarity</a:t>
            </a:r>
          </a:p>
          <a:p>
            <a:pPr marL="1257300" lvl="2" indent="-342900">
              <a:buFont typeface="Arial" panose="020B0604020202020204" pitchFamily="34" charset="0"/>
              <a:buChar char="•"/>
            </a:pPr>
            <a:r>
              <a:rPr lang="en-AU" sz="2479" spc="-49" dirty="0">
                <a:solidFill>
                  <a:srgbClr val="FFFFFF"/>
                </a:solidFill>
                <a:latin typeface="DM Sans"/>
              </a:rPr>
              <a:t>RAG limitations</a:t>
            </a:r>
          </a:p>
          <a:p>
            <a:pPr marL="1257300" lvl="2" indent="-342900">
              <a:buFont typeface="Arial" panose="020B0604020202020204" pitchFamily="34" charset="0"/>
              <a:buChar char="•"/>
            </a:pPr>
            <a:r>
              <a:rPr lang="en-AU" sz="2479" spc="-49" dirty="0" err="1">
                <a:solidFill>
                  <a:srgbClr val="FFFFFF"/>
                </a:solidFill>
                <a:latin typeface="DM Sans"/>
              </a:rPr>
              <a:t>Rerankers</a:t>
            </a:r>
            <a:r>
              <a:rPr lang="en-AU" sz="2479" spc="-49" dirty="0">
                <a:solidFill>
                  <a:srgbClr val="FFFFFF"/>
                </a:solidFill>
                <a:latin typeface="DM Sans"/>
              </a:rPr>
              <a:t>: Bi-Encoders vs Cross-Encoders</a:t>
            </a:r>
          </a:p>
          <a:p>
            <a:pPr marL="1257300" lvl="2" indent="-342900">
              <a:buFont typeface="Arial" panose="020B0604020202020204" pitchFamily="34" charset="0"/>
              <a:buChar char="•"/>
            </a:pPr>
            <a:r>
              <a:rPr lang="en-AU" sz="2479" spc="-49" dirty="0">
                <a:solidFill>
                  <a:srgbClr val="FFFFFF"/>
                </a:solidFill>
                <a:latin typeface="DM Sans"/>
              </a:rPr>
              <a:t>RAG architectures (embedding only, with reranking, with knowledge graph)</a:t>
            </a:r>
          </a:p>
          <a:p>
            <a:pPr marL="342900" indent="-342900">
              <a:buFont typeface="Arial" panose="020B0604020202020204" pitchFamily="34" charset="0"/>
              <a:buChar char="•"/>
            </a:pPr>
            <a:r>
              <a:rPr lang="en-AU" sz="2479" spc="-49" dirty="0">
                <a:solidFill>
                  <a:srgbClr val="FFFFFF"/>
                </a:solidFill>
                <a:latin typeface="DM Sans"/>
              </a:rPr>
              <a:t>Large Language Models </a:t>
            </a:r>
          </a:p>
          <a:p>
            <a:pPr marL="800100" lvl="1" indent="-342900">
              <a:buFont typeface="Arial" panose="020B0604020202020204" pitchFamily="34" charset="0"/>
              <a:buChar char="•"/>
            </a:pPr>
            <a:r>
              <a:rPr lang="en-AU" sz="2479" spc="-49" dirty="0">
                <a:solidFill>
                  <a:srgbClr val="FFFFFF"/>
                </a:solidFill>
                <a:latin typeface="DM Sans"/>
              </a:rPr>
              <a:t>Model selection criteria</a:t>
            </a:r>
          </a:p>
          <a:p>
            <a:pPr marL="800100" lvl="1" indent="-342900">
              <a:buFont typeface="Arial" panose="020B0604020202020204" pitchFamily="34" charset="0"/>
              <a:buChar char="•"/>
            </a:pPr>
            <a:r>
              <a:rPr lang="en-AU" sz="2479" spc="-49" dirty="0">
                <a:solidFill>
                  <a:srgbClr val="FFFFFF"/>
                </a:solidFill>
                <a:latin typeface="DM Sans"/>
              </a:rPr>
              <a:t>Closed vs open-weight models</a:t>
            </a:r>
          </a:p>
          <a:p>
            <a:pPr marL="800100" lvl="1" indent="-342900">
              <a:buFont typeface="Arial" panose="020B0604020202020204" pitchFamily="34" charset="0"/>
              <a:buChar char="•"/>
            </a:pPr>
            <a:r>
              <a:rPr lang="en-AU" sz="2479" spc="-49" dirty="0">
                <a:solidFill>
                  <a:srgbClr val="FFFFFF"/>
                </a:solidFill>
                <a:latin typeface="DM Sans"/>
              </a:rPr>
              <a:t>Open-weight model types: instruct, reasoning, multimodal, </a:t>
            </a:r>
            <a:r>
              <a:rPr lang="en-AU" sz="2479" spc="-49" dirty="0" err="1">
                <a:solidFill>
                  <a:srgbClr val="FFFFFF"/>
                </a:solidFill>
                <a:latin typeface="DM Sans"/>
              </a:rPr>
              <a:t>MoE</a:t>
            </a:r>
            <a:r>
              <a:rPr lang="en-AU" sz="2479" spc="-49" dirty="0">
                <a:solidFill>
                  <a:srgbClr val="FFFFFF"/>
                </a:solidFill>
                <a:latin typeface="DM Sans"/>
              </a:rPr>
              <a:t>, code-specialised, small models</a:t>
            </a:r>
          </a:p>
          <a:p>
            <a:pPr marL="800100" lvl="1" indent="-342900">
              <a:buFont typeface="Arial" panose="020B0604020202020204" pitchFamily="34" charset="0"/>
              <a:buChar char="•"/>
            </a:pPr>
            <a:r>
              <a:rPr lang="en-AU" sz="2479" spc="-49" dirty="0">
                <a:solidFill>
                  <a:srgbClr val="FFFFFF"/>
                </a:solidFill>
                <a:latin typeface="DM Sans"/>
              </a:rPr>
              <a:t>Model size and quantization</a:t>
            </a:r>
          </a:p>
          <a:p>
            <a:pPr marL="800100" lvl="1" indent="-342900">
              <a:buFont typeface="Arial" panose="020B0604020202020204" pitchFamily="34" charset="0"/>
              <a:buChar char="•"/>
            </a:pPr>
            <a:r>
              <a:rPr lang="en-AU" sz="2479" spc="-49" dirty="0">
                <a:solidFill>
                  <a:srgbClr val="FFFFFF"/>
                </a:solidFill>
                <a:latin typeface="DM Sans"/>
              </a:rPr>
              <a:t>Local model tools: Hugging Face, </a:t>
            </a:r>
            <a:r>
              <a:rPr lang="en-AU" sz="2479" spc="-49" dirty="0" err="1">
                <a:solidFill>
                  <a:srgbClr val="FFFFFF"/>
                </a:solidFill>
                <a:latin typeface="DM Sans"/>
              </a:rPr>
              <a:t>Ollama</a:t>
            </a:r>
            <a:r>
              <a:rPr lang="en-AU" sz="2479" spc="-49" dirty="0">
                <a:solidFill>
                  <a:srgbClr val="FFFFFF"/>
                </a:solidFill>
                <a:latin typeface="DM Sans"/>
              </a:rPr>
              <a:t>, LM Studio, </a:t>
            </a:r>
            <a:r>
              <a:rPr lang="en-AU" sz="2479" spc="-49" dirty="0" err="1">
                <a:solidFill>
                  <a:srgbClr val="FFFFFF"/>
                </a:solidFill>
                <a:latin typeface="DM Sans"/>
              </a:rPr>
              <a:t>vLLM</a:t>
            </a:r>
            <a:r>
              <a:rPr lang="en-AU" sz="2479" spc="-49" dirty="0">
                <a:solidFill>
                  <a:srgbClr val="FFFFFF"/>
                </a:solidFill>
                <a:latin typeface="DM Sans"/>
              </a:rPr>
              <a:t>, </a:t>
            </a:r>
            <a:r>
              <a:rPr lang="en-AU" sz="2479" spc="-49" dirty="0" err="1">
                <a:solidFill>
                  <a:srgbClr val="FFFFFF"/>
                </a:solidFill>
                <a:latin typeface="DM Sans"/>
              </a:rPr>
              <a:t>llama.cpp</a:t>
            </a:r>
            <a:endParaRPr lang="en-AU" sz="2479" spc="-49" dirty="0">
              <a:solidFill>
                <a:srgbClr val="FFFFFF"/>
              </a:solidFill>
              <a:latin typeface="DM Sans"/>
            </a:endParaRPr>
          </a:p>
          <a:p>
            <a:pPr marL="800100" lvl="1" indent="-342900">
              <a:buFont typeface="Arial" panose="020B0604020202020204" pitchFamily="34" charset="0"/>
              <a:buChar char="•"/>
            </a:pPr>
            <a:r>
              <a:rPr lang="en-AU" sz="2479" spc="-49" dirty="0">
                <a:solidFill>
                  <a:srgbClr val="FFFFFF"/>
                </a:solidFill>
                <a:latin typeface="DM Sans"/>
              </a:rPr>
              <a:t>JSON for tool calling, schemas, memory and state</a:t>
            </a:r>
          </a:p>
          <a:p>
            <a:pPr marL="800100" lvl="1" indent="-342900">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lvl="1">
              <a:lnSpc>
                <a:spcPts val="3422"/>
              </a:lnSpc>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1400" spc="-49" dirty="0">
              <a:solidFill>
                <a:srgbClr val="FFFFFF"/>
              </a:solidFill>
              <a:latin typeface="DM Sans"/>
            </a:endParaRPr>
          </a:p>
          <a:p>
            <a:pPr>
              <a:lnSpc>
                <a:spcPts val="3284"/>
              </a:lnSpc>
            </a:pPr>
            <a:endParaRPr lang="en-US" sz="2479" spc="-49" dirty="0">
              <a:solidFill>
                <a:srgbClr val="FFFFFF"/>
              </a:solidFill>
              <a:latin typeface="DM Sans"/>
            </a:endParaRPr>
          </a:p>
        </p:txBody>
      </p:sp>
    </p:spTree>
    <p:extLst>
      <p:ext uri="{BB962C8B-B14F-4D97-AF65-F5344CB8AC3E}">
        <p14:creationId xmlns:p14="http://schemas.microsoft.com/office/powerpoint/2010/main" val="771670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B4D90CBF-F0CD-EFE6-1B08-4F5031B05A70}"/>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4A44744F-DD8A-F8D6-3426-C44B3D6EA159}"/>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F67CA8F7-567B-8C6E-D562-FDA41124238E}"/>
              </a:ext>
            </a:extLst>
          </p:cNvPr>
          <p:cNvSpPr/>
          <p:nvPr/>
        </p:nvSpPr>
        <p:spPr>
          <a:xfrm>
            <a:off x="-865112" y="8383860"/>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EFB7239A-6967-D7E9-B106-41D09EF121FB}"/>
              </a:ext>
            </a:extLst>
          </p:cNvPr>
          <p:cNvSpPr txBox="1"/>
          <p:nvPr/>
        </p:nvSpPr>
        <p:spPr>
          <a:xfrm>
            <a:off x="1598731" y="967036"/>
            <a:ext cx="10753172" cy="925253"/>
          </a:xfrm>
          <a:prstGeom prst="rect">
            <a:avLst/>
          </a:prstGeom>
        </p:spPr>
        <p:txBody>
          <a:bodyPr wrap="square" lIns="0" tIns="0" rIns="0" bIns="0" rtlCol="0" anchor="t">
            <a:spAutoFit/>
          </a:bodyPr>
          <a:lstStyle/>
          <a:p>
            <a:pPr marL="0" lvl="0" indent="0">
              <a:lnSpc>
                <a:spcPts val="7711"/>
              </a:lnSpc>
              <a:spcBef>
                <a:spcPct val="0"/>
              </a:spcBef>
            </a:pPr>
            <a:r>
              <a:rPr lang="en-US" sz="4800" dirty="0">
                <a:solidFill>
                  <a:srgbClr val="0CC0DF"/>
                </a:solidFill>
                <a:latin typeface="Now Bold"/>
              </a:rPr>
              <a:t>Content </a:t>
            </a:r>
          </a:p>
        </p:txBody>
      </p:sp>
      <p:sp>
        <p:nvSpPr>
          <p:cNvPr id="10" name="TextBox 10">
            <a:extLst>
              <a:ext uri="{FF2B5EF4-FFF2-40B4-BE49-F238E27FC236}">
                <a16:creationId xmlns:a16="http://schemas.microsoft.com/office/drawing/2014/main" id="{F9C32A6B-FBB4-6896-98C8-FC5E0A007F6A}"/>
              </a:ext>
            </a:extLst>
          </p:cNvPr>
          <p:cNvSpPr txBox="1"/>
          <p:nvPr/>
        </p:nvSpPr>
        <p:spPr>
          <a:xfrm>
            <a:off x="2231232" y="2126427"/>
            <a:ext cx="9889076" cy="12126140"/>
          </a:xfrm>
          <a:prstGeom prst="rect">
            <a:avLst/>
          </a:prstGeom>
        </p:spPr>
        <p:txBody>
          <a:bodyPr wrap="square" lIns="0" tIns="0" rIns="0" bIns="0" rtlCol="0" anchor="t">
            <a:spAutoFit/>
          </a:bodyPr>
          <a:lstStyle/>
          <a:p>
            <a:pPr marL="342900" indent="-342900">
              <a:buFont typeface="Arial" panose="020B0604020202020204" pitchFamily="34" charset="0"/>
              <a:buChar char="•"/>
            </a:pPr>
            <a:r>
              <a:rPr lang="en-AU" sz="2479" spc="-49" dirty="0">
                <a:solidFill>
                  <a:srgbClr val="FFFFFF"/>
                </a:solidFill>
                <a:latin typeface="DM Sans"/>
              </a:rPr>
              <a:t>Dynamic tool calling</a:t>
            </a:r>
          </a:p>
          <a:p>
            <a:pPr marL="342900" indent="-342900">
              <a:buFont typeface="Arial" panose="020B0604020202020204" pitchFamily="34" charset="0"/>
              <a:buChar char="•"/>
            </a:pPr>
            <a:r>
              <a:rPr lang="en-AU" sz="2479" spc="-49" dirty="0">
                <a:solidFill>
                  <a:srgbClr val="FFFFFF"/>
                </a:solidFill>
                <a:latin typeface="DM Sans"/>
              </a:rPr>
              <a:t>Workflow / Orchestration </a:t>
            </a:r>
          </a:p>
          <a:p>
            <a:pPr marL="800100" lvl="1" indent="-342900">
              <a:buFont typeface="Arial" panose="020B0604020202020204" pitchFamily="34" charset="0"/>
              <a:buChar char="•"/>
            </a:pPr>
            <a:r>
              <a:rPr lang="en-AU" sz="2479" spc="-49" dirty="0">
                <a:solidFill>
                  <a:srgbClr val="FFFFFF"/>
                </a:solidFill>
                <a:latin typeface="DM Sans"/>
              </a:rPr>
              <a:t>What orchestration controls</a:t>
            </a:r>
          </a:p>
          <a:p>
            <a:pPr marL="800100" lvl="1" indent="-342900">
              <a:buFont typeface="Arial" panose="020B0604020202020204" pitchFamily="34" charset="0"/>
              <a:buChar char="•"/>
            </a:pPr>
            <a:r>
              <a:rPr lang="en-AU" sz="2479" spc="-49" dirty="0">
                <a:solidFill>
                  <a:srgbClr val="FFFFFF"/>
                </a:solidFill>
                <a:latin typeface="DM Sans"/>
              </a:rPr>
              <a:t>Workflow patterns: prompt chaining, routing, parallelisation, evaluator-optimiser, orchestrator-workers</a:t>
            </a:r>
          </a:p>
          <a:p>
            <a:pPr marL="342900" indent="-342900">
              <a:buFont typeface="Arial" panose="020B0604020202020204" pitchFamily="34" charset="0"/>
              <a:buChar char="•"/>
            </a:pPr>
            <a:r>
              <a:rPr lang="en-AU" sz="2479" spc="-49" dirty="0">
                <a:solidFill>
                  <a:srgbClr val="FFFFFF"/>
                </a:solidFill>
                <a:latin typeface="DM Sans"/>
              </a:rPr>
              <a:t>PART 2: Agentic System in Practice</a:t>
            </a:r>
          </a:p>
          <a:p>
            <a:pPr marL="342900" indent="-342900">
              <a:buFont typeface="Arial" panose="020B0604020202020204" pitchFamily="34" charset="0"/>
              <a:buChar char="•"/>
            </a:pPr>
            <a:r>
              <a:rPr lang="en-AU" sz="2479" spc="-49" dirty="0">
                <a:solidFill>
                  <a:srgbClr val="FFFFFF"/>
                </a:solidFill>
                <a:latin typeface="DM Sans"/>
              </a:rPr>
              <a:t>Example: Multi-Agent Academic Citation System </a:t>
            </a:r>
          </a:p>
          <a:p>
            <a:pPr marL="342900" indent="-342900">
              <a:buFont typeface="Arial" panose="020B0604020202020204" pitchFamily="34" charset="0"/>
              <a:buChar char="•"/>
            </a:pPr>
            <a:r>
              <a:rPr lang="en-AU" sz="2479" spc="-49" dirty="0">
                <a:solidFill>
                  <a:srgbClr val="FFFFFF"/>
                </a:solidFill>
                <a:latin typeface="DM Sans"/>
              </a:rPr>
              <a:t> Open-source agents</a:t>
            </a:r>
          </a:p>
          <a:p>
            <a:pPr marL="342900" indent="-342900">
              <a:buFont typeface="Arial" panose="020B0604020202020204" pitchFamily="34" charset="0"/>
              <a:buChar char="•"/>
            </a:pPr>
            <a:r>
              <a:rPr lang="en-AU" sz="2479" spc="-49" dirty="0">
                <a:solidFill>
                  <a:srgbClr val="FFFFFF"/>
                </a:solidFill>
                <a:latin typeface="DM Sans"/>
              </a:rPr>
              <a:t>References</a:t>
            </a: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marL="342900" indent="-342900">
              <a:lnSpc>
                <a:spcPts val="3422"/>
              </a:lnSpc>
              <a:buFont typeface="Wingdings" pitchFamily="2" charset="2"/>
              <a:buChar char="v"/>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lvl="1">
              <a:lnSpc>
                <a:spcPts val="3422"/>
              </a:lnSpc>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lvl="1">
              <a:lnSpc>
                <a:spcPts val="3422"/>
              </a:lnSpc>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1400" spc="-49" dirty="0">
              <a:solidFill>
                <a:srgbClr val="FFFFFF"/>
              </a:solidFill>
              <a:latin typeface="DM Sans"/>
            </a:endParaRPr>
          </a:p>
          <a:p>
            <a:pPr>
              <a:lnSpc>
                <a:spcPts val="3284"/>
              </a:lnSpc>
            </a:pPr>
            <a:endParaRPr lang="en-US" sz="2479" spc="-49" dirty="0">
              <a:solidFill>
                <a:srgbClr val="FFFFFF"/>
              </a:solidFill>
              <a:latin typeface="DM Sans"/>
            </a:endParaRPr>
          </a:p>
        </p:txBody>
      </p:sp>
    </p:spTree>
    <p:extLst>
      <p:ext uri="{BB962C8B-B14F-4D97-AF65-F5344CB8AC3E}">
        <p14:creationId xmlns:p14="http://schemas.microsoft.com/office/powerpoint/2010/main" val="29840041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A78BC425-EF8B-10ED-6987-F9BCB4B8DF98}"/>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222386F-B760-F815-2153-0373E3E037CB}"/>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2"/>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A3CB4BA6-ACDD-8D1C-5E75-3C03A363C6CF}"/>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2"/>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190ABC99-FC42-41D4-7BE0-CCC5A7A9868D}"/>
              </a:ext>
            </a:extLst>
          </p:cNvPr>
          <p:cNvSpPr txBox="1"/>
          <p:nvPr/>
        </p:nvSpPr>
        <p:spPr>
          <a:xfrm>
            <a:off x="1559180" y="1676695"/>
            <a:ext cx="10753172" cy="925253"/>
          </a:xfrm>
          <a:prstGeom prst="rect">
            <a:avLst/>
          </a:prstGeom>
        </p:spPr>
        <p:txBody>
          <a:bodyPr wrap="square" lIns="0" tIns="0" rIns="0" bIns="0" rtlCol="0" anchor="t">
            <a:spAutoFit/>
          </a:bodyPr>
          <a:lstStyle/>
          <a:p>
            <a:pPr marL="0" lvl="0" indent="0">
              <a:lnSpc>
                <a:spcPts val="7711"/>
              </a:lnSpc>
              <a:spcBef>
                <a:spcPct val="0"/>
              </a:spcBef>
            </a:pPr>
            <a:r>
              <a:rPr lang="en-US" sz="4800" dirty="0">
                <a:solidFill>
                  <a:srgbClr val="0CC0DF"/>
                </a:solidFill>
                <a:latin typeface="Now Bold"/>
              </a:rPr>
              <a:t>WHAT IS AN AGENT: DEFINITIONS</a:t>
            </a:r>
          </a:p>
        </p:txBody>
      </p:sp>
      <p:sp>
        <p:nvSpPr>
          <p:cNvPr id="10" name="TextBox 10">
            <a:extLst>
              <a:ext uri="{FF2B5EF4-FFF2-40B4-BE49-F238E27FC236}">
                <a16:creationId xmlns:a16="http://schemas.microsoft.com/office/drawing/2014/main" id="{327E81A7-618C-B9BD-EF3F-309DB8062BF7}"/>
              </a:ext>
            </a:extLst>
          </p:cNvPr>
          <p:cNvSpPr txBox="1"/>
          <p:nvPr/>
        </p:nvSpPr>
        <p:spPr>
          <a:xfrm>
            <a:off x="1572997" y="3127276"/>
            <a:ext cx="14569596" cy="6086025"/>
          </a:xfrm>
          <a:prstGeom prst="rect">
            <a:avLst/>
          </a:prstGeom>
        </p:spPr>
        <p:txBody>
          <a:bodyPr wrap="square" lIns="0" tIns="0" rIns="0" bIns="0" rtlCol="0" anchor="t">
            <a:spAutoFit/>
          </a:bodyPr>
          <a:lstStyle/>
          <a:p>
            <a:pPr marL="342900" indent="-342900">
              <a:lnSpc>
                <a:spcPts val="3422"/>
              </a:lnSpc>
              <a:buFont typeface="Arial" panose="020B0604020202020204" pitchFamily="34" charset="0"/>
              <a:buChar char="•"/>
            </a:pPr>
            <a:r>
              <a:rPr lang="en-US" sz="2479" spc="-49" dirty="0">
                <a:solidFill>
                  <a:srgbClr val="FFFFFF"/>
                </a:solidFill>
                <a:latin typeface="DM Sans"/>
              </a:rPr>
              <a:t>Some define agents as </a:t>
            </a:r>
            <a:r>
              <a:rPr lang="en-US" sz="2479" b="1" u="sng" spc="-49" dirty="0">
                <a:solidFill>
                  <a:srgbClr val="FFFFFF"/>
                </a:solidFill>
                <a:latin typeface="DM Sans"/>
              </a:rPr>
              <a:t>fully autonomous </a:t>
            </a:r>
            <a:r>
              <a:rPr lang="en-US" sz="2479" spc="-49" dirty="0">
                <a:solidFill>
                  <a:srgbClr val="FFFFFF"/>
                </a:solidFill>
                <a:latin typeface="DM Sans"/>
              </a:rPr>
              <a:t>systems that operate independently over extended periods, using various tools to accomplish complex tasks.</a:t>
            </a:r>
          </a:p>
          <a:p>
            <a:pPr marL="342900" indent="-342900">
              <a:lnSpc>
                <a:spcPts val="3422"/>
              </a:lnSpc>
              <a:buFont typeface="Arial" panose="020B0604020202020204" pitchFamily="34" charset="0"/>
              <a:buChar char="•"/>
            </a:pPr>
            <a:endParaRPr lang="en-US" sz="2479" spc="-49" dirty="0">
              <a:solidFill>
                <a:srgbClr val="FFFFFF"/>
              </a:solidFill>
              <a:latin typeface="DM Sans"/>
            </a:endParaRPr>
          </a:p>
          <a:p>
            <a:pPr marL="342900" indent="-342900">
              <a:lnSpc>
                <a:spcPts val="3422"/>
              </a:lnSpc>
              <a:buFont typeface="Arial" panose="020B0604020202020204" pitchFamily="34" charset="0"/>
              <a:buChar char="•"/>
            </a:pPr>
            <a:r>
              <a:rPr lang="en-US" sz="2479" spc="-49" dirty="0">
                <a:solidFill>
                  <a:srgbClr val="FFFFFF"/>
                </a:solidFill>
                <a:latin typeface="DM Sans"/>
              </a:rPr>
              <a:t>Others use the term to describe more prescriptive implementations that follow </a:t>
            </a:r>
            <a:r>
              <a:rPr lang="en-US" sz="2479" b="1" u="sng" spc="-49" dirty="0">
                <a:solidFill>
                  <a:srgbClr val="FFFFFF"/>
                </a:solidFill>
                <a:latin typeface="DM Sans"/>
              </a:rPr>
              <a:t>predefined workflows</a:t>
            </a:r>
            <a:r>
              <a:rPr lang="en-US" sz="2479" spc="-49" dirty="0">
                <a:solidFill>
                  <a:srgbClr val="FFFFFF"/>
                </a:solidFill>
                <a:latin typeface="DM Sans"/>
              </a:rPr>
              <a:t>. </a:t>
            </a:r>
          </a:p>
          <a:p>
            <a:pPr marL="342900" indent="-342900">
              <a:lnSpc>
                <a:spcPts val="3422"/>
              </a:lnSpc>
              <a:buFont typeface="Arial" panose="020B0604020202020204" pitchFamily="34" charset="0"/>
              <a:buChar char="•"/>
            </a:pPr>
            <a:endParaRPr lang="en-US" sz="2479" spc="-49" dirty="0">
              <a:solidFill>
                <a:srgbClr val="FFFFFF"/>
              </a:solidFill>
              <a:latin typeface="DM Sans"/>
            </a:endParaRPr>
          </a:p>
          <a:p>
            <a:pPr marL="342900" indent="-342900">
              <a:lnSpc>
                <a:spcPts val="3422"/>
              </a:lnSpc>
              <a:buFont typeface="Arial" panose="020B0604020202020204" pitchFamily="34" charset="0"/>
              <a:buChar char="•"/>
            </a:pPr>
            <a:r>
              <a:rPr lang="en-US" sz="2479" spc="-49" dirty="0">
                <a:solidFill>
                  <a:srgbClr val="FFFFFF"/>
                </a:solidFill>
                <a:latin typeface="DM Sans"/>
              </a:rPr>
              <a:t>Anthropic categorizes all these variations as </a:t>
            </a:r>
            <a:r>
              <a:rPr lang="en-US" sz="2479" b="1" u="sng" spc="-49" dirty="0">
                <a:solidFill>
                  <a:srgbClr val="FFFFFF"/>
                </a:solidFill>
                <a:latin typeface="DM Sans"/>
              </a:rPr>
              <a:t>agentic systems</a:t>
            </a:r>
            <a:r>
              <a:rPr lang="en-US" sz="2479" spc="-49" dirty="0">
                <a:solidFill>
                  <a:srgbClr val="FFFFFF"/>
                </a:solidFill>
                <a:latin typeface="DM Sans"/>
              </a:rPr>
              <a:t>, but draw an important architectural distinction between workflows and agents:</a:t>
            </a:r>
          </a:p>
          <a:p>
            <a:pPr marL="342900"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r>
              <a:rPr lang="en-US" sz="2479" b="1" u="sng" spc="-49" dirty="0">
                <a:solidFill>
                  <a:srgbClr val="FFFFFF"/>
                </a:solidFill>
                <a:latin typeface="DM Sans"/>
              </a:rPr>
              <a:t>Workflows</a:t>
            </a:r>
            <a:r>
              <a:rPr lang="en-US" sz="2479" spc="-49" dirty="0">
                <a:solidFill>
                  <a:srgbClr val="FFFFFF"/>
                </a:solidFill>
                <a:latin typeface="DM Sans"/>
              </a:rPr>
              <a:t> are systems where LLMs and tools are orchestrated through </a:t>
            </a:r>
            <a:r>
              <a:rPr lang="en-US" sz="2479" b="1" u="sng" spc="-49" dirty="0">
                <a:solidFill>
                  <a:srgbClr val="FFFFFF"/>
                </a:solidFill>
                <a:latin typeface="DM Sans"/>
              </a:rPr>
              <a:t>predefined</a:t>
            </a:r>
            <a:r>
              <a:rPr lang="en-US" sz="2479" spc="-49" dirty="0">
                <a:solidFill>
                  <a:srgbClr val="FFFFFF"/>
                </a:solidFill>
                <a:latin typeface="DM Sans"/>
              </a:rPr>
              <a:t> code paths.</a:t>
            </a: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r>
              <a:rPr lang="en-US" sz="2479" b="1" u="sng" spc="-49" dirty="0">
                <a:solidFill>
                  <a:srgbClr val="FFFFFF"/>
                </a:solidFill>
                <a:latin typeface="DM Sans"/>
              </a:rPr>
              <a:t>Agents</a:t>
            </a:r>
            <a:r>
              <a:rPr lang="en-US" sz="2479" spc="-49" dirty="0">
                <a:solidFill>
                  <a:srgbClr val="FFFFFF"/>
                </a:solidFill>
                <a:latin typeface="DM Sans"/>
              </a:rPr>
              <a:t>, on the other hand, are systems where LLMs </a:t>
            </a:r>
            <a:r>
              <a:rPr lang="en-US" sz="2479" b="1" u="sng" spc="-49" dirty="0">
                <a:solidFill>
                  <a:srgbClr val="FFFFFF"/>
                </a:solidFill>
                <a:latin typeface="DM Sans"/>
              </a:rPr>
              <a:t>dynamically</a:t>
            </a:r>
            <a:r>
              <a:rPr lang="en-US" sz="2479" spc="-49" dirty="0">
                <a:solidFill>
                  <a:srgbClr val="FFFFFF"/>
                </a:solidFill>
                <a:latin typeface="DM Sans"/>
              </a:rPr>
              <a:t> direct their own processes and tool usage, maintaining control over how they accomplish tasks.</a:t>
            </a:r>
          </a:p>
          <a:p>
            <a:pPr marL="342900" indent="-342900">
              <a:lnSpc>
                <a:spcPts val="3422"/>
              </a:lnSpc>
              <a:buFont typeface="Arial" panose="020B0604020202020204" pitchFamily="34" charset="0"/>
              <a:buChar char="•"/>
            </a:pPr>
            <a:endParaRPr lang="en-US" sz="2479" spc="-49" dirty="0">
              <a:solidFill>
                <a:srgbClr val="FFFFFF"/>
              </a:solidFill>
              <a:latin typeface="DM Sans"/>
            </a:endParaRPr>
          </a:p>
        </p:txBody>
      </p:sp>
    </p:spTree>
    <p:extLst>
      <p:ext uri="{BB962C8B-B14F-4D97-AF65-F5344CB8AC3E}">
        <p14:creationId xmlns:p14="http://schemas.microsoft.com/office/powerpoint/2010/main" val="30234438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90B12C32-E05F-B85D-3843-AF61B76E042B}"/>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43B2DC7B-2D06-582F-6ECE-D8DC60BE8CB0}"/>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16BCCD2D-3E08-6A6D-096C-4A0A532FF744}"/>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E52E1B37-CF24-192C-52D6-E8A98F576404}"/>
              </a:ext>
            </a:extLst>
          </p:cNvPr>
          <p:cNvSpPr txBox="1"/>
          <p:nvPr/>
        </p:nvSpPr>
        <p:spPr>
          <a:xfrm>
            <a:off x="1559180" y="1676695"/>
            <a:ext cx="15721724" cy="925253"/>
          </a:xfrm>
          <a:prstGeom prst="rect">
            <a:avLst/>
          </a:prstGeom>
        </p:spPr>
        <p:txBody>
          <a:bodyPr wrap="square" lIns="0" tIns="0" rIns="0" bIns="0" rtlCol="0" anchor="t">
            <a:spAutoFit/>
          </a:bodyPr>
          <a:lstStyle/>
          <a:p>
            <a:pPr marL="0" lvl="0" indent="0">
              <a:lnSpc>
                <a:spcPts val="7711"/>
              </a:lnSpc>
              <a:spcBef>
                <a:spcPct val="0"/>
              </a:spcBef>
            </a:pPr>
            <a:r>
              <a:rPr lang="en-US" sz="4800" dirty="0">
                <a:solidFill>
                  <a:srgbClr val="0CC0DF"/>
                </a:solidFill>
                <a:latin typeface="Now Bold"/>
              </a:rPr>
              <a:t>WHAT IS AN AGENT: WHEN TO USE AGENTS </a:t>
            </a:r>
          </a:p>
        </p:txBody>
      </p:sp>
      <p:sp>
        <p:nvSpPr>
          <p:cNvPr id="10" name="TextBox 10">
            <a:extLst>
              <a:ext uri="{FF2B5EF4-FFF2-40B4-BE49-F238E27FC236}">
                <a16:creationId xmlns:a16="http://schemas.microsoft.com/office/drawing/2014/main" id="{2237E5A6-0901-E56E-92B0-230FAC396227}"/>
              </a:ext>
            </a:extLst>
          </p:cNvPr>
          <p:cNvSpPr txBox="1"/>
          <p:nvPr/>
        </p:nvSpPr>
        <p:spPr>
          <a:xfrm>
            <a:off x="1572997" y="3127276"/>
            <a:ext cx="14569596" cy="7830092"/>
          </a:xfrm>
          <a:prstGeom prst="rect">
            <a:avLst/>
          </a:prstGeom>
        </p:spPr>
        <p:txBody>
          <a:bodyPr wrap="square" lIns="0" tIns="0" rIns="0" bIns="0" rtlCol="0" anchor="t">
            <a:spAutoFit/>
          </a:bodyPr>
          <a:lstStyle/>
          <a:p>
            <a:pPr marL="342900" indent="-342900">
              <a:lnSpc>
                <a:spcPts val="3422"/>
              </a:lnSpc>
              <a:buFont typeface="Arial" panose="020B0604020202020204" pitchFamily="34" charset="0"/>
              <a:buChar char="•"/>
            </a:pPr>
            <a:r>
              <a:rPr lang="en-US" sz="2479" spc="-49" dirty="0">
                <a:solidFill>
                  <a:srgbClr val="FFFFFF"/>
                </a:solidFill>
                <a:latin typeface="DM Sans"/>
              </a:rPr>
              <a:t>For achieving the objective, it is better to look for simple solutions first and add complexity if the initial solution is not good enough.</a:t>
            </a:r>
          </a:p>
          <a:p>
            <a:pPr marL="800100" lvl="1" indent="-342900">
              <a:lnSpc>
                <a:spcPts val="3422"/>
              </a:lnSpc>
              <a:buFont typeface="Arial" panose="020B0604020202020204" pitchFamily="34" charset="0"/>
              <a:buChar char="•"/>
            </a:pPr>
            <a:r>
              <a:rPr lang="en-US" sz="2479" spc="-49" dirty="0">
                <a:solidFill>
                  <a:srgbClr val="FFFFFF"/>
                </a:solidFill>
                <a:latin typeface="DM Sans"/>
              </a:rPr>
              <a:t>This means agentic systems may not be needed at all. </a:t>
            </a:r>
          </a:p>
          <a:p>
            <a:pPr lvl="1">
              <a:lnSpc>
                <a:spcPts val="3422"/>
              </a:lnSpc>
            </a:pPr>
            <a:endParaRPr lang="en-US" sz="2479" spc="-49" dirty="0">
              <a:solidFill>
                <a:srgbClr val="FFFFFF"/>
              </a:solidFill>
              <a:latin typeface="DM Sans"/>
            </a:endParaRPr>
          </a:p>
          <a:p>
            <a:pPr marL="342900" indent="-342900">
              <a:lnSpc>
                <a:spcPts val="3422"/>
              </a:lnSpc>
              <a:buFont typeface="Arial" panose="020B0604020202020204" pitchFamily="34" charset="0"/>
              <a:buChar char="•"/>
            </a:pPr>
            <a:r>
              <a:rPr lang="en-US" sz="2479" b="1" u="sng" spc="-49" dirty="0">
                <a:solidFill>
                  <a:srgbClr val="FFFFFF"/>
                </a:solidFill>
                <a:latin typeface="DM Sans"/>
              </a:rPr>
              <a:t>If agentic systems are needed</a:t>
            </a:r>
          </a:p>
          <a:p>
            <a:pPr marL="800100" lvl="1" indent="-342900">
              <a:lnSpc>
                <a:spcPts val="3422"/>
              </a:lnSpc>
              <a:buFont typeface="Arial" panose="020B0604020202020204" pitchFamily="34" charset="0"/>
              <a:buChar char="•"/>
            </a:pPr>
            <a:r>
              <a:rPr lang="en-US" sz="2479" b="1" u="sng" spc="-49" dirty="0">
                <a:solidFill>
                  <a:srgbClr val="FFFFFF"/>
                </a:solidFill>
                <a:latin typeface="DM Sans"/>
              </a:rPr>
              <a:t>Agentic workflows</a:t>
            </a:r>
            <a:endParaRPr lang="en-US" sz="2479" spc="-49" dirty="0">
              <a:solidFill>
                <a:srgbClr val="FFFFFF"/>
              </a:solidFill>
              <a:latin typeface="DM Sans"/>
            </a:endParaRPr>
          </a:p>
          <a:p>
            <a:pPr marL="1257300" lvl="2" indent="-342900">
              <a:lnSpc>
                <a:spcPts val="3422"/>
              </a:lnSpc>
              <a:buFont typeface="Arial" panose="020B0604020202020204" pitchFamily="34" charset="0"/>
              <a:buChar char="•"/>
            </a:pPr>
            <a:r>
              <a:rPr lang="en-US" sz="2479" spc="-49" dirty="0">
                <a:solidFill>
                  <a:srgbClr val="FFFFFF"/>
                </a:solidFill>
                <a:latin typeface="DM Sans"/>
              </a:rPr>
              <a:t>Offer more predictable </a:t>
            </a:r>
            <a:r>
              <a:rPr lang="en-US" sz="2479" spc="-49" dirty="0" err="1">
                <a:solidFill>
                  <a:srgbClr val="FFFFFF"/>
                </a:solidFill>
                <a:latin typeface="DM Sans"/>
              </a:rPr>
              <a:t>behaviour</a:t>
            </a:r>
            <a:r>
              <a:rPr lang="en-US" sz="2479" spc="-49" dirty="0">
                <a:solidFill>
                  <a:srgbClr val="FFFFFF"/>
                </a:solidFill>
                <a:latin typeface="DM Sans"/>
              </a:rPr>
              <a:t> </a:t>
            </a:r>
          </a:p>
          <a:p>
            <a:pPr marL="1257300" lvl="2" indent="-342900">
              <a:lnSpc>
                <a:spcPts val="3422"/>
              </a:lnSpc>
              <a:buFont typeface="Arial" panose="020B0604020202020204" pitchFamily="34" charset="0"/>
              <a:buChar char="•"/>
            </a:pPr>
            <a:r>
              <a:rPr lang="en-US" sz="2479" spc="-49" dirty="0">
                <a:solidFill>
                  <a:srgbClr val="FFFFFF"/>
                </a:solidFill>
                <a:latin typeface="DM Sans"/>
              </a:rPr>
              <a:t>Are easier to debug and maintain</a:t>
            </a:r>
          </a:p>
          <a:p>
            <a:pPr marL="1257300" lvl="2" indent="-342900">
              <a:lnSpc>
                <a:spcPts val="3422"/>
              </a:lnSpc>
              <a:buFont typeface="Arial" panose="020B0604020202020204" pitchFamily="34" charset="0"/>
              <a:buChar char="•"/>
            </a:pPr>
            <a:r>
              <a:rPr lang="en-US" sz="2479" spc="-49" dirty="0">
                <a:solidFill>
                  <a:srgbClr val="FFFFFF"/>
                </a:solidFill>
                <a:latin typeface="DM Sans"/>
              </a:rPr>
              <a:t>They are good for well-defined tasks </a:t>
            </a:r>
          </a:p>
          <a:p>
            <a:pPr marL="800100" lvl="1" indent="-342900">
              <a:lnSpc>
                <a:spcPts val="3422"/>
              </a:lnSpc>
              <a:buFont typeface="Arial" panose="020B0604020202020204" pitchFamily="34" charset="0"/>
              <a:buChar char="•"/>
            </a:pPr>
            <a:r>
              <a:rPr lang="en-US" sz="2479" b="1" u="sng" spc="-49" dirty="0">
                <a:solidFill>
                  <a:srgbClr val="FFFFFF"/>
                </a:solidFill>
                <a:latin typeface="DM Sans"/>
              </a:rPr>
              <a:t>Agents:</a:t>
            </a:r>
          </a:p>
          <a:p>
            <a:pPr marL="1257300" lvl="2" indent="-342900">
              <a:lnSpc>
                <a:spcPts val="3422"/>
              </a:lnSpc>
              <a:buFont typeface="Arial" panose="020B0604020202020204" pitchFamily="34" charset="0"/>
              <a:buChar char="•"/>
            </a:pPr>
            <a:r>
              <a:rPr lang="en-US" sz="2479" spc="-49" dirty="0">
                <a:solidFill>
                  <a:srgbClr val="FFFFFF"/>
                </a:solidFill>
                <a:latin typeface="DM Sans"/>
              </a:rPr>
              <a:t>Better for flexible tasks</a:t>
            </a:r>
          </a:p>
          <a:p>
            <a:pPr marL="1257300" lvl="2" indent="-342900">
              <a:lnSpc>
                <a:spcPts val="3422"/>
              </a:lnSpc>
              <a:buFont typeface="Arial" panose="020B0604020202020204" pitchFamily="34" charset="0"/>
              <a:buChar char="•"/>
            </a:pPr>
            <a:r>
              <a:rPr lang="en-US" sz="2479" spc="-49" dirty="0">
                <a:solidFill>
                  <a:srgbClr val="FFFFFF"/>
                </a:solidFill>
                <a:latin typeface="DM Sans"/>
              </a:rPr>
              <a:t>On-the-go decision making is required </a:t>
            </a:r>
          </a:p>
          <a:p>
            <a:pPr marL="1257300" lvl="2" indent="-342900">
              <a:lnSpc>
                <a:spcPts val="3422"/>
              </a:lnSpc>
              <a:buFont typeface="Arial" panose="020B0604020202020204" pitchFamily="34" charset="0"/>
              <a:buChar char="•"/>
            </a:pPr>
            <a:r>
              <a:rPr lang="en-US" sz="2479" spc="-49" dirty="0">
                <a:solidFill>
                  <a:srgbClr val="FFFFFF"/>
                </a:solidFill>
                <a:latin typeface="DM Sans"/>
              </a:rPr>
              <a:t>System </a:t>
            </a:r>
            <a:r>
              <a:rPr lang="en-US" sz="2479" spc="-49" dirty="0" err="1">
                <a:solidFill>
                  <a:srgbClr val="FFFFFF"/>
                </a:solidFill>
                <a:latin typeface="DM Sans"/>
              </a:rPr>
              <a:t>behaviour</a:t>
            </a:r>
            <a:r>
              <a:rPr lang="en-US" sz="2479" spc="-49" dirty="0">
                <a:solidFill>
                  <a:srgbClr val="FFFFFF"/>
                </a:solidFill>
                <a:latin typeface="DM Sans"/>
              </a:rPr>
              <a:t> and edge cases are harder to predict </a:t>
            </a:r>
          </a:p>
          <a:p>
            <a:pPr marL="1257300" lvl="2" indent="-342900">
              <a:lnSpc>
                <a:spcPts val="3422"/>
              </a:lnSpc>
              <a:buFont typeface="Arial" panose="020B0604020202020204" pitchFamily="34" charset="0"/>
              <a:buChar char="•"/>
            </a:pPr>
            <a:r>
              <a:rPr lang="en-US" sz="2479" spc="-49" dirty="0">
                <a:solidFill>
                  <a:srgbClr val="FFFFFF"/>
                </a:solidFill>
                <a:latin typeface="DM Sans"/>
              </a:rPr>
              <a:t>Requires better safeguards</a:t>
            </a:r>
          </a:p>
          <a:p>
            <a:pPr marL="1257300" lvl="2" indent="-342900">
              <a:lnSpc>
                <a:spcPts val="3422"/>
              </a:lnSpc>
              <a:buFont typeface="Arial" panose="020B0604020202020204" pitchFamily="34" charset="0"/>
              <a:buChar char="•"/>
            </a:pPr>
            <a:endParaRPr lang="en-US" sz="2479" spc="-49" dirty="0">
              <a:solidFill>
                <a:srgbClr val="FFFFFF"/>
              </a:solidFill>
              <a:latin typeface="DM Sans"/>
            </a:endParaRPr>
          </a:p>
          <a:p>
            <a:pPr marL="1257300" lvl="2" indent="-342900">
              <a:lnSpc>
                <a:spcPts val="3422"/>
              </a:lnSpc>
              <a:buFont typeface="Arial" panose="020B0604020202020204" pitchFamily="34" charset="0"/>
              <a:buChar char="•"/>
            </a:pPr>
            <a:endParaRPr lang="en-US" sz="2479" spc="-49" dirty="0">
              <a:solidFill>
                <a:srgbClr val="FFFFFF"/>
              </a:solidFill>
              <a:latin typeface="DM Sans"/>
            </a:endParaRPr>
          </a:p>
          <a:p>
            <a:pPr marL="1257300" lvl="2"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p:txBody>
      </p:sp>
    </p:spTree>
    <p:extLst>
      <p:ext uri="{BB962C8B-B14F-4D97-AF65-F5344CB8AC3E}">
        <p14:creationId xmlns:p14="http://schemas.microsoft.com/office/powerpoint/2010/main" val="29639050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B792099D-A984-0A50-2281-9AAF824C779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FB875CE9-AEC4-A1BA-AD41-0534FA7D3FFC}"/>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B74261FE-F06C-DAFF-455B-8BA145FE5998}"/>
              </a:ext>
            </a:extLst>
          </p:cNvPr>
          <p:cNvSpPr/>
          <p:nvPr/>
        </p:nvSpPr>
        <p:spPr>
          <a:xfrm>
            <a:off x="-606952" y="8383860"/>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4D33DF1C-D61F-A922-D3D9-129E3646D048}"/>
              </a:ext>
            </a:extLst>
          </p:cNvPr>
          <p:cNvSpPr txBox="1"/>
          <p:nvPr/>
        </p:nvSpPr>
        <p:spPr>
          <a:xfrm>
            <a:off x="1561731" y="1103528"/>
            <a:ext cx="15721724" cy="925253"/>
          </a:xfrm>
          <a:prstGeom prst="rect">
            <a:avLst/>
          </a:prstGeom>
        </p:spPr>
        <p:txBody>
          <a:bodyPr wrap="square" lIns="0" tIns="0" rIns="0" bIns="0" rtlCol="0" anchor="t">
            <a:spAutoFit/>
          </a:bodyPr>
          <a:lstStyle/>
          <a:p>
            <a:pPr marL="0" lvl="0" indent="0">
              <a:lnSpc>
                <a:spcPts val="7711"/>
              </a:lnSpc>
              <a:spcBef>
                <a:spcPct val="0"/>
              </a:spcBef>
            </a:pPr>
            <a:r>
              <a:rPr lang="en-US" sz="4800" dirty="0">
                <a:solidFill>
                  <a:srgbClr val="0CC0DF"/>
                </a:solidFill>
                <a:latin typeface="Now Bold"/>
              </a:rPr>
              <a:t>AGENTS USE CASES</a:t>
            </a:r>
          </a:p>
        </p:txBody>
      </p:sp>
      <p:sp>
        <p:nvSpPr>
          <p:cNvPr id="10" name="TextBox 10">
            <a:extLst>
              <a:ext uri="{FF2B5EF4-FFF2-40B4-BE49-F238E27FC236}">
                <a16:creationId xmlns:a16="http://schemas.microsoft.com/office/drawing/2014/main" id="{F933A58B-2E07-C9CC-4689-5A2E6CF68EE4}"/>
              </a:ext>
            </a:extLst>
          </p:cNvPr>
          <p:cNvSpPr txBox="1"/>
          <p:nvPr/>
        </p:nvSpPr>
        <p:spPr>
          <a:xfrm>
            <a:off x="1561731" y="2623220"/>
            <a:ext cx="14569596" cy="8320611"/>
          </a:xfrm>
          <a:prstGeom prst="rect">
            <a:avLst/>
          </a:prstGeom>
        </p:spPr>
        <p:txBody>
          <a:bodyPr wrap="square" lIns="0" tIns="0" rIns="0" bIns="0" rtlCol="0" anchor="t">
            <a:spAutoFit/>
          </a:bodyPr>
          <a:lstStyle/>
          <a:p>
            <a:pPr marL="342900" indent="-342900">
              <a:lnSpc>
                <a:spcPts val="3422"/>
              </a:lnSpc>
              <a:buFont typeface="Arial" panose="020B0604020202020204" pitchFamily="34" charset="0"/>
              <a:buChar char="•"/>
            </a:pPr>
            <a:r>
              <a:rPr lang="en-US" sz="2479" spc="-49" dirty="0">
                <a:solidFill>
                  <a:srgbClr val="FFFFFF"/>
                </a:solidFill>
                <a:latin typeface="DM Sans"/>
              </a:rPr>
              <a:t>Carefully designed agents can help us automate time consuming and low productivity tasks, however:</a:t>
            </a:r>
          </a:p>
          <a:p>
            <a:pPr marL="800100" lvl="1" indent="-342900">
              <a:lnSpc>
                <a:spcPts val="3422"/>
              </a:lnSpc>
              <a:buFont typeface="Arial" panose="020B0604020202020204" pitchFamily="34" charset="0"/>
              <a:buChar char="•"/>
            </a:pPr>
            <a:r>
              <a:rPr lang="en-US" sz="2479" spc="-49" dirty="0">
                <a:solidFill>
                  <a:srgbClr val="FFFFFF"/>
                </a:solidFill>
                <a:latin typeface="DM Sans"/>
              </a:rPr>
              <a:t>We need to acknowledge failures of such systems (possibility of hallucination for example)</a:t>
            </a:r>
          </a:p>
          <a:p>
            <a:pPr marL="800100" lvl="1" indent="-342900">
              <a:lnSpc>
                <a:spcPts val="3422"/>
              </a:lnSpc>
              <a:buFont typeface="Arial" panose="020B0604020202020204" pitchFamily="34" charset="0"/>
              <a:buChar char="•"/>
            </a:pPr>
            <a:r>
              <a:rPr lang="en-US" sz="2479" spc="-49" dirty="0">
                <a:solidFill>
                  <a:srgbClr val="FFFFFF"/>
                </a:solidFill>
                <a:latin typeface="DM Sans"/>
              </a:rPr>
              <a:t>Make sure the tasks is suitable for a system with such possible failures</a:t>
            </a:r>
          </a:p>
          <a:p>
            <a:pPr marL="1257300" lvl="2" indent="-342900">
              <a:lnSpc>
                <a:spcPts val="3422"/>
              </a:lnSpc>
              <a:buFont typeface="Arial" panose="020B0604020202020204" pitchFamily="34" charset="0"/>
              <a:buChar char="•"/>
            </a:pPr>
            <a:r>
              <a:rPr lang="en-US" sz="2479" spc="-49" dirty="0">
                <a:solidFill>
                  <a:srgbClr val="FFFFFF"/>
                </a:solidFill>
                <a:latin typeface="DM Sans"/>
              </a:rPr>
              <a:t>Building an agent that does online shopping may not be a great idea</a:t>
            </a:r>
          </a:p>
          <a:p>
            <a:pPr marL="1257300" lvl="2" indent="-342900">
              <a:lnSpc>
                <a:spcPts val="3422"/>
              </a:lnSpc>
              <a:buFont typeface="Arial" panose="020B0604020202020204" pitchFamily="34" charset="0"/>
              <a:buChar char="•"/>
            </a:pPr>
            <a:endParaRPr lang="en-US" sz="2479" spc="-49" dirty="0">
              <a:solidFill>
                <a:srgbClr val="FFFFFF"/>
              </a:solidFill>
              <a:latin typeface="DM Sans"/>
            </a:endParaRPr>
          </a:p>
          <a:p>
            <a:pPr marL="342900" indent="-342900">
              <a:buFont typeface="Arial" panose="020B0604020202020204" pitchFamily="34" charset="0"/>
              <a:buChar char="•"/>
            </a:pPr>
            <a:r>
              <a:rPr lang="en-AU" sz="2479" b="1" u="sng" spc="-49" dirty="0">
                <a:solidFill>
                  <a:srgbClr val="FFFFFF"/>
                </a:solidFill>
                <a:latin typeface="DM Sans"/>
              </a:rPr>
              <a:t>Systematic literature review and synthesis</a:t>
            </a:r>
          </a:p>
          <a:p>
            <a:pPr marL="800100" lvl="1" indent="-342900">
              <a:buFont typeface="Arial" panose="020B0604020202020204" pitchFamily="34" charset="0"/>
              <a:buChar char="•"/>
            </a:pPr>
            <a:r>
              <a:rPr lang="en-AU" sz="2479" spc="-49" dirty="0">
                <a:solidFill>
                  <a:srgbClr val="FFFFFF"/>
                </a:solidFill>
                <a:latin typeface="DM Sans"/>
              </a:rPr>
              <a:t>Queries </a:t>
            </a:r>
            <a:r>
              <a:rPr lang="en-AU" sz="2479" spc="-49" dirty="0" err="1">
                <a:solidFill>
                  <a:srgbClr val="FFFFFF"/>
                </a:solidFill>
                <a:latin typeface="DM Sans"/>
              </a:rPr>
              <a:t>arXiv</a:t>
            </a:r>
            <a:r>
              <a:rPr lang="en-AU" sz="2479" spc="-49" dirty="0">
                <a:solidFill>
                  <a:srgbClr val="FFFFFF"/>
                </a:solidFill>
                <a:latin typeface="DM Sans"/>
              </a:rPr>
              <a:t>, PubMed, or Semantic Scholar across hundreds of papers autonomously</a:t>
            </a:r>
          </a:p>
          <a:p>
            <a:pPr marL="800100" lvl="1" indent="-342900">
              <a:buFont typeface="Arial" panose="020B0604020202020204" pitchFamily="34" charset="0"/>
              <a:buChar char="•"/>
            </a:pPr>
            <a:r>
              <a:rPr lang="en-AU" sz="2479" spc="-49" dirty="0">
                <a:solidFill>
                  <a:srgbClr val="FFFFFF"/>
                </a:solidFill>
                <a:latin typeface="DM Sans"/>
              </a:rPr>
              <a:t>Extracts methodology, findings, and limitations from each paper as structured JSON</a:t>
            </a:r>
          </a:p>
          <a:p>
            <a:pPr marL="800100" lvl="1" indent="-342900">
              <a:buFont typeface="Arial" panose="020B0604020202020204" pitchFamily="34" charset="0"/>
              <a:buChar char="•"/>
            </a:pPr>
            <a:r>
              <a:rPr lang="en-AU" sz="2479" spc="-49" dirty="0">
                <a:solidFill>
                  <a:srgbClr val="FFFFFF"/>
                </a:solidFill>
                <a:latin typeface="DM Sans"/>
              </a:rPr>
              <a:t>Deduplicates and clusters results by theme, producing a ranked synthesis with full source traceability</a:t>
            </a:r>
          </a:p>
          <a:p>
            <a:pPr marL="800100" lvl="1" indent="-342900">
              <a:buFont typeface="Arial" panose="020B0604020202020204" pitchFamily="34" charset="0"/>
              <a:buChar char="•"/>
            </a:pPr>
            <a:r>
              <a:rPr lang="en-AU" sz="2479" spc="-49" dirty="0">
                <a:solidFill>
                  <a:srgbClr val="FFFFFF"/>
                </a:solidFill>
                <a:latin typeface="DM Sans"/>
              </a:rPr>
              <a:t>Compresses weeks of manual reading and note-taking into hours, with every claim linked back to its origin document</a:t>
            </a: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marL="1257300" lvl="2" indent="-342900">
              <a:lnSpc>
                <a:spcPts val="3422"/>
              </a:lnSpc>
              <a:buFont typeface="Arial" panose="020B0604020202020204" pitchFamily="34" charset="0"/>
              <a:buChar char="•"/>
            </a:pPr>
            <a:endParaRPr lang="en-US" sz="2479" spc="-49" dirty="0">
              <a:solidFill>
                <a:srgbClr val="FFFFFF"/>
              </a:solidFill>
              <a:latin typeface="DM Sans"/>
            </a:endParaRPr>
          </a:p>
          <a:p>
            <a:pPr marL="1257300" lvl="2" indent="-342900">
              <a:lnSpc>
                <a:spcPts val="3422"/>
              </a:lnSpc>
              <a:buFont typeface="Arial" panose="020B0604020202020204" pitchFamily="34" charset="0"/>
              <a:buChar char="•"/>
            </a:pPr>
            <a:endParaRPr lang="en-US" sz="2479" spc="-49" dirty="0">
              <a:solidFill>
                <a:srgbClr val="FFFFFF"/>
              </a:solidFill>
              <a:latin typeface="DM Sans"/>
            </a:endParaRPr>
          </a:p>
          <a:p>
            <a:pPr marL="1257300" lvl="2" indent="-342900">
              <a:lnSpc>
                <a:spcPts val="3422"/>
              </a:lnSpc>
              <a:buFont typeface="Arial" panose="020B0604020202020204" pitchFamily="34" charset="0"/>
              <a:buChar char="•"/>
            </a:pPr>
            <a:endParaRPr lang="en-US" sz="2479" spc="-49" dirty="0">
              <a:solidFill>
                <a:srgbClr val="FFFFFF"/>
              </a:solidFill>
              <a:latin typeface="DM Sans"/>
            </a:endParaRPr>
          </a:p>
          <a:p>
            <a:pPr marL="1257300" lvl="2"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p:txBody>
      </p:sp>
    </p:spTree>
    <p:extLst>
      <p:ext uri="{BB962C8B-B14F-4D97-AF65-F5344CB8AC3E}">
        <p14:creationId xmlns:p14="http://schemas.microsoft.com/office/powerpoint/2010/main" val="12133733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D62F3700-804E-C5F0-951B-B2E965C76FB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5935792-172B-552A-0850-AE4FC1079030}"/>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4B0CD3FD-68F9-37BB-3DC9-D4A7DACD5E7D}"/>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AE9EA910-DA35-2C65-5A93-69217F5C63E0}"/>
              </a:ext>
            </a:extLst>
          </p:cNvPr>
          <p:cNvSpPr txBox="1"/>
          <p:nvPr/>
        </p:nvSpPr>
        <p:spPr>
          <a:xfrm>
            <a:off x="1561731" y="1103528"/>
            <a:ext cx="15721724" cy="925253"/>
          </a:xfrm>
          <a:prstGeom prst="rect">
            <a:avLst/>
          </a:prstGeom>
        </p:spPr>
        <p:txBody>
          <a:bodyPr wrap="square" lIns="0" tIns="0" rIns="0" bIns="0" rtlCol="0" anchor="t">
            <a:spAutoFit/>
          </a:bodyPr>
          <a:lstStyle/>
          <a:p>
            <a:pPr lvl="0">
              <a:lnSpc>
                <a:spcPts val="7711"/>
              </a:lnSpc>
              <a:spcBef>
                <a:spcPct val="0"/>
              </a:spcBef>
            </a:pPr>
            <a:r>
              <a:rPr lang="en-US" sz="4800" dirty="0">
                <a:solidFill>
                  <a:srgbClr val="0CC0DF"/>
                </a:solidFill>
                <a:latin typeface="Now Bold"/>
              </a:rPr>
              <a:t>AGENTS USE CASES</a:t>
            </a:r>
          </a:p>
        </p:txBody>
      </p:sp>
      <p:sp>
        <p:nvSpPr>
          <p:cNvPr id="10" name="TextBox 10">
            <a:extLst>
              <a:ext uri="{FF2B5EF4-FFF2-40B4-BE49-F238E27FC236}">
                <a16:creationId xmlns:a16="http://schemas.microsoft.com/office/drawing/2014/main" id="{39B254E7-2E59-23A5-3F66-8FDF4720AF38}"/>
              </a:ext>
            </a:extLst>
          </p:cNvPr>
          <p:cNvSpPr txBox="1"/>
          <p:nvPr/>
        </p:nvSpPr>
        <p:spPr>
          <a:xfrm>
            <a:off x="1561731" y="2695228"/>
            <a:ext cx="14569596" cy="9192645"/>
          </a:xfrm>
          <a:prstGeom prst="rect">
            <a:avLst/>
          </a:prstGeom>
        </p:spPr>
        <p:txBody>
          <a:bodyPr wrap="square" lIns="0" tIns="0" rIns="0" bIns="0" rtlCol="0" anchor="t">
            <a:spAutoFit/>
          </a:bodyPr>
          <a:lstStyle/>
          <a:p>
            <a:pPr marL="342900" indent="-342900">
              <a:buFont typeface="Arial" panose="020B0604020202020204" pitchFamily="34" charset="0"/>
              <a:buChar char="•"/>
            </a:pPr>
            <a:r>
              <a:rPr lang="en-AU" sz="2479" b="1" u="sng" spc="-49" dirty="0">
                <a:solidFill>
                  <a:srgbClr val="FFFFFF"/>
                </a:solidFill>
                <a:latin typeface="DM Sans"/>
              </a:rPr>
              <a:t>Continuous data monitoring and anomaly reporting</a:t>
            </a:r>
          </a:p>
          <a:p>
            <a:pPr marL="800100" lvl="1" indent="-342900">
              <a:buFont typeface="Arial" panose="020B0604020202020204" pitchFamily="34" charset="0"/>
              <a:buChar char="•"/>
            </a:pPr>
            <a:r>
              <a:rPr lang="en-AU" sz="2479" spc="-49" dirty="0">
                <a:solidFill>
                  <a:srgbClr val="FFFFFF"/>
                </a:solidFill>
                <a:latin typeface="DM Sans"/>
              </a:rPr>
              <a:t>Polls APIs and databases on a schedule, running statistical checks against expected baselines</a:t>
            </a:r>
          </a:p>
          <a:p>
            <a:pPr marL="800100" lvl="1" indent="-342900">
              <a:buFont typeface="Arial" panose="020B0604020202020204" pitchFamily="34" charset="0"/>
              <a:buChar char="•"/>
            </a:pPr>
            <a:r>
              <a:rPr lang="en-AU" sz="2479" spc="-49" dirty="0">
                <a:solidFill>
                  <a:srgbClr val="FFFFFF"/>
                </a:solidFill>
                <a:latin typeface="DM Sans"/>
              </a:rPr>
              <a:t>Flags metrics that drift outside defined bounds, attaches the relevant data slice, and drafts a plain-language summary</a:t>
            </a:r>
          </a:p>
          <a:p>
            <a:pPr marL="800100" lvl="1" indent="-342900">
              <a:buFont typeface="Arial" panose="020B0604020202020204" pitchFamily="34" charset="0"/>
              <a:buChar char="•"/>
            </a:pPr>
            <a:r>
              <a:rPr lang="en-AU" sz="2479" spc="-49" dirty="0">
                <a:solidFill>
                  <a:srgbClr val="FFFFFF"/>
                </a:solidFill>
                <a:latin typeface="DM Sans"/>
              </a:rPr>
              <a:t>Eliminates the need for a human to monitor dashboards overnight or over weekends</a:t>
            </a:r>
          </a:p>
          <a:p>
            <a:pPr marL="800100" lvl="1" indent="-342900">
              <a:buFont typeface="Arial" panose="020B0604020202020204" pitchFamily="34" charset="0"/>
              <a:buChar char="•"/>
            </a:pPr>
            <a:r>
              <a:rPr lang="en-AU" sz="2479" spc="-49" dirty="0">
                <a:solidFill>
                  <a:srgbClr val="FFFFFF"/>
                </a:solidFill>
                <a:latin typeface="DM Sans"/>
              </a:rPr>
              <a:t>Delivers structured alerts with enough context that the on-call engineer can act immediately without digging</a:t>
            </a: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marL="342900" indent="-342900">
              <a:lnSpc>
                <a:spcPts val="3422"/>
              </a:lnSpc>
              <a:buFont typeface="Arial" panose="020B0604020202020204" pitchFamily="34" charset="0"/>
              <a:buChar char="•"/>
            </a:pPr>
            <a:r>
              <a:rPr lang="en-US" sz="2479" b="1" u="sng" spc="-49" dirty="0">
                <a:solidFill>
                  <a:srgbClr val="FFFFFF"/>
                </a:solidFill>
                <a:latin typeface="DM Sans"/>
              </a:rPr>
              <a:t>Document processing pipelines</a:t>
            </a:r>
          </a:p>
          <a:p>
            <a:pPr marL="800100" lvl="1" indent="-342900">
              <a:lnSpc>
                <a:spcPts val="3422"/>
              </a:lnSpc>
              <a:buFont typeface="Arial" panose="020B0604020202020204" pitchFamily="34" charset="0"/>
              <a:buChar char="•"/>
            </a:pPr>
            <a:r>
              <a:rPr lang="en-US" sz="2479" spc="-49" dirty="0">
                <a:solidFill>
                  <a:srgbClr val="FFFFFF"/>
                </a:solidFill>
                <a:latin typeface="DM Sans"/>
              </a:rPr>
              <a:t>Ingests contracts, invoices, or research reports and extracts named entities, dates, and key fields automatically</a:t>
            </a:r>
          </a:p>
          <a:p>
            <a:pPr marL="800100" lvl="1" indent="-342900">
              <a:lnSpc>
                <a:spcPts val="3422"/>
              </a:lnSpc>
              <a:buFont typeface="Arial" panose="020B0604020202020204" pitchFamily="34" charset="0"/>
              <a:buChar char="•"/>
            </a:pPr>
            <a:r>
              <a:rPr lang="en-US" sz="2479" spc="-49" dirty="0">
                <a:solidFill>
                  <a:srgbClr val="FFFFFF"/>
                </a:solidFill>
                <a:latin typeface="DM Sans"/>
              </a:rPr>
              <a:t>Classifies each document by type and populates a structured database without manual data entry</a:t>
            </a:r>
          </a:p>
          <a:p>
            <a:pPr marL="800100" lvl="1" indent="-342900">
              <a:lnSpc>
                <a:spcPts val="3422"/>
              </a:lnSpc>
              <a:buFont typeface="Arial" panose="020B0604020202020204" pitchFamily="34" charset="0"/>
              <a:buChar char="•"/>
            </a:pPr>
            <a:r>
              <a:rPr lang="en-US" sz="2479" spc="-49" dirty="0">
                <a:solidFill>
                  <a:srgbClr val="FFFFFF"/>
                </a:solidFill>
                <a:latin typeface="DM Sans"/>
              </a:rPr>
              <a:t>Flags records below a confidence threshold and routes only those to a human reviewer</a:t>
            </a:r>
          </a:p>
          <a:p>
            <a:pPr marL="800100" lvl="1" indent="-342900">
              <a:lnSpc>
                <a:spcPts val="3422"/>
              </a:lnSpc>
              <a:buFont typeface="Arial" panose="020B0604020202020204" pitchFamily="34" charset="0"/>
              <a:buChar char="•"/>
            </a:pPr>
            <a:r>
              <a:rPr lang="en-US" sz="2479" spc="-49" dirty="0">
                <a:solidFill>
                  <a:srgbClr val="FFFFFF"/>
                </a:solidFill>
                <a:latin typeface="DM Sans"/>
              </a:rPr>
              <a:t>Scales to thousands of documents without degradation: the human only ever sees the edge cases</a:t>
            </a: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marL="1257300" lvl="2" indent="-342900">
              <a:lnSpc>
                <a:spcPts val="3422"/>
              </a:lnSpc>
              <a:buFont typeface="Arial" panose="020B0604020202020204" pitchFamily="34" charset="0"/>
              <a:buChar char="•"/>
            </a:pPr>
            <a:endParaRPr lang="en-US" sz="2479" spc="-49" dirty="0">
              <a:solidFill>
                <a:srgbClr val="FFFFFF"/>
              </a:solidFill>
              <a:latin typeface="DM Sans"/>
            </a:endParaRPr>
          </a:p>
          <a:p>
            <a:pPr marL="1257300" lvl="2" indent="-342900">
              <a:lnSpc>
                <a:spcPts val="3422"/>
              </a:lnSpc>
              <a:buFont typeface="Arial" panose="020B0604020202020204" pitchFamily="34" charset="0"/>
              <a:buChar char="•"/>
            </a:pPr>
            <a:endParaRPr lang="en-US" sz="2479" spc="-49" dirty="0">
              <a:solidFill>
                <a:srgbClr val="FFFFFF"/>
              </a:solidFill>
              <a:latin typeface="DM Sans"/>
            </a:endParaRPr>
          </a:p>
          <a:p>
            <a:pPr marL="1257300" lvl="2" indent="-342900">
              <a:lnSpc>
                <a:spcPts val="3422"/>
              </a:lnSpc>
              <a:buFont typeface="Arial" panose="020B0604020202020204" pitchFamily="34" charset="0"/>
              <a:buChar char="•"/>
            </a:pPr>
            <a:endParaRPr lang="en-US" sz="2479" spc="-49" dirty="0">
              <a:solidFill>
                <a:srgbClr val="FFFFFF"/>
              </a:solidFill>
              <a:latin typeface="DM Sans"/>
            </a:endParaRPr>
          </a:p>
          <a:p>
            <a:pPr marL="1257300" lvl="2"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p:txBody>
      </p:sp>
    </p:spTree>
    <p:extLst>
      <p:ext uri="{BB962C8B-B14F-4D97-AF65-F5344CB8AC3E}">
        <p14:creationId xmlns:p14="http://schemas.microsoft.com/office/powerpoint/2010/main" val="2203850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1691B2C6-7285-59E4-B2E3-D7AA99C3F72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A38418E-05A9-AFC1-F90E-734E14CA5D80}"/>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8E0B355C-9669-E8A6-7D3C-81A87599D644}"/>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2D80B90D-27AB-3D78-0C8C-647ECD9B74EE}"/>
              </a:ext>
            </a:extLst>
          </p:cNvPr>
          <p:cNvSpPr txBox="1"/>
          <p:nvPr/>
        </p:nvSpPr>
        <p:spPr>
          <a:xfrm>
            <a:off x="1561731" y="1103528"/>
            <a:ext cx="15721724" cy="925253"/>
          </a:xfrm>
          <a:prstGeom prst="rect">
            <a:avLst/>
          </a:prstGeom>
        </p:spPr>
        <p:txBody>
          <a:bodyPr wrap="square" lIns="0" tIns="0" rIns="0" bIns="0" rtlCol="0" anchor="t">
            <a:spAutoFit/>
          </a:bodyPr>
          <a:lstStyle/>
          <a:p>
            <a:pPr lvl="0">
              <a:lnSpc>
                <a:spcPts val="7711"/>
              </a:lnSpc>
              <a:spcBef>
                <a:spcPct val="0"/>
              </a:spcBef>
            </a:pPr>
            <a:r>
              <a:rPr lang="en-US" sz="4800" dirty="0">
                <a:solidFill>
                  <a:srgbClr val="0CC0DF"/>
                </a:solidFill>
                <a:latin typeface="Now Bold"/>
              </a:rPr>
              <a:t>AGENTS USE CASES</a:t>
            </a:r>
          </a:p>
        </p:txBody>
      </p:sp>
      <p:sp>
        <p:nvSpPr>
          <p:cNvPr id="10" name="TextBox 10">
            <a:extLst>
              <a:ext uri="{FF2B5EF4-FFF2-40B4-BE49-F238E27FC236}">
                <a16:creationId xmlns:a16="http://schemas.microsoft.com/office/drawing/2014/main" id="{0BFBDDED-2BB6-AAD4-23A5-6607373D349F}"/>
              </a:ext>
            </a:extLst>
          </p:cNvPr>
          <p:cNvSpPr txBox="1"/>
          <p:nvPr/>
        </p:nvSpPr>
        <p:spPr>
          <a:xfrm>
            <a:off x="1561731" y="2695228"/>
            <a:ext cx="14569596" cy="7230569"/>
          </a:xfrm>
          <a:prstGeom prst="rect">
            <a:avLst/>
          </a:prstGeom>
        </p:spPr>
        <p:txBody>
          <a:bodyPr wrap="square" lIns="0" tIns="0" rIns="0" bIns="0" rtlCol="0" anchor="t">
            <a:spAutoFit/>
          </a:bodyPr>
          <a:lstStyle/>
          <a:p>
            <a:pPr lvl="1">
              <a:lnSpc>
                <a:spcPts val="3422"/>
              </a:lnSpc>
            </a:pPr>
            <a:endParaRPr lang="en-US" sz="2479" spc="-49" dirty="0">
              <a:solidFill>
                <a:srgbClr val="FFFFFF"/>
              </a:solidFill>
              <a:latin typeface="DM Sans"/>
            </a:endParaRPr>
          </a:p>
          <a:p>
            <a:pPr marL="342900" indent="-342900">
              <a:buFont typeface="Arial" panose="020B0604020202020204" pitchFamily="34" charset="0"/>
              <a:buChar char="•"/>
            </a:pPr>
            <a:r>
              <a:rPr lang="en-AU" sz="2479" b="1" u="sng" spc="-49" dirty="0">
                <a:solidFill>
                  <a:srgbClr val="FFFFFF"/>
                </a:solidFill>
                <a:latin typeface="DM Sans"/>
              </a:rPr>
              <a:t>Structured critique</a:t>
            </a:r>
          </a:p>
          <a:p>
            <a:pPr marL="800100" lvl="1" indent="-342900">
              <a:buFont typeface="Arial" panose="020B0604020202020204" pitchFamily="34" charset="0"/>
              <a:buChar char="•"/>
            </a:pPr>
            <a:r>
              <a:rPr lang="en-AU" sz="2479" spc="-49" dirty="0">
                <a:solidFill>
                  <a:srgbClr val="FFFFFF"/>
                </a:solidFill>
                <a:latin typeface="DM Sans"/>
              </a:rPr>
              <a:t>Checks every factual claim in a paper or proposal against its cited source, flagging unsupported assertions</a:t>
            </a:r>
          </a:p>
          <a:p>
            <a:pPr marL="800100" lvl="1" indent="-342900">
              <a:buFont typeface="Arial" panose="020B0604020202020204" pitchFamily="34" charset="0"/>
              <a:buChar char="•"/>
            </a:pPr>
            <a:r>
              <a:rPr lang="en-AU" sz="2479" spc="-49" dirty="0">
                <a:solidFill>
                  <a:srgbClr val="FFFFFF"/>
                </a:solidFill>
                <a:latin typeface="DM Sans"/>
              </a:rPr>
              <a:t>Identifies logical gaps between sections</a:t>
            </a:r>
          </a:p>
          <a:p>
            <a:pPr marL="1257300" lvl="2" indent="-342900">
              <a:buFont typeface="Arial" panose="020B0604020202020204" pitchFamily="34" charset="0"/>
              <a:buChar char="•"/>
            </a:pPr>
            <a:r>
              <a:rPr lang="en-AU" sz="2479" spc="-49" dirty="0">
                <a:solidFill>
                  <a:srgbClr val="FFFFFF"/>
                </a:solidFill>
                <a:latin typeface="DM Sans"/>
              </a:rPr>
              <a:t>Where a conclusion is not actually supported by the preceding methodology</a:t>
            </a:r>
          </a:p>
          <a:p>
            <a:pPr marL="1257300" lvl="2" indent="-342900">
              <a:buFont typeface="Arial" panose="020B0604020202020204" pitchFamily="34" charset="0"/>
              <a:buChar char="•"/>
            </a:pPr>
            <a:endParaRPr lang="en-AU" sz="2479" spc="-49" dirty="0">
              <a:solidFill>
                <a:srgbClr val="FFFFFF"/>
              </a:solidFill>
              <a:latin typeface="DM Sans"/>
            </a:endParaRPr>
          </a:p>
          <a:p>
            <a:pPr marL="800100" lvl="1" indent="-342900">
              <a:buFont typeface="Arial" panose="020B0604020202020204" pitchFamily="34" charset="0"/>
              <a:buChar char="•"/>
            </a:pPr>
            <a:r>
              <a:rPr lang="en-AU" sz="2479" spc="-49" dirty="0">
                <a:solidFill>
                  <a:srgbClr val="FFFFFF"/>
                </a:solidFill>
                <a:latin typeface="DM Sans"/>
              </a:rPr>
              <a:t>Tests internal consistency: do the numbers in the results section match the numbers in the tables?</a:t>
            </a:r>
          </a:p>
          <a:p>
            <a:pPr marL="800100" lvl="1" indent="-342900">
              <a:buFont typeface="Arial" panose="020B0604020202020204" pitchFamily="34" charset="0"/>
              <a:buChar char="•"/>
            </a:pPr>
            <a:endParaRPr lang="en-AU" sz="2479" spc="-49" dirty="0">
              <a:solidFill>
                <a:srgbClr val="FFFFFF"/>
              </a:solidFill>
              <a:latin typeface="DM Sans"/>
            </a:endParaRPr>
          </a:p>
          <a:p>
            <a:pPr marL="800100" lvl="1" indent="-342900">
              <a:buFont typeface="Arial" panose="020B0604020202020204" pitchFamily="34" charset="0"/>
              <a:buChar char="•"/>
            </a:pPr>
            <a:r>
              <a:rPr lang="en-AU" sz="2479" spc="-49" dirty="0">
                <a:solidFill>
                  <a:srgbClr val="FFFFFF"/>
                </a:solidFill>
                <a:latin typeface="DM Sans"/>
              </a:rPr>
              <a:t>Returns a ranked list of weaknesses by severity, giving the author a prioritised revision agenda before submission</a:t>
            </a: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marL="1257300" lvl="2" indent="-342900">
              <a:lnSpc>
                <a:spcPts val="3422"/>
              </a:lnSpc>
              <a:buFont typeface="Arial" panose="020B0604020202020204" pitchFamily="34" charset="0"/>
              <a:buChar char="•"/>
            </a:pPr>
            <a:endParaRPr lang="en-US" sz="2479" spc="-49" dirty="0">
              <a:solidFill>
                <a:srgbClr val="FFFFFF"/>
              </a:solidFill>
              <a:latin typeface="DM Sans"/>
            </a:endParaRPr>
          </a:p>
          <a:p>
            <a:pPr marL="1257300" lvl="2" indent="-342900">
              <a:lnSpc>
                <a:spcPts val="3422"/>
              </a:lnSpc>
              <a:buFont typeface="Arial" panose="020B0604020202020204" pitchFamily="34" charset="0"/>
              <a:buChar char="•"/>
            </a:pPr>
            <a:endParaRPr lang="en-US" sz="2479" spc="-49" dirty="0">
              <a:solidFill>
                <a:srgbClr val="FFFFFF"/>
              </a:solidFill>
              <a:latin typeface="DM Sans"/>
            </a:endParaRPr>
          </a:p>
          <a:p>
            <a:pPr marL="1257300" lvl="2" indent="-342900">
              <a:lnSpc>
                <a:spcPts val="3422"/>
              </a:lnSpc>
              <a:buFont typeface="Arial" panose="020B0604020202020204" pitchFamily="34" charset="0"/>
              <a:buChar char="•"/>
            </a:pPr>
            <a:endParaRPr lang="en-US" sz="2479" spc="-49" dirty="0">
              <a:solidFill>
                <a:srgbClr val="FFFFFF"/>
              </a:solidFill>
              <a:latin typeface="DM Sans"/>
            </a:endParaRPr>
          </a:p>
          <a:p>
            <a:pPr marL="1257300" lvl="2"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p:txBody>
      </p:sp>
    </p:spTree>
    <p:extLst>
      <p:ext uri="{BB962C8B-B14F-4D97-AF65-F5344CB8AC3E}">
        <p14:creationId xmlns:p14="http://schemas.microsoft.com/office/powerpoint/2010/main" val="27717098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370151DA-E22A-F8C8-DE59-7A3DA2C261E4}"/>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A281B009-6C07-A490-5D07-9698650DE627}"/>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0DF5B1EB-81E2-D22E-D857-781F73397703}"/>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8BC7BDCD-D3C5-460E-F535-62BE39B1C11D}"/>
              </a:ext>
            </a:extLst>
          </p:cNvPr>
          <p:cNvSpPr txBox="1"/>
          <p:nvPr/>
        </p:nvSpPr>
        <p:spPr>
          <a:xfrm>
            <a:off x="1561731" y="1103528"/>
            <a:ext cx="15721724" cy="925253"/>
          </a:xfrm>
          <a:prstGeom prst="rect">
            <a:avLst/>
          </a:prstGeom>
        </p:spPr>
        <p:txBody>
          <a:bodyPr wrap="square" lIns="0" tIns="0" rIns="0" bIns="0" rtlCol="0" anchor="t">
            <a:spAutoFit/>
          </a:bodyPr>
          <a:lstStyle/>
          <a:p>
            <a:pPr lvl="0">
              <a:lnSpc>
                <a:spcPts val="7711"/>
              </a:lnSpc>
              <a:spcBef>
                <a:spcPct val="0"/>
              </a:spcBef>
            </a:pPr>
            <a:r>
              <a:rPr lang="en-US" sz="4800" dirty="0">
                <a:solidFill>
                  <a:srgbClr val="0CC0DF"/>
                </a:solidFill>
                <a:latin typeface="Now Bold"/>
              </a:rPr>
              <a:t>AGENTS USE CASES</a:t>
            </a:r>
          </a:p>
        </p:txBody>
      </p:sp>
      <p:sp>
        <p:nvSpPr>
          <p:cNvPr id="10" name="TextBox 10">
            <a:extLst>
              <a:ext uri="{FF2B5EF4-FFF2-40B4-BE49-F238E27FC236}">
                <a16:creationId xmlns:a16="http://schemas.microsoft.com/office/drawing/2014/main" id="{2C0D7E8D-6F43-E76A-DB86-01EE54ED1196}"/>
              </a:ext>
            </a:extLst>
          </p:cNvPr>
          <p:cNvSpPr txBox="1"/>
          <p:nvPr/>
        </p:nvSpPr>
        <p:spPr>
          <a:xfrm>
            <a:off x="1561731" y="2695228"/>
            <a:ext cx="14569596" cy="7993599"/>
          </a:xfrm>
          <a:prstGeom prst="rect">
            <a:avLst/>
          </a:prstGeom>
        </p:spPr>
        <p:txBody>
          <a:bodyPr wrap="square" lIns="0" tIns="0" rIns="0" bIns="0" rtlCol="0" anchor="t">
            <a:spAutoFit/>
          </a:bodyPr>
          <a:lstStyle/>
          <a:p>
            <a:pPr marL="800100" lvl="1" indent="-342900">
              <a:lnSpc>
                <a:spcPts val="3422"/>
              </a:lnSpc>
              <a:buFont typeface="Arial" panose="020B0604020202020204" pitchFamily="34" charset="0"/>
              <a:buChar char="•"/>
            </a:pPr>
            <a:r>
              <a:rPr lang="en-US" sz="2479" spc="-49" dirty="0">
                <a:solidFill>
                  <a:srgbClr val="FFFFFF"/>
                </a:solidFill>
                <a:latin typeface="DM Sans"/>
              </a:rPr>
              <a:t>Other use cases:</a:t>
            </a: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marL="1257300" lvl="2" indent="-342900">
              <a:buFont typeface="Arial" panose="020B0604020202020204" pitchFamily="34" charset="0"/>
              <a:buChar char="•"/>
            </a:pPr>
            <a:r>
              <a:rPr lang="en-AU" sz="2479" spc="-49" dirty="0">
                <a:solidFill>
                  <a:srgbClr val="FFFFFF"/>
                </a:solidFill>
                <a:latin typeface="DM Sans"/>
              </a:rPr>
              <a:t>"Make me a presentation”</a:t>
            </a:r>
          </a:p>
          <a:p>
            <a:pPr marL="1257300" lvl="2" indent="-342900">
              <a:buFont typeface="Arial" panose="020B0604020202020204" pitchFamily="34" charset="0"/>
              <a:buChar char="•"/>
            </a:pPr>
            <a:endParaRPr lang="en-AU" sz="2479" spc="-49" dirty="0">
              <a:solidFill>
                <a:srgbClr val="FFFFFF"/>
              </a:solidFill>
              <a:latin typeface="DM Sans"/>
            </a:endParaRPr>
          </a:p>
          <a:p>
            <a:pPr marL="1257300" lvl="2" indent="-342900">
              <a:buFont typeface="Arial" panose="020B0604020202020204" pitchFamily="34" charset="0"/>
              <a:buChar char="•"/>
            </a:pPr>
            <a:r>
              <a:rPr lang="en-AU" sz="2479" spc="-49" dirty="0">
                <a:solidFill>
                  <a:srgbClr val="FFFFFF"/>
                </a:solidFill>
                <a:latin typeface="DM Sans"/>
              </a:rPr>
              <a:t>"Handle my emails" </a:t>
            </a:r>
          </a:p>
          <a:p>
            <a:pPr marL="1257300" lvl="2" indent="-342900">
              <a:buFont typeface="Arial" panose="020B0604020202020204" pitchFamily="34" charset="0"/>
              <a:buChar char="•"/>
            </a:pPr>
            <a:endParaRPr lang="en-AU" sz="2479" spc="-49" dirty="0">
              <a:solidFill>
                <a:srgbClr val="FFFFFF"/>
              </a:solidFill>
              <a:latin typeface="DM Sans"/>
            </a:endParaRPr>
          </a:p>
          <a:p>
            <a:pPr marL="1257300" lvl="2" indent="-342900">
              <a:buFont typeface="Arial" panose="020B0604020202020204" pitchFamily="34" charset="0"/>
              <a:buChar char="•"/>
            </a:pPr>
            <a:r>
              <a:rPr lang="en-AU" sz="2479" spc="-49" dirty="0">
                <a:solidFill>
                  <a:srgbClr val="FFFFFF"/>
                </a:solidFill>
                <a:latin typeface="DM Sans"/>
              </a:rPr>
              <a:t>“Do regression”</a:t>
            </a:r>
          </a:p>
          <a:p>
            <a:pPr marL="1257300" lvl="2" indent="-342900">
              <a:buFont typeface="Arial" panose="020B0604020202020204" pitchFamily="34" charset="0"/>
              <a:buChar char="•"/>
            </a:pPr>
            <a:endParaRPr lang="en-AU" sz="2479" spc="-49" dirty="0">
              <a:solidFill>
                <a:srgbClr val="FFFFFF"/>
              </a:solidFill>
              <a:latin typeface="DM Sans"/>
            </a:endParaRPr>
          </a:p>
          <a:p>
            <a:pPr marL="1257300" lvl="2" indent="-342900">
              <a:buFont typeface="Arial" panose="020B0604020202020204" pitchFamily="34" charset="0"/>
              <a:buChar char="•"/>
            </a:pPr>
            <a:r>
              <a:rPr lang="en-AU" sz="2479" spc="-49" dirty="0">
                <a:solidFill>
                  <a:srgbClr val="FFFFFF"/>
                </a:solidFill>
                <a:latin typeface="DM Sans"/>
              </a:rPr>
              <a:t>"Clean data”</a:t>
            </a:r>
          </a:p>
          <a:p>
            <a:pPr marL="1257300" lvl="2" indent="-342900">
              <a:buFont typeface="Arial" panose="020B0604020202020204" pitchFamily="34" charset="0"/>
              <a:buChar char="•"/>
            </a:pPr>
            <a:endParaRPr lang="en-AU" sz="2479" spc="-49" dirty="0">
              <a:solidFill>
                <a:srgbClr val="FFFFFF"/>
              </a:solidFill>
              <a:latin typeface="DM Sans"/>
            </a:endParaRPr>
          </a:p>
          <a:p>
            <a:pPr marL="1257300" lvl="2" indent="-342900">
              <a:buFont typeface="Arial" panose="020B0604020202020204" pitchFamily="34" charset="0"/>
              <a:buChar char="•"/>
            </a:pPr>
            <a:r>
              <a:rPr lang="en-AU" sz="2479" spc="-49" dirty="0">
                <a:solidFill>
                  <a:srgbClr val="FFFFFF"/>
                </a:solidFill>
                <a:latin typeface="DM Sans"/>
              </a:rPr>
              <a:t>"Automate my weekly report”</a:t>
            </a:r>
          </a:p>
          <a:p>
            <a:pPr lvl="2"/>
            <a:endParaRPr lang="en-AU" sz="2479" spc="-49" dirty="0">
              <a:solidFill>
                <a:srgbClr val="FFFFFF"/>
              </a:solidFill>
              <a:latin typeface="DM Sans"/>
            </a:endParaRPr>
          </a:p>
          <a:p>
            <a:pPr marL="1257300" lvl="2" indent="-342900">
              <a:buFont typeface="Arial" panose="020B0604020202020204" pitchFamily="34" charset="0"/>
              <a:buChar char="•"/>
            </a:pPr>
            <a:r>
              <a:rPr lang="en-AU" sz="2479" spc="-49" dirty="0">
                <a:solidFill>
                  <a:srgbClr val="FFFFFF"/>
                </a:solidFill>
                <a:latin typeface="DM Sans"/>
              </a:rPr>
              <a:t>"Do this boring thing I do every day"  </a:t>
            </a:r>
          </a:p>
          <a:p>
            <a:pPr marL="1257300" lvl="2" indent="-342900">
              <a:buFont typeface="Arial" panose="020B0604020202020204" pitchFamily="34" charset="0"/>
              <a:buChar char="•"/>
            </a:pPr>
            <a:endParaRPr lang="en-AU" sz="2479" spc="-49" dirty="0">
              <a:solidFill>
                <a:srgbClr val="FFFFFF"/>
              </a:solidFill>
              <a:latin typeface="DM Sans"/>
            </a:endParaRPr>
          </a:p>
          <a:p>
            <a:pPr marL="1714500" lvl="3" indent="-342900">
              <a:buFont typeface="Arial" panose="020B0604020202020204" pitchFamily="34" charset="0"/>
              <a:buChar char="•"/>
            </a:pPr>
            <a:r>
              <a:rPr lang="en-AU" sz="2479" spc="-49" dirty="0">
                <a:solidFill>
                  <a:srgbClr val="FFFFFF"/>
                </a:solidFill>
                <a:latin typeface="DM Sans"/>
              </a:rPr>
              <a:t> The agent learns the pattern, turns it into a reusable skill, and runs it on autopilot</a:t>
            </a:r>
          </a:p>
          <a:p>
            <a:pPr marL="2171700" lvl="4" indent="-342900">
              <a:lnSpc>
                <a:spcPts val="3422"/>
              </a:lnSpc>
              <a:buFont typeface="Arial" panose="020B0604020202020204" pitchFamily="34" charset="0"/>
              <a:buChar char="•"/>
            </a:pPr>
            <a:endParaRPr lang="en-US" sz="2479" spc="-49" dirty="0">
              <a:solidFill>
                <a:srgbClr val="FFFFFF"/>
              </a:solidFill>
              <a:latin typeface="DM Sans"/>
            </a:endParaRPr>
          </a:p>
          <a:p>
            <a:pPr marL="1257300" lvl="2" indent="-342900">
              <a:lnSpc>
                <a:spcPts val="3422"/>
              </a:lnSpc>
              <a:buFont typeface="Arial" panose="020B0604020202020204" pitchFamily="34" charset="0"/>
              <a:buChar char="•"/>
            </a:pPr>
            <a:endParaRPr lang="en-US" sz="2479" spc="-49" dirty="0">
              <a:solidFill>
                <a:srgbClr val="FFFFFF"/>
              </a:solidFill>
              <a:latin typeface="DM Sans"/>
            </a:endParaRPr>
          </a:p>
          <a:p>
            <a:pPr marL="1257300" lvl="2" indent="-342900">
              <a:lnSpc>
                <a:spcPts val="3422"/>
              </a:lnSpc>
              <a:buFont typeface="Arial" panose="020B0604020202020204" pitchFamily="34" charset="0"/>
              <a:buChar char="•"/>
            </a:pPr>
            <a:endParaRPr lang="en-US" sz="2479" spc="-49" dirty="0">
              <a:solidFill>
                <a:srgbClr val="FFFFFF"/>
              </a:solidFill>
              <a:latin typeface="DM Sans"/>
            </a:endParaRPr>
          </a:p>
          <a:p>
            <a:pPr marL="1257300" lvl="2"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p:txBody>
      </p:sp>
    </p:spTree>
    <p:extLst>
      <p:ext uri="{BB962C8B-B14F-4D97-AF65-F5344CB8AC3E}">
        <p14:creationId xmlns:p14="http://schemas.microsoft.com/office/powerpoint/2010/main" val="41254719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EB7525B0-1C81-24B1-D677-8B7DF206ED4D}"/>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287AB50-39B0-D557-D809-A47C8A992642}"/>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108C46B7-421B-F904-71F6-72EC1790E612}"/>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8458E09E-AEEB-84A9-27C7-621594C461B4}"/>
              </a:ext>
            </a:extLst>
          </p:cNvPr>
          <p:cNvSpPr txBox="1"/>
          <p:nvPr/>
        </p:nvSpPr>
        <p:spPr>
          <a:xfrm>
            <a:off x="1559180" y="1676695"/>
            <a:ext cx="16585820" cy="925253"/>
          </a:xfrm>
          <a:prstGeom prst="rect">
            <a:avLst/>
          </a:prstGeom>
        </p:spPr>
        <p:txBody>
          <a:bodyPr wrap="square" lIns="0" tIns="0" rIns="0" bIns="0" rtlCol="0" anchor="t">
            <a:spAutoFit/>
          </a:bodyPr>
          <a:lstStyle/>
          <a:p>
            <a:pPr lvl="0">
              <a:lnSpc>
                <a:spcPts val="7711"/>
              </a:lnSpc>
              <a:spcBef>
                <a:spcPct val="0"/>
              </a:spcBef>
            </a:pPr>
            <a:r>
              <a:rPr lang="en-US" sz="4800" dirty="0">
                <a:solidFill>
                  <a:srgbClr val="0CC0DF"/>
                </a:solidFill>
                <a:latin typeface="Now Bold"/>
              </a:rPr>
              <a:t>LLM vs AGENT WHAT IS THE DIFFERENCE?</a:t>
            </a:r>
          </a:p>
        </p:txBody>
      </p:sp>
      <p:sp>
        <p:nvSpPr>
          <p:cNvPr id="10" name="TextBox 10">
            <a:extLst>
              <a:ext uri="{FF2B5EF4-FFF2-40B4-BE49-F238E27FC236}">
                <a16:creationId xmlns:a16="http://schemas.microsoft.com/office/drawing/2014/main" id="{7F602CF6-471E-5AAF-D25E-2CB4F2370BF4}"/>
              </a:ext>
            </a:extLst>
          </p:cNvPr>
          <p:cNvSpPr txBox="1"/>
          <p:nvPr/>
        </p:nvSpPr>
        <p:spPr>
          <a:xfrm>
            <a:off x="1559180" y="2601948"/>
            <a:ext cx="9889076" cy="7384457"/>
          </a:xfrm>
          <a:prstGeom prst="rect">
            <a:avLst/>
          </a:prstGeom>
        </p:spPr>
        <p:txBody>
          <a:bodyPr wrap="square" lIns="0" tIns="0" rIns="0" bIns="0" rtlCol="0" anchor="t">
            <a:spAutoFit/>
          </a:bodyPr>
          <a:lstStyle/>
          <a:p>
            <a:pPr marL="342900" indent="-342900">
              <a:lnSpc>
                <a:spcPts val="3422"/>
              </a:lnSpc>
              <a:buFont typeface="Arial" panose="020B0604020202020204" pitchFamily="34" charset="0"/>
              <a:buChar char="•"/>
            </a:pPr>
            <a:r>
              <a:rPr lang="en-US" sz="2479" spc="-49" dirty="0">
                <a:solidFill>
                  <a:srgbClr val="FFFFFF"/>
                </a:solidFill>
                <a:latin typeface="DM Sans"/>
              </a:rPr>
              <a:t>LLM is only one component of an agentic system</a:t>
            </a:r>
          </a:p>
          <a:p>
            <a:pPr marL="342900"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r>
              <a:rPr lang="en-US" sz="2479" spc="-49" dirty="0">
                <a:solidFill>
                  <a:srgbClr val="FFFFFF"/>
                </a:solidFill>
                <a:latin typeface="DM Sans"/>
              </a:rPr>
              <a:t>It only receives text and generates text </a:t>
            </a:r>
          </a:p>
          <a:p>
            <a:pPr marL="800100" lvl="1" indent="-342900">
              <a:lnSpc>
                <a:spcPts val="3422"/>
              </a:lnSpc>
              <a:buFont typeface="Arial" panose="020B0604020202020204" pitchFamily="34" charset="0"/>
              <a:buChar char="•"/>
            </a:pPr>
            <a:r>
              <a:rPr lang="en-US" sz="2479" spc="-49" dirty="0">
                <a:solidFill>
                  <a:srgbClr val="FFFFFF"/>
                </a:solidFill>
                <a:latin typeface="DM Sans"/>
              </a:rPr>
              <a:t>Cannot “perform” tasks on its own </a:t>
            </a:r>
          </a:p>
          <a:p>
            <a:pPr marL="800100" lvl="1" indent="-342900">
              <a:lnSpc>
                <a:spcPts val="3422"/>
              </a:lnSpc>
              <a:buFont typeface="Arial" panose="020B0604020202020204" pitchFamily="34" charset="0"/>
              <a:buChar char="•"/>
            </a:pPr>
            <a:r>
              <a:rPr lang="en-US" sz="2479" spc="-49" dirty="0">
                <a:solidFill>
                  <a:srgbClr val="FFFFFF"/>
                </a:solidFill>
                <a:latin typeface="DM Sans"/>
              </a:rPr>
              <a:t>Doesn’t have access to reliable up-to-date information</a:t>
            </a:r>
          </a:p>
          <a:p>
            <a:pPr lvl="1">
              <a:lnSpc>
                <a:spcPts val="3422"/>
              </a:lnSpc>
            </a:pPr>
            <a:endParaRPr lang="en-US" sz="2479" spc="-49" dirty="0">
              <a:solidFill>
                <a:srgbClr val="FFFFFF"/>
              </a:solidFill>
              <a:latin typeface="DM Sans"/>
            </a:endParaRPr>
          </a:p>
          <a:p>
            <a:pPr marL="342900" indent="-342900">
              <a:lnSpc>
                <a:spcPts val="3422"/>
              </a:lnSpc>
              <a:buFont typeface="Arial" panose="020B0604020202020204" pitchFamily="34" charset="0"/>
              <a:buChar char="•"/>
            </a:pPr>
            <a:r>
              <a:rPr lang="en-US" sz="2479" spc="-49" dirty="0">
                <a:solidFill>
                  <a:srgbClr val="FFFFFF"/>
                </a:solidFill>
                <a:latin typeface="DM Sans"/>
              </a:rPr>
              <a:t>Agent can “perform” tasks</a:t>
            </a:r>
          </a:p>
          <a:p>
            <a:pPr marL="342900"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r>
              <a:rPr lang="en-US" sz="2479" spc="-49" dirty="0">
                <a:solidFill>
                  <a:srgbClr val="FFFFFF"/>
                </a:solidFill>
                <a:latin typeface="DM Sans"/>
              </a:rPr>
              <a:t>It is not just a simple LLM call, there are steps and procedures the system follows for generating responses and performing tasks</a:t>
            </a:r>
          </a:p>
          <a:p>
            <a:pPr marL="800100" lvl="1" indent="-342900">
              <a:lnSpc>
                <a:spcPts val="3422"/>
              </a:lnSpc>
              <a:buFont typeface="Arial" panose="020B0604020202020204" pitchFamily="34" charset="0"/>
              <a:buChar char="•"/>
            </a:pPr>
            <a:r>
              <a:rPr lang="en-US" sz="2479" spc="-49" dirty="0">
                <a:solidFill>
                  <a:srgbClr val="FFFFFF"/>
                </a:solidFill>
                <a:latin typeface="DM Sans"/>
              </a:rPr>
              <a:t>It is what you see in ChatGPT and Claude (website not API)</a:t>
            </a:r>
          </a:p>
          <a:p>
            <a:pPr>
              <a:lnSpc>
                <a:spcPts val="3422"/>
              </a:lnSpc>
            </a:pPr>
            <a:endParaRPr lang="en-US" sz="2479" spc="-49" dirty="0">
              <a:solidFill>
                <a:srgbClr val="FFFFFF"/>
              </a:solidFill>
              <a:latin typeface="DM Sans"/>
            </a:endParaRPr>
          </a:p>
          <a:p>
            <a:pPr marL="342900" indent="-342900">
              <a:lnSpc>
                <a:spcPts val="3422"/>
              </a:lnSpc>
              <a:buFont typeface="Arial" panose="020B0604020202020204" pitchFamily="34" charset="0"/>
              <a:buChar char="•"/>
            </a:pPr>
            <a:endParaRPr lang="en-US" sz="2479" spc="-49" dirty="0">
              <a:solidFill>
                <a:srgbClr val="FFFFFF"/>
              </a:solidFill>
              <a:latin typeface="DM Sans"/>
            </a:endParaRPr>
          </a:p>
          <a:p>
            <a:pPr marL="342900"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a:lnSpc>
                <a:spcPts val="3284"/>
              </a:lnSpc>
            </a:pPr>
            <a:endParaRPr lang="en-US" sz="2479" spc="-49" dirty="0">
              <a:solidFill>
                <a:srgbClr val="FFFFFF"/>
              </a:solidFill>
              <a:latin typeface="DM Sans"/>
            </a:endParaRPr>
          </a:p>
        </p:txBody>
      </p:sp>
    </p:spTree>
    <p:extLst>
      <p:ext uri="{BB962C8B-B14F-4D97-AF65-F5344CB8AC3E}">
        <p14:creationId xmlns:p14="http://schemas.microsoft.com/office/powerpoint/2010/main" val="23512706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03D71962-4008-F329-B360-509A381991D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8CDF236C-4440-177A-BD55-0C8199713818}"/>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FAF6063D-E5FA-6AA7-2F04-E4EF9E85D30F}"/>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48A98A8F-CD98-2F8A-F8B5-22351220D6A0}"/>
              </a:ext>
            </a:extLst>
          </p:cNvPr>
          <p:cNvSpPr txBox="1"/>
          <p:nvPr/>
        </p:nvSpPr>
        <p:spPr>
          <a:xfrm>
            <a:off x="1559180" y="1445382"/>
            <a:ext cx="16585820" cy="925253"/>
          </a:xfrm>
          <a:prstGeom prst="rect">
            <a:avLst/>
          </a:prstGeom>
        </p:spPr>
        <p:txBody>
          <a:bodyPr wrap="square" lIns="0" tIns="0" rIns="0" bIns="0" rtlCol="0" anchor="t">
            <a:spAutoFit/>
          </a:bodyPr>
          <a:lstStyle/>
          <a:p>
            <a:pPr lvl="0">
              <a:lnSpc>
                <a:spcPts val="7711"/>
              </a:lnSpc>
              <a:spcBef>
                <a:spcPct val="0"/>
              </a:spcBef>
            </a:pPr>
            <a:r>
              <a:rPr lang="en-US" sz="4800" dirty="0">
                <a:solidFill>
                  <a:srgbClr val="0CC0DF"/>
                </a:solidFill>
                <a:latin typeface="Now Bold"/>
              </a:rPr>
              <a:t>LLM vs AGENT WHAT IS THE DIFFERENCE?</a:t>
            </a:r>
          </a:p>
        </p:txBody>
      </p:sp>
      <p:sp>
        <p:nvSpPr>
          <p:cNvPr id="10" name="TextBox 10">
            <a:extLst>
              <a:ext uri="{FF2B5EF4-FFF2-40B4-BE49-F238E27FC236}">
                <a16:creationId xmlns:a16="http://schemas.microsoft.com/office/drawing/2014/main" id="{4A23BA43-F55E-2415-569E-7574D1FF849F}"/>
              </a:ext>
            </a:extLst>
          </p:cNvPr>
          <p:cNvSpPr txBox="1"/>
          <p:nvPr/>
        </p:nvSpPr>
        <p:spPr>
          <a:xfrm>
            <a:off x="1559180" y="2370635"/>
            <a:ext cx="9889076" cy="9128525"/>
          </a:xfrm>
          <a:prstGeom prst="rect">
            <a:avLst/>
          </a:prstGeom>
        </p:spPr>
        <p:txBody>
          <a:bodyPr wrap="square" lIns="0" tIns="0" rIns="0" bIns="0" rtlCol="0" anchor="t">
            <a:spAutoFit/>
          </a:bodyPr>
          <a:lstStyle/>
          <a:p>
            <a:pPr marL="342900" indent="-342900">
              <a:lnSpc>
                <a:spcPts val="3422"/>
              </a:lnSpc>
              <a:buFont typeface="Arial" panose="020B0604020202020204" pitchFamily="34" charset="0"/>
              <a:buChar char="•"/>
            </a:pPr>
            <a:r>
              <a:rPr lang="en-US" sz="2479" spc="-49" dirty="0">
                <a:solidFill>
                  <a:srgbClr val="FFFFFF"/>
                </a:solidFill>
                <a:latin typeface="DM Sans"/>
              </a:rPr>
              <a:t>A simple example</a:t>
            </a:r>
          </a:p>
          <a:p>
            <a:pPr marL="800100" lvl="1" indent="-342900">
              <a:lnSpc>
                <a:spcPts val="3422"/>
              </a:lnSpc>
              <a:buFont typeface="Arial" panose="020B0604020202020204" pitchFamily="34" charset="0"/>
              <a:buChar char="•"/>
            </a:pPr>
            <a:r>
              <a:rPr lang="en-US" sz="2479" spc="-49" dirty="0">
                <a:solidFill>
                  <a:srgbClr val="FFFFFF"/>
                </a:solidFill>
                <a:latin typeface="DM Sans"/>
              </a:rPr>
              <a:t>"How is the weather in Brisbane today?"</a:t>
            </a:r>
          </a:p>
          <a:p>
            <a:pPr marL="800100" lvl="1" indent="-342900">
              <a:lnSpc>
                <a:spcPts val="3422"/>
              </a:lnSpc>
              <a:buFont typeface="Arial" panose="020B0604020202020204" pitchFamily="34" charset="0"/>
              <a:buChar char="•"/>
            </a:pPr>
            <a:r>
              <a:rPr lang="en-US" sz="2479" spc="-49" dirty="0">
                <a:solidFill>
                  <a:srgbClr val="FFFFFF"/>
                </a:solidFill>
                <a:latin typeface="DM Sans"/>
              </a:rPr>
              <a:t>LLM:</a:t>
            </a:r>
          </a:p>
          <a:p>
            <a:pPr marL="1257300" lvl="2" indent="-342900">
              <a:lnSpc>
                <a:spcPts val="3422"/>
              </a:lnSpc>
              <a:buFont typeface="Arial" panose="020B0604020202020204" pitchFamily="34" charset="0"/>
              <a:buChar char="•"/>
            </a:pPr>
            <a:r>
              <a:rPr lang="en-US" sz="2479" spc="-49" dirty="0">
                <a:solidFill>
                  <a:srgbClr val="FFFFFF"/>
                </a:solidFill>
                <a:latin typeface="DM Sans"/>
              </a:rPr>
              <a:t>Looks at  what it has learned </a:t>
            </a:r>
          </a:p>
          <a:p>
            <a:pPr marL="1257300" lvl="2" indent="-342900">
              <a:lnSpc>
                <a:spcPts val="3422"/>
              </a:lnSpc>
              <a:buFont typeface="Arial" panose="020B0604020202020204" pitchFamily="34" charset="0"/>
              <a:buChar char="•"/>
            </a:pPr>
            <a:r>
              <a:rPr lang="en-US" sz="2479" spc="-49" dirty="0">
                <a:solidFill>
                  <a:srgbClr val="FFFFFF"/>
                </a:solidFill>
                <a:latin typeface="DM Sans"/>
              </a:rPr>
              <a:t>Might say:</a:t>
            </a:r>
          </a:p>
          <a:p>
            <a:pPr marL="1714500" lvl="3" indent="-342900">
              <a:lnSpc>
                <a:spcPts val="3422"/>
              </a:lnSpc>
              <a:buFont typeface="Arial" panose="020B0604020202020204" pitchFamily="34" charset="0"/>
              <a:buChar char="•"/>
            </a:pPr>
            <a:r>
              <a:rPr lang="en-US" sz="2479" spc="-49" dirty="0">
                <a:solidFill>
                  <a:srgbClr val="FFFFFF"/>
                </a:solidFill>
                <a:latin typeface="DM Sans"/>
              </a:rPr>
              <a:t>“Brisbane typically has a humid subtropical climate. In March, it's usually warm with temperatures around 25°C. However, I don't have access to live data, so please check a local forecast.”</a:t>
            </a:r>
          </a:p>
          <a:p>
            <a:pPr marL="1714500" lvl="3" indent="-342900">
              <a:lnSpc>
                <a:spcPts val="3422"/>
              </a:lnSpc>
              <a:buFont typeface="Arial" panose="020B0604020202020204" pitchFamily="34" charset="0"/>
              <a:buChar char="•"/>
            </a:pPr>
            <a:r>
              <a:rPr lang="en-US" sz="2479" spc="-49" dirty="0">
                <a:solidFill>
                  <a:srgbClr val="FFFFFF"/>
                </a:solidFill>
                <a:latin typeface="DM Sans"/>
              </a:rPr>
              <a:t>Or might hallucinate and say:</a:t>
            </a:r>
          </a:p>
          <a:p>
            <a:pPr marL="2171700" lvl="4" indent="-342900">
              <a:lnSpc>
                <a:spcPts val="3422"/>
              </a:lnSpc>
              <a:buFont typeface="Arial" panose="020B0604020202020204" pitchFamily="34" charset="0"/>
              <a:buChar char="•"/>
            </a:pPr>
            <a:r>
              <a:rPr lang="en-US" sz="2479" spc="-49" dirty="0">
                <a:solidFill>
                  <a:srgbClr val="FFFFFF"/>
                </a:solidFill>
                <a:latin typeface="DM Sans"/>
              </a:rPr>
              <a:t>“It is windy today.”</a:t>
            </a:r>
          </a:p>
          <a:p>
            <a:pPr marL="800100" lvl="1" indent="-342900">
              <a:lnSpc>
                <a:spcPts val="3422"/>
              </a:lnSpc>
              <a:buFont typeface="Arial" panose="020B0604020202020204" pitchFamily="34" charset="0"/>
              <a:buChar char="•"/>
            </a:pPr>
            <a:r>
              <a:rPr lang="en-US" sz="2479" spc="-49" dirty="0">
                <a:solidFill>
                  <a:srgbClr val="FFFFFF"/>
                </a:solidFill>
                <a:latin typeface="DM Sans"/>
              </a:rPr>
              <a:t>Agent:</a:t>
            </a:r>
          </a:p>
          <a:p>
            <a:pPr marL="1257300" lvl="2" indent="-342900">
              <a:lnSpc>
                <a:spcPts val="3422"/>
              </a:lnSpc>
              <a:buFont typeface="Arial" panose="020B0604020202020204" pitchFamily="34" charset="0"/>
              <a:buChar char="•"/>
            </a:pPr>
            <a:r>
              <a:rPr lang="en-US" sz="2479" spc="-49" dirty="0">
                <a:solidFill>
                  <a:srgbClr val="FFFFFF"/>
                </a:solidFill>
                <a:latin typeface="DM Sans"/>
              </a:rPr>
              <a:t>“The user is asking about weather, I need to check BOM before responding”</a:t>
            </a:r>
          </a:p>
          <a:p>
            <a:pPr marL="1257300" lvl="2" indent="-342900">
              <a:lnSpc>
                <a:spcPts val="3422"/>
              </a:lnSpc>
              <a:buFont typeface="Arial" panose="020B0604020202020204" pitchFamily="34" charset="0"/>
              <a:buChar char="•"/>
            </a:pPr>
            <a:r>
              <a:rPr lang="en-US" sz="2479" spc="-49" dirty="0">
                <a:solidFill>
                  <a:srgbClr val="FFFFFF"/>
                </a:solidFill>
                <a:latin typeface="DM Sans"/>
              </a:rPr>
              <a:t>Looks it up</a:t>
            </a:r>
          </a:p>
          <a:p>
            <a:pPr marL="1257300" lvl="2" indent="-342900">
              <a:lnSpc>
                <a:spcPts val="3422"/>
              </a:lnSpc>
              <a:buFont typeface="Arial" panose="020B0604020202020204" pitchFamily="34" charset="0"/>
              <a:buChar char="•"/>
            </a:pPr>
            <a:r>
              <a:rPr lang="en-US" sz="2479" spc="-49" dirty="0">
                <a:solidFill>
                  <a:srgbClr val="FFFFFF"/>
                </a:solidFill>
                <a:latin typeface="DM Sans"/>
              </a:rPr>
              <a:t>Might say:</a:t>
            </a:r>
          </a:p>
          <a:p>
            <a:pPr marL="1714500" lvl="3" indent="-342900">
              <a:lnSpc>
                <a:spcPts val="3422"/>
              </a:lnSpc>
              <a:buFont typeface="Arial" panose="020B0604020202020204" pitchFamily="34" charset="0"/>
              <a:buChar char="•"/>
            </a:pPr>
            <a:r>
              <a:rPr lang="en-US" sz="2479" spc="-49" dirty="0">
                <a:solidFill>
                  <a:srgbClr val="FFFFFF"/>
                </a:solidFill>
                <a:latin typeface="DM Sans"/>
              </a:rPr>
              <a:t>“It is sunny today”</a:t>
            </a:r>
          </a:p>
          <a:p>
            <a:pPr marL="2171700" lvl="4" indent="-342900">
              <a:lnSpc>
                <a:spcPts val="3422"/>
              </a:lnSpc>
              <a:buFont typeface="Arial" panose="020B0604020202020204" pitchFamily="34" charset="0"/>
              <a:buChar char="•"/>
            </a:pPr>
            <a:endParaRPr lang="en-US" sz="2479" spc="-49" dirty="0">
              <a:solidFill>
                <a:srgbClr val="FFFFFF"/>
              </a:solidFill>
              <a:latin typeface="DM Sans"/>
            </a:endParaRPr>
          </a:p>
          <a:p>
            <a:pPr marL="342900"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a:lnSpc>
                <a:spcPts val="3284"/>
              </a:lnSpc>
            </a:pPr>
            <a:endParaRPr lang="en-US" sz="2479" spc="-49" dirty="0">
              <a:solidFill>
                <a:srgbClr val="FFFFFF"/>
              </a:solidFill>
              <a:latin typeface="DM Sans"/>
            </a:endParaRPr>
          </a:p>
        </p:txBody>
      </p:sp>
    </p:spTree>
    <p:extLst>
      <p:ext uri="{BB962C8B-B14F-4D97-AF65-F5344CB8AC3E}">
        <p14:creationId xmlns:p14="http://schemas.microsoft.com/office/powerpoint/2010/main" val="21982593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0A6F269C-5EB5-E67D-2265-B12DE95A5A3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81988834-47EF-9A94-9097-A3252B6D7A2C}"/>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0B23089F-7B34-9B0A-254A-8A9FF1B00CD0}"/>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B2884F5E-66B0-419F-45A3-7281453C5C3D}"/>
              </a:ext>
            </a:extLst>
          </p:cNvPr>
          <p:cNvSpPr txBox="1"/>
          <p:nvPr/>
        </p:nvSpPr>
        <p:spPr>
          <a:xfrm>
            <a:off x="1559180" y="1445382"/>
            <a:ext cx="16585820" cy="925253"/>
          </a:xfrm>
          <a:prstGeom prst="rect">
            <a:avLst/>
          </a:prstGeom>
        </p:spPr>
        <p:txBody>
          <a:bodyPr wrap="square" lIns="0" tIns="0" rIns="0" bIns="0" rtlCol="0" anchor="t">
            <a:spAutoFit/>
          </a:bodyPr>
          <a:lstStyle/>
          <a:p>
            <a:pPr lvl="0">
              <a:lnSpc>
                <a:spcPts val="7711"/>
              </a:lnSpc>
              <a:spcBef>
                <a:spcPct val="0"/>
              </a:spcBef>
            </a:pPr>
            <a:r>
              <a:rPr lang="en-US" sz="4800" dirty="0">
                <a:solidFill>
                  <a:srgbClr val="0CC0DF"/>
                </a:solidFill>
                <a:latin typeface="Now Bold"/>
              </a:rPr>
              <a:t>LLM vs AGENT WHAT IS THE DIFFERENCE?</a:t>
            </a:r>
          </a:p>
        </p:txBody>
      </p:sp>
      <p:sp>
        <p:nvSpPr>
          <p:cNvPr id="10" name="TextBox 10">
            <a:extLst>
              <a:ext uri="{FF2B5EF4-FFF2-40B4-BE49-F238E27FC236}">
                <a16:creationId xmlns:a16="http://schemas.microsoft.com/office/drawing/2014/main" id="{953A782E-13E5-92C1-D293-30BCF3D45454}"/>
              </a:ext>
            </a:extLst>
          </p:cNvPr>
          <p:cNvSpPr txBox="1"/>
          <p:nvPr/>
        </p:nvSpPr>
        <p:spPr>
          <a:xfrm>
            <a:off x="1559180" y="2370635"/>
            <a:ext cx="15433692" cy="8256491"/>
          </a:xfrm>
          <a:prstGeom prst="rect">
            <a:avLst/>
          </a:prstGeom>
        </p:spPr>
        <p:txBody>
          <a:bodyPr wrap="square" lIns="0" tIns="0" rIns="0" bIns="0" rtlCol="0" anchor="t">
            <a:spAutoFit/>
          </a:bodyPr>
          <a:lstStyle/>
          <a:p>
            <a:pPr marL="342900" indent="-342900">
              <a:lnSpc>
                <a:spcPts val="3422"/>
              </a:lnSpc>
              <a:buFont typeface="Arial" panose="020B0604020202020204" pitchFamily="34" charset="0"/>
              <a:buChar char="•"/>
            </a:pPr>
            <a:r>
              <a:rPr lang="en-US" sz="2479" spc="-49" dirty="0">
                <a:solidFill>
                  <a:srgbClr val="FFFFFF"/>
                </a:solidFill>
                <a:latin typeface="DM Sans"/>
              </a:rPr>
              <a:t>“What does john et al. (2023) say about the role of expansionary monetary policy on CPI?”</a:t>
            </a:r>
          </a:p>
          <a:p>
            <a:pPr marL="1257300" lvl="2" indent="-342900">
              <a:lnSpc>
                <a:spcPts val="3422"/>
              </a:lnSpc>
              <a:buFont typeface="Arial" panose="020B0604020202020204" pitchFamily="34" charset="0"/>
              <a:buChar char="•"/>
            </a:pPr>
            <a:r>
              <a:rPr lang="en-US" sz="2479" spc="-49" dirty="0">
                <a:solidFill>
                  <a:srgbClr val="FFFFFF"/>
                </a:solidFill>
                <a:latin typeface="DM Sans"/>
              </a:rPr>
              <a:t>A simple LLM call:</a:t>
            </a:r>
          </a:p>
          <a:p>
            <a:pPr marL="1714500" lvl="3" indent="-342900">
              <a:lnSpc>
                <a:spcPts val="3422"/>
              </a:lnSpc>
              <a:buFont typeface="Arial" panose="020B0604020202020204" pitchFamily="34" charset="0"/>
              <a:buChar char="•"/>
            </a:pPr>
            <a:r>
              <a:rPr lang="en-US" sz="2479" spc="-49" dirty="0">
                <a:solidFill>
                  <a:srgbClr val="FFFFFF"/>
                </a:solidFill>
                <a:latin typeface="DM Sans"/>
              </a:rPr>
              <a:t>Understands the request </a:t>
            </a:r>
          </a:p>
          <a:p>
            <a:pPr marL="1714500" lvl="3" indent="-342900">
              <a:lnSpc>
                <a:spcPts val="3422"/>
              </a:lnSpc>
              <a:buFont typeface="Arial" panose="020B0604020202020204" pitchFamily="34" charset="0"/>
              <a:buChar char="•"/>
            </a:pPr>
            <a:r>
              <a:rPr lang="en-US" sz="2479" spc="-49" dirty="0">
                <a:solidFill>
                  <a:srgbClr val="FFFFFF"/>
                </a:solidFill>
                <a:latin typeface="DM Sans"/>
              </a:rPr>
              <a:t>Thinks</a:t>
            </a:r>
          </a:p>
          <a:p>
            <a:pPr marL="1714500" lvl="3" indent="-342900">
              <a:lnSpc>
                <a:spcPts val="3422"/>
              </a:lnSpc>
              <a:buFont typeface="Arial" panose="020B0604020202020204" pitchFamily="34" charset="0"/>
              <a:buChar char="•"/>
            </a:pPr>
            <a:r>
              <a:rPr lang="en-US" sz="2479" spc="-49" dirty="0">
                <a:solidFill>
                  <a:srgbClr val="FFFFFF"/>
                </a:solidFill>
                <a:latin typeface="DM Sans"/>
              </a:rPr>
              <a:t>Responds</a:t>
            </a:r>
          </a:p>
          <a:p>
            <a:pPr marL="1714500" lvl="3" indent="-342900">
              <a:lnSpc>
                <a:spcPts val="3422"/>
              </a:lnSpc>
              <a:buFont typeface="Arial" panose="020B0604020202020204" pitchFamily="34" charset="0"/>
              <a:buChar char="•"/>
            </a:pPr>
            <a:endParaRPr lang="en-US" sz="2479" spc="-49" dirty="0">
              <a:solidFill>
                <a:srgbClr val="FFFFFF"/>
              </a:solidFill>
              <a:latin typeface="DM Sans"/>
            </a:endParaRPr>
          </a:p>
          <a:p>
            <a:pPr marL="1257300" lvl="2" indent="-342900">
              <a:lnSpc>
                <a:spcPts val="3422"/>
              </a:lnSpc>
              <a:buFont typeface="Arial" panose="020B0604020202020204" pitchFamily="34" charset="0"/>
              <a:buChar char="•"/>
            </a:pPr>
            <a:r>
              <a:rPr lang="en-US" sz="2479" spc="-49" dirty="0">
                <a:solidFill>
                  <a:srgbClr val="FFFFFF"/>
                </a:solidFill>
                <a:latin typeface="DM Sans"/>
              </a:rPr>
              <a:t>An agent :</a:t>
            </a:r>
          </a:p>
          <a:p>
            <a:pPr marL="1714500" lvl="3" indent="-342900">
              <a:lnSpc>
                <a:spcPts val="3422"/>
              </a:lnSpc>
              <a:buFont typeface="Arial" panose="020B0604020202020204" pitchFamily="34" charset="0"/>
              <a:buChar char="•"/>
            </a:pPr>
            <a:r>
              <a:rPr lang="en-US" sz="2479" spc="-49" dirty="0">
                <a:solidFill>
                  <a:srgbClr val="FFFFFF"/>
                </a:solidFill>
                <a:latin typeface="DM Sans"/>
              </a:rPr>
              <a:t>Understands the request</a:t>
            </a:r>
          </a:p>
          <a:p>
            <a:pPr marL="1714500" lvl="3" indent="-342900">
              <a:lnSpc>
                <a:spcPts val="3422"/>
              </a:lnSpc>
              <a:buFont typeface="Arial" panose="020B0604020202020204" pitchFamily="34" charset="0"/>
              <a:buChar char="•"/>
            </a:pPr>
            <a:r>
              <a:rPr lang="en-US" sz="2479" spc="-49" dirty="0">
                <a:solidFill>
                  <a:srgbClr val="FFFFFF"/>
                </a:solidFill>
                <a:latin typeface="DM Sans"/>
              </a:rPr>
              <a:t>Builds search queries </a:t>
            </a:r>
          </a:p>
          <a:p>
            <a:pPr marL="1714500" lvl="3" indent="-342900">
              <a:lnSpc>
                <a:spcPts val="3422"/>
              </a:lnSpc>
              <a:buFont typeface="Arial" panose="020B0604020202020204" pitchFamily="34" charset="0"/>
              <a:buChar char="•"/>
            </a:pPr>
            <a:r>
              <a:rPr lang="en-US" sz="2479" spc="-49" dirty="0">
                <a:solidFill>
                  <a:srgbClr val="FFFFFF"/>
                </a:solidFill>
                <a:latin typeface="DM Sans"/>
              </a:rPr>
              <a:t>Searches databases and gets the result </a:t>
            </a:r>
          </a:p>
          <a:p>
            <a:pPr marL="1714500" lvl="3" indent="-342900">
              <a:lnSpc>
                <a:spcPts val="3422"/>
              </a:lnSpc>
              <a:buFont typeface="Arial" panose="020B0604020202020204" pitchFamily="34" charset="0"/>
              <a:buChar char="•"/>
            </a:pPr>
            <a:r>
              <a:rPr lang="en-US" sz="2479" spc="-49" dirty="0">
                <a:solidFill>
                  <a:srgbClr val="FFFFFF"/>
                </a:solidFill>
                <a:latin typeface="DM Sans"/>
              </a:rPr>
              <a:t>Reads them and then responds accordingly</a:t>
            </a:r>
          </a:p>
          <a:p>
            <a:pPr marL="1714500" lvl="3" indent="-342900">
              <a:lnSpc>
                <a:spcPts val="3422"/>
              </a:lnSpc>
              <a:buFont typeface="Arial" panose="020B0604020202020204" pitchFamily="34" charset="0"/>
              <a:buChar char="•"/>
            </a:pPr>
            <a:endParaRPr lang="en-US" sz="2479" spc="-49" dirty="0">
              <a:solidFill>
                <a:srgbClr val="FFFFFF"/>
              </a:solidFill>
              <a:latin typeface="DM Sans"/>
            </a:endParaRPr>
          </a:p>
          <a:p>
            <a:pPr marL="1714500" lvl="3" indent="-342900">
              <a:lnSpc>
                <a:spcPts val="3422"/>
              </a:lnSpc>
              <a:buFont typeface="Arial" panose="020B0604020202020204" pitchFamily="34" charset="0"/>
              <a:buChar char="•"/>
            </a:pPr>
            <a:endParaRPr lang="en-US" sz="2479" spc="-49" dirty="0">
              <a:solidFill>
                <a:srgbClr val="FFFFFF"/>
              </a:solidFill>
              <a:latin typeface="DM Sans"/>
            </a:endParaRPr>
          </a:p>
          <a:p>
            <a:pPr marL="342900" indent="-342900">
              <a:lnSpc>
                <a:spcPts val="3422"/>
              </a:lnSpc>
              <a:buFont typeface="Arial" panose="020B0604020202020204" pitchFamily="34" charset="0"/>
              <a:buChar char="•"/>
            </a:pPr>
            <a:r>
              <a:rPr lang="en-US" sz="2479" spc="-49" dirty="0">
                <a:solidFill>
                  <a:srgbClr val="FFFFFF"/>
                </a:solidFill>
                <a:latin typeface="DM Sans"/>
              </a:rPr>
              <a:t>The difference between a raw LLM and an agent is like the difference between an engine and a car </a:t>
            </a:r>
          </a:p>
          <a:p>
            <a:pPr marL="1714500" lvl="3" indent="-342900">
              <a:lnSpc>
                <a:spcPts val="3422"/>
              </a:lnSpc>
              <a:buFont typeface="Arial" panose="020B0604020202020204" pitchFamily="34" charset="0"/>
              <a:buChar char="•"/>
            </a:pPr>
            <a:endParaRPr lang="en-US" sz="2479" spc="-49" dirty="0">
              <a:solidFill>
                <a:srgbClr val="FFFFFF"/>
              </a:solidFill>
              <a:latin typeface="DM Sans"/>
            </a:endParaRPr>
          </a:p>
          <a:p>
            <a:pPr marL="2171700" lvl="4" indent="-342900">
              <a:lnSpc>
                <a:spcPts val="3422"/>
              </a:lnSpc>
              <a:buFont typeface="Arial" panose="020B0604020202020204" pitchFamily="34" charset="0"/>
              <a:buChar char="•"/>
            </a:pPr>
            <a:endParaRPr lang="en-US" sz="2479" spc="-49" dirty="0">
              <a:solidFill>
                <a:srgbClr val="FFFFFF"/>
              </a:solidFill>
              <a:latin typeface="DM Sans"/>
            </a:endParaRPr>
          </a:p>
          <a:p>
            <a:pPr marL="342900"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a:lnSpc>
                <a:spcPts val="3284"/>
              </a:lnSpc>
            </a:pPr>
            <a:endParaRPr lang="en-US" sz="2479" spc="-49" dirty="0">
              <a:solidFill>
                <a:srgbClr val="FFFFFF"/>
              </a:solidFill>
              <a:latin typeface="DM Sans"/>
            </a:endParaRPr>
          </a:p>
        </p:txBody>
      </p:sp>
    </p:spTree>
    <p:extLst>
      <p:ext uri="{BB962C8B-B14F-4D97-AF65-F5344CB8AC3E}">
        <p14:creationId xmlns:p14="http://schemas.microsoft.com/office/powerpoint/2010/main" val="42369117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18D33DE9-AAE9-FC09-5889-070B96D8D10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BBD7AD4-C3AD-F2EA-16AF-B6F7C374C3FC}"/>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EDB850C6-E718-2701-FBC6-18D343D4C41F}"/>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324C9029-7492-D21E-FC00-D62900E86AEA}"/>
              </a:ext>
            </a:extLst>
          </p:cNvPr>
          <p:cNvSpPr txBox="1"/>
          <p:nvPr/>
        </p:nvSpPr>
        <p:spPr>
          <a:xfrm>
            <a:off x="1559180" y="1676695"/>
            <a:ext cx="16585820" cy="925253"/>
          </a:xfrm>
          <a:prstGeom prst="rect">
            <a:avLst/>
          </a:prstGeom>
        </p:spPr>
        <p:txBody>
          <a:bodyPr wrap="square" lIns="0" tIns="0" rIns="0" bIns="0" rtlCol="0" anchor="t">
            <a:spAutoFit/>
          </a:bodyPr>
          <a:lstStyle/>
          <a:p>
            <a:pPr lvl="0">
              <a:lnSpc>
                <a:spcPts val="7711"/>
              </a:lnSpc>
              <a:spcBef>
                <a:spcPct val="0"/>
              </a:spcBef>
            </a:pPr>
            <a:r>
              <a:rPr lang="en-US" sz="4800" dirty="0">
                <a:solidFill>
                  <a:srgbClr val="0CC0DF"/>
                </a:solidFill>
                <a:latin typeface="Now Bold"/>
              </a:rPr>
              <a:t>AGENTIC SYSTEM COMPONENTS</a:t>
            </a:r>
          </a:p>
        </p:txBody>
      </p:sp>
      <p:sp>
        <p:nvSpPr>
          <p:cNvPr id="10" name="TextBox 10">
            <a:extLst>
              <a:ext uri="{FF2B5EF4-FFF2-40B4-BE49-F238E27FC236}">
                <a16:creationId xmlns:a16="http://schemas.microsoft.com/office/drawing/2014/main" id="{9D25121D-9168-6E89-866A-D44707F531EC}"/>
              </a:ext>
            </a:extLst>
          </p:cNvPr>
          <p:cNvSpPr txBox="1"/>
          <p:nvPr/>
        </p:nvSpPr>
        <p:spPr>
          <a:xfrm>
            <a:off x="1559180" y="2601948"/>
            <a:ext cx="9889076" cy="9128525"/>
          </a:xfrm>
          <a:prstGeom prst="rect">
            <a:avLst/>
          </a:prstGeom>
        </p:spPr>
        <p:txBody>
          <a:bodyPr wrap="square" lIns="0" tIns="0" rIns="0" bIns="0" rtlCol="0" anchor="t">
            <a:spAutoFit/>
          </a:bodyPr>
          <a:lstStyle/>
          <a:p>
            <a:pPr marL="342900" indent="-342900">
              <a:lnSpc>
                <a:spcPts val="3422"/>
              </a:lnSpc>
              <a:buFont typeface="Arial" panose="020B0604020202020204" pitchFamily="34" charset="0"/>
              <a:buChar char="•"/>
            </a:pPr>
            <a:r>
              <a:rPr lang="en-US" sz="2479" spc="-49" dirty="0">
                <a:solidFill>
                  <a:srgbClr val="FFFFFF"/>
                </a:solidFill>
                <a:latin typeface="DM Sans"/>
              </a:rPr>
              <a:t>Agentic systems can be broken down into three major components</a:t>
            </a:r>
          </a:p>
          <a:p>
            <a:pPr marL="800100" lvl="1" indent="-342900">
              <a:lnSpc>
                <a:spcPts val="3422"/>
              </a:lnSpc>
              <a:buFont typeface="Arial" panose="020B0604020202020204" pitchFamily="34" charset="0"/>
              <a:buChar char="•"/>
            </a:pPr>
            <a:r>
              <a:rPr lang="en-US" sz="2479" b="1" u="sng" spc="-49" dirty="0">
                <a:solidFill>
                  <a:srgbClr val="FFFFFF"/>
                </a:solidFill>
                <a:latin typeface="DM Sans"/>
              </a:rPr>
              <a:t>LLM</a:t>
            </a:r>
          </a:p>
          <a:p>
            <a:pPr marL="800100" lvl="1" indent="-342900">
              <a:lnSpc>
                <a:spcPts val="3422"/>
              </a:lnSpc>
              <a:buFont typeface="Arial" panose="020B0604020202020204" pitchFamily="34" charset="0"/>
              <a:buChar char="•"/>
            </a:pPr>
            <a:r>
              <a:rPr lang="en-US" sz="2479" b="1" u="sng" spc="-49" dirty="0">
                <a:solidFill>
                  <a:srgbClr val="FFFFFF"/>
                </a:solidFill>
                <a:latin typeface="DM Sans"/>
              </a:rPr>
              <a:t>Tools </a:t>
            </a:r>
          </a:p>
          <a:p>
            <a:pPr marL="800100" lvl="1" indent="-342900">
              <a:lnSpc>
                <a:spcPts val="3422"/>
              </a:lnSpc>
              <a:buFont typeface="Arial" panose="020B0604020202020204" pitchFamily="34" charset="0"/>
              <a:buChar char="•"/>
            </a:pPr>
            <a:r>
              <a:rPr lang="en-US" sz="2479" spc="-49" dirty="0">
                <a:solidFill>
                  <a:srgbClr val="FFFFFF"/>
                </a:solidFill>
                <a:latin typeface="DM Sans"/>
              </a:rPr>
              <a:t>Workflow / Orchestration </a:t>
            </a:r>
          </a:p>
          <a:p>
            <a:pPr lvl="1">
              <a:lnSpc>
                <a:spcPts val="3422"/>
              </a:lnSpc>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r>
              <a:rPr lang="en-US" sz="2479" spc="-49" dirty="0">
                <a:solidFill>
                  <a:srgbClr val="FFFFFF"/>
                </a:solidFill>
                <a:latin typeface="DM Sans"/>
              </a:rPr>
              <a:t>LLM</a:t>
            </a:r>
          </a:p>
          <a:p>
            <a:pPr marL="1257300" lvl="2" indent="-342900">
              <a:lnSpc>
                <a:spcPts val="3422"/>
              </a:lnSpc>
              <a:buFont typeface="Arial" panose="020B0604020202020204" pitchFamily="34" charset="0"/>
              <a:buChar char="•"/>
            </a:pPr>
            <a:r>
              <a:rPr lang="en-US" sz="2479" spc="-49" dirty="0">
                <a:solidFill>
                  <a:srgbClr val="FFFFFF"/>
                </a:solidFill>
                <a:latin typeface="DM Sans"/>
              </a:rPr>
              <a:t>The thinking component of the system</a:t>
            </a:r>
          </a:p>
          <a:p>
            <a:pPr marL="1257300" lvl="2" indent="-342900">
              <a:lnSpc>
                <a:spcPts val="3422"/>
              </a:lnSpc>
              <a:buFont typeface="Arial" panose="020B0604020202020204" pitchFamily="34" charset="0"/>
              <a:buChar char="•"/>
            </a:pPr>
            <a:r>
              <a:rPr lang="en-US" sz="2479" spc="-49" dirty="0">
                <a:solidFill>
                  <a:srgbClr val="FFFFFF"/>
                </a:solidFill>
                <a:latin typeface="DM Sans"/>
              </a:rPr>
              <a:t>Decides</a:t>
            </a:r>
          </a:p>
          <a:p>
            <a:pPr marL="1257300" lvl="2" indent="-342900">
              <a:lnSpc>
                <a:spcPts val="3422"/>
              </a:lnSpc>
              <a:buFont typeface="Arial" panose="020B0604020202020204" pitchFamily="34" charset="0"/>
              <a:buChar char="•"/>
            </a:pPr>
            <a:r>
              <a:rPr lang="en-US" sz="2479" spc="-49" dirty="0">
                <a:solidFill>
                  <a:srgbClr val="FFFFFF"/>
                </a:solidFill>
                <a:latin typeface="DM Sans"/>
              </a:rPr>
              <a:t>Responds </a:t>
            </a:r>
          </a:p>
          <a:p>
            <a:pPr marL="1257300" lvl="2" indent="-342900">
              <a:lnSpc>
                <a:spcPts val="3422"/>
              </a:lnSpc>
              <a:buFont typeface="Arial" panose="020B0604020202020204" pitchFamily="34" charset="0"/>
              <a:buChar char="•"/>
            </a:pPr>
            <a:r>
              <a:rPr lang="en-US" sz="2479" spc="-49" dirty="0">
                <a:solidFill>
                  <a:srgbClr val="FFFFFF"/>
                </a:solidFill>
                <a:latin typeface="DM Sans"/>
              </a:rPr>
              <a:t>Executes tasks </a:t>
            </a:r>
          </a:p>
          <a:p>
            <a:pPr marL="1257300" lvl="2"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r>
              <a:rPr lang="en-US" sz="2479" spc="-49" dirty="0">
                <a:solidFill>
                  <a:srgbClr val="FFFFFF"/>
                </a:solidFill>
                <a:latin typeface="DM Sans"/>
              </a:rPr>
              <a:t>Tools</a:t>
            </a:r>
          </a:p>
          <a:p>
            <a:pPr marL="1257300" lvl="2" indent="-342900">
              <a:lnSpc>
                <a:spcPts val="3422"/>
              </a:lnSpc>
              <a:buFont typeface="Arial" panose="020B0604020202020204" pitchFamily="34" charset="0"/>
              <a:buChar char="•"/>
            </a:pPr>
            <a:r>
              <a:rPr lang="en-US" sz="2479" spc="-49" dirty="0">
                <a:solidFill>
                  <a:srgbClr val="FFFFFF"/>
                </a:solidFill>
                <a:latin typeface="DM Sans"/>
              </a:rPr>
              <a:t>“Limbs” of the LLM </a:t>
            </a:r>
          </a:p>
          <a:p>
            <a:pPr marL="1257300" lvl="2" indent="-342900">
              <a:lnSpc>
                <a:spcPts val="3422"/>
              </a:lnSpc>
              <a:buFont typeface="Arial" panose="020B0604020202020204" pitchFamily="34" charset="0"/>
              <a:buChar char="•"/>
            </a:pPr>
            <a:r>
              <a:rPr lang="en-US" sz="2479" spc="-49" dirty="0">
                <a:solidFill>
                  <a:srgbClr val="FFFFFF"/>
                </a:solidFill>
                <a:latin typeface="DM Sans"/>
              </a:rPr>
              <a:t>They can be python functions and online services or other systems the LLM uses to perform tasks </a:t>
            </a: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a:lnSpc>
                <a:spcPts val="3422"/>
              </a:lnSpc>
            </a:pPr>
            <a:endParaRPr lang="en-US" sz="2479" spc="-49" dirty="0">
              <a:solidFill>
                <a:srgbClr val="FFFFFF"/>
              </a:solidFill>
              <a:latin typeface="DM Sans"/>
            </a:endParaRPr>
          </a:p>
          <a:p>
            <a:pPr marL="342900" indent="-342900">
              <a:lnSpc>
                <a:spcPts val="3422"/>
              </a:lnSpc>
              <a:buFont typeface="Arial" panose="020B0604020202020204" pitchFamily="34" charset="0"/>
              <a:buChar char="•"/>
            </a:pPr>
            <a:endParaRPr lang="en-US" sz="2479" spc="-49" dirty="0">
              <a:solidFill>
                <a:srgbClr val="FFFFFF"/>
              </a:solidFill>
              <a:latin typeface="DM Sans"/>
            </a:endParaRPr>
          </a:p>
          <a:p>
            <a:pPr marL="342900"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a:lnSpc>
                <a:spcPts val="3284"/>
              </a:lnSpc>
            </a:pPr>
            <a:endParaRPr lang="en-US" sz="2479" spc="-49" dirty="0">
              <a:solidFill>
                <a:srgbClr val="FFFFFF"/>
              </a:solidFill>
              <a:latin typeface="DM Sans"/>
            </a:endParaRPr>
          </a:p>
        </p:txBody>
      </p:sp>
    </p:spTree>
    <p:extLst>
      <p:ext uri="{BB962C8B-B14F-4D97-AF65-F5344CB8AC3E}">
        <p14:creationId xmlns:p14="http://schemas.microsoft.com/office/powerpoint/2010/main" val="7151575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3CE11237-1B62-A536-963C-6BAB7BB539E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AD365255-D6CC-9174-3FAD-24311B0468B2}"/>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B6B5A153-41F6-DA64-B2E4-44F35A475741}"/>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BE4687B6-B280-0C31-3FC3-5C598BF6B9D9}"/>
              </a:ext>
            </a:extLst>
          </p:cNvPr>
          <p:cNvSpPr txBox="1"/>
          <p:nvPr/>
        </p:nvSpPr>
        <p:spPr>
          <a:xfrm>
            <a:off x="1559180" y="1353370"/>
            <a:ext cx="16585820" cy="925253"/>
          </a:xfrm>
          <a:prstGeom prst="rect">
            <a:avLst/>
          </a:prstGeom>
        </p:spPr>
        <p:txBody>
          <a:bodyPr wrap="square" lIns="0" tIns="0" rIns="0" bIns="0" rtlCol="0" anchor="t">
            <a:spAutoFit/>
          </a:bodyPr>
          <a:lstStyle/>
          <a:p>
            <a:pPr lvl="0">
              <a:lnSpc>
                <a:spcPts val="7711"/>
              </a:lnSpc>
              <a:spcBef>
                <a:spcPct val="0"/>
              </a:spcBef>
            </a:pPr>
            <a:r>
              <a:rPr lang="en-US" sz="4800" dirty="0">
                <a:solidFill>
                  <a:srgbClr val="0CC0DF"/>
                </a:solidFill>
                <a:latin typeface="Now Bold"/>
              </a:rPr>
              <a:t>AGENTIC SYSTEM COMPONENTS</a:t>
            </a:r>
          </a:p>
        </p:txBody>
      </p:sp>
      <p:sp>
        <p:nvSpPr>
          <p:cNvPr id="10" name="TextBox 10">
            <a:extLst>
              <a:ext uri="{FF2B5EF4-FFF2-40B4-BE49-F238E27FC236}">
                <a16:creationId xmlns:a16="http://schemas.microsoft.com/office/drawing/2014/main" id="{AB74A06C-A465-F21B-14DC-2FE27F7C0976}"/>
              </a:ext>
            </a:extLst>
          </p:cNvPr>
          <p:cNvSpPr txBox="1"/>
          <p:nvPr/>
        </p:nvSpPr>
        <p:spPr>
          <a:xfrm>
            <a:off x="1559180" y="2278623"/>
            <a:ext cx="9889076" cy="9128525"/>
          </a:xfrm>
          <a:prstGeom prst="rect">
            <a:avLst/>
          </a:prstGeom>
        </p:spPr>
        <p:txBody>
          <a:bodyPr wrap="square" lIns="0" tIns="0" rIns="0" bIns="0" rtlCol="0" anchor="t">
            <a:spAutoFit/>
          </a:bodyPr>
          <a:lstStyle/>
          <a:p>
            <a:pPr marL="342900" indent="-342900">
              <a:lnSpc>
                <a:spcPts val="3422"/>
              </a:lnSpc>
              <a:buFont typeface="Arial" panose="020B0604020202020204" pitchFamily="34" charset="0"/>
              <a:buChar char="•"/>
            </a:pPr>
            <a:r>
              <a:rPr lang="en-US" sz="2479" spc="-49" dirty="0">
                <a:solidFill>
                  <a:srgbClr val="FFFFFF"/>
                </a:solidFill>
                <a:latin typeface="DM Sans"/>
              </a:rPr>
              <a:t>Agentic systems can be broken down into three major components</a:t>
            </a:r>
          </a:p>
          <a:p>
            <a:pPr marL="800100" lvl="1" indent="-342900">
              <a:lnSpc>
                <a:spcPts val="3422"/>
              </a:lnSpc>
              <a:buFont typeface="Arial" panose="020B0604020202020204" pitchFamily="34" charset="0"/>
              <a:buChar char="•"/>
            </a:pPr>
            <a:r>
              <a:rPr lang="en-US" sz="2479" spc="-49" dirty="0">
                <a:solidFill>
                  <a:srgbClr val="FFFFFF"/>
                </a:solidFill>
                <a:latin typeface="DM Sans"/>
              </a:rPr>
              <a:t>LLM</a:t>
            </a:r>
          </a:p>
          <a:p>
            <a:pPr marL="800100" lvl="1" indent="-342900">
              <a:lnSpc>
                <a:spcPts val="3422"/>
              </a:lnSpc>
              <a:buFont typeface="Arial" panose="020B0604020202020204" pitchFamily="34" charset="0"/>
              <a:buChar char="•"/>
            </a:pPr>
            <a:r>
              <a:rPr lang="en-US" sz="2479" spc="-49" dirty="0">
                <a:solidFill>
                  <a:srgbClr val="FFFFFF"/>
                </a:solidFill>
                <a:latin typeface="DM Sans"/>
              </a:rPr>
              <a:t>Tools </a:t>
            </a:r>
          </a:p>
          <a:p>
            <a:pPr marL="800100" lvl="1" indent="-342900">
              <a:lnSpc>
                <a:spcPts val="3422"/>
              </a:lnSpc>
              <a:buFont typeface="Arial" panose="020B0604020202020204" pitchFamily="34" charset="0"/>
              <a:buChar char="•"/>
            </a:pPr>
            <a:r>
              <a:rPr lang="en-US" sz="2479" b="1" u="sng" spc="-49" dirty="0">
                <a:solidFill>
                  <a:srgbClr val="FFFFFF"/>
                </a:solidFill>
                <a:latin typeface="DM Sans"/>
              </a:rPr>
              <a:t>Workflow / Orchestration </a:t>
            </a:r>
          </a:p>
          <a:p>
            <a:pPr lvl="1">
              <a:lnSpc>
                <a:spcPts val="3422"/>
              </a:lnSpc>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r>
              <a:rPr lang="en-US" sz="2479" spc="-49" dirty="0">
                <a:solidFill>
                  <a:srgbClr val="FFFFFF"/>
                </a:solidFill>
                <a:latin typeface="DM Sans"/>
              </a:rPr>
              <a:t>Workflow / Orchestration</a:t>
            </a:r>
          </a:p>
          <a:p>
            <a:pPr marL="1257300" lvl="2" indent="-342900">
              <a:lnSpc>
                <a:spcPts val="3422"/>
              </a:lnSpc>
              <a:buFont typeface="Arial" panose="020B0604020202020204" pitchFamily="34" charset="0"/>
              <a:buChar char="•"/>
            </a:pPr>
            <a:r>
              <a:rPr lang="en-US" sz="2479" spc="-49" dirty="0">
                <a:solidFill>
                  <a:srgbClr val="FFFFFF"/>
                </a:solidFill>
                <a:latin typeface="DM Sans"/>
              </a:rPr>
              <a:t>When to call tools</a:t>
            </a:r>
          </a:p>
          <a:p>
            <a:pPr marL="1257300" lvl="2" indent="-342900">
              <a:lnSpc>
                <a:spcPts val="3422"/>
              </a:lnSpc>
              <a:buFont typeface="Arial" panose="020B0604020202020204" pitchFamily="34" charset="0"/>
              <a:buChar char="•"/>
            </a:pPr>
            <a:r>
              <a:rPr lang="en-US" sz="2479" spc="-49" dirty="0">
                <a:solidFill>
                  <a:srgbClr val="FFFFFF"/>
                </a:solidFill>
                <a:latin typeface="DM Sans"/>
              </a:rPr>
              <a:t>When to retry</a:t>
            </a:r>
          </a:p>
          <a:p>
            <a:pPr marL="1257300" lvl="2" indent="-342900">
              <a:lnSpc>
                <a:spcPts val="3422"/>
              </a:lnSpc>
              <a:buFont typeface="Arial" panose="020B0604020202020204" pitchFamily="34" charset="0"/>
              <a:buChar char="•"/>
            </a:pPr>
            <a:r>
              <a:rPr lang="en-US" sz="2479" spc="-49" dirty="0">
                <a:solidFill>
                  <a:srgbClr val="FFFFFF"/>
                </a:solidFill>
                <a:latin typeface="DM Sans"/>
              </a:rPr>
              <a:t>How to handle system failures, edge cases</a:t>
            </a:r>
          </a:p>
          <a:p>
            <a:pPr marL="1257300" lvl="2" indent="-342900">
              <a:lnSpc>
                <a:spcPts val="3422"/>
              </a:lnSpc>
              <a:buFont typeface="Arial" panose="020B0604020202020204" pitchFamily="34" charset="0"/>
              <a:buChar char="•"/>
            </a:pPr>
            <a:r>
              <a:rPr lang="en-US" sz="2479" spc="-49" dirty="0">
                <a:solidFill>
                  <a:srgbClr val="FFFFFF"/>
                </a:solidFill>
                <a:latin typeface="DM Sans"/>
              </a:rPr>
              <a:t>When to stop</a:t>
            </a:r>
          </a:p>
          <a:p>
            <a:pPr marL="1257300" lvl="2" indent="-342900">
              <a:lnSpc>
                <a:spcPts val="3422"/>
              </a:lnSpc>
              <a:buFont typeface="Arial" panose="020B0604020202020204" pitchFamily="34" charset="0"/>
              <a:buChar char="•"/>
            </a:pPr>
            <a:r>
              <a:rPr lang="en-US" sz="2479" spc="-49" dirty="0">
                <a:solidFill>
                  <a:srgbClr val="FFFFFF"/>
                </a:solidFill>
                <a:latin typeface="DM Sans"/>
              </a:rPr>
              <a:t>Whether to route to another agent / System / Subsystem </a:t>
            </a:r>
          </a:p>
          <a:p>
            <a:pPr marL="1257300" lvl="2" indent="-342900">
              <a:lnSpc>
                <a:spcPts val="3422"/>
              </a:lnSpc>
              <a:buFont typeface="Arial" panose="020B0604020202020204" pitchFamily="34" charset="0"/>
              <a:buChar char="•"/>
            </a:pPr>
            <a:r>
              <a:rPr lang="en-US" sz="2479" spc="-49" dirty="0">
                <a:solidFill>
                  <a:srgbClr val="FFFFFF"/>
                </a:solidFill>
                <a:latin typeface="DM Sans"/>
              </a:rPr>
              <a:t>Whether human approval is needed</a:t>
            </a:r>
          </a:p>
          <a:p>
            <a:pPr marL="1257300" lvl="2" indent="-342900">
              <a:lnSpc>
                <a:spcPts val="3422"/>
              </a:lnSpc>
              <a:buFont typeface="Arial" panose="020B0604020202020204" pitchFamily="34" charset="0"/>
              <a:buChar char="•"/>
            </a:pPr>
            <a:endParaRPr lang="en-US" sz="2479" spc="-49" dirty="0">
              <a:solidFill>
                <a:srgbClr val="FFFFFF"/>
              </a:solidFill>
              <a:latin typeface="DM Sans"/>
            </a:endParaRPr>
          </a:p>
          <a:p>
            <a:pPr marL="1257300" lvl="2" indent="-342900">
              <a:lnSpc>
                <a:spcPts val="3422"/>
              </a:lnSpc>
              <a:buFont typeface="Arial" panose="020B0604020202020204" pitchFamily="34" charset="0"/>
              <a:buChar char="•"/>
            </a:pPr>
            <a:endParaRPr lang="en-US" sz="2479" spc="-49" dirty="0">
              <a:solidFill>
                <a:srgbClr val="FFFFFF"/>
              </a:solidFill>
              <a:latin typeface="DM Sans"/>
            </a:endParaRPr>
          </a:p>
          <a:p>
            <a:pPr lvl="1">
              <a:lnSpc>
                <a:spcPts val="3422"/>
              </a:lnSpc>
            </a:pPr>
            <a:r>
              <a:rPr lang="en-US" sz="2479" spc="-49" dirty="0">
                <a:solidFill>
                  <a:srgbClr val="FFFFFF"/>
                </a:solidFill>
                <a:latin typeface="DM Sans"/>
              </a:rPr>
              <a:t>	</a:t>
            </a: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a:lnSpc>
                <a:spcPts val="3422"/>
              </a:lnSpc>
            </a:pPr>
            <a:endParaRPr lang="en-US" sz="2479" spc="-49" dirty="0">
              <a:solidFill>
                <a:srgbClr val="FFFFFF"/>
              </a:solidFill>
              <a:latin typeface="DM Sans"/>
            </a:endParaRPr>
          </a:p>
          <a:p>
            <a:pPr marL="342900" indent="-342900">
              <a:lnSpc>
                <a:spcPts val="3422"/>
              </a:lnSpc>
              <a:buFont typeface="Arial" panose="020B0604020202020204" pitchFamily="34" charset="0"/>
              <a:buChar char="•"/>
            </a:pPr>
            <a:endParaRPr lang="en-US" sz="2479" spc="-49" dirty="0">
              <a:solidFill>
                <a:srgbClr val="FFFFFF"/>
              </a:solidFill>
              <a:latin typeface="DM Sans"/>
            </a:endParaRPr>
          </a:p>
          <a:p>
            <a:pPr marL="342900"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a:lnSpc>
                <a:spcPts val="3284"/>
              </a:lnSpc>
            </a:pPr>
            <a:endParaRPr lang="en-US" sz="2479" spc="-49" dirty="0">
              <a:solidFill>
                <a:srgbClr val="FFFFFF"/>
              </a:solidFill>
              <a:latin typeface="DM Sans"/>
            </a:endParaRPr>
          </a:p>
        </p:txBody>
      </p:sp>
    </p:spTree>
    <p:extLst>
      <p:ext uri="{BB962C8B-B14F-4D97-AF65-F5344CB8AC3E}">
        <p14:creationId xmlns:p14="http://schemas.microsoft.com/office/powerpoint/2010/main" val="30416938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772270D0-5240-E835-4B71-924C46F411A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8E71159-70B9-FBFB-B510-EC8F1C75EBA9}"/>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2"/>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Freeform 6">
            <a:extLst>
              <a:ext uri="{FF2B5EF4-FFF2-40B4-BE49-F238E27FC236}">
                <a16:creationId xmlns:a16="http://schemas.microsoft.com/office/drawing/2014/main" id="{A9904CB0-9D47-8E12-EE47-8FA50122D393}"/>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2"/>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sp>
        <p:nvSpPr>
          <p:cNvPr id="12" name="Title 1">
            <a:extLst>
              <a:ext uri="{FF2B5EF4-FFF2-40B4-BE49-F238E27FC236}">
                <a16:creationId xmlns:a16="http://schemas.microsoft.com/office/drawing/2014/main" id="{EB4310B7-7341-1F53-DEC7-9F688ADCE0DC}"/>
              </a:ext>
            </a:extLst>
          </p:cNvPr>
          <p:cNvSpPr txBox="1">
            <a:spLocks/>
          </p:cNvSpPr>
          <p:nvPr/>
        </p:nvSpPr>
        <p:spPr>
          <a:xfrm>
            <a:off x="2362201" y="4095749"/>
            <a:ext cx="14658974" cy="1500188"/>
          </a:xfrm>
          <a:prstGeom prst="rect">
            <a:avLst/>
          </a:prstGeom>
        </p:spPr>
        <p:txBody>
          <a:bodyP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lang="en-AU" sz="6600" dirty="0">
                <a:solidFill>
                  <a:srgbClr val="0CC0DF"/>
                </a:solidFill>
                <a:latin typeface="Now Bold"/>
              </a:rPr>
              <a:t>TOOLS AND TOOL CALLING</a:t>
            </a:r>
            <a:endParaRPr kumimoji="0" lang="en-US" sz="6600" b="0" i="0" u="none" strike="noStrike" kern="1200" cap="none" spc="0" normalizeH="0" baseline="0" noProof="0" dirty="0">
              <a:ln>
                <a:noFill/>
              </a:ln>
              <a:solidFill>
                <a:srgbClr val="0CC0DF"/>
              </a:solidFill>
              <a:effectLst/>
              <a:uLnTx/>
              <a:uFillTx/>
              <a:latin typeface="Now Bold"/>
              <a:ea typeface="+mj-ea"/>
              <a:cs typeface="+mj-cs"/>
            </a:endParaRPr>
          </a:p>
        </p:txBody>
      </p:sp>
    </p:spTree>
    <p:extLst>
      <p:ext uri="{BB962C8B-B14F-4D97-AF65-F5344CB8AC3E}">
        <p14:creationId xmlns:p14="http://schemas.microsoft.com/office/powerpoint/2010/main" val="30203881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8BEB2CAE-6E2F-1BBA-3117-F62868B620BF}"/>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D0D78989-0E07-78F6-DEE0-A50ADF9C037E}"/>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072E61D3-B74B-DA88-CEDF-BD42F8C0F573}"/>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38E7F1AE-0C59-FE75-634A-A0C571E2E7B5}"/>
              </a:ext>
            </a:extLst>
          </p:cNvPr>
          <p:cNvSpPr txBox="1"/>
          <p:nvPr/>
        </p:nvSpPr>
        <p:spPr>
          <a:xfrm>
            <a:off x="1559180" y="2129797"/>
            <a:ext cx="10753172" cy="925253"/>
          </a:xfrm>
          <a:prstGeom prst="rect">
            <a:avLst/>
          </a:prstGeom>
        </p:spPr>
        <p:txBody>
          <a:bodyPr wrap="square" lIns="0" tIns="0" rIns="0" bIns="0" rtlCol="0" anchor="t">
            <a:spAutoFit/>
          </a:bodyPr>
          <a:lstStyle/>
          <a:p>
            <a:pPr lvl="0">
              <a:lnSpc>
                <a:spcPts val="7711"/>
              </a:lnSpc>
              <a:spcBef>
                <a:spcPct val="0"/>
              </a:spcBef>
            </a:pPr>
            <a:r>
              <a:rPr lang="en-US" sz="4800" dirty="0">
                <a:solidFill>
                  <a:srgbClr val="0CC0DF"/>
                </a:solidFill>
                <a:latin typeface="Now Bold"/>
              </a:rPr>
              <a:t>TOOLS AND TOOL CALLING</a:t>
            </a:r>
          </a:p>
        </p:txBody>
      </p:sp>
      <p:sp>
        <p:nvSpPr>
          <p:cNvPr id="10" name="TextBox 10">
            <a:extLst>
              <a:ext uri="{FF2B5EF4-FFF2-40B4-BE49-F238E27FC236}">
                <a16:creationId xmlns:a16="http://schemas.microsoft.com/office/drawing/2014/main" id="{BCC41D77-D7C9-5039-4CB4-5B8F80ED0FCD}"/>
              </a:ext>
            </a:extLst>
          </p:cNvPr>
          <p:cNvSpPr txBox="1"/>
          <p:nvPr/>
        </p:nvSpPr>
        <p:spPr>
          <a:xfrm>
            <a:off x="1559180" y="3559324"/>
            <a:ext cx="9889076" cy="5640390"/>
          </a:xfrm>
          <a:prstGeom prst="rect">
            <a:avLst/>
          </a:prstGeom>
        </p:spPr>
        <p:txBody>
          <a:bodyPr wrap="square" lIns="0" tIns="0" rIns="0" bIns="0" rtlCol="0" anchor="t">
            <a:spAutoFit/>
          </a:bodyPr>
          <a:lstStyle/>
          <a:p>
            <a:pPr marL="342900" indent="-342900">
              <a:lnSpc>
                <a:spcPts val="3422"/>
              </a:lnSpc>
              <a:buFont typeface="Arial" panose="020B0604020202020204" pitchFamily="34" charset="0"/>
              <a:buChar char="•"/>
            </a:pPr>
            <a:r>
              <a:rPr lang="en-US" sz="2479" spc="-49" dirty="0">
                <a:solidFill>
                  <a:srgbClr val="FFFFFF"/>
                </a:solidFill>
                <a:latin typeface="DM Sans"/>
              </a:rPr>
              <a:t>You pass a pdf to an agent</a:t>
            </a:r>
          </a:p>
          <a:p>
            <a:pPr marL="342900" indent="-342900">
              <a:lnSpc>
                <a:spcPts val="3422"/>
              </a:lnSpc>
              <a:buFont typeface="Arial" panose="020B0604020202020204" pitchFamily="34" charset="0"/>
              <a:buChar char="•"/>
            </a:pPr>
            <a:r>
              <a:rPr lang="en-US" sz="2479" spc="-49" dirty="0">
                <a:solidFill>
                  <a:srgbClr val="FFFFFF"/>
                </a:solidFill>
                <a:latin typeface="DM Sans"/>
              </a:rPr>
              <a:t>“Read the attached paper and summarize it for me.”</a:t>
            </a:r>
          </a:p>
          <a:p>
            <a:pPr marL="1257300" lvl="2" indent="-342900">
              <a:lnSpc>
                <a:spcPts val="3422"/>
              </a:lnSpc>
              <a:buFont typeface="Arial" panose="020B0604020202020204" pitchFamily="34" charset="0"/>
              <a:buChar char="•"/>
            </a:pPr>
            <a:r>
              <a:rPr lang="en-US" sz="2479" spc="-49" dirty="0">
                <a:solidFill>
                  <a:srgbClr val="FFFFFF"/>
                </a:solidFill>
                <a:latin typeface="DM Sans"/>
              </a:rPr>
              <a:t>access the uploaded paper or PDF</a:t>
            </a:r>
          </a:p>
          <a:p>
            <a:pPr marL="1257300" lvl="2" indent="-342900">
              <a:lnSpc>
                <a:spcPts val="3422"/>
              </a:lnSpc>
              <a:buFont typeface="Arial" panose="020B0604020202020204" pitchFamily="34" charset="0"/>
              <a:buChar char="•"/>
            </a:pPr>
            <a:r>
              <a:rPr lang="en-US" sz="2479" spc="-49" dirty="0">
                <a:solidFill>
                  <a:srgbClr val="FFFFFF"/>
                </a:solidFill>
                <a:latin typeface="DM Sans"/>
              </a:rPr>
              <a:t>extract the text</a:t>
            </a:r>
          </a:p>
          <a:p>
            <a:pPr marL="1257300" lvl="2" indent="-342900">
              <a:lnSpc>
                <a:spcPts val="3422"/>
              </a:lnSpc>
              <a:buFont typeface="Arial" panose="020B0604020202020204" pitchFamily="34" charset="0"/>
              <a:buChar char="•"/>
            </a:pPr>
            <a:r>
              <a:rPr lang="en-US" sz="2479" spc="-49" dirty="0">
                <a:solidFill>
                  <a:srgbClr val="FFFFFF"/>
                </a:solidFill>
                <a:latin typeface="DM Sans"/>
              </a:rPr>
              <a:t>identify the important sections</a:t>
            </a:r>
          </a:p>
          <a:p>
            <a:pPr marL="1257300" lvl="2" indent="-342900">
              <a:lnSpc>
                <a:spcPts val="3422"/>
              </a:lnSpc>
              <a:buFont typeface="Arial" panose="020B0604020202020204" pitchFamily="34" charset="0"/>
              <a:buChar char="•"/>
            </a:pPr>
            <a:r>
              <a:rPr lang="en-US" sz="2479" spc="-49" dirty="0">
                <a:solidFill>
                  <a:srgbClr val="FFFFFF"/>
                </a:solidFill>
                <a:latin typeface="DM Sans"/>
              </a:rPr>
              <a:t>distinguish abstract, methods, results, and conclusion</a:t>
            </a:r>
          </a:p>
          <a:p>
            <a:pPr marL="1257300" lvl="2" indent="-342900">
              <a:lnSpc>
                <a:spcPts val="3422"/>
              </a:lnSpc>
              <a:buFont typeface="Arial" panose="020B0604020202020204" pitchFamily="34" charset="0"/>
              <a:buChar char="•"/>
            </a:pPr>
            <a:r>
              <a:rPr lang="en-US" sz="2479" spc="-49" dirty="0">
                <a:solidFill>
                  <a:srgbClr val="FFFFFF"/>
                </a:solidFill>
                <a:latin typeface="DM Sans"/>
              </a:rPr>
              <a:t>summarize the content clearly for the user</a:t>
            </a:r>
          </a:p>
          <a:p>
            <a:pPr marL="1257300" lvl="2" indent="-342900">
              <a:lnSpc>
                <a:spcPts val="3422"/>
              </a:lnSpc>
              <a:buFont typeface="Arial" panose="020B0604020202020204" pitchFamily="34" charset="0"/>
              <a:buChar char="•"/>
            </a:pPr>
            <a:r>
              <a:rPr lang="en-US" sz="2479" spc="-49" dirty="0">
                <a:solidFill>
                  <a:srgbClr val="FFFFFF"/>
                </a:solidFill>
                <a:latin typeface="DM Sans"/>
              </a:rPr>
              <a:t>If the paper is long, the system may also need chunking, retrieval, or multi-step reading. </a:t>
            </a:r>
          </a:p>
          <a:p>
            <a:pPr marL="1257300" lvl="2"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r>
              <a:rPr lang="en-US" sz="2479" spc="-49" dirty="0">
                <a:solidFill>
                  <a:srgbClr val="FFFFFF"/>
                </a:solidFill>
                <a:latin typeface="DM Sans"/>
              </a:rPr>
              <a:t>This makes it an agentic document-processing task, not just a text prompt.</a:t>
            </a:r>
          </a:p>
          <a:p>
            <a:pPr>
              <a:lnSpc>
                <a:spcPts val="3284"/>
              </a:lnSpc>
            </a:pPr>
            <a:endParaRPr lang="en-US" sz="2479" spc="-49" dirty="0">
              <a:solidFill>
                <a:srgbClr val="FFFFFF"/>
              </a:solidFill>
              <a:latin typeface="DM Sans"/>
            </a:endParaRPr>
          </a:p>
        </p:txBody>
      </p:sp>
    </p:spTree>
    <p:extLst>
      <p:ext uri="{BB962C8B-B14F-4D97-AF65-F5344CB8AC3E}">
        <p14:creationId xmlns:p14="http://schemas.microsoft.com/office/powerpoint/2010/main" val="149059648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530FA1EC-605E-DF2D-D414-5C4BDAED0D86}"/>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63297FE7-20E7-0EF3-410C-7B1C8634F17B}"/>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B0E91E4A-3987-32BE-0D94-EA8F1D82CA1C}"/>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007364E7-EA78-2C99-F420-7C854B05292D}"/>
              </a:ext>
            </a:extLst>
          </p:cNvPr>
          <p:cNvSpPr txBox="1"/>
          <p:nvPr/>
        </p:nvSpPr>
        <p:spPr>
          <a:xfrm>
            <a:off x="1559180" y="2129797"/>
            <a:ext cx="14497588" cy="1663917"/>
          </a:xfrm>
          <a:prstGeom prst="rect">
            <a:avLst/>
          </a:prstGeom>
        </p:spPr>
        <p:txBody>
          <a:bodyPr wrap="square" lIns="0" tIns="0" rIns="0" bIns="0" rtlCol="0" anchor="t">
            <a:spAutoFit/>
          </a:bodyPr>
          <a:lstStyle/>
          <a:p>
            <a:pPr lvl="0">
              <a:spcBef>
                <a:spcPct val="0"/>
              </a:spcBef>
              <a:defRPr/>
            </a:pPr>
            <a:r>
              <a:rPr lang="en-AU" sz="4800" dirty="0">
                <a:solidFill>
                  <a:srgbClr val="0CC0DF"/>
                </a:solidFill>
                <a:latin typeface="Now Bold"/>
              </a:rPr>
              <a:t>TOOLS AND TOOL CALLING</a:t>
            </a:r>
            <a:endParaRPr lang="en-US" sz="4800" dirty="0">
              <a:solidFill>
                <a:srgbClr val="0CC0DF"/>
              </a:solidFill>
              <a:latin typeface="Now Bold"/>
            </a:endParaRPr>
          </a:p>
          <a:p>
            <a:pPr marL="0" lvl="0" indent="0">
              <a:lnSpc>
                <a:spcPts val="7711"/>
              </a:lnSpc>
              <a:spcBef>
                <a:spcPct val="0"/>
              </a:spcBef>
            </a:pPr>
            <a:endParaRPr lang="en-US" sz="4800" dirty="0">
              <a:solidFill>
                <a:srgbClr val="0CC0DF"/>
              </a:solidFill>
              <a:latin typeface="Now Bold"/>
            </a:endParaRPr>
          </a:p>
        </p:txBody>
      </p:sp>
      <p:sp>
        <p:nvSpPr>
          <p:cNvPr id="10" name="TextBox 10">
            <a:extLst>
              <a:ext uri="{FF2B5EF4-FFF2-40B4-BE49-F238E27FC236}">
                <a16:creationId xmlns:a16="http://schemas.microsoft.com/office/drawing/2014/main" id="{8BDE1A23-658E-C0D3-BFE9-A6AF76DF6B9F}"/>
              </a:ext>
            </a:extLst>
          </p:cNvPr>
          <p:cNvSpPr txBox="1"/>
          <p:nvPr/>
        </p:nvSpPr>
        <p:spPr>
          <a:xfrm>
            <a:off x="1559180" y="3286145"/>
            <a:ext cx="16513812" cy="4822859"/>
          </a:xfrm>
          <a:prstGeom prst="rect">
            <a:avLst/>
          </a:prstGeom>
        </p:spPr>
        <p:txBody>
          <a:bodyPr wrap="square" lIns="0" tIns="0" rIns="0" bIns="0" rtlCol="0" anchor="t">
            <a:spAutoFit/>
          </a:bodyPr>
          <a:lstStyle/>
          <a:p>
            <a:pPr marL="800100" lvl="1" indent="-342900">
              <a:lnSpc>
                <a:spcPts val="3422"/>
              </a:lnSpc>
              <a:buFont typeface="Arial" panose="020B0604020202020204" pitchFamily="34" charset="0"/>
              <a:buChar char="•"/>
            </a:pPr>
            <a:r>
              <a:rPr lang="en-US" sz="2479" spc="-49" dirty="0">
                <a:solidFill>
                  <a:srgbClr val="FFFFFF"/>
                </a:solidFill>
                <a:latin typeface="DM Sans"/>
              </a:rPr>
              <a:t>A tool is a callable function or external capability that an agent can use to interact with the outside world.</a:t>
            </a:r>
          </a:p>
          <a:p>
            <a:pPr marL="800100" lvl="1" indent="-342900">
              <a:lnSpc>
                <a:spcPts val="3422"/>
              </a:lnSpc>
              <a:buFont typeface="Arial" panose="020B0604020202020204" pitchFamily="34" charset="0"/>
              <a:buChar char="•"/>
            </a:pPr>
            <a:endParaRPr lang="en-US" altLang="en-US" sz="2479" spc="-49" dirty="0">
              <a:solidFill>
                <a:srgbClr val="FFFFFF"/>
              </a:solidFill>
              <a:latin typeface="DM Sans"/>
            </a:endParaRPr>
          </a:p>
          <a:p>
            <a:pPr lvl="2" eaLnBrk="0" fontAlgn="base" hangingPunct="0">
              <a:spcBef>
                <a:spcPct val="0"/>
              </a:spcBef>
              <a:spcAft>
                <a:spcPct val="0"/>
              </a:spcAft>
              <a:buFontTx/>
              <a:buChar char="•"/>
            </a:pPr>
            <a:r>
              <a:rPr lang="en-US" altLang="en-US" sz="2479" spc="-49" dirty="0">
                <a:solidFill>
                  <a:srgbClr val="FFFFFF"/>
                </a:solidFill>
                <a:latin typeface="DM Sans"/>
              </a:rPr>
              <a:t> It extends the model beyond text generation</a:t>
            </a:r>
          </a:p>
          <a:p>
            <a:pPr lvl="2" eaLnBrk="0" fontAlgn="base" hangingPunct="0">
              <a:spcBef>
                <a:spcPct val="0"/>
              </a:spcBef>
              <a:spcAft>
                <a:spcPct val="0"/>
              </a:spcAft>
              <a:buFontTx/>
              <a:buChar char="•"/>
            </a:pPr>
            <a:endParaRPr lang="en-US" altLang="en-US" sz="2479" spc="-49" dirty="0">
              <a:solidFill>
                <a:srgbClr val="FFFFFF"/>
              </a:solidFill>
              <a:latin typeface="DM Sans"/>
            </a:endParaRPr>
          </a:p>
          <a:p>
            <a:pPr lvl="2" eaLnBrk="0" fontAlgn="base" hangingPunct="0">
              <a:spcBef>
                <a:spcPct val="0"/>
              </a:spcBef>
              <a:spcAft>
                <a:spcPct val="0"/>
              </a:spcAft>
              <a:buFontTx/>
              <a:buChar char="•"/>
            </a:pPr>
            <a:r>
              <a:rPr lang="en-US" altLang="en-US" sz="2479" spc="-49" dirty="0">
                <a:solidFill>
                  <a:srgbClr val="FFFFFF"/>
                </a:solidFill>
                <a:latin typeface="DM Sans"/>
              </a:rPr>
              <a:t> It can read, fetch, calculate, search, parse, or act</a:t>
            </a:r>
          </a:p>
          <a:p>
            <a:pPr lvl="2" eaLnBrk="0" fontAlgn="base" hangingPunct="0">
              <a:spcBef>
                <a:spcPct val="0"/>
              </a:spcBef>
              <a:spcAft>
                <a:spcPct val="0"/>
              </a:spcAft>
              <a:buFontTx/>
              <a:buChar char="•"/>
            </a:pPr>
            <a:endParaRPr lang="en-US" altLang="en-US" sz="2479" spc="-49" dirty="0">
              <a:solidFill>
                <a:srgbClr val="FFFFFF"/>
              </a:solidFill>
              <a:latin typeface="DM Sans"/>
            </a:endParaRPr>
          </a:p>
          <a:p>
            <a:pPr lvl="2" eaLnBrk="0" fontAlgn="base" hangingPunct="0">
              <a:spcBef>
                <a:spcPct val="0"/>
              </a:spcBef>
              <a:spcAft>
                <a:spcPct val="0"/>
              </a:spcAft>
              <a:buFontTx/>
              <a:buChar char="•"/>
            </a:pPr>
            <a:r>
              <a:rPr lang="en-US" altLang="en-US" sz="2479" spc="-49" dirty="0">
                <a:solidFill>
                  <a:srgbClr val="FFFFFF"/>
                </a:solidFill>
                <a:latin typeface="DM Sans"/>
              </a:rPr>
              <a:t> The model can choose when to use it</a:t>
            </a:r>
          </a:p>
          <a:p>
            <a:pPr lvl="2" eaLnBrk="0" fontAlgn="base" hangingPunct="0">
              <a:spcBef>
                <a:spcPct val="0"/>
              </a:spcBef>
              <a:spcAft>
                <a:spcPct val="0"/>
              </a:spcAft>
              <a:buFontTx/>
              <a:buChar char="•"/>
            </a:pPr>
            <a:endParaRPr lang="en-US" altLang="en-US" sz="2479" spc="-49" dirty="0">
              <a:solidFill>
                <a:srgbClr val="FFFFFF"/>
              </a:solidFill>
              <a:latin typeface="DM Sans"/>
            </a:endParaRPr>
          </a:p>
          <a:p>
            <a:pPr lvl="2" eaLnBrk="0" fontAlgn="base" hangingPunct="0">
              <a:spcBef>
                <a:spcPct val="0"/>
              </a:spcBef>
              <a:spcAft>
                <a:spcPct val="0"/>
              </a:spcAft>
              <a:buFontTx/>
              <a:buChar char="•"/>
            </a:pPr>
            <a:r>
              <a:rPr lang="en-US" altLang="en-US" sz="2479" spc="-49" dirty="0">
                <a:solidFill>
                  <a:srgbClr val="FFFFFF"/>
                </a:solidFill>
                <a:latin typeface="DM Sans"/>
              </a:rPr>
              <a:t> The runtime executes it and returns the result</a:t>
            </a:r>
          </a:p>
          <a:p>
            <a:pPr marL="1257300" lvl="2"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a:lnSpc>
                <a:spcPts val="3284"/>
              </a:lnSpc>
            </a:pPr>
            <a:endParaRPr lang="en-US" sz="2479" spc="-49" dirty="0">
              <a:solidFill>
                <a:srgbClr val="FFFFFF"/>
              </a:solidFill>
              <a:latin typeface="DM Sans"/>
            </a:endParaRPr>
          </a:p>
        </p:txBody>
      </p:sp>
    </p:spTree>
    <p:extLst>
      <p:ext uri="{BB962C8B-B14F-4D97-AF65-F5344CB8AC3E}">
        <p14:creationId xmlns:p14="http://schemas.microsoft.com/office/powerpoint/2010/main" val="29037201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DD3277FC-ACA5-B008-74EA-FD1A757F388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A30AE4A9-C7AE-D18F-BD64-03620A6170F8}"/>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4700FC2D-6B27-C05A-7DBD-2EAB6EA74A08}"/>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E2DA79C9-0980-7EA8-63A0-63BCF996C593}"/>
              </a:ext>
            </a:extLst>
          </p:cNvPr>
          <p:cNvSpPr txBox="1"/>
          <p:nvPr/>
        </p:nvSpPr>
        <p:spPr>
          <a:xfrm>
            <a:off x="1559180" y="2129797"/>
            <a:ext cx="14497588" cy="1663917"/>
          </a:xfrm>
          <a:prstGeom prst="rect">
            <a:avLst/>
          </a:prstGeom>
        </p:spPr>
        <p:txBody>
          <a:bodyPr wrap="square" lIns="0" tIns="0" rIns="0" bIns="0" rtlCol="0" anchor="t">
            <a:spAutoFit/>
          </a:bodyPr>
          <a:lstStyle/>
          <a:p>
            <a:pPr lvl="0">
              <a:spcBef>
                <a:spcPct val="0"/>
              </a:spcBef>
              <a:defRPr/>
            </a:pPr>
            <a:r>
              <a:rPr lang="en-AU" sz="4800" dirty="0">
                <a:solidFill>
                  <a:srgbClr val="0CC0DF"/>
                </a:solidFill>
                <a:latin typeface="Now Bold"/>
              </a:rPr>
              <a:t>TOOLS AND TOOL CALLING</a:t>
            </a:r>
            <a:endParaRPr lang="en-US" sz="4800" dirty="0">
              <a:solidFill>
                <a:srgbClr val="0CC0DF"/>
              </a:solidFill>
              <a:latin typeface="Now Bold"/>
            </a:endParaRPr>
          </a:p>
          <a:p>
            <a:pPr marL="0" lvl="0" indent="0">
              <a:lnSpc>
                <a:spcPts val="7711"/>
              </a:lnSpc>
              <a:spcBef>
                <a:spcPct val="0"/>
              </a:spcBef>
            </a:pPr>
            <a:endParaRPr lang="en-US" sz="4800" dirty="0">
              <a:solidFill>
                <a:srgbClr val="0CC0DF"/>
              </a:solidFill>
              <a:latin typeface="Now Bold"/>
            </a:endParaRPr>
          </a:p>
        </p:txBody>
      </p:sp>
      <p:sp>
        <p:nvSpPr>
          <p:cNvPr id="3" name="TextBox 10">
            <a:extLst>
              <a:ext uri="{FF2B5EF4-FFF2-40B4-BE49-F238E27FC236}">
                <a16:creationId xmlns:a16="http://schemas.microsoft.com/office/drawing/2014/main" id="{7746D678-9747-486B-D015-711F269FEA80}"/>
              </a:ext>
            </a:extLst>
          </p:cNvPr>
          <p:cNvSpPr txBox="1"/>
          <p:nvPr/>
        </p:nvSpPr>
        <p:spPr>
          <a:xfrm>
            <a:off x="1276216" y="3127276"/>
            <a:ext cx="16513812" cy="6076407"/>
          </a:xfrm>
          <a:prstGeom prst="rect">
            <a:avLst/>
          </a:prstGeom>
        </p:spPr>
        <p:txBody>
          <a:bodyPr wrap="square" lIns="0" tIns="0" rIns="0" bIns="0" rtlCol="0" anchor="t">
            <a:spAutoFit/>
          </a:bodyPr>
          <a:lstStyle/>
          <a:p>
            <a:pPr marL="800100" lvl="1" indent="-342900">
              <a:lnSpc>
                <a:spcPts val="3422"/>
              </a:lnSpc>
              <a:buFont typeface="Arial" panose="020B0604020202020204" pitchFamily="34" charset="0"/>
              <a:buChar char="•"/>
            </a:pPr>
            <a:r>
              <a:rPr lang="en-AU" sz="2479" spc="-49" dirty="0">
                <a:solidFill>
                  <a:srgbClr val="FFFFFF"/>
                </a:solidFill>
                <a:latin typeface="DM Sans"/>
              </a:rPr>
              <a:t>Tools:</a:t>
            </a:r>
          </a:p>
          <a:p>
            <a:pPr marL="1257300" lvl="2" indent="-342900">
              <a:lnSpc>
                <a:spcPts val="3422"/>
              </a:lnSpc>
              <a:buFont typeface="Arial" panose="020B0604020202020204" pitchFamily="34" charset="0"/>
              <a:buChar char="•"/>
            </a:pPr>
            <a:r>
              <a:rPr lang="en-AU" sz="2479" spc="-49" dirty="0">
                <a:solidFill>
                  <a:srgbClr val="FFFFFF"/>
                </a:solidFill>
                <a:latin typeface="DM Sans"/>
              </a:rPr>
              <a:t>Search tools: web/news search, academic search</a:t>
            </a:r>
          </a:p>
          <a:p>
            <a:pPr marL="1257300" lvl="2" indent="-342900">
              <a:lnSpc>
                <a:spcPts val="3422"/>
              </a:lnSpc>
              <a:buFont typeface="Arial" panose="020B0604020202020204" pitchFamily="34" charset="0"/>
              <a:buChar char="•"/>
            </a:pPr>
            <a:r>
              <a:rPr lang="en-AU" sz="2479" spc="-49" dirty="0">
                <a:solidFill>
                  <a:srgbClr val="FFFFFF"/>
                </a:solidFill>
                <a:latin typeface="DM Sans"/>
              </a:rPr>
              <a:t>File tools: read PDFs, inspect spreadsheets, parse documents</a:t>
            </a:r>
          </a:p>
          <a:p>
            <a:pPr marL="1257300" lvl="2" indent="-342900">
              <a:lnSpc>
                <a:spcPts val="3422"/>
              </a:lnSpc>
              <a:buFont typeface="Arial" panose="020B0604020202020204" pitchFamily="34" charset="0"/>
              <a:buChar char="•"/>
            </a:pPr>
            <a:r>
              <a:rPr lang="en-AU" sz="2479" spc="-49" dirty="0">
                <a:solidFill>
                  <a:srgbClr val="FFFFFF"/>
                </a:solidFill>
                <a:latin typeface="DM Sans"/>
              </a:rPr>
              <a:t>Data tools: query databases, filter tables, run calculations</a:t>
            </a:r>
          </a:p>
          <a:p>
            <a:pPr marL="1257300" lvl="2" indent="-342900">
              <a:lnSpc>
                <a:spcPts val="3422"/>
              </a:lnSpc>
              <a:buFont typeface="Arial" panose="020B0604020202020204" pitchFamily="34" charset="0"/>
              <a:buChar char="•"/>
            </a:pPr>
            <a:r>
              <a:rPr lang="en-AU" sz="2479" spc="-49" dirty="0">
                <a:solidFill>
                  <a:srgbClr val="FFFFFF"/>
                </a:solidFill>
                <a:latin typeface="DM Sans"/>
              </a:rPr>
              <a:t>Action tools: send email, schedule events, post content</a:t>
            </a:r>
          </a:p>
          <a:p>
            <a:pPr marL="1257300" lvl="2" indent="-342900">
              <a:lnSpc>
                <a:spcPts val="3422"/>
              </a:lnSpc>
              <a:buFont typeface="Arial" panose="020B0604020202020204" pitchFamily="34" charset="0"/>
              <a:buChar char="•"/>
            </a:pPr>
            <a:r>
              <a:rPr lang="en-AU" sz="2479" spc="-49" dirty="0">
                <a:solidFill>
                  <a:srgbClr val="FFFFFF"/>
                </a:solidFill>
                <a:latin typeface="DM Sans"/>
              </a:rPr>
              <a:t>Retrieval tools: vector search, RAG, internal document lookup</a:t>
            </a:r>
          </a:p>
          <a:p>
            <a:pPr marL="1257300" lvl="2" indent="-342900">
              <a:lnSpc>
                <a:spcPts val="3422"/>
              </a:lnSpc>
              <a:buFont typeface="Arial" panose="020B0604020202020204" pitchFamily="34" charset="0"/>
              <a:buChar char="•"/>
            </a:pPr>
            <a:r>
              <a:rPr lang="en-AU" sz="2479" spc="-49" dirty="0">
                <a:solidFill>
                  <a:srgbClr val="FFFFFF"/>
                </a:solidFill>
                <a:latin typeface="DM Sans"/>
              </a:rPr>
              <a:t>System tools: browser/computer use, API connectors</a:t>
            </a:r>
          </a:p>
          <a:p>
            <a:pPr marL="1257300" lvl="2" indent="-342900">
              <a:lnSpc>
                <a:spcPts val="3422"/>
              </a:lnSpc>
              <a:buFont typeface="Arial" panose="020B0604020202020204" pitchFamily="34" charset="0"/>
              <a:buChar char="•"/>
            </a:pPr>
            <a:endParaRPr lang="en-AU" alt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AU" alt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AU" altLang="en-US" sz="2479" spc="-49" dirty="0">
              <a:solidFill>
                <a:srgbClr val="FFFFFF"/>
              </a:solidFill>
              <a:latin typeface="DM Sans"/>
            </a:endParaRPr>
          </a:p>
          <a:p>
            <a:pPr marL="1257300" lvl="2" indent="-342900">
              <a:lnSpc>
                <a:spcPts val="3422"/>
              </a:lnSpc>
              <a:buFont typeface="Arial" panose="020B0604020202020204" pitchFamily="34" charset="0"/>
              <a:buChar char="•"/>
            </a:pPr>
            <a:endParaRPr lang="en-US" altLang="en-US" sz="2479" spc="-49" dirty="0">
              <a:solidFill>
                <a:srgbClr val="FFFFFF"/>
              </a:solidFill>
              <a:latin typeface="DM Sans"/>
            </a:endParaRPr>
          </a:p>
          <a:p>
            <a:pPr marL="1257300" lvl="2"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a:lnSpc>
                <a:spcPts val="3284"/>
              </a:lnSpc>
            </a:pPr>
            <a:endParaRPr lang="en-US" sz="2479" spc="-49" dirty="0">
              <a:solidFill>
                <a:srgbClr val="FFFFFF"/>
              </a:solidFill>
              <a:latin typeface="DM Sans"/>
            </a:endParaRPr>
          </a:p>
        </p:txBody>
      </p:sp>
    </p:spTree>
    <p:extLst>
      <p:ext uri="{BB962C8B-B14F-4D97-AF65-F5344CB8AC3E}">
        <p14:creationId xmlns:p14="http://schemas.microsoft.com/office/powerpoint/2010/main" val="34223699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4A0E584E-37D1-1A5D-5E08-57CAFE745D9F}"/>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A3D7B949-F919-A4C2-9604-302CB7BBCBEB}"/>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33E95910-2C95-0E3E-DDFA-0CB773D1686F}"/>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866EF046-A2EC-6B67-2DF2-25C818C6F9D0}"/>
              </a:ext>
            </a:extLst>
          </p:cNvPr>
          <p:cNvSpPr txBox="1"/>
          <p:nvPr/>
        </p:nvSpPr>
        <p:spPr>
          <a:xfrm>
            <a:off x="1559180" y="2129797"/>
            <a:ext cx="14497588" cy="1663917"/>
          </a:xfrm>
          <a:prstGeom prst="rect">
            <a:avLst/>
          </a:prstGeom>
        </p:spPr>
        <p:txBody>
          <a:bodyPr wrap="square" lIns="0" tIns="0" rIns="0" bIns="0" rtlCol="0" anchor="t">
            <a:spAutoFit/>
          </a:bodyPr>
          <a:lstStyle/>
          <a:p>
            <a:pPr lvl="0">
              <a:spcBef>
                <a:spcPct val="0"/>
              </a:spcBef>
              <a:defRPr/>
            </a:pPr>
            <a:r>
              <a:rPr lang="en-AU" sz="4800" dirty="0">
                <a:solidFill>
                  <a:srgbClr val="0CC0DF"/>
                </a:solidFill>
                <a:latin typeface="Now Bold"/>
              </a:rPr>
              <a:t>TOOLS AND TOOL CALLING: EXAMPLES</a:t>
            </a:r>
            <a:endParaRPr lang="en-US" sz="4800" dirty="0">
              <a:solidFill>
                <a:srgbClr val="0CC0DF"/>
              </a:solidFill>
              <a:latin typeface="Now Bold"/>
            </a:endParaRPr>
          </a:p>
          <a:p>
            <a:pPr marL="0" lvl="0" indent="0">
              <a:lnSpc>
                <a:spcPts val="7711"/>
              </a:lnSpc>
              <a:spcBef>
                <a:spcPct val="0"/>
              </a:spcBef>
            </a:pPr>
            <a:endParaRPr lang="en-US" sz="4800" dirty="0">
              <a:solidFill>
                <a:srgbClr val="0CC0DF"/>
              </a:solidFill>
              <a:latin typeface="Now Bold"/>
            </a:endParaRPr>
          </a:p>
        </p:txBody>
      </p:sp>
      <p:sp>
        <p:nvSpPr>
          <p:cNvPr id="10" name="TextBox 10">
            <a:extLst>
              <a:ext uri="{FF2B5EF4-FFF2-40B4-BE49-F238E27FC236}">
                <a16:creationId xmlns:a16="http://schemas.microsoft.com/office/drawing/2014/main" id="{2D450C39-35A4-F29A-AE87-A87A3B35D9FE}"/>
              </a:ext>
            </a:extLst>
          </p:cNvPr>
          <p:cNvSpPr txBox="1"/>
          <p:nvPr/>
        </p:nvSpPr>
        <p:spPr>
          <a:xfrm>
            <a:off x="1559180" y="3631332"/>
            <a:ext cx="16513812" cy="1280222"/>
          </a:xfrm>
          <a:prstGeom prst="rect">
            <a:avLst/>
          </a:prstGeom>
        </p:spPr>
        <p:txBody>
          <a:bodyPr wrap="square" lIns="0" tIns="0" rIns="0" bIns="0" rtlCol="0" anchor="t">
            <a:spAutoFit/>
          </a:bodyPr>
          <a:lstStyle/>
          <a:p>
            <a:pPr marL="1257300" lvl="2"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a:lnSpc>
                <a:spcPts val="3284"/>
              </a:lnSpc>
            </a:pPr>
            <a:endParaRPr lang="en-US" sz="2479" spc="-49" dirty="0">
              <a:solidFill>
                <a:srgbClr val="FFFFFF"/>
              </a:solidFill>
              <a:latin typeface="DM Sans"/>
            </a:endParaRPr>
          </a:p>
        </p:txBody>
      </p:sp>
      <p:pic>
        <p:nvPicPr>
          <p:cNvPr id="19" name="Picture 18">
            <a:extLst>
              <a:ext uri="{FF2B5EF4-FFF2-40B4-BE49-F238E27FC236}">
                <a16:creationId xmlns:a16="http://schemas.microsoft.com/office/drawing/2014/main" id="{46CEF6B5-3527-4D0B-E8E5-0DC65ADDF5C6}"/>
              </a:ext>
            </a:extLst>
          </p:cNvPr>
          <p:cNvPicPr>
            <a:picLocks noChangeAspect="1"/>
          </p:cNvPicPr>
          <p:nvPr/>
        </p:nvPicPr>
        <p:blipFill>
          <a:blip r:embed="rId4"/>
          <a:stretch>
            <a:fillRect/>
          </a:stretch>
        </p:blipFill>
        <p:spPr>
          <a:xfrm>
            <a:off x="2231232" y="2382096"/>
            <a:ext cx="12025336" cy="7895789"/>
          </a:xfrm>
          <a:prstGeom prst="rect">
            <a:avLst/>
          </a:prstGeom>
        </p:spPr>
      </p:pic>
    </p:spTree>
    <p:extLst>
      <p:ext uri="{BB962C8B-B14F-4D97-AF65-F5344CB8AC3E}">
        <p14:creationId xmlns:p14="http://schemas.microsoft.com/office/powerpoint/2010/main" val="22327202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A2576FDC-1FC9-CBCF-16B8-AA56E77EE6A7}"/>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2A84EBB0-2DA3-AE0F-2C3B-E1638759DB92}"/>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5C390844-ED94-B9E2-4BAD-598AEDCAF327}"/>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09EB57E3-625A-3C6A-7347-9FD80D77D866}"/>
              </a:ext>
            </a:extLst>
          </p:cNvPr>
          <p:cNvSpPr txBox="1"/>
          <p:nvPr/>
        </p:nvSpPr>
        <p:spPr>
          <a:xfrm>
            <a:off x="1559180" y="2129797"/>
            <a:ext cx="14497588" cy="1663917"/>
          </a:xfrm>
          <a:prstGeom prst="rect">
            <a:avLst/>
          </a:prstGeom>
        </p:spPr>
        <p:txBody>
          <a:bodyPr wrap="square" lIns="0" tIns="0" rIns="0" bIns="0" rtlCol="0" anchor="t">
            <a:spAutoFit/>
          </a:bodyPr>
          <a:lstStyle/>
          <a:p>
            <a:pPr lvl="0">
              <a:spcBef>
                <a:spcPct val="0"/>
              </a:spcBef>
              <a:defRPr/>
            </a:pPr>
            <a:r>
              <a:rPr lang="en-AU" sz="4800" dirty="0">
                <a:solidFill>
                  <a:srgbClr val="0CC0DF"/>
                </a:solidFill>
                <a:latin typeface="Now Bold"/>
              </a:rPr>
              <a:t>TOOLS AND TOOL CALLING: EXAMPLES</a:t>
            </a:r>
            <a:endParaRPr lang="en-US" sz="4800" dirty="0">
              <a:solidFill>
                <a:srgbClr val="0CC0DF"/>
              </a:solidFill>
              <a:latin typeface="Now Bold"/>
            </a:endParaRPr>
          </a:p>
          <a:p>
            <a:pPr marL="0" lvl="0" indent="0">
              <a:lnSpc>
                <a:spcPts val="7711"/>
              </a:lnSpc>
              <a:spcBef>
                <a:spcPct val="0"/>
              </a:spcBef>
            </a:pPr>
            <a:endParaRPr lang="en-US" sz="4800" dirty="0">
              <a:solidFill>
                <a:srgbClr val="0CC0DF"/>
              </a:solidFill>
              <a:latin typeface="Now Bold"/>
            </a:endParaRPr>
          </a:p>
        </p:txBody>
      </p:sp>
      <p:sp>
        <p:nvSpPr>
          <p:cNvPr id="10" name="TextBox 10">
            <a:extLst>
              <a:ext uri="{FF2B5EF4-FFF2-40B4-BE49-F238E27FC236}">
                <a16:creationId xmlns:a16="http://schemas.microsoft.com/office/drawing/2014/main" id="{196DAF9E-09DD-5A6D-1FAD-8C23C638EB2F}"/>
              </a:ext>
            </a:extLst>
          </p:cNvPr>
          <p:cNvSpPr txBox="1"/>
          <p:nvPr/>
        </p:nvSpPr>
        <p:spPr>
          <a:xfrm>
            <a:off x="1559180" y="3631332"/>
            <a:ext cx="16513812" cy="1280222"/>
          </a:xfrm>
          <a:prstGeom prst="rect">
            <a:avLst/>
          </a:prstGeom>
        </p:spPr>
        <p:txBody>
          <a:bodyPr wrap="square" lIns="0" tIns="0" rIns="0" bIns="0" rtlCol="0" anchor="t">
            <a:spAutoFit/>
          </a:bodyPr>
          <a:lstStyle/>
          <a:p>
            <a:pPr marL="1257300" lvl="2"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a:lnSpc>
                <a:spcPts val="3284"/>
              </a:lnSpc>
            </a:pPr>
            <a:endParaRPr lang="en-US" sz="2479" spc="-49" dirty="0">
              <a:solidFill>
                <a:srgbClr val="FFFFFF"/>
              </a:solidFill>
              <a:latin typeface="DM Sans"/>
            </a:endParaRPr>
          </a:p>
        </p:txBody>
      </p:sp>
      <p:pic>
        <p:nvPicPr>
          <p:cNvPr id="3" name="Picture 2">
            <a:extLst>
              <a:ext uri="{FF2B5EF4-FFF2-40B4-BE49-F238E27FC236}">
                <a16:creationId xmlns:a16="http://schemas.microsoft.com/office/drawing/2014/main" id="{532352F9-43FE-ABEA-2CB1-71998422AB15}"/>
              </a:ext>
            </a:extLst>
          </p:cNvPr>
          <p:cNvPicPr>
            <a:picLocks noChangeAspect="1"/>
          </p:cNvPicPr>
          <p:nvPr/>
        </p:nvPicPr>
        <p:blipFill>
          <a:blip r:embed="rId4"/>
          <a:stretch>
            <a:fillRect/>
          </a:stretch>
        </p:blipFill>
        <p:spPr>
          <a:xfrm>
            <a:off x="1799184" y="2786118"/>
            <a:ext cx="13350360" cy="5178658"/>
          </a:xfrm>
          <a:prstGeom prst="rect">
            <a:avLst/>
          </a:prstGeom>
        </p:spPr>
      </p:pic>
    </p:spTree>
    <p:extLst>
      <p:ext uri="{BB962C8B-B14F-4D97-AF65-F5344CB8AC3E}">
        <p14:creationId xmlns:p14="http://schemas.microsoft.com/office/powerpoint/2010/main" val="38302332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6347A791-4B98-0A71-5B63-559C8C17153B}"/>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F4AFBADB-18CE-1E25-AEEB-8F96F9B27233}"/>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32243BBE-FBB0-EBD0-8F36-49AC24005A60}"/>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BCBF95ED-4058-5DBC-D1FC-B298CE568C9E}"/>
              </a:ext>
            </a:extLst>
          </p:cNvPr>
          <p:cNvSpPr txBox="1"/>
          <p:nvPr/>
        </p:nvSpPr>
        <p:spPr>
          <a:xfrm>
            <a:off x="1559180" y="2129797"/>
            <a:ext cx="14497588" cy="1663917"/>
          </a:xfrm>
          <a:prstGeom prst="rect">
            <a:avLst/>
          </a:prstGeom>
        </p:spPr>
        <p:txBody>
          <a:bodyPr wrap="square" lIns="0" tIns="0" rIns="0" bIns="0" rtlCol="0" anchor="t">
            <a:spAutoFit/>
          </a:bodyPr>
          <a:lstStyle/>
          <a:p>
            <a:pPr lvl="0">
              <a:spcBef>
                <a:spcPct val="0"/>
              </a:spcBef>
              <a:defRPr/>
            </a:pPr>
            <a:r>
              <a:rPr lang="en-AU" sz="4800" dirty="0">
                <a:solidFill>
                  <a:srgbClr val="0CC0DF"/>
                </a:solidFill>
                <a:latin typeface="Now Bold"/>
              </a:rPr>
              <a:t>TOOLS AND TOOL CALLING: EXAMPLES</a:t>
            </a:r>
            <a:endParaRPr lang="en-US" sz="4800" dirty="0">
              <a:solidFill>
                <a:srgbClr val="0CC0DF"/>
              </a:solidFill>
              <a:latin typeface="Now Bold"/>
            </a:endParaRPr>
          </a:p>
          <a:p>
            <a:pPr marL="0" lvl="0" indent="0">
              <a:lnSpc>
                <a:spcPts val="7711"/>
              </a:lnSpc>
              <a:spcBef>
                <a:spcPct val="0"/>
              </a:spcBef>
            </a:pPr>
            <a:endParaRPr lang="en-US" sz="4800" dirty="0">
              <a:solidFill>
                <a:srgbClr val="0CC0DF"/>
              </a:solidFill>
              <a:latin typeface="Now Bold"/>
            </a:endParaRPr>
          </a:p>
        </p:txBody>
      </p:sp>
      <p:sp>
        <p:nvSpPr>
          <p:cNvPr id="10" name="TextBox 10">
            <a:extLst>
              <a:ext uri="{FF2B5EF4-FFF2-40B4-BE49-F238E27FC236}">
                <a16:creationId xmlns:a16="http://schemas.microsoft.com/office/drawing/2014/main" id="{E3DD13FC-F4FE-347A-59B9-B0C72ACECD69}"/>
              </a:ext>
            </a:extLst>
          </p:cNvPr>
          <p:cNvSpPr txBox="1"/>
          <p:nvPr/>
        </p:nvSpPr>
        <p:spPr>
          <a:xfrm>
            <a:off x="1559180" y="3631332"/>
            <a:ext cx="16513812" cy="1280222"/>
          </a:xfrm>
          <a:prstGeom prst="rect">
            <a:avLst/>
          </a:prstGeom>
        </p:spPr>
        <p:txBody>
          <a:bodyPr wrap="square" lIns="0" tIns="0" rIns="0" bIns="0" rtlCol="0" anchor="t">
            <a:spAutoFit/>
          </a:bodyPr>
          <a:lstStyle/>
          <a:p>
            <a:pPr marL="1257300" lvl="2"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a:lnSpc>
                <a:spcPts val="3284"/>
              </a:lnSpc>
            </a:pPr>
            <a:endParaRPr lang="en-US" sz="2479" spc="-49" dirty="0">
              <a:solidFill>
                <a:srgbClr val="FFFFFF"/>
              </a:solidFill>
              <a:latin typeface="DM Sans"/>
            </a:endParaRPr>
          </a:p>
        </p:txBody>
      </p:sp>
      <p:pic>
        <p:nvPicPr>
          <p:cNvPr id="4" name="Picture 3">
            <a:extLst>
              <a:ext uri="{FF2B5EF4-FFF2-40B4-BE49-F238E27FC236}">
                <a16:creationId xmlns:a16="http://schemas.microsoft.com/office/drawing/2014/main" id="{CE256B5C-7D57-2631-E73C-DA14C63D1C44}"/>
              </a:ext>
            </a:extLst>
          </p:cNvPr>
          <p:cNvPicPr>
            <a:picLocks noChangeAspect="1"/>
          </p:cNvPicPr>
          <p:nvPr/>
        </p:nvPicPr>
        <p:blipFill>
          <a:blip r:embed="rId4"/>
          <a:stretch>
            <a:fillRect/>
          </a:stretch>
        </p:blipFill>
        <p:spPr>
          <a:xfrm>
            <a:off x="1415164" y="2148099"/>
            <a:ext cx="14785620" cy="7484905"/>
          </a:xfrm>
          <a:prstGeom prst="rect">
            <a:avLst/>
          </a:prstGeom>
        </p:spPr>
      </p:pic>
    </p:spTree>
    <p:extLst>
      <p:ext uri="{BB962C8B-B14F-4D97-AF65-F5344CB8AC3E}">
        <p14:creationId xmlns:p14="http://schemas.microsoft.com/office/powerpoint/2010/main" val="316997838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4BC1C1F4-39BD-B58B-CF9B-EF3A8515A07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88980409-9A19-C235-3347-D403C2DF124A}"/>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3A36DC94-9CD9-D19F-6469-54B840FE6241}"/>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5143CFB3-D298-A5D1-AA19-D6BB9EBEB838}"/>
              </a:ext>
            </a:extLst>
          </p:cNvPr>
          <p:cNvSpPr txBox="1"/>
          <p:nvPr/>
        </p:nvSpPr>
        <p:spPr>
          <a:xfrm>
            <a:off x="1559180" y="2129797"/>
            <a:ext cx="14497588" cy="1663917"/>
          </a:xfrm>
          <a:prstGeom prst="rect">
            <a:avLst/>
          </a:prstGeom>
        </p:spPr>
        <p:txBody>
          <a:bodyPr wrap="square" lIns="0" tIns="0" rIns="0" bIns="0" rtlCol="0" anchor="t">
            <a:spAutoFit/>
          </a:bodyPr>
          <a:lstStyle/>
          <a:p>
            <a:pPr lvl="0">
              <a:spcBef>
                <a:spcPct val="0"/>
              </a:spcBef>
              <a:defRPr/>
            </a:pPr>
            <a:r>
              <a:rPr lang="en-AU" sz="4800" dirty="0">
                <a:solidFill>
                  <a:srgbClr val="0CC0DF"/>
                </a:solidFill>
                <a:latin typeface="Now Bold"/>
              </a:rPr>
              <a:t>TOOLS AND TOOL CALLING: TECH STACK </a:t>
            </a:r>
            <a:endParaRPr lang="en-US" sz="4800" dirty="0">
              <a:solidFill>
                <a:srgbClr val="0CC0DF"/>
              </a:solidFill>
              <a:latin typeface="Now Bold"/>
            </a:endParaRPr>
          </a:p>
          <a:p>
            <a:pPr marL="0" lvl="0" indent="0">
              <a:lnSpc>
                <a:spcPts val="7711"/>
              </a:lnSpc>
              <a:spcBef>
                <a:spcPct val="0"/>
              </a:spcBef>
            </a:pPr>
            <a:endParaRPr lang="en-US" sz="4800" dirty="0">
              <a:solidFill>
                <a:srgbClr val="0CC0DF"/>
              </a:solidFill>
              <a:latin typeface="Now Bold"/>
            </a:endParaRPr>
          </a:p>
        </p:txBody>
      </p:sp>
      <p:sp>
        <p:nvSpPr>
          <p:cNvPr id="4" name="TextBox 10">
            <a:extLst>
              <a:ext uri="{FF2B5EF4-FFF2-40B4-BE49-F238E27FC236}">
                <a16:creationId xmlns:a16="http://schemas.microsoft.com/office/drawing/2014/main" id="{29B608B3-7B43-7803-7145-7A5BE9F29821}"/>
              </a:ext>
            </a:extLst>
          </p:cNvPr>
          <p:cNvSpPr txBox="1"/>
          <p:nvPr/>
        </p:nvSpPr>
        <p:spPr>
          <a:xfrm>
            <a:off x="1525545" y="3487316"/>
            <a:ext cx="16513812" cy="10872592"/>
          </a:xfrm>
          <a:prstGeom prst="rect">
            <a:avLst/>
          </a:prstGeom>
        </p:spPr>
        <p:txBody>
          <a:bodyPr wrap="square" lIns="0" tIns="0" rIns="0" bIns="0" rtlCol="0" anchor="t">
            <a:spAutoFit/>
          </a:bodyPr>
          <a:lstStyle/>
          <a:p>
            <a:pPr marL="800100" lvl="1" indent="-342900">
              <a:lnSpc>
                <a:spcPts val="3422"/>
              </a:lnSpc>
              <a:buFont typeface="Arial" panose="020B0604020202020204" pitchFamily="34" charset="0"/>
              <a:buChar char="•"/>
            </a:pPr>
            <a:r>
              <a:rPr lang="en-AU" sz="2479" spc="-49" dirty="0">
                <a:solidFill>
                  <a:srgbClr val="FFFFFF"/>
                </a:solidFill>
                <a:latin typeface="DM Sans"/>
              </a:rPr>
              <a:t>Some common tools:</a:t>
            </a:r>
          </a:p>
          <a:p>
            <a:pPr marL="1257300" lvl="2" indent="-342900">
              <a:lnSpc>
                <a:spcPts val="3422"/>
              </a:lnSpc>
              <a:buFont typeface="Arial" panose="020B0604020202020204" pitchFamily="34" charset="0"/>
              <a:buChar char="•"/>
            </a:pPr>
            <a:r>
              <a:rPr lang="en-AU" sz="2479" spc="-49" dirty="0">
                <a:solidFill>
                  <a:srgbClr val="FFFFFF"/>
                </a:solidFill>
                <a:latin typeface="DM Sans"/>
              </a:rPr>
              <a:t>Request/API library</a:t>
            </a:r>
          </a:p>
          <a:p>
            <a:pPr marL="1257300" lvl="2" indent="-342900">
              <a:lnSpc>
                <a:spcPts val="3422"/>
              </a:lnSpc>
              <a:buFont typeface="Arial" panose="020B0604020202020204" pitchFamily="34" charset="0"/>
              <a:buChar char="•"/>
            </a:pPr>
            <a:r>
              <a:rPr lang="en-AU" sz="2479" spc="-49" dirty="0">
                <a:solidFill>
                  <a:srgbClr val="FFFFFF"/>
                </a:solidFill>
                <a:latin typeface="DM Sans"/>
              </a:rPr>
              <a:t>Search tools </a:t>
            </a:r>
          </a:p>
          <a:p>
            <a:pPr marL="1257300" lvl="2" indent="-342900">
              <a:lnSpc>
                <a:spcPts val="3422"/>
              </a:lnSpc>
              <a:buFont typeface="Arial" panose="020B0604020202020204" pitchFamily="34" charset="0"/>
              <a:buChar char="•"/>
            </a:pPr>
            <a:r>
              <a:rPr lang="en-AU" altLang="en-US" sz="2479" spc="-49" dirty="0">
                <a:solidFill>
                  <a:srgbClr val="FFFFFF"/>
                </a:solidFill>
                <a:latin typeface="DM Sans"/>
              </a:rPr>
              <a:t>RAG and vector retrieval</a:t>
            </a:r>
          </a:p>
          <a:p>
            <a:pPr marL="1257300" lvl="2" indent="-342900">
              <a:lnSpc>
                <a:spcPts val="3422"/>
              </a:lnSpc>
              <a:buFont typeface="Arial" panose="020B0604020202020204" pitchFamily="34" charset="0"/>
              <a:buChar char="•"/>
            </a:pPr>
            <a:r>
              <a:rPr lang="en-AU" altLang="en-US" sz="2479" spc="-49" dirty="0">
                <a:solidFill>
                  <a:srgbClr val="FFFFFF"/>
                </a:solidFill>
                <a:latin typeface="DM Sans"/>
              </a:rPr>
              <a:t>Tokenizers</a:t>
            </a:r>
          </a:p>
          <a:p>
            <a:pPr marL="1257300" lvl="2" indent="-342900">
              <a:lnSpc>
                <a:spcPts val="3422"/>
              </a:lnSpc>
              <a:buFont typeface="Arial" panose="020B0604020202020204" pitchFamily="34" charset="0"/>
              <a:buChar char="•"/>
            </a:pPr>
            <a:r>
              <a:rPr lang="en-AU" altLang="en-US" sz="2479" spc="-49" dirty="0">
                <a:solidFill>
                  <a:srgbClr val="FFFFFF"/>
                </a:solidFill>
                <a:latin typeface="DM Sans"/>
              </a:rPr>
              <a:t>Sentence transformers:</a:t>
            </a:r>
          </a:p>
          <a:p>
            <a:pPr marL="1714500" lvl="3" indent="-342900">
              <a:lnSpc>
                <a:spcPts val="3422"/>
              </a:lnSpc>
              <a:buFont typeface="Arial" panose="020B0604020202020204" pitchFamily="34" charset="0"/>
              <a:buChar char="•"/>
            </a:pPr>
            <a:r>
              <a:rPr lang="en-AU" altLang="en-US" sz="2479" spc="-49" dirty="0">
                <a:solidFill>
                  <a:srgbClr val="FFFFFF"/>
                </a:solidFill>
                <a:latin typeface="DM Sans"/>
              </a:rPr>
              <a:t>Embedding</a:t>
            </a:r>
          </a:p>
          <a:p>
            <a:pPr marL="1714500" lvl="3" indent="-342900">
              <a:lnSpc>
                <a:spcPts val="3422"/>
              </a:lnSpc>
              <a:buFont typeface="Arial" panose="020B0604020202020204" pitchFamily="34" charset="0"/>
              <a:buChar char="•"/>
            </a:pPr>
            <a:r>
              <a:rPr lang="en-AU" altLang="en-US" sz="2479" spc="-49" dirty="0">
                <a:solidFill>
                  <a:srgbClr val="FFFFFF"/>
                </a:solidFill>
                <a:latin typeface="DM Sans"/>
              </a:rPr>
              <a:t>Retrieval </a:t>
            </a:r>
          </a:p>
          <a:p>
            <a:pPr marL="1714500" lvl="3" indent="-342900">
              <a:lnSpc>
                <a:spcPts val="3422"/>
              </a:lnSpc>
              <a:buFont typeface="Arial" panose="020B0604020202020204" pitchFamily="34" charset="0"/>
              <a:buChar char="•"/>
            </a:pPr>
            <a:r>
              <a:rPr lang="en-AU" altLang="en-US" sz="2479" spc="-49" dirty="0">
                <a:solidFill>
                  <a:srgbClr val="FFFFFF"/>
                </a:solidFill>
                <a:latin typeface="DM Sans"/>
              </a:rPr>
              <a:t>Reranking </a:t>
            </a:r>
          </a:p>
          <a:p>
            <a:pPr marL="1257300" lvl="2" indent="-342900">
              <a:lnSpc>
                <a:spcPts val="3422"/>
              </a:lnSpc>
              <a:buFont typeface="Arial" panose="020B0604020202020204" pitchFamily="34" charset="0"/>
              <a:buChar char="•"/>
            </a:pPr>
            <a:r>
              <a:rPr lang="en-AU" altLang="en-US" sz="2479" spc="-49" dirty="0">
                <a:solidFill>
                  <a:srgbClr val="FFFFFF"/>
                </a:solidFill>
                <a:latin typeface="DM Sans"/>
              </a:rPr>
              <a:t>Vision tools</a:t>
            </a:r>
          </a:p>
          <a:p>
            <a:pPr marL="1714500" lvl="3" indent="-342900">
              <a:lnSpc>
                <a:spcPts val="3422"/>
              </a:lnSpc>
              <a:buFont typeface="Arial" panose="020B0604020202020204" pitchFamily="34" charset="0"/>
              <a:buChar char="•"/>
            </a:pPr>
            <a:r>
              <a:rPr lang="en-AU" altLang="en-US" sz="2479" spc="-49" dirty="0" err="1">
                <a:solidFill>
                  <a:srgbClr val="FFFFFF"/>
                </a:solidFill>
                <a:latin typeface="DM Sans"/>
              </a:rPr>
              <a:t>Grobid</a:t>
            </a:r>
            <a:endParaRPr lang="en-AU" altLang="en-US" sz="2479" spc="-49" dirty="0">
              <a:solidFill>
                <a:srgbClr val="FFFFFF"/>
              </a:solidFill>
              <a:latin typeface="DM Sans"/>
            </a:endParaRPr>
          </a:p>
          <a:p>
            <a:pPr marL="1714500" lvl="3" indent="-342900">
              <a:lnSpc>
                <a:spcPts val="3422"/>
              </a:lnSpc>
              <a:buFont typeface="Arial" panose="020B0604020202020204" pitchFamily="34" charset="0"/>
              <a:buChar char="•"/>
            </a:pPr>
            <a:r>
              <a:rPr lang="en-AU" altLang="en-US" sz="2479" spc="-49" dirty="0" err="1">
                <a:solidFill>
                  <a:srgbClr val="FFFFFF"/>
                </a:solidFill>
                <a:latin typeface="DM Sans"/>
              </a:rPr>
              <a:t>Doclib</a:t>
            </a:r>
            <a:r>
              <a:rPr lang="en-AU" altLang="en-US" sz="2479" spc="-49" dirty="0">
                <a:solidFill>
                  <a:srgbClr val="FFFFFF"/>
                </a:solidFill>
                <a:latin typeface="DM Sans"/>
              </a:rPr>
              <a:t> </a:t>
            </a:r>
          </a:p>
          <a:p>
            <a:pPr marL="1714500" lvl="3" indent="-342900">
              <a:lnSpc>
                <a:spcPts val="3422"/>
              </a:lnSpc>
              <a:buFont typeface="Arial" panose="020B0604020202020204" pitchFamily="34" charset="0"/>
              <a:buChar char="•"/>
            </a:pPr>
            <a:r>
              <a:rPr lang="en-AU" altLang="en-US" sz="2479" spc="-49" dirty="0">
                <a:solidFill>
                  <a:srgbClr val="FFFFFF"/>
                </a:solidFill>
                <a:latin typeface="DM Sans"/>
              </a:rPr>
              <a:t>OCR</a:t>
            </a:r>
          </a:p>
          <a:p>
            <a:pPr marL="1714500" lvl="3" indent="-342900">
              <a:lnSpc>
                <a:spcPts val="3422"/>
              </a:lnSpc>
              <a:buFont typeface="Arial" panose="020B0604020202020204" pitchFamily="34" charset="0"/>
              <a:buChar char="•"/>
            </a:pPr>
            <a:r>
              <a:rPr lang="en-AU" altLang="en-US" sz="2479" spc="-49" dirty="0">
                <a:solidFill>
                  <a:srgbClr val="FFFFFF"/>
                </a:solidFill>
                <a:latin typeface="DM Sans"/>
              </a:rPr>
              <a:t>Much more</a:t>
            </a:r>
          </a:p>
          <a:p>
            <a:pPr marL="1714500" lvl="3" indent="-342900">
              <a:lnSpc>
                <a:spcPts val="3422"/>
              </a:lnSpc>
              <a:buFont typeface="Arial" panose="020B0604020202020204" pitchFamily="34" charset="0"/>
              <a:buChar char="•"/>
            </a:pPr>
            <a:endParaRPr lang="en-AU" altLang="en-US" sz="2479" spc="-49" dirty="0">
              <a:solidFill>
                <a:srgbClr val="FFFFFF"/>
              </a:solidFill>
              <a:latin typeface="DM Sans"/>
            </a:endParaRPr>
          </a:p>
          <a:p>
            <a:pPr marL="1714500" lvl="3" indent="-342900">
              <a:lnSpc>
                <a:spcPts val="3422"/>
              </a:lnSpc>
              <a:buFont typeface="Arial" panose="020B0604020202020204" pitchFamily="34" charset="0"/>
              <a:buChar char="•"/>
            </a:pPr>
            <a:endParaRPr lang="en-AU" altLang="en-US" sz="2479" spc="-49" dirty="0">
              <a:solidFill>
                <a:srgbClr val="FFFFFF"/>
              </a:solidFill>
              <a:latin typeface="DM Sans"/>
            </a:endParaRPr>
          </a:p>
          <a:p>
            <a:pPr marL="1257300" lvl="2" indent="-342900">
              <a:lnSpc>
                <a:spcPts val="3422"/>
              </a:lnSpc>
              <a:buFont typeface="Arial" panose="020B0604020202020204" pitchFamily="34" charset="0"/>
              <a:buChar char="•"/>
            </a:pPr>
            <a:endParaRPr lang="en-AU" altLang="en-US" sz="2479" spc="-49" dirty="0">
              <a:solidFill>
                <a:srgbClr val="FFFFFF"/>
              </a:solidFill>
              <a:latin typeface="DM Sans"/>
            </a:endParaRPr>
          </a:p>
          <a:p>
            <a:pPr marL="1257300" lvl="2" indent="-342900">
              <a:lnSpc>
                <a:spcPts val="3422"/>
              </a:lnSpc>
              <a:buFont typeface="Arial" panose="020B0604020202020204" pitchFamily="34" charset="0"/>
              <a:buChar char="•"/>
            </a:pPr>
            <a:endParaRPr lang="en-AU" altLang="en-US" sz="2479" spc="-49" dirty="0">
              <a:solidFill>
                <a:srgbClr val="FFFFFF"/>
              </a:solidFill>
              <a:latin typeface="DM Sans"/>
            </a:endParaRPr>
          </a:p>
          <a:p>
            <a:pPr marL="1257300" lvl="2" indent="-342900">
              <a:lnSpc>
                <a:spcPts val="3422"/>
              </a:lnSpc>
              <a:buFont typeface="Arial" panose="020B0604020202020204" pitchFamily="34" charset="0"/>
              <a:buChar char="•"/>
            </a:pPr>
            <a:endParaRPr lang="en-AU" alt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AU" alt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AU" altLang="en-US" sz="2479" spc="-49" dirty="0">
              <a:solidFill>
                <a:srgbClr val="FFFFFF"/>
              </a:solidFill>
              <a:latin typeface="DM Sans"/>
            </a:endParaRPr>
          </a:p>
          <a:p>
            <a:pPr marL="1257300" lvl="2" indent="-342900">
              <a:lnSpc>
                <a:spcPts val="3422"/>
              </a:lnSpc>
              <a:buFont typeface="Arial" panose="020B0604020202020204" pitchFamily="34" charset="0"/>
              <a:buChar char="•"/>
            </a:pPr>
            <a:endParaRPr lang="en-US" altLang="en-US" sz="2479" spc="-49" dirty="0">
              <a:solidFill>
                <a:srgbClr val="FFFFFF"/>
              </a:solidFill>
              <a:latin typeface="DM Sans"/>
            </a:endParaRPr>
          </a:p>
          <a:p>
            <a:pPr marL="1257300" lvl="2"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a:lnSpc>
                <a:spcPts val="3284"/>
              </a:lnSpc>
            </a:pPr>
            <a:endParaRPr lang="en-US" sz="2479" spc="-49" dirty="0">
              <a:solidFill>
                <a:srgbClr val="FFFFFF"/>
              </a:solidFill>
              <a:latin typeface="DM Sans"/>
            </a:endParaRPr>
          </a:p>
        </p:txBody>
      </p:sp>
    </p:spTree>
    <p:extLst>
      <p:ext uri="{BB962C8B-B14F-4D97-AF65-F5344CB8AC3E}">
        <p14:creationId xmlns:p14="http://schemas.microsoft.com/office/powerpoint/2010/main" val="385605336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ACFDF17E-6402-C697-7F8B-2FEE1F653DEF}"/>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A07CC3FF-8076-E899-98E5-39DFF9D937BF}"/>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89584BC0-9585-7CE9-1A04-20F32720BAF2}"/>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216C4FBA-A9CD-4EA2-77DC-797348E5EB14}"/>
              </a:ext>
            </a:extLst>
          </p:cNvPr>
          <p:cNvSpPr txBox="1"/>
          <p:nvPr/>
        </p:nvSpPr>
        <p:spPr>
          <a:xfrm>
            <a:off x="1559180" y="2129797"/>
            <a:ext cx="14497588" cy="1663917"/>
          </a:xfrm>
          <a:prstGeom prst="rect">
            <a:avLst/>
          </a:prstGeom>
        </p:spPr>
        <p:txBody>
          <a:bodyPr wrap="square" lIns="0" tIns="0" rIns="0" bIns="0" rtlCol="0" anchor="t">
            <a:spAutoFit/>
          </a:bodyPr>
          <a:lstStyle/>
          <a:p>
            <a:pPr>
              <a:spcBef>
                <a:spcPct val="0"/>
              </a:spcBef>
              <a:defRPr/>
            </a:pPr>
            <a:r>
              <a:rPr lang="en-AU" sz="4800" dirty="0">
                <a:solidFill>
                  <a:srgbClr val="0CC0DF"/>
                </a:solidFill>
                <a:latin typeface="Now Bold"/>
              </a:rPr>
              <a:t>TOOLS AND TOOL CALLING: API LIBRARY  </a:t>
            </a:r>
            <a:endParaRPr lang="en-US" sz="4800" dirty="0">
              <a:solidFill>
                <a:srgbClr val="0CC0DF"/>
              </a:solidFill>
              <a:latin typeface="Now Bold"/>
            </a:endParaRPr>
          </a:p>
          <a:p>
            <a:pPr marL="0" lvl="0" indent="0">
              <a:lnSpc>
                <a:spcPts val="7711"/>
              </a:lnSpc>
              <a:spcBef>
                <a:spcPct val="0"/>
              </a:spcBef>
            </a:pPr>
            <a:endParaRPr lang="en-US" sz="4800" dirty="0">
              <a:solidFill>
                <a:srgbClr val="0CC0DF"/>
              </a:solidFill>
              <a:latin typeface="Now Bold"/>
            </a:endParaRPr>
          </a:p>
        </p:txBody>
      </p:sp>
      <p:sp>
        <p:nvSpPr>
          <p:cNvPr id="4" name="TextBox 10">
            <a:extLst>
              <a:ext uri="{FF2B5EF4-FFF2-40B4-BE49-F238E27FC236}">
                <a16:creationId xmlns:a16="http://schemas.microsoft.com/office/drawing/2014/main" id="{66D21945-7AE7-925B-BC1E-89FC2EB176E0}"/>
              </a:ext>
            </a:extLst>
          </p:cNvPr>
          <p:cNvSpPr txBox="1"/>
          <p:nvPr/>
        </p:nvSpPr>
        <p:spPr>
          <a:xfrm>
            <a:off x="1559180" y="3646968"/>
            <a:ext cx="16513812" cy="9128525"/>
          </a:xfrm>
          <a:prstGeom prst="rect">
            <a:avLst/>
          </a:prstGeom>
        </p:spPr>
        <p:txBody>
          <a:bodyPr wrap="square" lIns="0" tIns="0" rIns="0" bIns="0" rtlCol="0" anchor="t">
            <a:spAutoFit/>
          </a:bodyPr>
          <a:lstStyle/>
          <a:p>
            <a:pPr marL="800100" lvl="1" indent="-342900">
              <a:lnSpc>
                <a:spcPts val="3422"/>
              </a:lnSpc>
              <a:buFont typeface="Arial" panose="020B0604020202020204" pitchFamily="34" charset="0"/>
              <a:buChar char="•"/>
            </a:pPr>
            <a:r>
              <a:rPr lang="en-AU" sz="2479" spc="-49" dirty="0">
                <a:solidFill>
                  <a:srgbClr val="FFFFFF"/>
                </a:solidFill>
                <a:latin typeface="DM Sans"/>
              </a:rPr>
              <a:t>Let’s your code communicate with models and external services. In Python, this often starts with simple HTTP libraries such as requests, or SDKs provided by model vendors and service providers. In the OpenAI stack, the Responses API is the unified interface for building agent-like applications, including tool use, multi-turn interactions, and built-in tools.</a:t>
            </a:r>
          </a:p>
          <a:p>
            <a:pPr marL="800100" lvl="1" indent="-342900">
              <a:lnSpc>
                <a:spcPts val="3422"/>
              </a:lnSpc>
              <a:buFont typeface="Arial" panose="020B0604020202020204" pitchFamily="34" charset="0"/>
              <a:buChar char="•"/>
            </a:pPr>
            <a:endParaRPr lang="en-AU" alt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AU" alt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AU" alt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AU" alt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AU" alt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AU" alt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AU" alt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AU" altLang="en-US" sz="2479" spc="-49" dirty="0">
              <a:solidFill>
                <a:srgbClr val="FFFFFF"/>
              </a:solidFill>
              <a:latin typeface="DM Sans"/>
            </a:endParaRPr>
          </a:p>
          <a:p>
            <a:pPr marL="800100" lvl="1" indent="-342900">
              <a:lnSpc>
                <a:spcPts val="3422"/>
              </a:lnSpc>
              <a:buFont typeface="Arial" panose="020B0604020202020204" pitchFamily="34" charset="0"/>
              <a:buChar char="•"/>
            </a:pPr>
            <a:r>
              <a:rPr lang="en-AU" altLang="en-US" sz="2479" spc="-49" dirty="0">
                <a:solidFill>
                  <a:srgbClr val="FFFFFF"/>
                </a:solidFill>
                <a:latin typeface="DM Sans"/>
              </a:rPr>
              <a:t>SDK: software development kit </a:t>
            </a:r>
          </a:p>
          <a:p>
            <a:pPr marL="800100" lvl="1" indent="-342900">
              <a:lnSpc>
                <a:spcPts val="3422"/>
              </a:lnSpc>
              <a:buFont typeface="Arial" panose="020B0604020202020204" pitchFamily="34" charset="0"/>
              <a:buChar char="•"/>
            </a:pPr>
            <a:endParaRPr lang="en-AU" alt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AU" alt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AU" alt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AU" altLang="en-US" sz="2479" spc="-49" dirty="0">
              <a:solidFill>
                <a:srgbClr val="FFFFFF"/>
              </a:solidFill>
              <a:latin typeface="DM Sans"/>
            </a:endParaRPr>
          </a:p>
          <a:p>
            <a:pPr marL="1257300" lvl="2" indent="-342900">
              <a:lnSpc>
                <a:spcPts val="3422"/>
              </a:lnSpc>
              <a:buFont typeface="Arial" panose="020B0604020202020204" pitchFamily="34" charset="0"/>
              <a:buChar char="•"/>
            </a:pPr>
            <a:endParaRPr lang="en-US" altLang="en-US" sz="2479" spc="-49" dirty="0">
              <a:solidFill>
                <a:srgbClr val="FFFFFF"/>
              </a:solidFill>
              <a:latin typeface="DM Sans"/>
            </a:endParaRPr>
          </a:p>
          <a:p>
            <a:pPr marL="1257300" lvl="2"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a:lnSpc>
                <a:spcPts val="3284"/>
              </a:lnSpc>
            </a:pPr>
            <a:endParaRPr lang="en-US" sz="2479" spc="-49" dirty="0">
              <a:solidFill>
                <a:srgbClr val="FFFFFF"/>
              </a:solidFill>
              <a:latin typeface="DM Sans"/>
            </a:endParaRPr>
          </a:p>
        </p:txBody>
      </p:sp>
      <p:pic>
        <p:nvPicPr>
          <p:cNvPr id="7" name="Picture 6">
            <a:extLst>
              <a:ext uri="{FF2B5EF4-FFF2-40B4-BE49-F238E27FC236}">
                <a16:creationId xmlns:a16="http://schemas.microsoft.com/office/drawing/2014/main" id="{C900CA19-51B0-A0B7-903E-58A484785ED8}"/>
              </a:ext>
            </a:extLst>
          </p:cNvPr>
          <p:cNvPicPr>
            <a:picLocks noChangeAspect="1"/>
          </p:cNvPicPr>
          <p:nvPr/>
        </p:nvPicPr>
        <p:blipFill>
          <a:blip r:embed="rId4"/>
          <a:stretch>
            <a:fillRect/>
          </a:stretch>
        </p:blipFill>
        <p:spPr>
          <a:xfrm>
            <a:off x="1561884" y="4783460"/>
            <a:ext cx="15835942" cy="4507286"/>
          </a:xfrm>
          <a:prstGeom prst="rect">
            <a:avLst/>
          </a:prstGeom>
        </p:spPr>
      </p:pic>
    </p:spTree>
    <p:extLst>
      <p:ext uri="{BB962C8B-B14F-4D97-AF65-F5344CB8AC3E}">
        <p14:creationId xmlns:p14="http://schemas.microsoft.com/office/powerpoint/2010/main" val="286088354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DE9CE5B9-6319-694A-F63A-D07A003EC7A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2D059C2B-4335-8571-13CD-842CFA0EAE90}"/>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CB959101-DD51-A50D-4BD5-8C41326D64E7}"/>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F6A2CD4D-F23E-7CEF-F59E-6444A981164D}"/>
              </a:ext>
            </a:extLst>
          </p:cNvPr>
          <p:cNvSpPr txBox="1"/>
          <p:nvPr/>
        </p:nvSpPr>
        <p:spPr>
          <a:xfrm>
            <a:off x="1007096" y="1843516"/>
            <a:ext cx="18025980" cy="2402581"/>
          </a:xfrm>
          <a:prstGeom prst="rect">
            <a:avLst/>
          </a:prstGeom>
        </p:spPr>
        <p:txBody>
          <a:bodyPr wrap="square" lIns="0" tIns="0" rIns="0" bIns="0" rtlCol="0" anchor="t">
            <a:spAutoFit/>
          </a:bodyPr>
          <a:lstStyle/>
          <a:p>
            <a:pPr>
              <a:spcBef>
                <a:spcPct val="0"/>
              </a:spcBef>
              <a:defRPr/>
            </a:pPr>
            <a:r>
              <a:rPr lang="en-AU" sz="4800" dirty="0">
                <a:solidFill>
                  <a:srgbClr val="0CC0DF"/>
                </a:solidFill>
                <a:latin typeface="Now Bold"/>
              </a:rPr>
              <a:t>TOOLS AND TOOL CALLING: Search Engines and Search Services</a:t>
            </a:r>
            <a:endParaRPr lang="en-US" sz="4800" dirty="0">
              <a:solidFill>
                <a:srgbClr val="0CC0DF"/>
              </a:solidFill>
              <a:latin typeface="Now Bold"/>
            </a:endParaRPr>
          </a:p>
          <a:p>
            <a:pPr marL="0" lvl="0" indent="0">
              <a:lnSpc>
                <a:spcPts val="7711"/>
              </a:lnSpc>
              <a:spcBef>
                <a:spcPct val="0"/>
              </a:spcBef>
            </a:pPr>
            <a:endParaRPr lang="en-US" sz="4800" dirty="0">
              <a:solidFill>
                <a:srgbClr val="0CC0DF"/>
              </a:solidFill>
              <a:latin typeface="Now Bold"/>
            </a:endParaRPr>
          </a:p>
        </p:txBody>
      </p:sp>
      <p:sp>
        <p:nvSpPr>
          <p:cNvPr id="4" name="TextBox 10">
            <a:extLst>
              <a:ext uri="{FF2B5EF4-FFF2-40B4-BE49-F238E27FC236}">
                <a16:creationId xmlns:a16="http://schemas.microsoft.com/office/drawing/2014/main" id="{798DC908-28FD-1B33-CD55-5857E4144CAC}"/>
              </a:ext>
            </a:extLst>
          </p:cNvPr>
          <p:cNvSpPr txBox="1"/>
          <p:nvPr/>
        </p:nvSpPr>
        <p:spPr>
          <a:xfrm>
            <a:off x="1007096" y="3673166"/>
            <a:ext cx="16513812" cy="4305666"/>
          </a:xfrm>
          <a:prstGeom prst="rect">
            <a:avLst/>
          </a:prstGeom>
        </p:spPr>
        <p:txBody>
          <a:bodyPr wrap="square" lIns="0" tIns="0" rIns="0" bIns="0" rtlCol="0" anchor="t">
            <a:spAutoFit/>
          </a:bodyPr>
          <a:lstStyle/>
          <a:p>
            <a:pPr marL="800100" lvl="1" indent="-342900">
              <a:lnSpc>
                <a:spcPts val="3422"/>
              </a:lnSpc>
              <a:buFont typeface="Arial" panose="020B0604020202020204" pitchFamily="34" charset="0"/>
              <a:buChar char="•"/>
            </a:pPr>
            <a:r>
              <a:rPr lang="en-AU" sz="2479" spc="-49" dirty="0">
                <a:solidFill>
                  <a:srgbClr val="FFFFFF"/>
                </a:solidFill>
                <a:latin typeface="DM Sans"/>
              </a:rPr>
              <a:t>Search tools give agents access to current information</a:t>
            </a:r>
            <a:r>
              <a:rPr lang="en-AU" sz="2479" b="1" u="sng" spc="-49" dirty="0">
                <a:solidFill>
                  <a:srgbClr val="FFFFFF"/>
                </a:solidFill>
                <a:latin typeface="DM Sans"/>
              </a:rPr>
              <a:t> </a:t>
            </a:r>
          </a:p>
          <a:p>
            <a:pPr marL="800100" lvl="1" indent="-342900">
              <a:lnSpc>
                <a:spcPts val="3422"/>
              </a:lnSpc>
              <a:buFont typeface="Arial" panose="020B0604020202020204" pitchFamily="34" charset="0"/>
              <a:buChar char="•"/>
            </a:pPr>
            <a:endParaRPr lang="en-AU" sz="2479" b="1" u="sng" spc="-49" dirty="0">
              <a:solidFill>
                <a:srgbClr val="FFFFFF"/>
              </a:solidFill>
              <a:latin typeface="DM Sans"/>
            </a:endParaRPr>
          </a:p>
          <a:p>
            <a:pPr marL="1257300" lvl="2" indent="-342900">
              <a:buFont typeface="Arial" panose="020B0604020202020204" pitchFamily="34" charset="0"/>
              <a:buChar char="•"/>
            </a:pPr>
            <a:r>
              <a:rPr lang="en-AU" sz="2479" spc="-49" dirty="0">
                <a:solidFill>
                  <a:srgbClr val="FFFFFF"/>
                </a:solidFill>
                <a:latin typeface="DM Sans"/>
              </a:rPr>
              <a:t>DuckDuckGo: lightweight search, manual querying, privacy-oriented use</a:t>
            </a:r>
          </a:p>
          <a:p>
            <a:pPr marL="1257300" lvl="2" indent="-342900">
              <a:buFont typeface="Arial" panose="020B0604020202020204" pitchFamily="34" charset="0"/>
              <a:buChar char="•"/>
            </a:pPr>
            <a:endParaRPr lang="en-AU" sz="2479" spc="-49" dirty="0">
              <a:solidFill>
                <a:srgbClr val="FFFFFF"/>
              </a:solidFill>
              <a:latin typeface="DM Sans"/>
            </a:endParaRPr>
          </a:p>
          <a:p>
            <a:pPr marL="1257300" lvl="2" indent="-342900">
              <a:buFont typeface="Arial" panose="020B0604020202020204" pitchFamily="34" charset="0"/>
              <a:buChar char="•"/>
            </a:pPr>
            <a:r>
              <a:rPr lang="en-AU" sz="2479" spc="-49" dirty="0" err="1">
                <a:solidFill>
                  <a:srgbClr val="FFFFFF"/>
                </a:solidFill>
                <a:latin typeface="DM Sans"/>
              </a:rPr>
              <a:t>Tavily</a:t>
            </a:r>
            <a:r>
              <a:rPr lang="en-AU" sz="2479" spc="-49" dirty="0">
                <a:solidFill>
                  <a:srgbClr val="FFFFFF"/>
                </a:solidFill>
                <a:latin typeface="DM Sans"/>
              </a:rPr>
              <a:t>: agent-oriented web search and extraction</a:t>
            </a:r>
          </a:p>
          <a:p>
            <a:pPr marL="1257300" lvl="2" indent="-342900">
              <a:buFont typeface="Arial" panose="020B0604020202020204" pitchFamily="34" charset="0"/>
              <a:buChar char="•"/>
            </a:pPr>
            <a:endParaRPr lang="en-AU" sz="2479" spc="-49" dirty="0">
              <a:solidFill>
                <a:srgbClr val="FFFFFF"/>
              </a:solidFill>
              <a:latin typeface="DM Sans"/>
            </a:endParaRPr>
          </a:p>
          <a:p>
            <a:pPr marL="1257300" lvl="2" indent="-342900">
              <a:buFont typeface="Arial" panose="020B0604020202020204" pitchFamily="34" charset="0"/>
              <a:buChar char="•"/>
            </a:pPr>
            <a:r>
              <a:rPr lang="en-AU" sz="2479" spc="-49" dirty="0" err="1">
                <a:solidFill>
                  <a:srgbClr val="FFFFFF"/>
                </a:solidFill>
                <a:latin typeface="DM Sans"/>
              </a:rPr>
              <a:t>SerpApi</a:t>
            </a:r>
            <a:r>
              <a:rPr lang="en-AU" sz="2479" spc="-49" dirty="0">
                <a:solidFill>
                  <a:srgbClr val="FFFFFF"/>
                </a:solidFill>
                <a:latin typeface="DM Sans"/>
              </a:rPr>
              <a:t>: structured SERP access from major engines</a:t>
            </a:r>
          </a:p>
          <a:p>
            <a:pPr marL="1257300" lvl="2" indent="-342900">
              <a:buFont typeface="Arial" panose="020B0604020202020204" pitchFamily="34" charset="0"/>
              <a:buChar char="•"/>
            </a:pPr>
            <a:endParaRPr lang="en-AU" sz="2479" spc="-49" dirty="0">
              <a:solidFill>
                <a:srgbClr val="FFFFFF"/>
              </a:solidFill>
              <a:latin typeface="DM Sans"/>
            </a:endParaRPr>
          </a:p>
          <a:p>
            <a:pPr marL="1257300" lvl="2" indent="-342900">
              <a:buFont typeface="Arial" panose="020B0604020202020204" pitchFamily="34" charset="0"/>
              <a:buChar char="•"/>
            </a:pPr>
            <a:r>
              <a:rPr lang="en-AU" sz="2479" spc="-49" dirty="0">
                <a:solidFill>
                  <a:srgbClr val="FFFFFF"/>
                </a:solidFill>
                <a:latin typeface="DM Sans"/>
              </a:rPr>
              <a:t>Google, Anthropic and OpenAI built-in search tools </a:t>
            </a:r>
          </a:p>
          <a:p>
            <a:pPr marL="1257300" lvl="2" indent="-342900">
              <a:buFont typeface="Arial" panose="020B0604020202020204" pitchFamily="34" charset="0"/>
              <a:buChar char="•"/>
            </a:pPr>
            <a:endParaRPr lang="en-AU" sz="2479" spc="-49" dirty="0">
              <a:solidFill>
                <a:srgbClr val="FFFFFF"/>
              </a:solidFill>
              <a:latin typeface="DM Sans"/>
            </a:endParaRPr>
          </a:p>
          <a:p>
            <a:pPr marL="1257300" lvl="2" indent="-342900">
              <a:buFont typeface="Arial" panose="020B0604020202020204" pitchFamily="34" charset="0"/>
              <a:buChar char="•"/>
            </a:pPr>
            <a:r>
              <a:rPr lang="en-AU" sz="2479" spc="-49" dirty="0">
                <a:solidFill>
                  <a:srgbClr val="FFFFFF"/>
                </a:solidFill>
                <a:latin typeface="DM Sans"/>
              </a:rPr>
              <a:t>Many other services </a:t>
            </a:r>
          </a:p>
        </p:txBody>
      </p:sp>
    </p:spTree>
    <p:extLst>
      <p:ext uri="{BB962C8B-B14F-4D97-AF65-F5344CB8AC3E}">
        <p14:creationId xmlns:p14="http://schemas.microsoft.com/office/powerpoint/2010/main" val="373751724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E376AE31-7FCD-2A28-74AA-41655C6C1660}"/>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5BC052E2-0C3F-5062-4B07-E531489D9F76}"/>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CD726D3B-C6A0-8E75-9BA9-7992ED3708C4}"/>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FAFFDC9C-0203-863C-03BD-0AB05C529B5D}"/>
              </a:ext>
            </a:extLst>
          </p:cNvPr>
          <p:cNvSpPr txBox="1"/>
          <p:nvPr/>
        </p:nvSpPr>
        <p:spPr>
          <a:xfrm>
            <a:off x="1007096" y="1843516"/>
            <a:ext cx="18025980" cy="1477328"/>
          </a:xfrm>
          <a:prstGeom prst="rect">
            <a:avLst/>
          </a:prstGeom>
        </p:spPr>
        <p:txBody>
          <a:bodyPr wrap="square" lIns="0" tIns="0" rIns="0" bIns="0" rtlCol="0" anchor="t">
            <a:spAutoFit/>
          </a:bodyPr>
          <a:lstStyle/>
          <a:p>
            <a:pPr>
              <a:spcBef>
                <a:spcPct val="0"/>
              </a:spcBef>
              <a:defRPr/>
            </a:pPr>
            <a:r>
              <a:rPr lang="en-AU" sz="4800" dirty="0">
                <a:solidFill>
                  <a:srgbClr val="0CC0DF"/>
                </a:solidFill>
                <a:latin typeface="Now Bold"/>
              </a:rPr>
              <a:t>TOOLS AND TOOL CALLING: Retrieval-Augmented Generation</a:t>
            </a:r>
            <a:endParaRPr lang="en-US" sz="4800" dirty="0">
              <a:solidFill>
                <a:srgbClr val="0CC0DF"/>
              </a:solidFill>
              <a:latin typeface="Now Bold"/>
            </a:endParaRPr>
          </a:p>
        </p:txBody>
      </p:sp>
      <p:sp>
        <p:nvSpPr>
          <p:cNvPr id="4" name="TextBox 10">
            <a:extLst>
              <a:ext uri="{FF2B5EF4-FFF2-40B4-BE49-F238E27FC236}">
                <a16:creationId xmlns:a16="http://schemas.microsoft.com/office/drawing/2014/main" id="{E8A18E1F-8F21-B3F5-5EDB-CC1EC7B114A9}"/>
              </a:ext>
            </a:extLst>
          </p:cNvPr>
          <p:cNvSpPr txBox="1"/>
          <p:nvPr/>
        </p:nvSpPr>
        <p:spPr>
          <a:xfrm>
            <a:off x="887094" y="3588456"/>
            <a:ext cx="16513812" cy="6958059"/>
          </a:xfrm>
          <a:prstGeom prst="rect">
            <a:avLst/>
          </a:prstGeom>
        </p:spPr>
        <p:txBody>
          <a:bodyPr wrap="square" lIns="0" tIns="0" rIns="0" bIns="0" rtlCol="0" anchor="t">
            <a:spAutoFit/>
          </a:bodyPr>
          <a:lstStyle/>
          <a:p>
            <a:pPr marL="800100" lvl="1" indent="-342900">
              <a:lnSpc>
                <a:spcPts val="3422"/>
              </a:lnSpc>
              <a:buFont typeface="Arial" panose="020B0604020202020204" pitchFamily="34" charset="0"/>
              <a:buChar char="•"/>
            </a:pPr>
            <a:r>
              <a:rPr lang="en-AU" sz="2479" spc="-49" dirty="0">
                <a:solidFill>
                  <a:srgbClr val="FFFFFF"/>
                </a:solidFill>
                <a:latin typeface="DM Sans"/>
              </a:rPr>
              <a:t>The issue</a:t>
            </a:r>
          </a:p>
          <a:p>
            <a:pPr marL="1257300" lvl="2" indent="-342900">
              <a:lnSpc>
                <a:spcPts val="3422"/>
              </a:lnSpc>
              <a:buFont typeface="Arial" panose="020B0604020202020204" pitchFamily="34" charset="0"/>
              <a:buChar char="•"/>
            </a:pPr>
            <a:r>
              <a:rPr lang="en-AU" sz="2479" spc="-49" dirty="0">
                <a:solidFill>
                  <a:srgbClr val="FFFFFF"/>
                </a:solidFill>
                <a:latin typeface="DM Sans"/>
              </a:rPr>
              <a:t>We are dealing with a large amount of data (Databases /pdfs and documents) </a:t>
            </a:r>
          </a:p>
          <a:p>
            <a:pPr marL="1257300" lvl="2" indent="-342900">
              <a:lnSpc>
                <a:spcPts val="3422"/>
              </a:lnSpc>
              <a:buFont typeface="Arial" panose="020B0604020202020204" pitchFamily="34" charset="0"/>
              <a:buChar char="•"/>
            </a:pPr>
            <a:r>
              <a:rPr lang="en-AU" sz="2479" spc="-49" dirty="0">
                <a:solidFill>
                  <a:srgbClr val="FFFFFF"/>
                </a:solidFill>
                <a:latin typeface="DM Sans"/>
              </a:rPr>
              <a:t>LLMs have limited context window (128,000/ 256,000 / 1,000,000)*</a:t>
            </a:r>
          </a:p>
          <a:p>
            <a:pPr marL="1257300" lvl="2" indent="-342900">
              <a:lnSpc>
                <a:spcPts val="3422"/>
              </a:lnSpc>
              <a:buFont typeface="Arial" panose="020B0604020202020204" pitchFamily="34" charset="0"/>
              <a:buChar char="•"/>
            </a:pPr>
            <a:r>
              <a:rPr lang="en-AU" sz="2479" spc="-49" dirty="0">
                <a:solidFill>
                  <a:srgbClr val="FFFFFF"/>
                </a:solidFill>
                <a:latin typeface="DM Sans"/>
              </a:rPr>
              <a:t>The information might exceed LLMs context window</a:t>
            </a:r>
          </a:p>
          <a:p>
            <a:pPr marL="1257300" lvl="2" indent="-342900">
              <a:lnSpc>
                <a:spcPts val="3422"/>
              </a:lnSpc>
              <a:buFont typeface="Arial" panose="020B0604020202020204" pitchFamily="34" charset="0"/>
              <a:buChar char="•"/>
            </a:pPr>
            <a:r>
              <a:rPr lang="en-AU" sz="2479" spc="-49" dirty="0">
                <a:solidFill>
                  <a:srgbClr val="FFFFFF"/>
                </a:solidFill>
                <a:latin typeface="DM Sans"/>
              </a:rPr>
              <a:t>We cannot just pass all the content to the LLM </a:t>
            </a: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r>
              <a:rPr lang="en-AU" sz="2479" spc="-49" dirty="0">
                <a:solidFill>
                  <a:srgbClr val="FFFFFF"/>
                </a:solidFill>
                <a:latin typeface="DM Sans"/>
              </a:rPr>
              <a:t>We need a better approach</a:t>
            </a:r>
          </a:p>
          <a:p>
            <a:pPr marL="1257300" lvl="2" indent="-342900">
              <a:lnSpc>
                <a:spcPts val="3422"/>
              </a:lnSpc>
              <a:buFont typeface="Arial" panose="020B0604020202020204" pitchFamily="34" charset="0"/>
              <a:buChar char="•"/>
            </a:pPr>
            <a:r>
              <a:rPr lang="en-AU" sz="2479" spc="-49" dirty="0">
                <a:solidFill>
                  <a:srgbClr val="FFFFFF"/>
                </a:solidFill>
                <a:latin typeface="DM Sans"/>
              </a:rPr>
              <a:t>That’s where retrieval systems come in</a:t>
            </a:r>
          </a:p>
          <a:p>
            <a:pPr marL="1257300" lvl="2" indent="-342900">
              <a:lnSpc>
                <a:spcPts val="3422"/>
              </a:lnSpc>
              <a:buFont typeface="Arial" panose="020B0604020202020204" pitchFamily="34" charset="0"/>
              <a:buChar char="•"/>
            </a:pPr>
            <a:r>
              <a:rPr lang="en-AU" sz="2479" spc="-49" dirty="0">
                <a:solidFill>
                  <a:srgbClr val="FFFFFF"/>
                </a:solidFill>
                <a:latin typeface="DM Sans"/>
              </a:rPr>
              <a:t>Retrieval-Augmented Generation is a system that retrieves the possibly relevant content from a huge corpora of data and sends them to LLM. </a:t>
            </a: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lvl="1">
              <a:lnSpc>
                <a:spcPts val="3422"/>
              </a:lnSpc>
            </a:pPr>
            <a:r>
              <a:rPr lang="en-AU" sz="2479" spc="-49" dirty="0">
                <a:solidFill>
                  <a:srgbClr val="FFFFFF"/>
                </a:solidFill>
                <a:latin typeface="DM Sans"/>
              </a:rPr>
              <a:t>*</a:t>
            </a:r>
            <a:r>
              <a:rPr lang="en-AU" sz="2000" spc="-49" dirty="0">
                <a:solidFill>
                  <a:srgbClr val="FFFFFF"/>
                </a:solidFill>
                <a:latin typeface="DM Sans"/>
              </a:rPr>
              <a:t>LLM uses tokens to build text, for example: “token” = “to” + “ken”</a:t>
            </a:r>
          </a:p>
          <a:p>
            <a:pPr marL="1257300" lvl="2" indent="-342900">
              <a:lnSpc>
                <a:spcPts val="3422"/>
              </a:lnSpc>
              <a:buFont typeface="Arial" panose="020B0604020202020204" pitchFamily="34" charset="0"/>
              <a:buChar char="•"/>
            </a:pPr>
            <a:endParaRPr lang="en-AU" sz="2000" spc="-49" dirty="0">
              <a:solidFill>
                <a:srgbClr val="FFFFFF"/>
              </a:solidFill>
              <a:latin typeface="DM Sans"/>
            </a:endParaRP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p:txBody>
      </p:sp>
    </p:spTree>
    <p:extLst>
      <p:ext uri="{BB962C8B-B14F-4D97-AF65-F5344CB8AC3E}">
        <p14:creationId xmlns:p14="http://schemas.microsoft.com/office/powerpoint/2010/main" val="329620156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4819FD1E-2366-9179-7069-B4CAD758848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ABE65BC4-A6B9-41E6-33A1-933F50C23BB3}"/>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9C984E81-413E-DC25-6040-1E9BCBE6D5B2}"/>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0C871039-5D76-B341-8191-8CCFEEF2E079}"/>
              </a:ext>
            </a:extLst>
          </p:cNvPr>
          <p:cNvSpPr txBox="1"/>
          <p:nvPr/>
        </p:nvSpPr>
        <p:spPr>
          <a:xfrm>
            <a:off x="1007096" y="1843516"/>
            <a:ext cx="18025980" cy="1477328"/>
          </a:xfrm>
          <a:prstGeom prst="rect">
            <a:avLst/>
          </a:prstGeom>
        </p:spPr>
        <p:txBody>
          <a:bodyPr wrap="square" lIns="0" tIns="0" rIns="0" bIns="0" rtlCol="0" anchor="t">
            <a:spAutoFit/>
          </a:bodyPr>
          <a:lstStyle/>
          <a:p>
            <a:pPr>
              <a:spcBef>
                <a:spcPct val="0"/>
              </a:spcBef>
              <a:defRPr/>
            </a:pPr>
            <a:r>
              <a:rPr lang="en-AU" sz="4800" dirty="0">
                <a:solidFill>
                  <a:srgbClr val="0CC0DF"/>
                </a:solidFill>
                <a:latin typeface="Now Bold"/>
              </a:rPr>
              <a:t>TOOLS AND TOOL CALLING: Retrieval-Augmented Generation</a:t>
            </a:r>
            <a:endParaRPr lang="en-US" sz="4800" dirty="0">
              <a:solidFill>
                <a:srgbClr val="0CC0DF"/>
              </a:solidFill>
              <a:latin typeface="Now Bold"/>
            </a:endParaRPr>
          </a:p>
        </p:txBody>
      </p:sp>
      <p:sp>
        <p:nvSpPr>
          <p:cNvPr id="4" name="TextBox 10">
            <a:extLst>
              <a:ext uri="{FF2B5EF4-FFF2-40B4-BE49-F238E27FC236}">
                <a16:creationId xmlns:a16="http://schemas.microsoft.com/office/drawing/2014/main" id="{84754B02-13F4-D428-42AA-7081D9955D24}"/>
              </a:ext>
            </a:extLst>
          </p:cNvPr>
          <p:cNvSpPr txBox="1"/>
          <p:nvPr/>
        </p:nvSpPr>
        <p:spPr>
          <a:xfrm>
            <a:off x="1007096" y="3673166"/>
            <a:ext cx="16513812" cy="7394075"/>
          </a:xfrm>
          <a:prstGeom prst="rect">
            <a:avLst/>
          </a:prstGeom>
        </p:spPr>
        <p:txBody>
          <a:bodyPr wrap="square" lIns="0" tIns="0" rIns="0" bIns="0" rtlCol="0" anchor="t">
            <a:spAutoFit/>
          </a:bodyPr>
          <a:lstStyle/>
          <a:p>
            <a:pPr lvl="1">
              <a:lnSpc>
                <a:spcPts val="3422"/>
              </a:lnSpc>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r>
              <a:rPr lang="en-AU" sz="2479" spc="-49" dirty="0">
                <a:solidFill>
                  <a:srgbClr val="FFFFFF"/>
                </a:solidFill>
                <a:latin typeface="DM Sans"/>
              </a:rPr>
              <a:t>RAG as a tool has multiple subsystems:</a:t>
            </a:r>
          </a:p>
          <a:p>
            <a:pPr marL="1257300" lvl="2" indent="-342900">
              <a:lnSpc>
                <a:spcPts val="3422"/>
              </a:lnSpc>
              <a:buFont typeface="Arial" panose="020B0604020202020204" pitchFamily="34" charset="0"/>
              <a:buChar char="•"/>
            </a:pPr>
            <a:r>
              <a:rPr lang="en-AU" sz="2479" spc="-49" dirty="0">
                <a:solidFill>
                  <a:srgbClr val="FFFFFF"/>
                </a:solidFill>
                <a:latin typeface="DM Sans"/>
              </a:rPr>
              <a:t>Data source: pdfs, word documents , websites, spreadsheets</a:t>
            </a:r>
          </a:p>
          <a:p>
            <a:pPr marL="1257300" lvl="2" indent="-342900">
              <a:lnSpc>
                <a:spcPts val="3422"/>
              </a:lnSpc>
              <a:buFont typeface="Arial" panose="020B0604020202020204" pitchFamily="34" charset="0"/>
              <a:buChar char="•"/>
            </a:pPr>
            <a:r>
              <a:rPr lang="en-AU" sz="2479" spc="-49" dirty="0">
                <a:solidFill>
                  <a:srgbClr val="FFFFFF"/>
                </a:solidFill>
                <a:latin typeface="DM Sans"/>
              </a:rPr>
              <a:t>Ingestion system: imports and prepares the raw data.</a:t>
            </a:r>
          </a:p>
          <a:p>
            <a:pPr marL="1257300" lvl="2" indent="-342900">
              <a:lnSpc>
                <a:spcPts val="3422"/>
              </a:lnSpc>
              <a:buFont typeface="Arial" panose="020B0604020202020204" pitchFamily="34" charset="0"/>
              <a:buChar char="•"/>
            </a:pPr>
            <a:r>
              <a:rPr lang="en-AU" sz="2479" spc="-49" dirty="0">
                <a:solidFill>
                  <a:srgbClr val="FFFFFF"/>
                </a:solidFill>
                <a:latin typeface="DM Sans"/>
              </a:rPr>
              <a:t>Chunking subsystem: splits documents into smaller pieces called chunks so retrieval can return relevant fragments rather than entire long files. Chunking decides the size of the knowledge units the system can retrieve.</a:t>
            </a:r>
          </a:p>
          <a:p>
            <a:pPr marL="1257300" lvl="2" indent="-342900">
              <a:lnSpc>
                <a:spcPts val="3422"/>
              </a:lnSpc>
              <a:buFont typeface="Arial" panose="020B0604020202020204" pitchFamily="34" charset="0"/>
              <a:buChar char="•"/>
            </a:pPr>
            <a:r>
              <a:rPr lang="en-AU" sz="2479" spc="-49" dirty="0">
                <a:solidFill>
                  <a:srgbClr val="FFFFFF"/>
                </a:solidFill>
                <a:latin typeface="DM Sans"/>
              </a:rPr>
              <a:t>Embedding subsystem: converts chunks of text into numeric vectors so the system can search by meaning, not just exact keywords.</a:t>
            </a:r>
          </a:p>
          <a:p>
            <a:pPr marL="1257300" lvl="2" indent="-342900">
              <a:lnSpc>
                <a:spcPts val="3422"/>
              </a:lnSpc>
              <a:buFont typeface="Arial" panose="020B0604020202020204" pitchFamily="34" charset="0"/>
              <a:buChar char="•"/>
            </a:pPr>
            <a:r>
              <a:rPr lang="en-AU" sz="2479" spc="-49" dirty="0">
                <a:solidFill>
                  <a:srgbClr val="FFFFFF"/>
                </a:solidFill>
                <a:latin typeface="DM Sans"/>
              </a:rPr>
              <a:t>Index / vector store subsystem: save for retrieval</a:t>
            </a:r>
          </a:p>
          <a:p>
            <a:pPr marL="1257300" lvl="2" indent="-342900">
              <a:lnSpc>
                <a:spcPts val="3422"/>
              </a:lnSpc>
              <a:buFont typeface="Arial" panose="020B0604020202020204" pitchFamily="34" charset="0"/>
              <a:buChar char="•"/>
            </a:pPr>
            <a:r>
              <a:rPr lang="en-AU" sz="2479" spc="-49" dirty="0">
                <a:solidFill>
                  <a:srgbClr val="FFFFFF"/>
                </a:solidFill>
                <a:latin typeface="DM Sans"/>
              </a:rPr>
              <a:t>Search and retrieve</a:t>
            </a: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p:txBody>
      </p:sp>
    </p:spTree>
    <p:extLst>
      <p:ext uri="{BB962C8B-B14F-4D97-AF65-F5344CB8AC3E}">
        <p14:creationId xmlns:p14="http://schemas.microsoft.com/office/powerpoint/2010/main" val="6843480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F8170E31-13A7-085B-3622-50FC9E2B6A5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348E2BDD-9226-2393-3B39-3D068A9F38E0}"/>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B62FCAA4-1268-1FFA-64AB-2C13EEB944F2}"/>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B2C184AF-75D5-132C-2503-0733B3A58591}"/>
              </a:ext>
            </a:extLst>
          </p:cNvPr>
          <p:cNvSpPr txBox="1"/>
          <p:nvPr/>
        </p:nvSpPr>
        <p:spPr>
          <a:xfrm>
            <a:off x="1007096" y="1843516"/>
            <a:ext cx="18025980" cy="1477328"/>
          </a:xfrm>
          <a:prstGeom prst="rect">
            <a:avLst/>
          </a:prstGeom>
        </p:spPr>
        <p:txBody>
          <a:bodyPr wrap="square" lIns="0" tIns="0" rIns="0" bIns="0" rtlCol="0" anchor="t">
            <a:spAutoFit/>
          </a:bodyPr>
          <a:lstStyle/>
          <a:p>
            <a:pPr>
              <a:spcBef>
                <a:spcPct val="0"/>
              </a:spcBef>
              <a:defRPr/>
            </a:pPr>
            <a:r>
              <a:rPr lang="en-AU" sz="4800" dirty="0">
                <a:solidFill>
                  <a:srgbClr val="0CC0DF"/>
                </a:solidFill>
                <a:latin typeface="Now Bold"/>
              </a:rPr>
              <a:t>TOOLS AND TOOL CALLING: Retrieval-Augmented Generation</a:t>
            </a:r>
            <a:endParaRPr lang="en-US" sz="4800" dirty="0">
              <a:solidFill>
                <a:srgbClr val="0CC0DF"/>
              </a:solidFill>
              <a:latin typeface="Now Bold"/>
            </a:endParaRPr>
          </a:p>
        </p:txBody>
      </p:sp>
      <p:sp>
        <p:nvSpPr>
          <p:cNvPr id="4" name="TextBox 10">
            <a:extLst>
              <a:ext uri="{FF2B5EF4-FFF2-40B4-BE49-F238E27FC236}">
                <a16:creationId xmlns:a16="http://schemas.microsoft.com/office/drawing/2014/main" id="{06945419-E1A1-DAA7-0473-9E005F9F1B03}"/>
              </a:ext>
            </a:extLst>
          </p:cNvPr>
          <p:cNvSpPr txBox="1"/>
          <p:nvPr/>
        </p:nvSpPr>
        <p:spPr>
          <a:xfrm>
            <a:off x="1007096" y="3673166"/>
            <a:ext cx="16513812" cy="1725857"/>
          </a:xfrm>
          <a:prstGeom prst="rect">
            <a:avLst/>
          </a:prstGeom>
        </p:spPr>
        <p:txBody>
          <a:bodyPr wrap="square" lIns="0" tIns="0" rIns="0" bIns="0" rtlCol="0" anchor="t">
            <a:spAutoFit/>
          </a:bodyPr>
          <a:lstStyle/>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p:txBody>
      </p:sp>
      <p:sp>
        <p:nvSpPr>
          <p:cNvPr id="8" name="TextBox 10">
            <a:extLst>
              <a:ext uri="{FF2B5EF4-FFF2-40B4-BE49-F238E27FC236}">
                <a16:creationId xmlns:a16="http://schemas.microsoft.com/office/drawing/2014/main" id="{4344B2AF-7F41-DBE4-86F0-E3AD8E9FAEC6}"/>
              </a:ext>
            </a:extLst>
          </p:cNvPr>
          <p:cNvSpPr txBox="1"/>
          <p:nvPr/>
        </p:nvSpPr>
        <p:spPr>
          <a:xfrm>
            <a:off x="1007096" y="3673166"/>
            <a:ext cx="16513812" cy="6086025"/>
          </a:xfrm>
          <a:prstGeom prst="rect">
            <a:avLst/>
          </a:prstGeom>
        </p:spPr>
        <p:txBody>
          <a:bodyPr wrap="square" lIns="0" tIns="0" rIns="0" bIns="0" rtlCol="0" anchor="t">
            <a:spAutoFit/>
          </a:bodyPr>
          <a:lstStyle/>
          <a:p>
            <a:pPr marL="800100" lvl="1" indent="-342900">
              <a:lnSpc>
                <a:spcPts val="3422"/>
              </a:lnSpc>
              <a:buFont typeface="Arial" panose="020B0604020202020204" pitchFamily="34" charset="0"/>
              <a:buChar char="•"/>
            </a:pPr>
            <a:r>
              <a:rPr lang="en-AU" sz="2479" b="1" spc="-49" dirty="0">
                <a:solidFill>
                  <a:srgbClr val="FFFFFF"/>
                </a:solidFill>
                <a:latin typeface="DM Sans"/>
              </a:rPr>
              <a:t>Data source:</a:t>
            </a:r>
          </a:p>
          <a:p>
            <a:pPr marL="1257300" lvl="2" indent="-342900">
              <a:lnSpc>
                <a:spcPts val="3422"/>
              </a:lnSpc>
              <a:buFont typeface="Arial" panose="020B0604020202020204" pitchFamily="34" charset="0"/>
              <a:buChar char="•"/>
            </a:pPr>
            <a:r>
              <a:rPr lang="en-AU" sz="2479" spc="-49" dirty="0">
                <a:solidFill>
                  <a:srgbClr val="FFFFFF"/>
                </a:solidFill>
                <a:latin typeface="DM Sans"/>
              </a:rPr>
              <a:t>PDFs</a:t>
            </a:r>
          </a:p>
          <a:p>
            <a:pPr marL="1257300" lvl="2" indent="-342900">
              <a:lnSpc>
                <a:spcPts val="3422"/>
              </a:lnSpc>
              <a:buFont typeface="Arial" panose="020B0604020202020204" pitchFamily="34" charset="0"/>
              <a:buChar char="•"/>
            </a:pPr>
            <a:r>
              <a:rPr lang="en-AU" sz="2479" spc="-49" dirty="0">
                <a:solidFill>
                  <a:srgbClr val="FFFFFF"/>
                </a:solidFill>
                <a:latin typeface="DM Sans"/>
              </a:rPr>
              <a:t>Word documents</a:t>
            </a:r>
          </a:p>
          <a:p>
            <a:pPr marL="1257300" lvl="2" indent="-342900">
              <a:lnSpc>
                <a:spcPts val="3422"/>
              </a:lnSpc>
              <a:buFont typeface="Arial" panose="020B0604020202020204" pitchFamily="34" charset="0"/>
              <a:buChar char="•"/>
            </a:pPr>
            <a:r>
              <a:rPr lang="en-AU" sz="2479" spc="-49" dirty="0">
                <a:solidFill>
                  <a:srgbClr val="FFFFFF"/>
                </a:solidFill>
                <a:latin typeface="DM Sans"/>
              </a:rPr>
              <a:t>Website content</a:t>
            </a:r>
          </a:p>
          <a:p>
            <a:pPr marL="1257300" lvl="2" indent="-342900">
              <a:lnSpc>
                <a:spcPts val="3422"/>
              </a:lnSpc>
              <a:buFont typeface="Arial" panose="020B0604020202020204" pitchFamily="34" charset="0"/>
              <a:buChar char="•"/>
            </a:pPr>
            <a:r>
              <a:rPr lang="en-AU" sz="2479" spc="-49" dirty="0">
                <a:solidFill>
                  <a:srgbClr val="FFFFFF"/>
                </a:solidFill>
                <a:latin typeface="DM Sans"/>
              </a:rPr>
              <a:t>spreadsheets</a:t>
            </a:r>
          </a:p>
          <a:p>
            <a:pPr lvl="1">
              <a:lnSpc>
                <a:spcPts val="3422"/>
              </a:lnSpc>
            </a:pPr>
            <a:endParaRPr lang="en-AU" sz="2479" b="1" spc="-49" dirty="0">
              <a:solidFill>
                <a:srgbClr val="FFFFFF"/>
              </a:solidFill>
              <a:latin typeface="DM Sans"/>
            </a:endParaRPr>
          </a:p>
          <a:p>
            <a:pPr marL="800100" lvl="1" indent="-342900">
              <a:lnSpc>
                <a:spcPts val="3422"/>
              </a:lnSpc>
              <a:buFont typeface="Arial" panose="020B0604020202020204" pitchFamily="34" charset="0"/>
              <a:buChar char="•"/>
            </a:pPr>
            <a:endParaRPr lang="en-AU" sz="2479" b="1"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r>
              <a:rPr lang="en-AU" sz="2479" spc="-49" dirty="0">
                <a:solidFill>
                  <a:srgbClr val="FFFFFF"/>
                </a:solidFill>
                <a:latin typeface="DM Sans"/>
              </a:rPr>
              <a:t>Builds the knowledge base the model will rely on instead of answering only from training. </a:t>
            </a: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p:txBody>
      </p:sp>
    </p:spTree>
    <p:extLst>
      <p:ext uri="{BB962C8B-B14F-4D97-AF65-F5344CB8AC3E}">
        <p14:creationId xmlns:p14="http://schemas.microsoft.com/office/powerpoint/2010/main" val="316767038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E1617739-C905-F2D5-886E-4F86CFE7C38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A60AE562-B79B-190A-9613-28F8E242B796}"/>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848935F9-A5C8-9A69-9F70-87D3B2863340}"/>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346F9CBD-CDDA-BA77-B803-CF5250966F34}"/>
              </a:ext>
            </a:extLst>
          </p:cNvPr>
          <p:cNvSpPr txBox="1"/>
          <p:nvPr/>
        </p:nvSpPr>
        <p:spPr>
          <a:xfrm>
            <a:off x="1007096" y="1843516"/>
            <a:ext cx="18025980" cy="1477328"/>
          </a:xfrm>
          <a:prstGeom prst="rect">
            <a:avLst/>
          </a:prstGeom>
        </p:spPr>
        <p:txBody>
          <a:bodyPr wrap="square" lIns="0" tIns="0" rIns="0" bIns="0" rtlCol="0" anchor="t">
            <a:spAutoFit/>
          </a:bodyPr>
          <a:lstStyle/>
          <a:p>
            <a:pPr>
              <a:spcBef>
                <a:spcPct val="0"/>
              </a:spcBef>
              <a:defRPr/>
            </a:pPr>
            <a:r>
              <a:rPr lang="en-AU" sz="4800" dirty="0">
                <a:solidFill>
                  <a:srgbClr val="0CC0DF"/>
                </a:solidFill>
                <a:latin typeface="Now Bold"/>
              </a:rPr>
              <a:t>TOOLS AND TOOL CALLING: Retrieval-Augmented Generation</a:t>
            </a:r>
            <a:endParaRPr lang="en-US" sz="4800" dirty="0">
              <a:solidFill>
                <a:srgbClr val="0CC0DF"/>
              </a:solidFill>
              <a:latin typeface="Now Bold"/>
            </a:endParaRPr>
          </a:p>
        </p:txBody>
      </p:sp>
      <p:sp>
        <p:nvSpPr>
          <p:cNvPr id="4" name="TextBox 10">
            <a:extLst>
              <a:ext uri="{FF2B5EF4-FFF2-40B4-BE49-F238E27FC236}">
                <a16:creationId xmlns:a16="http://schemas.microsoft.com/office/drawing/2014/main" id="{F0E6516F-CF00-DD6E-F8F6-E07868EF600D}"/>
              </a:ext>
            </a:extLst>
          </p:cNvPr>
          <p:cNvSpPr txBox="1"/>
          <p:nvPr/>
        </p:nvSpPr>
        <p:spPr>
          <a:xfrm>
            <a:off x="1007096" y="3673166"/>
            <a:ext cx="16513812" cy="1725857"/>
          </a:xfrm>
          <a:prstGeom prst="rect">
            <a:avLst/>
          </a:prstGeom>
        </p:spPr>
        <p:txBody>
          <a:bodyPr wrap="square" lIns="0" tIns="0" rIns="0" bIns="0" rtlCol="0" anchor="t">
            <a:spAutoFit/>
          </a:bodyPr>
          <a:lstStyle/>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p:txBody>
      </p:sp>
      <p:sp>
        <p:nvSpPr>
          <p:cNvPr id="8" name="TextBox 10">
            <a:extLst>
              <a:ext uri="{FF2B5EF4-FFF2-40B4-BE49-F238E27FC236}">
                <a16:creationId xmlns:a16="http://schemas.microsoft.com/office/drawing/2014/main" id="{8D24C12E-412D-9B84-215C-69F80AF459D4}"/>
              </a:ext>
            </a:extLst>
          </p:cNvPr>
          <p:cNvSpPr txBox="1"/>
          <p:nvPr/>
        </p:nvSpPr>
        <p:spPr>
          <a:xfrm>
            <a:off x="1007096" y="3673166"/>
            <a:ext cx="16513812" cy="7830092"/>
          </a:xfrm>
          <a:prstGeom prst="rect">
            <a:avLst/>
          </a:prstGeom>
        </p:spPr>
        <p:txBody>
          <a:bodyPr wrap="square" lIns="0" tIns="0" rIns="0" bIns="0" rtlCol="0" anchor="t">
            <a:spAutoFit/>
          </a:bodyPr>
          <a:lstStyle/>
          <a:p>
            <a:pPr marL="800100" lvl="1" indent="-342900">
              <a:lnSpc>
                <a:spcPts val="3422"/>
              </a:lnSpc>
              <a:buFont typeface="Arial" panose="020B0604020202020204" pitchFamily="34" charset="0"/>
              <a:buChar char="•"/>
            </a:pPr>
            <a:r>
              <a:rPr lang="en-AU" sz="2479" b="1" spc="-49" dirty="0">
                <a:solidFill>
                  <a:srgbClr val="FFFFFF"/>
                </a:solidFill>
                <a:latin typeface="DM Sans"/>
              </a:rPr>
              <a:t>Ingestion subsystem</a:t>
            </a:r>
          </a:p>
          <a:p>
            <a:pPr marL="1257300" lvl="2" indent="-342900">
              <a:lnSpc>
                <a:spcPts val="3422"/>
              </a:lnSpc>
              <a:buFont typeface="Arial" panose="020B0604020202020204" pitchFamily="34" charset="0"/>
              <a:buChar char="•"/>
            </a:pPr>
            <a:r>
              <a:rPr lang="en-AU" sz="2479" spc="-49" dirty="0">
                <a:solidFill>
                  <a:srgbClr val="FFFFFF"/>
                </a:solidFill>
                <a:latin typeface="DM Sans"/>
              </a:rPr>
              <a:t>Takes files or external content and converts them into machine-usable text and metadata.</a:t>
            </a:r>
          </a:p>
          <a:p>
            <a:pPr marL="800100" lvl="1" indent="-342900">
              <a:lnSpc>
                <a:spcPts val="3422"/>
              </a:lnSpc>
              <a:buFont typeface="Arial" panose="020B0604020202020204" pitchFamily="34" charset="0"/>
              <a:buChar char="•"/>
            </a:pPr>
            <a:r>
              <a:rPr lang="en-AU" sz="2479" b="1" spc="-49" dirty="0">
                <a:solidFill>
                  <a:srgbClr val="FFFFFF"/>
                </a:solidFill>
                <a:latin typeface="DM Sans"/>
              </a:rPr>
              <a:t>Chunking subsystem</a:t>
            </a:r>
          </a:p>
          <a:p>
            <a:pPr marL="1257300" lvl="2" indent="-342900">
              <a:lnSpc>
                <a:spcPts val="3422"/>
              </a:lnSpc>
              <a:buFont typeface="Arial" panose="020B0604020202020204" pitchFamily="34" charset="0"/>
              <a:buChar char="•"/>
            </a:pPr>
            <a:r>
              <a:rPr lang="en-AU" sz="2479" spc="-49" dirty="0">
                <a:solidFill>
                  <a:srgbClr val="FFFFFF"/>
                </a:solidFill>
                <a:latin typeface="DM Sans"/>
              </a:rPr>
              <a:t>It splits documents into smaller pieces called chunks so retrieval can return relevant fragments rather than entire long files.</a:t>
            </a: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r>
              <a:rPr lang="en-AU" sz="2479" b="1" spc="-49" dirty="0">
                <a:solidFill>
                  <a:srgbClr val="FFFFFF"/>
                </a:solidFill>
                <a:latin typeface="DM Sans"/>
              </a:rPr>
              <a:t>Chunking with and without overlap</a:t>
            </a:r>
          </a:p>
          <a:p>
            <a:pPr marL="1257300" lvl="2" indent="-342900">
              <a:lnSpc>
                <a:spcPts val="3422"/>
              </a:lnSpc>
              <a:buFont typeface="Arial" panose="020B0604020202020204" pitchFamily="34" charset="0"/>
              <a:buChar char="•"/>
            </a:pPr>
            <a:r>
              <a:rPr lang="en-AU" sz="2479" spc="-49" dirty="0">
                <a:solidFill>
                  <a:srgbClr val="FFFFFF"/>
                </a:solidFill>
                <a:latin typeface="DM Sans"/>
              </a:rPr>
              <a:t>Chunking with overlap reduces the chance of retrieving incoherent content (chopped from the middle)</a:t>
            </a:r>
          </a:p>
          <a:p>
            <a:pPr marL="1257300" lvl="2" indent="-342900">
              <a:lnSpc>
                <a:spcPts val="3422"/>
              </a:lnSpc>
              <a:buFont typeface="Arial" panose="020B0604020202020204" pitchFamily="34" charset="0"/>
              <a:buChar char="•"/>
            </a:pPr>
            <a:r>
              <a:rPr lang="en-AU" sz="2479" spc="-49" dirty="0">
                <a:solidFill>
                  <a:srgbClr val="FFFFFF"/>
                </a:solidFill>
                <a:latin typeface="DM Sans"/>
              </a:rPr>
              <a:t>Example:</a:t>
            </a:r>
          </a:p>
          <a:p>
            <a:pPr marL="1714500" lvl="3" indent="-342900">
              <a:lnSpc>
                <a:spcPts val="3422"/>
              </a:lnSpc>
              <a:buFont typeface="Arial" panose="020B0604020202020204" pitchFamily="34" charset="0"/>
              <a:buChar char="•"/>
            </a:pPr>
            <a:r>
              <a:rPr lang="en-AU" sz="2479" spc="-49" dirty="0">
                <a:solidFill>
                  <a:srgbClr val="FFFFFF"/>
                </a:solidFill>
                <a:latin typeface="DM Sans"/>
              </a:rPr>
              <a:t>“</a:t>
            </a:r>
            <a:r>
              <a:rPr lang="en-AU" sz="2479" b="1" spc="-49" dirty="0">
                <a:solidFill>
                  <a:srgbClr val="FFFFFF"/>
                </a:solidFill>
                <a:latin typeface="DM Sans"/>
              </a:rPr>
              <a:t>Brisbane experienced heavy rainfall in March.</a:t>
            </a:r>
            <a:br>
              <a:rPr lang="en-AU" sz="2479" b="1" spc="-49" dirty="0">
                <a:solidFill>
                  <a:srgbClr val="FFFFFF"/>
                </a:solidFill>
                <a:latin typeface="DM Sans"/>
              </a:rPr>
            </a:br>
            <a:r>
              <a:rPr lang="en-AU" sz="2479" b="1" spc="-49" dirty="0">
                <a:solidFill>
                  <a:srgbClr val="FFFFFF"/>
                </a:solidFill>
                <a:latin typeface="DM Sans"/>
              </a:rPr>
              <a:t>Local authorities warned residents about flash flooding.</a:t>
            </a:r>
            <a:br>
              <a:rPr lang="en-AU" sz="2479" b="1" spc="-49" dirty="0">
                <a:solidFill>
                  <a:srgbClr val="FFFFFF"/>
                </a:solidFill>
                <a:latin typeface="DM Sans"/>
              </a:rPr>
            </a:br>
            <a:r>
              <a:rPr lang="en-AU" sz="2479" b="1" spc="-49" dirty="0">
                <a:solidFill>
                  <a:srgbClr val="FFFFFF"/>
                </a:solidFill>
                <a:latin typeface="DM Sans"/>
              </a:rPr>
              <a:t>Emergency services advised people to avoid low-lying roads.</a:t>
            </a:r>
            <a:br>
              <a:rPr lang="en-AU" sz="2479" b="1" spc="-49" dirty="0">
                <a:solidFill>
                  <a:srgbClr val="FFFFFF"/>
                </a:solidFill>
                <a:latin typeface="DM Sans"/>
              </a:rPr>
            </a:br>
            <a:r>
              <a:rPr lang="en-AU" sz="2479" b="1" spc="-49" dirty="0">
                <a:solidFill>
                  <a:srgbClr val="FFFFFF"/>
                </a:solidFill>
                <a:latin typeface="DM Sans"/>
              </a:rPr>
              <a:t>Several suburbs reported temporary transport disruptions.</a:t>
            </a:r>
            <a:br>
              <a:rPr lang="en-AU" sz="2479" b="1" spc="-49" dirty="0">
                <a:solidFill>
                  <a:srgbClr val="FFFFFF"/>
                </a:solidFill>
                <a:latin typeface="DM Sans"/>
              </a:rPr>
            </a:br>
            <a:r>
              <a:rPr lang="en-AU" sz="2479" b="1" spc="-49" dirty="0">
                <a:solidFill>
                  <a:srgbClr val="FFFFFF"/>
                </a:solidFill>
                <a:latin typeface="DM Sans"/>
              </a:rPr>
              <a:t>The weather system moved south by the evening.”</a:t>
            </a: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p:txBody>
      </p:sp>
    </p:spTree>
    <p:extLst>
      <p:ext uri="{BB962C8B-B14F-4D97-AF65-F5344CB8AC3E}">
        <p14:creationId xmlns:p14="http://schemas.microsoft.com/office/powerpoint/2010/main" val="294663373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C02CA837-9694-9160-F4DA-914882BD3188}"/>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D8B2265-780F-1699-149E-27BA562EE3DA}"/>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9CFC1C40-5ED3-A101-E359-FD09D9F4B104}"/>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981FFD62-7329-B7D9-08A4-FAA4A5F219DC}"/>
              </a:ext>
            </a:extLst>
          </p:cNvPr>
          <p:cNvSpPr txBox="1"/>
          <p:nvPr/>
        </p:nvSpPr>
        <p:spPr>
          <a:xfrm>
            <a:off x="1007096" y="1843516"/>
            <a:ext cx="18025980" cy="1477328"/>
          </a:xfrm>
          <a:prstGeom prst="rect">
            <a:avLst/>
          </a:prstGeom>
        </p:spPr>
        <p:txBody>
          <a:bodyPr wrap="square" lIns="0" tIns="0" rIns="0" bIns="0" rtlCol="0" anchor="t">
            <a:spAutoFit/>
          </a:bodyPr>
          <a:lstStyle/>
          <a:p>
            <a:pPr>
              <a:spcBef>
                <a:spcPct val="0"/>
              </a:spcBef>
              <a:defRPr/>
            </a:pPr>
            <a:r>
              <a:rPr lang="en-AU" sz="4800" dirty="0">
                <a:solidFill>
                  <a:srgbClr val="0CC0DF"/>
                </a:solidFill>
                <a:latin typeface="Now Bold"/>
              </a:rPr>
              <a:t>TOOLS AND TOOL CALLING: Retrieval-Augmented Generation</a:t>
            </a:r>
            <a:endParaRPr lang="en-US" sz="4800" dirty="0">
              <a:solidFill>
                <a:srgbClr val="0CC0DF"/>
              </a:solidFill>
              <a:latin typeface="Now Bold"/>
            </a:endParaRPr>
          </a:p>
        </p:txBody>
      </p:sp>
      <p:sp>
        <p:nvSpPr>
          <p:cNvPr id="4" name="TextBox 10">
            <a:extLst>
              <a:ext uri="{FF2B5EF4-FFF2-40B4-BE49-F238E27FC236}">
                <a16:creationId xmlns:a16="http://schemas.microsoft.com/office/drawing/2014/main" id="{4AF4F9E8-7AC8-E08D-CAD4-0A8E877E11A7}"/>
              </a:ext>
            </a:extLst>
          </p:cNvPr>
          <p:cNvSpPr txBox="1"/>
          <p:nvPr/>
        </p:nvSpPr>
        <p:spPr>
          <a:xfrm>
            <a:off x="1007096" y="3673166"/>
            <a:ext cx="16513812" cy="1725857"/>
          </a:xfrm>
          <a:prstGeom prst="rect">
            <a:avLst/>
          </a:prstGeom>
        </p:spPr>
        <p:txBody>
          <a:bodyPr wrap="square" lIns="0" tIns="0" rIns="0" bIns="0" rtlCol="0" anchor="t">
            <a:spAutoFit/>
          </a:bodyPr>
          <a:lstStyle/>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p:txBody>
      </p:sp>
      <p:sp>
        <p:nvSpPr>
          <p:cNvPr id="8" name="TextBox 10">
            <a:extLst>
              <a:ext uri="{FF2B5EF4-FFF2-40B4-BE49-F238E27FC236}">
                <a16:creationId xmlns:a16="http://schemas.microsoft.com/office/drawing/2014/main" id="{86AF1092-1018-881D-5D9A-A24C9759F2E1}"/>
              </a:ext>
            </a:extLst>
          </p:cNvPr>
          <p:cNvSpPr txBox="1"/>
          <p:nvPr/>
        </p:nvSpPr>
        <p:spPr>
          <a:xfrm>
            <a:off x="1007096" y="3673166"/>
            <a:ext cx="16513812" cy="5650008"/>
          </a:xfrm>
          <a:prstGeom prst="rect">
            <a:avLst/>
          </a:prstGeom>
        </p:spPr>
        <p:txBody>
          <a:bodyPr wrap="square" lIns="0" tIns="0" rIns="0" bIns="0" rtlCol="0" anchor="t">
            <a:spAutoFit/>
          </a:bodyPr>
          <a:lstStyle/>
          <a:p>
            <a:pPr marL="800100" lvl="1" indent="-342900">
              <a:lnSpc>
                <a:spcPts val="3422"/>
              </a:lnSpc>
              <a:buFont typeface="Arial" panose="020B0604020202020204" pitchFamily="34" charset="0"/>
              <a:buChar char="•"/>
            </a:pPr>
            <a:r>
              <a:rPr lang="en-AU" sz="2479" spc="-49" dirty="0">
                <a:solidFill>
                  <a:srgbClr val="FFFFFF"/>
                </a:solidFill>
                <a:latin typeface="DM Sans"/>
              </a:rPr>
              <a:t>Without overlap:</a:t>
            </a:r>
          </a:p>
          <a:p>
            <a:pPr marL="1257300" lvl="2" indent="-342900">
              <a:lnSpc>
                <a:spcPts val="3422"/>
              </a:lnSpc>
              <a:buFont typeface="Arial" panose="020B0604020202020204" pitchFamily="34" charset="0"/>
              <a:buChar char="•"/>
            </a:pPr>
            <a:r>
              <a:rPr lang="en-AU" sz="2479" spc="-49" dirty="0">
                <a:solidFill>
                  <a:srgbClr val="FFFFFF"/>
                </a:solidFill>
                <a:latin typeface="DM Sans"/>
              </a:rPr>
              <a:t>Chunk 1</a:t>
            </a:r>
            <a:br>
              <a:rPr lang="en-AU" sz="2479" spc="-49" dirty="0">
                <a:solidFill>
                  <a:srgbClr val="FFFFFF"/>
                </a:solidFill>
                <a:latin typeface="DM Sans"/>
              </a:rPr>
            </a:br>
            <a:r>
              <a:rPr lang="en-AU" sz="2479" spc="-49" dirty="0">
                <a:solidFill>
                  <a:srgbClr val="FFFFFF"/>
                </a:solidFill>
                <a:latin typeface="DM Sans"/>
              </a:rPr>
              <a:t>“Brisbane experienced heavy rainfall in March. Local”</a:t>
            </a:r>
          </a:p>
          <a:p>
            <a:pPr marL="1257300" lvl="2" indent="-342900">
              <a:lnSpc>
                <a:spcPts val="3422"/>
              </a:lnSpc>
              <a:buFont typeface="Arial" panose="020B0604020202020204" pitchFamily="34" charset="0"/>
              <a:buChar char="•"/>
            </a:pPr>
            <a:r>
              <a:rPr lang="en-AU" sz="2479" spc="-49" dirty="0">
                <a:solidFill>
                  <a:srgbClr val="FFFFFF"/>
                </a:solidFill>
                <a:latin typeface="DM Sans"/>
              </a:rPr>
              <a:t>Chunk 2</a:t>
            </a:r>
            <a:br>
              <a:rPr lang="en-AU" sz="2479" spc="-49" dirty="0">
                <a:solidFill>
                  <a:srgbClr val="FFFFFF"/>
                </a:solidFill>
                <a:latin typeface="DM Sans"/>
              </a:rPr>
            </a:br>
            <a:r>
              <a:rPr lang="en-AU" sz="2479" spc="-49" dirty="0">
                <a:solidFill>
                  <a:srgbClr val="FFFFFF"/>
                </a:solidFill>
                <a:latin typeface="DM Sans"/>
              </a:rPr>
              <a:t>“authorities warned residents about flash flooding. Emergency services advised people to avoid low-lying   roads. Several suburbs”</a:t>
            </a:r>
          </a:p>
          <a:p>
            <a:pPr marL="1257300" lvl="2" indent="-342900">
              <a:lnSpc>
                <a:spcPts val="3422"/>
              </a:lnSpc>
              <a:buFont typeface="Arial" panose="020B0604020202020204" pitchFamily="34" charset="0"/>
              <a:buChar char="•"/>
            </a:pPr>
            <a:r>
              <a:rPr lang="en-AU" sz="2479" spc="-49" dirty="0">
                <a:solidFill>
                  <a:srgbClr val="FFFFFF"/>
                </a:solidFill>
                <a:latin typeface="DM Sans"/>
              </a:rPr>
              <a:t>Chunk 3</a:t>
            </a:r>
            <a:br>
              <a:rPr lang="en-AU" sz="2479" spc="-49" dirty="0">
                <a:solidFill>
                  <a:srgbClr val="FFFFFF"/>
                </a:solidFill>
                <a:latin typeface="DM Sans"/>
              </a:rPr>
            </a:br>
            <a:r>
              <a:rPr lang="en-AU" sz="2479" spc="-49" dirty="0">
                <a:solidFill>
                  <a:srgbClr val="FFFFFF"/>
                </a:solidFill>
                <a:latin typeface="DM Sans"/>
              </a:rPr>
              <a:t>“reported temporary transport disruptions. The weather system moved south by the evening. This is simple, but it can break context if an important idea sits across chunk boundaries.”</a:t>
            </a:r>
          </a:p>
          <a:p>
            <a:pPr lvl="3">
              <a:lnSpc>
                <a:spcPts val="3422"/>
              </a:lnSpc>
            </a:pPr>
            <a:endParaRPr lang="en-AU" sz="2479" spc="-49" dirty="0">
              <a:solidFill>
                <a:srgbClr val="FFFFFF"/>
              </a:solidFill>
              <a:latin typeface="DM Sans"/>
            </a:endParaRPr>
          </a:p>
          <a:p>
            <a:pPr marL="1714500" lvl="3"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p:txBody>
      </p:sp>
    </p:spTree>
    <p:extLst>
      <p:ext uri="{BB962C8B-B14F-4D97-AF65-F5344CB8AC3E}">
        <p14:creationId xmlns:p14="http://schemas.microsoft.com/office/powerpoint/2010/main" val="180095443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7D6D3218-0223-CD57-C13C-F3E6D39023AF}"/>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27F1517-6C98-E6E0-2898-F09484B7AA35}"/>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4FEC857B-ADF0-22D7-7876-B9EFB0314295}"/>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DBEA51F6-A10E-7DD2-5EF8-10E86AC9C28B}"/>
              </a:ext>
            </a:extLst>
          </p:cNvPr>
          <p:cNvSpPr txBox="1"/>
          <p:nvPr/>
        </p:nvSpPr>
        <p:spPr>
          <a:xfrm>
            <a:off x="1007096" y="1843516"/>
            <a:ext cx="18025980" cy="1477328"/>
          </a:xfrm>
          <a:prstGeom prst="rect">
            <a:avLst/>
          </a:prstGeom>
        </p:spPr>
        <p:txBody>
          <a:bodyPr wrap="square" lIns="0" tIns="0" rIns="0" bIns="0" rtlCol="0" anchor="t">
            <a:spAutoFit/>
          </a:bodyPr>
          <a:lstStyle/>
          <a:p>
            <a:pPr>
              <a:spcBef>
                <a:spcPct val="0"/>
              </a:spcBef>
              <a:defRPr/>
            </a:pPr>
            <a:r>
              <a:rPr lang="en-AU" sz="4800" dirty="0">
                <a:solidFill>
                  <a:srgbClr val="0CC0DF"/>
                </a:solidFill>
                <a:latin typeface="Now Bold"/>
              </a:rPr>
              <a:t>TOOLS AND TOOL CALLING: Retrieval-Augmented Generation</a:t>
            </a:r>
            <a:endParaRPr lang="en-US" sz="4800" dirty="0">
              <a:solidFill>
                <a:srgbClr val="0CC0DF"/>
              </a:solidFill>
              <a:latin typeface="Now Bold"/>
            </a:endParaRPr>
          </a:p>
        </p:txBody>
      </p:sp>
      <p:sp>
        <p:nvSpPr>
          <p:cNvPr id="4" name="TextBox 10">
            <a:extLst>
              <a:ext uri="{FF2B5EF4-FFF2-40B4-BE49-F238E27FC236}">
                <a16:creationId xmlns:a16="http://schemas.microsoft.com/office/drawing/2014/main" id="{5AC556EC-61E9-BF66-8349-AC848EEC8AAF}"/>
              </a:ext>
            </a:extLst>
          </p:cNvPr>
          <p:cNvSpPr txBox="1"/>
          <p:nvPr/>
        </p:nvSpPr>
        <p:spPr>
          <a:xfrm>
            <a:off x="1007096" y="3673166"/>
            <a:ext cx="16513812" cy="1725857"/>
          </a:xfrm>
          <a:prstGeom prst="rect">
            <a:avLst/>
          </a:prstGeom>
        </p:spPr>
        <p:txBody>
          <a:bodyPr wrap="square" lIns="0" tIns="0" rIns="0" bIns="0" rtlCol="0" anchor="t">
            <a:spAutoFit/>
          </a:bodyPr>
          <a:lstStyle/>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p:txBody>
      </p:sp>
      <p:sp>
        <p:nvSpPr>
          <p:cNvPr id="8" name="TextBox 10">
            <a:extLst>
              <a:ext uri="{FF2B5EF4-FFF2-40B4-BE49-F238E27FC236}">
                <a16:creationId xmlns:a16="http://schemas.microsoft.com/office/drawing/2014/main" id="{AEC4D82F-FB42-11D6-DB3A-1F71C82F8A05}"/>
              </a:ext>
            </a:extLst>
          </p:cNvPr>
          <p:cNvSpPr txBox="1"/>
          <p:nvPr/>
        </p:nvSpPr>
        <p:spPr>
          <a:xfrm>
            <a:off x="1763180" y="3579006"/>
            <a:ext cx="16513812" cy="7394075"/>
          </a:xfrm>
          <a:prstGeom prst="rect">
            <a:avLst/>
          </a:prstGeom>
        </p:spPr>
        <p:txBody>
          <a:bodyPr wrap="square" lIns="0" tIns="0" rIns="0" bIns="0" rtlCol="0" anchor="t">
            <a:spAutoFit/>
          </a:bodyPr>
          <a:lstStyle/>
          <a:p>
            <a:pPr marL="800100" lvl="1" indent="-342900">
              <a:lnSpc>
                <a:spcPts val="3422"/>
              </a:lnSpc>
              <a:buFont typeface="Arial" panose="020B0604020202020204" pitchFamily="34" charset="0"/>
              <a:buChar char="•"/>
            </a:pPr>
            <a:r>
              <a:rPr lang="en-AU" sz="2479" spc="-49" dirty="0">
                <a:solidFill>
                  <a:srgbClr val="FFFFFF"/>
                </a:solidFill>
                <a:latin typeface="DM Sans"/>
              </a:rPr>
              <a:t>With overlap:</a:t>
            </a:r>
          </a:p>
          <a:p>
            <a:pPr marL="1257300" lvl="2" indent="-342900">
              <a:lnSpc>
                <a:spcPts val="3422"/>
              </a:lnSpc>
              <a:buFont typeface="Arial" panose="020B0604020202020204" pitchFamily="34" charset="0"/>
              <a:buChar char="•"/>
            </a:pPr>
            <a:r>
              <a:rPr lang="en-AU" sz="2479" spc="-49" dirty="0">
                <a:solidFill>
                  <a:srgbClr val="FFFFFF"/>
                </a:solidFill>
                <a:latin typeface="DM Sans"/>
              </a:rPr>
              <a:t>Chunk 1</a:t>
            </a:r>
            <a:br>
              <a:rPr lang="en-AU" sz="2479" spc="-49" dirty="0">
                <a:solidFill>
                  <a:srgbClr val="FFFFFF"/>
                </a:solidFill>
                <a:latin typeface="DM Sans"/>
              </a:rPr>
            </a:br>
            <a:r>
              <a:rPr lang="en-AU" sz="2479" spc="-49" dirty="0">
                <a:solidFill>
                  <a:srgbClr val="FFFFFF"/>
                </a:solidFill>
                <a:latin typeface="DM Sans"/>
              </a:rPr>
              <a:t>Brisbane experienced heavy rainfall in March.</a:t>
            </a:r>
            <a:br>
              <a:rPr lang="en-AU" sz="2479" spc="-49" dirty="0">
                <a:solidFill>
                  <a:srgbClr val="FFFFFF"/>
                </a:solidFill>
                <a:latin typeface="DM Sans"/>
              </a:rPr>
            </a:br>
            <a:r>
              <a:rPr lang="en-AU" sz="2479" u="sng" spc="-49" dirty="0">
                <a:solidFill>
                  <a:srgbClr val="FFFFFF"/>
                </a:solidFill>
                <a:latin typeface="DM Sans"/>
              </a:rPr>
              <a:t>Local authorities warned residents about flash flooding.</a:t>
            </a:r>
          </a:p>
          <a:p>
            <a:pPr marL="1257300" lvl="2" indent="-342900">
              <a:lnSpc>
                <a:spcPts val="3422"/>
              </a:lnSpc>
              <a:buFont typeface="Arial" panose="020B0604020202020204" pitchFamily="34" charset="0"/>
              <a:buChar char="•"/>
            </a:pPr>
            <a:r>
              <a:rPr lang="en-AU" sz="2479" spc="-49" dirty="0">
                <a:solidFill>
                  <a:srgbClr val="FFFFFF"/>
                </a:solidFill>
                <a:latin typeface="DM Sans"/>
              </a:rPr>
              <a:t>Chunk 2</a:t>
            </a:r>
            <a:br>
              <a:rPr lang="en-AU" sz="2479" spc="-49" dirty="0">
                <a:solidFill>
                  <a:srgbClr val="FFFFFF"/>
                </a:solidFill>
                <a:latin typeface="DM Sans"/>
              </a:rPr>
            </a:br>
            <a:r>
              <a:rPr lang="en-AU" sz="2479" u="sng" spc="-49" dirty="0">
                <a:solidFill>
                  <a:srgbClr val="FFFFFF"/>
                </a:solidFill>
                <a:latin typeface="DM Sans"/>
              </a:rPr>
              <a:t>Local authorities warned residents about flash flooding.</a:t>
            </a:r>
            <a:br>
              <a:rPr lang="en-AU" sz="2479" u="sng" spc="-49" dirty="0">
                <a:solidFill>
                  <a:srgbClr val="FFFFFF"/>
                </a:solidFill>
                <a:latin typeface="DM Sans"/>
              </a:rPr>
            </a:br>
            <a:r>
              <a:rPr lang="en-AU" sz="2479" spc="-49" dirty="0">
                <a:solidFill>
                  <a:srgbClr val="FFFFFF"/>
                </a:solidFill>
                <a:latin typeface="DM Sans"/>
              </a:rPr>
              <a:t>Emergency services advised people to avoid low-lying roads.</a:t>
            </a:r>
          </a:p>
          <a:p>
            <a:pPr marL="1257300" lvl="2" indent="-342900">
              <a:lnSpc>
                <a:spcPts val="3422"/>
              </a:lnSpc>
              <a:buFont typeface="Arial" panose="020B0604020202020204" pitchFamily="34" charset="0"/>
              <a:buChar char="•"/>
            </a:pPr>
            <a:r>
              <a:rPr lang="en-AU" sz="2479" spc="-49" dirty="0">
                <a:solidFill>
                  <a:srgbClr val="FFFFFF"/>
                </a:solidFill>
                <a:latin typeface="DM Sans"/>
              </a:rPr>
              <a:t>Chunk 3</a:t>
            </a:r>
            <a:br>
              <a:rPr lang="en-AU" sz="2479" spc="-49" dirty="0">
                <a:solidFill>
                  <a:srgbClr val="FFFFFF"/>
                </a:solidFill>
                <a:latin typeface="DM Sans"/>
              </a:rPr>
            </a:br>
            <a:r>
              <a:rPr lang="en-AU" sz="2479" u="sng" spc="-49" dirty="0">
                <a:solidFill>
                  <a:srgbClr val="FFFFFF"/>
                </a:solidFill>
                <a:latin typeface="DM Sans"/>
              </a:rPr>
              <a:t>Emergency services advised people to avoid low-lying roads.</a:t>
            </a:r>
            <a:br>
              <a:rPr lang="en-AU" sz="2479" u="sng" spc="-49" dirty="0">
                <a:solidFill>
                  <a:srgbClr val="FFFFFF"/>
                </a:solidFill>
                <a:latin typeface="DM Sans"/>
              </a:rPr>
            </a:br>
            <a:r>
              <a:rPr lang="en-AU" sz="2479" spc="-49" dirty="0">
                <a:solidFill>
                  <a:srgbClr val="FFFFFF"/>
                </a:solidFill>
                <a:latin typeface="DM Sans"/>
              </a:rPr>
              <a:t>Several suburbs reported temporary transport disruptions.</a:t>
            </a:r>
          </a:p>
          <a:p>
            <a:pPr marL="1257300" lvl="2" indent="-342900">
              <a:lnSpc>
                <a:spcPts val="3422"/>
              </a:lnSpc>
              <a:buFont typeface="Arial" panose="020B0604020202020204" pitchFamily="34" charset="0"/>
              <a:buChar char="•"/>
            </a:pPr>
            <a:r>
              <a:rPr lang="en-AU" sz="2479" spc="-49" dirty="0">
                <a:solidFill>
                  <a:srgbClr val="FFFFFF"/>
                </a:solidFill>
                <a:latin typeface="DM Sans"/>
              </a:rPr>
              <a:t>Chunk 4</a:t>
            </a:r>
            <a:br>
              <a:rPr lang="en-AU" sz="2479" spc="-49" dirty="0">
                <a:solidFill>
                  <a:srgbClr val="FFFFFF"/>
                </a:solidFill>
                <a:latin typeface="DM Sans"/>
              </a:rPr>
            </a:br>
            <a:r>
              <a:rPr lang="en-AU" sz="2479" u="sng" spc="-49" dirty="0">
                <a:solidFill>
                  <a:srgbClr val="FFFFFF"/>
                </a:solidFill>
                <a:latin typeface="DM Sans"/>
              </a:rPr>
              <a:t>Several suburbs reported temporary transport disruptions.</a:t>
            </a:r>
            <a:br>
              <a:rPr lang="en-AU" sz="2479" u="sng" spc="-49" dirty="0">
                <a:solidFill>
                  <a:srgbClr val="FFFFFF"/>
                </a:solidFill>
                <a:latin typeface="DM Sans"/>
              </a:rPr>
            </a:br>
            <a:r>
              <a:rPr lang="en-AU" sz="2479" spc="-49" dirty="0">
                <a:solidFill>
                  <a:srgbClr val="FFFFFF"/>
                </a:solidFill>
                <a:latin typeface="DM Sans"/>
              </a:rPr>
              <a:t>The weather system moved south by the evening.</a:t>
            </a:r>
          </a:p>
          <a:p>
            <a:pPr lvl="3">
              <a:lnSpc>
                <a:spcPts val="3422"/>
              </a:lnSpc>
            </a:pPr>
            <a:endParaRPr lang="en-AU" sz="2479" spc="-49" dirty="0">
              <a:solidFill>
                <a:srgbClr val="FFFFFF"/>
              </a:solidFill>
              <a:latin typeface="DM Sans"/>
            </a:endParaRPr>
          </a:p>
          <a:p>
            <a:pPr marL="1714500" lvl="3"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p:txBody>
      </p:sp>
    </p:spTree>
    <p:extLst>
      <p:ext uri="{BB962C8B-B14F-4D97-AF65-F5344CB8AC3E}">
        <p14:creationId xmlns:p14="http://schemas.microsoft.com/office/powerpoint/2010/main" val="2469947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BD382F2E-4881-B869-F6BA-75507E6E78A3}"/>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DD414D4F-63ED-016D-B763-080E90B232C6}"/>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E56AE8FC-B491-7A23-B68E-B78A4A78D015}"/>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B59452EE-A0DE-8572-5088-727A33E246C0}"/>
              </a:ext>
            </a:extLst>
          </p:cNvPr>
          <p:cNvSpPr txBox="1"/>
          <p:nvPr/>
        </p:nvSpPr>
        <p:spPr>
          <a:xfrm>
            <a:off x="1041104" y="1584843"/>
            <a:ext cx="18025980" cy="1477328"/>
          </a:xfrm>
          <a:prstGeom prst="rect">
            <a:avLst/>
          </a:prstGeom>
        </p:spPr>
        <p:txBody>
          <a:bodyPr wrap="square" lIns="0" tIns="0" rIns="0" bIns="0" rtlCol="0" anchor="t">
            <a:spAutoFit/>
          </a:bodyPr>
          <a:lstStyle/>
          <a:p>
            <a:pPr>
              <a:spcBef>
                <a:spcPct val="0"/>
              </a:spcBef>
              <a:defRPr/>
            </a:pPr>
            <a:r>
              <a:rPr lang="en-AU" sz="4800" dirty="0">
                <a:solidFill>
                  <a:srgbClr val="0CC0DF"/>
                </a:solidFill>
                <a:latin typeface="Now Bold"/>
              </a:rPr>
              <a:t>TOOLS AND TOOL CALLING: Retrieval-Augmented Generation</a:t>
            </a:r>
            <a:endParaRPr lang="en-US" sz="4800" dirty="0">
              <a:solidFill>
                <a:srgbClr val="0CC0DF"/>
              </a:solidFill>
              <a:latin typeface="Now Bold"/>
            </a:endParaRPr>
          </a:p>
        </p:txBody>
      </p:sp>
      <p:sp>
        <p:nvSpPr>
          <p:cNvPr id="4" name="TextBox 10">
            <a:extLst>
              <a:ext uri="{FF2B5EF4-FFF2-40B4-BE49-F238E27FC236}">
                <a16:creationId xmlns:a16="http://schemas.microsoft.com/office/drawing/2014/main" id="{60C77271-C207-EE60-7482-2D8C78A8A738}"/>
              </a:ext>
            </a:extLst>
          </p:cNvPr>
          <p:cNvSpPr txBox="1"/>
          <p:nvPr/>
        </p:nvSpPr>
        <p:spPr>
          <a:xfrm>
            <a:off x="1007096" y="3673166"/>
            <a:ext cx="16513812" cy="1725857"/>
          </a:xfrm>
          <a:prstGeom prst="rect">
            <a:avLst/>
          </a:prstGeom>
        </p:spPr>
        <p:txBody>
          <a:bodyPr wrap="square" lIns="0" tIns="0" rIns="0" bIns="0" rtlCol="0" anchor="t">
            <a:spAutoFit/>
          </a:bodyPr>
          <a:lstStyle/>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p:txBody>
      </p:sp>
      <mc:AlternateContent xmlns:mc="http://schemas.openxmlformats.org/markup-compatibility/2006" xmlns:a14="http://schemas.microsoft.com/office/drawing/2010/main">
        <mc:Choice Requires="a14">
          <p:sp>
            <p:nvSpPr>
              <p:cNvPr id="8" name="TextBox 10">
                <a:extLst>
                  <a:ext uri="{FF2B5EF4-FFF2-40B4-BE49-F238E27FC236}">
                    <a16:creationId xmlns:a16="http://schemas.microsoft.com/office/drawing/2014/main" id="{9B5B672C-EC3D-2E2B-A297-50B95F752B67}"/>
                  </a:ext>
                </a:extLst>
              </p:cNvPr>
              <p:cNvSpPr txBox="1"/>
              <p:nvPr/>
            </p:nvSpPr>
            <p:spPr>
              <a:xfrm>
                <a:off x="1041104" y="3062171"/>
                <a:ext cx="16513812" cy="10391691"/>
              </a:xfrm>
              <a:prstGeom prst="rect">
                <a:avLst/>
              </a:prstGeom>
            </p:spPr>
            <p:txBody>
              <a:bodyPr wrap="square" lIns="0" tIns="0" rIns="0" bIns="0" rtlCol="0" anchor="t">
                <a:spAutoFit/>
              </a:bodyPr>
              <a:lstStyle/>
              <a:p>
                <a:pPr marL="800100" lvl="1" indent="-342900">
                  <a:lnSpc>
                    <a:spcPts val="3422"/>
                  </a:lnSpc>
                  <a:buFont typeface="Arial" panose="020B0604020202020204" pitchFamily="34" charset="0"/>
                  <a:buChar char="•"/>
                </a:pPr>
                <a:r>
                  <a:rPr lang="en-AU" sz="2479" spc="-49" dirty="0">
                    <a:solidFill>
                      <a:srgbClr val="FFFFFF"/>
                    </a:solidFill>
                    <a:latin typeface="DM Sans"/>
                  </a:rPr>
                  <a:t>Embedding</a:t>
                </a:r>
              </a:p>
              <a:p>
                <a:pPr marL="1257300" lvl="2" indent="-342900">
                  <a:lnSpc>
                    <a:spcPts val="3422"/>
                  </a:lnSpc>
                  <a:buFont typeface="Arial" panose="020B0604020202020204" pitchFamily="34" charset="0"/>
                  <a:buChar char="•"/>
                </a:pPr>
                <a:r>
                  <a:rPr lang="en-AU" sz="2479" spc="-49" dirty="0">
                    <a:solidFill>
                      <a:srgbClr val="FFFFFF"/>
                    </a:solidFill>
                    <a:latin typeface="DM Sans"/>
                  </a:rPr>
                  <a:t>An embedding is a numerical representation of data.</a:t>
                </a: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1257300" lvl="2" indent="-342900">
                  <a:lnSpc>
                    <a:spcPts val="3422"/>
                  </a:lnSpc>
                  <a:buFont typeface="Arial" panose="020B0604020202020204" pitchFamily="34" charset="0"/>
                  <a:buChar char="•"/>
                </a:pPr>
                <a:r>
                  <a:rPr lang="en-AU" sz="2479" spc="-49" dirty="0">
                    <a:solidFill>
                      <a:srgbClr val="FFFFFF"/>
                    </a:solidFill>
                    <a:latin typeface="DM Sans"/>
                  </a:rPr>
                  <a:t>It means turning text into a list of numbers (vectors) that captures some of its meaning.</a:t>
                </a: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1257300" lvl="2" indent="-342900">
                  <a:lnSpc>
                    <a:spcPts val="3422"/>
                  </a:lnSpc>
                  <a:buFont typeface="Arial" panose="020B0604020202020204" pitchFamily="34" charset="0"/>
                  <a:buChar char="•"/>
                </a:pPr>
                <a:r>
                  <a:rPr lang="en-AU" sz="2479" spc="-49" dirty="0">
                    <a:solidFill>
                      <a:srgbClr val="FFFFFF"/>
                    </a:solidFill>
                    <a:latin typeface="DM Sans"/>
                  </a:rPr>
                  <a:t>Instead of storing a sentence only as words, the system also stores it as a vector.</a:t>
                </a: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1257300" lvl="2" indent="-342900">
                  <a:lnSpc>
                    <a:spcPts val="3422"/>
                  </a:lnSpc>
                  <a:buFont typeface="Arial" panose="020B0604020202020204" pitchFamily="34" charset="0"/>
                  <a:buChar char="•"/>
                </a:pPr>
                <a:r>
                  <a:rPr lang="en-AU" sz="2479" spc="-49" dirty="0">
                    <a:solidFill>
                      <a:srgbClr val="FFFFFF"/>
                    </a:solidFill>
                    <a:latin typeface="DM Sans"/>
                  </a:rPr>
                  <a:t>For example: “cat” might have a semantic representation such as: [0.12, −0.44, 0.91, 0.03]</a:t>
                </a: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1257300" lvl="2" indent="-342900">
                  <a:lnSpc>
                    <a:spcPts val="3422"/>
                  </a:lnSpc>
                  <a:buFont typeface="Arial" panose="020B0604020202020204" pitchFamily="34" charset="0"/>
                  <a:buChar char="•"/>
                </a:pPr>
                <a:r>
                  <a:rPr lang="en-AU" sz="2479" spc="-49" dirty="0">
                    <a:solidFill>
                      <a:srgbClr val="FFFFFF"/>
                    </a:solidFill>
                    <a:latin typeface="DM Sans"/>
                  </a:rPr>
                  <a:t>Embeddings are usually much longer than this. They might have hundreds or thousands of dimensions</a:t>
                </a:r>
              </a:p>
              <a:p>
                <a:pPr marL="1257300" lvl="2" indent="-342900">
                  <a:lnSpc>
                    <a:spcPts val="3422"/>
                  </a:lnSpc>
                  <a:buFont typeface="Arial" panose="020B0604020202020204" pitchFamily="34" charset="0"/>
                  <a:buChar char="•"/>
                </a:pPr>
                <a:r>
                  <a:rPr lang="en-AU" sz="2479" spc="-49" dirty="0">
                    <a:solidFill>
                      <a:srgbClr val="FFFFFF"/>
                    </a:solidFill>
                    <a:latin typeface="DM Sans"/>
                  </a:rPr>
                  <a:t>Take these two sentences:</a:t>
                </a:r>
              </a:p>
              <a:p>
                <a:pPr lvl="3">
                  <a:lnSpc>
                    <a:spcPts val="3422"/>
                  </a:lnSpc>
                </a:pPr>
                <a:r>
                  <a:rPr lang="en-AU" sz="2479" spc="-49" dirty="0">
                    <a:solidFill>
                      <a:srgbClr val="FFFFFF"/>
                    </a:solidFill>
                    <a:latin typeface="DM Sans"/>
                  </a:rPr>
                  <a:t>“The cat is sleeping on the sofa.”</a:t>
                </a:r>
              </a:p>
              <a:p>
                <a:pPr lvl="3">
                  <a:lnSpc>
                    <a:spcPts val="3422"/>
                  </a:lnSpc>
                </a:pPr>
                <a:r>
                  <a:rPr lang="en-AU" sz="2479" spc="-49" dirty="0">
                    <a:solidFill>
                      <a:srgbClr val="FFFFFF"/>
                    </a:solidFill>
                    <a:latin typeface="DM Sans"/>
                  </a:rPr>
                  <a:t>“A kitten is resting on the couch.”</a:t>
                </a:r>
              </a:p>
              <a:p>
                <a:pPr marL="2171700" lvl="4" indent="-342900">
                  <a:lnSpc>
                    <a:spcPts val="3422"/>
                  </a:lnSpc>
                  <a:buFont typeface="Arial" panose="020B0604020202020204" pitchFamily="34" charset="0"/>
                  <a:buChar char="•"/>
                </a:pPr>
                <a:r>
                  <a:rPr lang="en-AU" sz="2479" spc="-49" dirty="0">
                    <a:solidFill>
                      <a:srgbClr val="FFFFFF"/>
                    </a:solidFill>
                    <a:latin typeface="DM Sans"/>
                  </a:rPr>
                  <a:t>An embedding </a:t>
                </a:r>
                <a:r>
                  <a:rPr lang="en-AU" sz="2479" spc="-49" dirty="0">
                    <a:solidFill>
                      <a:schemeClr val="bg1"/>
                    </a:solidFill>
                    <a:latin typeface="DM Sans"/>
                  </a:rPr>
                  <a:t>system tries to convert </a:t>
                </a:r>
                <a:r>
                  <a:rPr lang="en-AU" sz="2479" spc="-49" dirty="0">
                    <a:solidFill>
                      <a:srgbClr val="FFFFFF"/>
                    </a:solidFill>
                    <a:latin typeface="DM Sans"/>
                  </a:rPr>
                  <a:t>both into vectors that are numerically close.</a:t>
                </a:r>
              </a:p>
              <a:p>
                <a:pPr lvl="3">
                  <a:lnSpc>
                    <a:spcPts val="3422"/>
                  </a:lnSpc>
                </a:pPr>
                <a:r>
                  <a:rPr lang="en-AU" sz="2479" spc="-49" dirty="0">
                    <a:solidFill>
                      <a:srgbClr val="FFFFFF"/>
                    </a:solidFill>
                    <a:latin typeface="DM Sans"/>
                  </a:rPr>
                  <a:t>					 </a:t>
                </a:r>
                <a14:m>
                  <m:oMath xmlns:m="http://schemas.openxmlformats.org/officeDocument/2006/math">
                    <m:r>
                      <m:rPr>
                        <m:sty m:val="p"/>
                      </m:rPr>
                      <a:rPr lang="en-AU" sz="2479" spc="-49">
                        <a:solidFill>
                          <a:srgbClr val="FFFFFF"/>
                        </a:solidFill>
                        <a:latin typeface="Cambria Math" panose="02040503050406030204" pitchFamily="18" charset="0"/>
                      </a:rPr>
                      <m:t>Sentence</m:t>
                    </m:r>
                    <m:r>
                      <a:rPr lang="en-AU" sz="2479" spc="-49">
                        <a:solidFill>
                          <a:srgbClr val="FFFFFF"/>
                        </a:solidFill>
                        <a:latin typeface="Cambria Math" panose="02040503050406030204" pitchFamily="18" charset="0"/>
                      </a:rPr>
                      <m:t> 1→</m:t>
                    </m:r>
                    <m:d>
                      <m:dPr>
                        <m:begChr m:val="["/>
                        <m:endChr m:val="]"/>
                        <m:ctrlPr>
                          <a:rPr lang="en-AU" sz="2479" i="1" spc="-49">
                            <a:solidFill>
                              <a:srgbClr val="FFFFFF"/>
                            </a:solidFill>
                            <a:latin typeface="Cambria Math" panose="02040503050406030204" pitchFamily="18" charset="0"/>
                          </a:rPr>
                        </m:ctrlPr>
                      </m:dPr>
                      <m:e>
                        <m:r>
                          <a:rPr lang="en-AU" sz="2479" spc="-49">
                            <a:solidFill>
                              <a:srgbClr val="FFFFFF"/>
                            </a:solidFill>
                            <a:latin typeface="Cambria Math" panose="02040503050406030204" pitchFamily="18" charset="0"/>
                          </a:rPr>
                          <m:t>0.2, 0.8, −0.1</m:t>
                        </m:r>
                      </m:e>
                    </m:d>
                  </m:oMath>
                </a14:m>
                <a:endParaRPr lang="en-AU" sz="2479" spc="-49" dirty="0">
                  <a:solidFill>
                    <a:srgbClr val="FFFFFF"/>
                  </a:solidFill>
                  <a:latin typeface="DM Sans"/>
                </a:endParaRPr>
              </a:p>
              <a:p>
                <a:pPr lvl="3">
                  <a:lnSpc>
                    <a:spcPts val="3422"/>
                  </a:lnSpc>
                </a:pPr>
                <a14:m>
                  <m:oMathPara xmlns:m="http://schemas.openxmlformats.org/officeDocument/2006/math">
                    <m:oMathParaPr>
                      <m:jc m:val="centerGroup"/>
                    </m:oMathParaPr>
                    <m:oMath xmlns:m="http://schemas.openxmlformats.org/officeDocument/2006/math">
                      <m:r>
                        <m:rPr>
                          <m:sty m:val="p"/>
                        </m:rPr>
                        <a:rPr lang="en-AU" sz="2479" spc="-49">
                          <a:solidFill>
                            <a:srgbClr val="FFFFFF"/>
                          </a:solidFill>
                          <a:latin typeface="Cambria Math" panose="02040503050406030204" pitchFamily="18" charset="0"/>
                        </a:rPr>
                        <m:t>Sentence</m:t>
                      </m:r>
                      <m:r>
                        <a:rPr lang="en-AU" sz="2479" spc="-49">
                          <a:solidFill>
                            <a:srgbClr val="FFFFFF"/>
                          </a:solidFill>
                          <a:latin typeface="Cambria Math" panose="02040503050406030204" pitchFamily="18" charset="0"/>
                        </a:rPr>
                        <m:t> 2→[0.25,0.75,−0.05]</m:t>
                      </m:r>
                    </m:oMath>
                  </m:oMathPara>
                </a14:m>
                <a:endParaRPr lang="en-AU" sz="2479" spc="-49" dirty="0">
                  <a:solidFill>
                    <a:srgbClr val="FFFFFF"/>
                  </a:solidFill>
                  <a:latin typeface="DM Sans"/>
                </a:endParaRPr>
              </a:p>
              <a:p>
                <a:endParaRPr lang="ar-AE" sz="2479" spc="-49" dirty="0">
                  <a:solidFill>
                    <a:srgbClr val="FFFFFF"/>
                  </a:solidFill>
                  <a:latin typeface="DM Sans"/>
                </a:endParaRPr>
              </a:p>
              <a:p>
                <a:pPr lvl="2">
                  <a:lnSpc>
                    <a:spcPts val="3422"/>
                  </a:lnSpc>
                </a:pPr>
                <a:endParaRPr lang="en-AU" sz="2479" spc="-49" dirty="0">
                  <a:solidFill>
                    <a:srgbClr val="FFFFFF"/>
                  </a:solidFill>
                  <a:latin typeface="DM Sans"/>
                </a:endParaRPr>
              </a:p>
              <a:p>
                <a:pPr lvl="2">
                  <a:lnSpc>
                    <a:spcPts val="3422"/>
                  </a:lnSpc>
                </a:pPr>
                <a:r>
                  <a:rPr lang="en-AU" sz="2479" spc="-49" dirty="0">
                    <a:solidFill>
                      <a:srgbClr val="FFFFFF"/>
                    </a:solidFill>
                    <a:latin typeface="DM Sans"/>
                  </a:rPr>
                  <a:t> </a:t>
                </a: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lvl="3">
                  <a:lnSpc>
                    <a:spcPts val="3422"/>
                  </a:lnSpc>
                </a:pPr>
                <a:endParaRPr lang="en-AU" sz="2479" spc="-49" dirty="0">
                  <a:solidFill>
                    <a:srgbClr val="FFFFFF"/>
                  </a:solidFill>
                  <a:latin typeface="DM Sans"/>
                </a:endParaRPr>
              </a:p>
              <a:p>
                <a:pPr marL="1714500" lvl="3"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p:txBody>
          </p:sp>
        </mc:Choice>
        <mc:Fallback xmlns="">
          <p:sp>
            <p:nvSpPr>
              <p:cNvPr id="8" name="TextBox 10">
                <a:extLst>
                  <a:ext uri="{FF2B5EF4-FFF2-40B4-BE49-F238E27FC236}">
                    <a16:creationId xmlns:a16="http://schemas.microsoft.com/office/drawing/2014/main" id="{9B5B672C-EC3D-2E2B-A297-50B95F752B67}"/>
                  </a:ext>
                </a:extLst>
              </p:cNvPr>
              <p:cNvSpPr txBox="1">
                <a:spLocks noRot="1" noChangeAspect="1" noMove="1" noResize="1" noEditPoints="1" noAdjustHandles="1" noChangeArrowheads="1" noChangeShapeType="1" noTextEdit="1"/>
              </p:cNvSpPr>
              <p:nvPr/>
            </p:nvSpPr>
            <p:spPr>
              <a:xfrm>
                <a:off x="1041104" y="3062171"/>
                <a:ext cx="16513812" cy="10391691"/>
              </a:xfrm>
              <a:prstGeom prst="rect">
                <a:avLst/>
              </a:prstGeom>
              <a:blipFill>
                <a:blip r:embed="rId4"/>
                <a:stretch>
                  <a:fillRect l="-1230" t="-488"/>
                </a:stretch>
              </a:blipFill>
            </p:spPr>
            <p:txBody>
              <a:bodyPr/>
              <a:lstStyle/>
              <a:p>
                <a:r>
                  <a:rPr lang="en-US">
                    <a:noFill/>
                  </a:rPr>
                  <a:t> </a:t>
                </a:r>
              </a:p>
            </p:txBody>
          </p:sp>
        </mc:Fallback>
      </mc:AlternateContent>
    </p:spTree>
    <p:extLst>
      <p:ext uri="{BB962C8B-B14F-4D97-AF65-F5344CB8AC3E}">
        <p14:creationId xmlns:p14="http://schemas.microsoft.com/office/powerpoint/2010/main" val="143895402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F3406D9F-0499-FD49-AF96-D2D4FBFB5230}"/>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520D61AA-D35A-0059-1741-8B1FE6A103F7}"/>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0D31887B-9CBA-43F1-DAEE-BBD1C3783310}"/>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4FB0839E-7901-3464-0037-CA18480654CD}"/>
              </a:ext>
            </a:extLst>
          </p:cNvPr>
          <p:cNvSpPr txBox="1"/>
          <p:nvPr/>
        </p:nvSpPr>
        <p:spPr>
          <a:xfrm>
            <a:off x="1007096" y="1843516"/>
            <a:ext cx="18025980" cy="1477328"/>
          </a:xfrm>
          <a:prstGeom prst="rect">
            <a:avLst/>
          </a:prstGeom>
        </p:spPr>
        <p:txBody>
          <a:bodyPr wrap="square" lIns="0" tIns="0" rIns="0" bIns="0" rtlCol="0" anchor="t">
            <a:spAutoFit/>
          </a:bodyPr>
          <a:lstStyle/>
          <a:p>
            <a:pPr>
              <a:spcBef>
                <a:spcPct val="0"/>
              </a:spcBef>
              <a:defRPr/>
            </a:pPr>
            <a:r>
              <a:rPr lang="en-AU" sz="4800" dirty="0">
                <a:solidFill>
                  <a:srgbClr val="0CC0DF"/>
                </a:solidFill>
                <a:latin typeface="Now Bold"/>
              </a:rPr>
              <a:t>TOOLS AND TOOL CALLING: Retrieval-Augmented Generation</a:t>
            </a:r>
            <a:endParaRPr lang="en-US" sz="4800" dirty="0">
              <a:solidFill>
                <a:srgbClr val="0CC0DF"/>
              </a:solidFill>
              <a:latin typeface="Now Bold"/>
            </a:endParaRPr>
          </a:p>
        </p:txBody>
      </p:sp>
      <p:sp>
        <p:nvSpPr>
          <p:cNvPr id="4" name="TextBox 10">
            <a:extLst>
              <a:ext uri="{FF2B5EF4-FFF2-40B4-BE49-F238E27FC236}">
                <a16:creationId xmlns:a16="http://schemas.microsoft.com/office/drawing/2014/main" id="{026CA90F-631F-B712-8311-74752B659400}"/>
              </a:ext>
            </a:extLst>
          </p:cNvPr>
          <p:cNvSpPr txBox="1"/>
          <p:nvPr/>
        </p:nvSpPr>
        <p:spPr>
          <a:xfrm>
            <a:off x="1007096" y="3673166"/>
            <a:ext cx="16513812" cy="1725857"/>
          </a:xfrm>
          <a:prstGeom prst="rect">
            <a:avLst/>
          </a:prstGeom>
        </p:spPr>
        <p:txBody>
          <a:bodyPr wrap="square" lIns="0" tIns="0" rIns="0" bIns="0" rtlCol="0" anchor="t">
            <a:spAutoFit/>
          </a:bodyPr>
          <a:lstStyle/>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p:txBody>
      </p:sp>
      <mc:AlternateContent xmlns:mc="http://schemas.openxmlformats.org/markup-compatibility/2006" xmlns:a14="http://schemas.microsoft.com/office/drawing/2010/main">
        <mc:Choice Requires="a14">
          <p:sp>
            <p:nvSpPr>
              <p:cNvPr id="8" name="TextBox 10">
                <a:extLst>
                  <a:ext uri="{FF2B5EF4-FFF2-40B4-BE49-F238E27FC236}">
                    <a16:creationId xmlns:a16="http://schemas.microsoft.com/office/drawing/2014/main" id="{EA4B493C-52C0-917E-E522-8C30531EB9BA}"/>
                  </a:ext>
                </a:extLst>
              </p:cNvPr>
              <p:cNvSpPr txBox="1"/>
              <p:nvPr/>
            </p:nvSpPr>
            <p:spPr>
              <a:xfrm>
                <a:off x="1298455" y="3127276"/>
                <a:ext cx="16513812" cy="9683164"/>
              </a:xfrm>
              <a:prstGeom prst="rect">
                <a:avLst/>
              </a:prstGeom>
            </p:spPr>
            <p:txBody>
              <a:bodyPr wrap="square" lIns="0" tIns="0" rIns="0" bIns="0" rtlCol="0" anchor="t">
                <a:spAutoFit/>
              </a:bodyPr>
              <a:lstStyle/>
              <a:p>
                <a:pPr lvl="3">
                  <a:lnSpc>
                    <a:spcPts val="3422"/>
                  </a:lnSpc>
                </a:pPr>
                <a:endParaRPr lang="en-AU" sz="2479" spc="-49" dirty="0">
                  <a:solidFill>
                    <a:srgbClr val="FFFFFF"/>
                  </a:solidFill>
                  <a:latin typeface="DM Sans"/>
                </a:endParaRPr>
              </a:p>
              <a:p>
                <a:pPr marL="342900" indent="-342900">
                  <a:buFont typeface="Arial" panose="020B0604020202020204" pitchFamily="34" charset="0"/>
                  <a:buChar char="•"/>
                </a:pPr>
                <a:r>
                  <a:rPr lang="en-AU" sz="2479" spc="-49" dirty="0">
                    <a:solidFill>
                      <a:srgbClr val="FFFFFF"/>
                    </a:solidFill>
                    <a:latin typeface="DM Sans"/>
                  </a:rPr>
                  <a:t>What is semantic similarity</a:t>
                </a:r>
              </a:p>
              <a:p>
                <a:pPr marL="800100" lvl="1" indent="-342900">
                  <a:buFont typeface="Arial" panose="020B0604020202020204" pitchFamily="34" charset="0"/>
                  <a:buChar char="•"/>
                </a:pPr>
                <a:r>
                  <a:rPr lang="en-AU" sz="2479" spc="-49" dirty="0">
                    <a:solidFill>
                      <a:srgbClr val="FFFFFF"/>
                    </a:solidFill>
                    <a:latin typeface="DM Sans"/>
                  </a:rPr>
                  <a:t>Once text is turned into vectors, the system compares vectors mathematically</a:t>
                </a:r>
              </a:p>
              <a:p>
                <a:pPr marL="800100" lvl="1" indent="-342900">
                  <a:buFont typeface="Arial" panose="020B0604020202020204" pitchFamily="34" charset="0"/>
                  <a:buChar char="•"/>
                </a:pPr>
                <a:r>
                  <a:rPr lang="en-AU" sz="2479" spc="-49" dirty="0">
                    <a:solidFill>
                      <a:srgbClr val="FFFFFF"/>
                    </a:solidFill>
                    <a:latin typeface="DM Sans"/>
                  </a:rPr>
                  <a:t>The most common measure is cosine similarity</a:t>
                </a:r>
              </a:p>
              <a:p>
                <a:pPr marL="800100" lvl="1" indent="-342900">
                  <a:buFont typeface="Arial" panose="020B0604020202020204" pitchFamily="34" charset="0"/>
                  <a:buChar char="•"/>
                </a:pPr>
                <a:endParaRPr lang="en-AU" sz="2479" spc="-49" dirty="0">
                  <a:solidFill>
                    <a:srgbClr val="FFFFFF"/>
                  </a:solidFill>
                  <a:latin typeface="DM Sans"/>
                </a:endParaRPr>
              </a:p>
              <a:p>
                <a:pPr marL="342900" indent="-342900">
                  <a:buFont typeface="Arial" panose="020B0604020202020204" pitchFamily="34" charset="0"/>
                  <a:buChar char="•"/>
                </a:pPr>
                <a:r>
                  <a:rPr lang="en-AU" sz="2479" spc="-49" dirty="0">
                    <a:solidFill>
                      <a:srgbClr val="FFFFFF"/>
                    </a:solidFill>
                    <a:latin typeface="DM Sans"/>
                  </a:rPr>
                  <a:t>Cosine similarity</a:t>
                </a:r>
              </a:p>
              <a:p>
                <a:pPr marL="800100" lvl="1" indent="-342900">
                  <a:buFont typeface="Arial" panose="020B0604020202020204" pitchFamily="34" charset="0"/>
                  <a:buChar char="•"/>
                </a:pPr>
                <a:r>
                  <a:rPr lang="en-AU" sz="2479" spc="-49" dirty="0">
                    <a:solidFill>
                      <a:srgbClr val="FFFFFF"/>
                    </a:solidFill>
                    <a:latin typeface="DM Sans"/>
                  </a:rPr>
                  <a:t>measures the angle between two vectors.</a:t>
                </a:r>
              </a:p>
              <a:p>
                <a:pPr marL="1257300" lvl="2" indent="-342900">
                  <a:buFont typeface="Arial" panose="020B0604020202020204" pitchFamily="34" charset="0"/>
                  <a:buChar char="•"/>
                </a:pPr>
                <a:r>
                  <a:rPr lang="en-AU" sz="2479" spc="-49" dirty="0">
                    <a:solidFill>
                      <a:srgbClr val="FFFFFF"/>
                    </a:solidFill>
                    <a:latin typeface="DM Sans"/>
                  </a:rPr>
                  <a:t>If two vectors point in almost the same direction, cosine similarity is high.</a:t>
                </a:r>
              </a:p>
              <a:p>
                <a:pPr marL="1257300" lvl="2" indent="-342900">
                  <a:buFont typeface="Arial" panose="020B0604020202020204" pitchFamily="34" charset="0"/>
                  <a:buChar char="•"/>
                </a:pPr>
                <a:r>
                  <a:rPr lang="en-AU" sz="2479" spc="-49" dirty="0">
                    <a:solidFill>
                      <a:srgbClr val="FFFFFF"/>
                    </a:solidFill>
                    <a:latin typeface="DM Sans"/>
                  </a:rPr>
                  <a:t>If they point in different directions, cosine similarity is low.</a:t>
                </a:r>
              </a:p>
              <a:p>
                <a:pPr marL="1257300" lvl="2" indent="-342900">
                  <a:buFont typeface="Arial" panose="020B0604020202020204" pitchFamily="34" charset="0"/>
                  <a:buChar char="•"/>
                </a:pPr>
                <a:endParaRPr lang="en-AU" sz="2479" spc="-49" dirty="0">
                  <a:solidFill>
                    <a:srgbClr val="FFFFFF"/>
                  </a:solidFill>
                  <a:latin typeface="DM Sans"/>
                </a:endParaRPr>
              </a:p>
              <a:p>
                <a:pPr lvl="8">
                  <a:lnSpc>
                    <a:spcPts val="3422"/>
                  </a:lnSpc>
                </a:pPr>
                <a:r>
                  <a:rPr lang="en-AU" sz="2479" spc="-49" dirty="0">
                    <a:solidFill>
                      <a:srgbClr val="FFFFFF"/>
                    </a:solidFill>
                  </a:rPr>
                  <a:t>			</a:t>
                </a:r>
                <a14:m>
                  <m:oMath xmlns:m="http://schemas.openxmlformats.org/officeDocument/2006/math">
                    <m:func>
                      <m:funcPr>
                        <m:ctrlPr>
                          <a:rPr lang="en-AU" sz="2479" i="1" spc="-49">
                            <a:solidFill>
                              <a:srgbClr val="FFFFFF"/>
                            </a:solidFill>
                            <a:latin typeface="Cambria Math" panose="02040503050406030204" pitchFamily="18" charset="0"/>
                          </a:rPr>
                        </m:ctrlPr>
                      </m:funcPr>
                      <m:fName>
                        <m:r>
                          <m:rPr>
                            <m:sty m:val="p"/>
                          </m:rPr>
                          <a:rPr lang="en-AU" sz="2479" spc="-49">
                            <a:solidFill>
                              <a:srgbClr val="FFFFFF"/>
                            </a:solidFill>
                            <a:latin typeface="Cambria Math" panose="02040503050406030204" pitchFamily="18" charset="0"/>
                          </a:rPr>
                          <m:t>cos</m:t>
                        </m:r>
                      </m:fName>
                      <m:e>
                        <m:d>
                          <m:dPr>
                            <m:ctrlPr>
                              <a:rPr lang="en-AU" sz="2479" i="1" spc="-49">
                                <a:solidFill>
                                  <a:srgbClr val="FFFFFF"/>
                                </a:solidFill>
                                <a:latin typeface="Cambria Math" panose="02040503050406030204" pitchFamily="18" charset="0"/>
                              </a:rPr>
                            </m:ctrlPr>
                          </m:dPr>
                          <m:e>
                            <m:r>
                              <a:rPr lang="en-AU" sz="2479" i="1" spc="-49">
                                <a:solidFill>
                                  <a:srgbClr val="FFFFFF"/>
                                </a:solidFill>
                                <a:latin typeface="Cambria Math" panose="02040503050406030204" pitchFamily="18" charset="0"/>
                                <a:ea typeface="Cambria Math" panose="02040503050406030204" pitchFamily="18" charset="0"/>
                              </a:rPr>
                              <m:t>𝜃</m:t>
                            </m:r>
                          </m:e>
                        </m:d>
                      </m:e>
                    </m:func>
                    <m:r>
                      <a:rPr lang="en-AU" sz="2479" i="1" spc="-49">
                        <a:solidFill>
                          <a:srgbClr val="FFFFFF"/>
                        </a:solidFill>
                        <a:latin typeface="Cambria Math" panose="02040503050406030204" pitchFamily="18" charset="0"/>
                        <a:ea typeface="Cambria Math" panose="02040503050406030204" pitchFamily="18" charset="0"/>
                      </a:rPr>
                      <m:t>=</m:t>
                    </m:r>
                    <m:f>
                      <m:fPr>
                        <m:ctrlPr>
                          <a:rPr lang="en-AU" sz="2479" i="1" spc="-49">
                            <a:solidFill>
                              <a:srgbClr val="FFFFFF"/>
                            </a:solidFill>
                            <a:latin typeface="Cambria Math" panose="02040503050406030204" pitchFamily="18" charset="0"/>
                            <a:ea typeface="Cambria Math" panose="02040503050406030204" pitchFamily="18" charset="0"/>
                          </a:rPr>
                        </m:ctrlPr>
                      </m:fPr>
                      <m:num>
                        <m:r>
                          <a:rPr lang="en-AU" sz="2479" i="1" spc="-49">
                            <a:solidFill>
                              <a:srgbClr val="FFFFFF"/>
                            </a:solidFill>
                            <a:latin typeface="Cambria Math" panose="02040503050406030204" pitchFamily="18" charset="0"/>
                            <a:ea typeface="Cambria Math" panose="02040503050406030204" pitchFamily="18" charset="0"/>
                          </a:rPr>
                          <m:t>𝐴</m:t>
                        </m:r>
                        <m:r>
                          <a:rPr lang="en-AU" sz="2479" i="1" spc="-49">
                            <a:solidFill>
                              <a:srgbClr val="FFFFFF"/>
                            </a:solidFill>
                            <a:latin typeface="Cambria Math" panose="02040503050406030204" pitchFamily="18" charset="0"/>
                            <a:ea typeface="Cambria Math" panose="02040503050406030204" pitchFamily="18" charset="0"/>
                          </a:rPr>
                          <m:t>.</m:t>
                        </m:r>
                        <m:r>
                          <a:rPr lang="en-AU" sz="2479" i="1" spc="-49">
                            <a:solidFill>
                              <a:srgbClr val="FFFFFF"/>
                            </a:solidFill>
                            <a:latin typeface="Cambria Math" panose="02040503050406030204" pitchFamily="18" charset="0"/>
                            <a:ea typeface="Cambria Math" panose="02040503050406030204" pitchFamily="18" charset="0"/>
                          </a:rPr>
                          <m:t>𝐵</m:t>
                        </m:r>
                      </m:num>
                      <m:den>
                        <m:d>
                          <m:dPr>
                            <m:begChr m:val="‖"/>
                            <m:endChr m:val=""/>
                            <m:ctrlPr>
                              <a:rPr lang="en-AU" sz="2479" i="1" spc="-49">
                                <a:solidFill>
                                  <a:srgbClr val="FFFFFF"/>
                                </a:solidFill>
                                <a:latin typeface="Cambria Math" panose="02040503050406030204" pitchFamily="18" charset="0"/>
                                <a:ea typeface="Cambria Math" panose="02040503050406030204" pitchFamily="18" charset="0"/>
                              </a:rPr>
                            </m:ctrlPr>
                          </m:dPr>
                          <m:e>
                            <m:d>
                              <m:dPr>
                                <m:begChr m:val=""/>
                                <m:endChr m:val="‖"/>
                                <m:ctrlPr>
                                  <a:rPr lang="en-AU" sz="2479" i="1" spc="-49">
                                    <a:solidFill>
                                      <a:srgbClr val="FFFFFF"/>
                                    </a:solidFill>
                                    <a:latin typeface="Cambria Math" panose="02040503050406030204" pitchFamily="18" charset="0"/>
                                    <a:ea typeface="Cambria Math" panose="02040503050406030204" pitchFamily="18" charset="0"/>
                                  </a:rPr>
                                </m:ctrlPr>
                              </m:dPr>
                              <m:e>
                                <m:r>
                                  <a:rPr lang="en-AU" sz="2479" i="1" spc="-49">
                                    <a:solidFill>
                                      <a:srgbClr val="FFFFFF"/>
                                    </a:solidFill>
                                    <a:latin typeface="Cambria Math" panose="02040503050406030204" pitchFamily="18" charset="0"/>
                                    <a:ea typeface="Cambria Math" panose="02040503050406030204" pitchFamily="18" charset="0"/>
                                  </a:rPr>
                                  <m:t>𝐴</m:t>
                                </m:r>
                              </m:e>
                            </m:d>
                          </m:e>
                        </m:d>
                        <m:d>
                          <m:dPr>
                            <m:begChr m:val="‖"/>
                            <m:endChr m:val=""/>
                            <m:ctrlPr>
                              <a:rPr lang="en-AU" sz="2479" i="1" spc="-49">
                                <a:solidFill>
                                  <a:srgbClr val="FFFFFF"/>
                                </a:solidFill>
                                <a:latin typeface="Cambria Math" panose="02040503050406030204" pitchFamily="18" charset="0"/>
                                <a:ea typeface="Cambria Math" panose="02040503050406030204" pitchFamily="18" charset="0"/>
                              </a:rPr>
                            </m:ctrlPr>
                          </m:dPr>
                          <m:e>
                            <m:d>
                              <m:dPr>
                                <m:begChr m:val=""/>
                                <m:endChr m:val="‖"/>
                                <m:ctrlPr>
                                  <a:rPr lang="en-AU" sz="2479" i="1" spc="-49">
                                    <a:solidFill>
                                      <a:srgbClr val="FFFFFF"/>
                                    </a:solidFill>
                                    <a:latin typeface="Cambria Math" panose="02040503050406030204" pitchFamily="18" charset="0"/>
                                    <a:ea typeface="Cambria Math" panose="02040503050406030204" pitchFamily="18" charset="0"/>
                                  </a:rPr>
                                </m:ctrlPr>
                              </m:dPr>
                              <m:e>
                                <m:r>
                                  <a:rPr lang="en-AU" sz="2479" i="1" spc="-49">
                                    <a:solidFill>
                                      <a:srgbClr val="FFFFFF"/>
                                    </a:solidFill>
                                    <a:latin typeface="Cambria Math" panose="02040503050406030204" pitchFamily="18" charset="0"/>
                                    <a:ea typeface="Cambria Math" panose="02040503050406030204" pitchFamily="18" charset="0"/>
                                  </a:rPr>
                                  <m:t>𝐵</m:t>
                                </m:r>
                              </m:e>
                            </m:d>
                          </m:e>
                        </m:d>
                      </m:den>
                    </m:f>
                  </m:oMath>
                </a14:m>
                <a:r>
                  <a:rPr lang="en-AU" sz="2479" spc="-49" dirty="0">
                    <a:solidFill>
                      <a:srgbClr val="FFFFFF"/>
                    </a:solidFill>
                    <a:latin typeface="DM Sans"/>
                  </a:rPr>
                  <a:t> </a:t>
                </a:r>
              </a:p>
              <a:p>
                <a:pPr lvl="3" algn="ctr">
                  <a:lnSpc>
                    <a:spcPts val="3422"/>
                  </a:lnSpc>
                </a:pPr>
                <a:endParaRPr lang="en-AU" sz="2479" spc="-49" dirty="0">
                  <a:solidFill>
                    <a:srgbClr val="FFFFFF"/>
                  </a:solidFill>
                  <a:latin typeface="DM Sans"/>
                </a:endParaRPr>
              </a:p>
              <a:p>
                <a:pPr marL="800100" lvl="1" indent="-342900">
                  <a:buFont typeface="Arial" panose="020B0604020202020204" pitchFamily="34" charset="0"/>
                  <a:buChar char="•"/>
                </a:pPr>
                <a:r>
                  <a:rPr lang="en-AU" sz="2479" spc="-49" dirty="0">
                    <a:solidFill>
                      <a:srgbClr val="FFFFFF"/>
                    </a:solidFill>
                    <a:latin typeface="DM Sans"/>
                  </a:rPr>
                  <a:t>A⋅B is the dot product</a:t>
                </a:r>
              </a:p>
              <a:p>
                <a:pPr marL="800100" lvl="1" indent="-342900">
                  <a:buFont typeface="Arial" panose="020B0604020202020204" pitchFamily="34" charset="0"/>
                  <a:buChar char="•"/>
                </a:pPr>
                <a:r>
                  <a:rPr lang="en-AU" sz="2479" spc="-49" dirty="0">
                    <a:solidFill>
                      <a:srgbClr val="FFFFFF"/>
                    </a:solidFill>
                    <a:latin typeface="DM Sans"/>
                  </a:rPr>
                  <a:t>∥A∥ is the length of vector A</a:t>
                </a:r>
              </a:p>
              <a:p>
                <a:pPr marL="800100" lvl="1" indent="-342900">
                  <a:buFont typeface="Arial" panose="020B0604020202020204" pitchFamily="34" charset="0"/>
                  <a:buChar char="•"/>
                </a:pPr>
                <a:r>
                  <a:rPr lang="en-AU" sz="2479" spc="-49" dirty="0">
                    <a:solidFill>
                      <a:srgbClr val="FFFFFF"/>
                    </a:solidFill>
                    <a:latin typeface="DM Sans"/>
                  </a:rPr>
                  <a:t>∥B∥ is the length of vector B</a:t>
                </a:r>
              </a:p>
              <a:p>
                <a:pPr marL="800100" lvl="1" indent="-342900">
                  <a:buFont typeface="Arial" panose="020B0604020202020204" pitchFamily="34" charset="0"/>
                  <a:buChar char="•"/>
                </a:pPr>
                <a:endParaRPr lang="en-AU" sz="2479" spc="-49" dirty="0">
                  <a:solidFill>
                    <a:srgbClr val="FFFFFF"/>
                  </a:solidFill>
                  <a:latin typeface="DM Sans"/>
                </a:endParaRPr>
              </a:p>
              <a:p>
                <a:pPr marL="800100" lvl="1" indent="-342900">
                  <a:buFont typeface="Arial" panose="020B0604020202020204" pitchFamily="34" charset="0"/>
                  <a:buChar char="•"/>
                </a:pPr>
                <a:endParaRPr lang="en-AU" sz="2479" b="0" spc="-49" dirty="0">
                  <a:solidFill>
                    <a:srgbClr val="FFFFFF"/>
                  </a:solidFill>
                  <a:latin typeface="DM Sans"/>
                  <a:ea typeface="Cambria Math" panose="02040503050406030204" pitchFamily="18" charset="0"/>
                </a:endParaRPr>
              </a:p>
              <a:p>
                <a:pPr lvl="3">
                  <a:lnSpc>
                    <a:spcPts val="3422"/>
                  </a:lnSpc>
                </a:pPr>
                <a:endParaRPr lang="en-AU" sz="2479" spc="-49" dirty="0">
                  <a:solidFill>
                    <a:srgbClr val="FFFFFF"/>
                  </a:solidFill>
                  <a:latin typeface="DM Sans"/>
                </a:endParaRPr>
              </a:p>
              <a:p>
                <a:pPr lvl="3">
                  <a:lnSpc>
                    <a:spcPts val="3422"/>
                  </a:lnSpc>
                </a:pPr>
                <a:r>
                  <a:rPr lang="en-AU" sz="2479" spc="-49" dirty="0">
                    <a:solidFill>
                      <a:srgbClr val="FFFFFF"/>
                    </a:solidFill>
                    <a:latin typeface="DM Sans"/>
                  </a:rPr>
                  <a:t> </a:t>
                </a: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lvl="3">
                  <a:lnSpc>
                    <a:spcPts val="3422"/>
                  </a:lnSpc>
                </a:pPr>
                <a:endParaRPr lang="en-AU" sz="2479" spc="-49" dirty="0">
                  <a:solidFill>
                    <a:srgbClr val="FFFFFF"/>
                  </a:solidFill>
                  <a:latin typeface="DM Sans"/>
                </a:endParaRPr>
              </a:p>
              <a:p>
                <a:pPr marL="1714500" lvl="3"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p:txBody>
          </p:sp>
        </mc:Choice>
        <mc:Fallback xmlns="">
          <p:sp>
            <p:nvSpPr>
              <p:cNvPr id="8" name="TextBox 10">
                <a:extLst>
                  <a:ext uri="{FF2B5EF4-FFF2-40B4-BE49-F238E27FC236}">
                    <a16:creationId xmlns:a16="http://schemas.microsoft.com/office/drawing/2014/main" id="{EA4B493C-52C0-917E-E522-8C30531EB9BA}"/>
                  </a:ext>
                </a:extLst>
              </p:cNvPr>
              <p:cNvSpPr txBox="1">
                <a:spLocks noRot="1" noChangeAspect="1" noMove="1" noResize="1" noEditPoints="1" noAdjustHandles="1" noChangeArrowheads="1" noChangeShapeType="1" noTextEdit="1"/>
              </p:cNvSpPr>
              <p:nvPr/>
            </p:nvSpPr>
            <p:spPr>
              <a:xfrm>
                <a:off x="1298455" y="3127276"/>
                <a:ext cx="16513812" cy="9683164"/>
              </a:xfrm>
              <a:prstGeom prst="rect">
                <a:avLst/>
              </a:prstGeom>
              <a:blipFill>
                <a:blip r:embed="rId4"/>
                <a:stretch>
                  <a:fillRect l="-1153"/>
                </a:stretch>
              </a:blipFill>
            </p:spPr>
            <p:txBody>
              <a:bodyPr/>
              <a:lstStyle/>
              <a:p>
                <a:r>
                  <a:rPr lang="en-US">
                    <a:noFill/>
                  </a:rPr>
                  <a:t> </a:t>
                </a:r>
              </a:p>
            </p:txBody>
          </p:sp>
        </mc:Fallback>
      </mc:AlternateContent>
    </p:spTree>
    <p:extLst>
      <p:ext uri="{BB962C8B-B14F-4D97-AF65-F5344CB8AC3E}">
        <p14:creationId xmlns:p14="http://schemas.microsoft.com/office/powerpoint/2010/main" val="227841578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3097763A-DBDA-CBB2-5AEF-C132F5FEE76D}"/>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FF3709A-A1C7-E0CC-B5E1-11C6C2964EA0}"/>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42B13F17-00EB-A677-F74F-512964775E10}"/>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3B8F85B9-C6AE-581D-DC91-7A9317E33728}"/>
              </a:ext>
            </a:extLst>
          </p:cNvPr>
          <p:cNvSpPr txBox="1"/>
          <p:nvPr/>
        </p:nvSpPr>
        <p:spPr>
          <a:xfrm>
            <a:off x="1007096" y="1843516"/>
            <a:ext cx="18025980" cy="1477328"/>
          </a:xfrm>
          <a:prstGeom prst="rect">
            <a:avLst/>
          </a:prstGeom>
        </p:spPr>
        <p:txBody>
          <a:bodyPr wrap="square" lIns="0" tIns="0" rIns="0" bIns="0" rtlCol="0" anchor="t">
            <a:spAutoFit/>
          </a:bodyPr>
          <a:lstStyle/>
          <a:p>
            <a:pPr>
              <a:spcBef>
                <a:spcPct val="0"/>
              </a:spcBef>
              <a:defRPr/>
            </a:pPr>
            <a:r>
              <a:rPr lang="en-AU" sz="4800" dirty="0">
                <a:solidFill>
                  <a:srgbClr val="0CC0DF"/>
                </a:solidFill>
                <a:latin typeface="Now Bold"/>
              </a:rPr>
              <a:t>TOOLS AND TOOL CALLING: Retrieval-Augmented Generation</a:t>
            </a:r>
            <a:endParaRPr lang="en-US" sz="4800" dirty="0">
              <a:solidFill>
                <a:srgbClr val="0CC0DF"/>
              </a:solidFill>
              <a:latin typeface="Now Bold"/>
            </a:endParaRPr>
          </a:p>
        </p:txBody>
      </p:sp>
      <p:sp>
        <p:nvSpPr>
          <p:cNvPr id="4" name="TextBox 10">
            <a:extLst>
              <a:ext uri="{FF2B5EF4-FFF2-40B4-BE49-F238E27FC236}">
                <a16:creationId xmlns:a16="http://schemas.microsoft.com/office/drawing/2014/main" id="{2F3E2D9B-89B4-2EB4-78D3-2347C9DA93A7}"/>
              </a:ext>
            </a:extLst>
          </p:cNvPr>
          <p:cNvSpPr txBox="1"/>
          <p:nvPr/>
        </p:nvSpPr>
        <p:spPr>
          <a:xfrm>
            <a:off x="1007096" y="3673166"/>
            <a:ext cx="16513812" cy="1725857"/>
          </a:xfrm>
          <a:prstGeom prst="rect">
            <a:avLst/>
          </a:prstGeom>
        </p:spPr>
        <p:txBody>
          <a:bodyPr wrap="square" lIns="0" tIns="0" rIns="0" bIns="0" rtlCol="0" anchor="t">
            <a:spAutoFit/>
          </a:bodyPr>
          <a:lstStyle/>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p:txBody>
      </p:sp>
      <mc:AlternateContent xmlns:mc="http://schemas.openxmlformats.org/markup-compatibility/2006" xmlns:a14="http://schemas.microsoft.com/office/drawing/2010/main">
        <mc:Choice Requires="a14">
          <p:sp>
            <p:nvSpPr>
              <p:cNvPr id="8" name="TextBox 10">
                <a:extLst>
                  <a:ext uri="{FF2B5EF4-FFF2-40B4-BE49-F238E27FC236}">
                    <a16:creationId xmlns:a16="http://schemas.microsoft.com/office/drawing/2014/main" id="{FD3AFAB4-ECC7-AE9F-EC5C-4EA137610262}"/>
                  </a:ext>
                </a:extLst>
              </p:cNvPr>
              <p:cNvSpPr txBox="1"/>
              <p:nvPr/>
            </p:nvSpPr>
            <p:spPr>
              <a:xfrm>
                <a:off x="1655168" y="3154735"/>
                <a:ext cx="16513812" cy="10231583"/>
              </a:xfrm>
              <a:prstGeom prst="rect">
                <a:avLst/>
              </a:prstGeom>
            </p:spPr>
            <p:txBody>
              <a:bodyPr wrap="square" lIns="0" tIns="0" rIns="0" bIns="0" rtlCol="0" anchor="t">
                <a:spAutoFit/>
              </a:bodyPr>
              <a:lstStyle/>
              <a:p>
                <a:pPr lvl="3">
                  <a:lnSpc>
                    <a:spcPts val="3422"/>
                  </a:lnSpc>
                </a:pPr>
                <a:endParaRPr lang="en-AU" sz="2479" spc="-49" dirty="0">
                  <a:solidFill>
                    <a:srgbClr val="FFFFFF"/>
                  </a:solidFill>
                  <a:latin typeface="DM Sans"/>
                </a:endParaRPr>
              </a:p>
              <a:p>
                <a:pPr marL="800100" lvl="1" indent="-342900">
                  <a:buFont typeface="Arial" panose="020B0604020202020204" pitchFamily="34" charset="0"/>
                  <a:buChar char="•"/>
                </a:pPr>
                <a:r>
                  <a:rPr lang="en-AU" sz="2479" spc="-49" dirty="0">
                    <a:solidFill>
                      <a:srgbClr val="FFFFFF"/>
                    </a:solidFill>
                    <a:latin typeface="DM Sans"/>
                  </a:rPr>
                  <a:t>Let:</a:t>
                </a:r>
              </a:p>
              <a:p>
                <a:pPr marL="1257300" lvl="2" indent="-342900">
                  <a:buFont typeface="Arial" panose="020B0604020202020204" pitchFamily="34" charset="0"/>
                  <a:buChar char="•"/>
                </a:pPr>
                <a:r>
                  <a:rPr lang="en-AU" sz="2479" spc="-49" dirty="0">
                    <a:solidFill>
                      <a:srgbClr val="FFFFFF"/>
                    </a:solidFill>
                    <a:latin typeface="DM Sans"/>
                  </a:rPr>
                  <a:t>𝐴=[1, 2]</a:t>
                </a:r>
              </a:p>
              <a:p>
                <a:pPr marL="1257300" lvl="2" indent="-342900">
                  <a:buFont typeface="Arial" panose="020B0604020202020204" pitchFamily="34" charset="0"/>
                  <a:buChar char="•"/>
                </a:pPr>
                <a:r>
                  <a:rPr lang="en-AU" sz="2479" spc="-49" dirty="0">
                    <a:solidFill>
                      <a:srgbClr val="FFFFFF"/>
                    </a:solidFill>
                    <a:latin typeface="DM Sans"/>
                  </a:rPr>
                  <a:t>𝐵=[2, 4]</a:t>
                </a:r>
              </a:p>
              <a:p>
                <a:pPr marL="1257300" lvl="2" indent="-342900">
                  <a:buFont typeface="Arial" panose="020B0604020202020204" pitchFamily="34" charset="0"/>
                  <a:buChar char="•"/>
                </a:pPr>
                <a:endParaRPr lang="en-AU" sz="2479" spc="-49" dirty="0">
                  <a:solidFill>
                    <a:srgbClr val="FFFFFF"/>
                  </a:solidFill>
                  <a:latin typeface="DM Sans"/>
                </a:endParaRPr>
              </a:p>
              <a:p>
                <a:pPr marL="800100" lvl="1" indent="-342900">
                  <a:buFont typeface="Arial" panose="020B0604020202020204" pitchFamily="34" charset="0"/>
                  <a:buChar char="•"/>
                </a:pPr>
                <a:r>
                  <a:rPr lang="en-AU" sz="2479" spc="-49" dirty="0">
                    <a:solidFill>
                      <a:srgbClr val="FFFFFF"/>
                    </a:solidFill>
                    <a:latin typeface="DM Sans"/>
                  </a:rPr>
                  <a:t>Step 1: dot product</a:t>
                </a:r>
              </a:p>
              <a:p>
                <a:pPr marL="1257300" lvl="2" indent="-342900">
                  <a:buFont typeface="Arial" panose="020B0604020202020204" pitchFamily="34" charset="0"/>
                  <a:buChar char="•"/>
                </a:pPr>
                <a:r>
                  <a:rPr lang="en-AU" sz="2479" spc="-49" dirty="0">
                    <a:solidFill>
                      <a:srgbClr val="FFFFFF"/>
                    </a:solidFill>
                    <a:latin typeface="DM Sans"/>
                  </a:rPr>
                  <a:t>𝐴⋅𝐵=(1)(2)+(2)(4)=2+8=10</a:t>
                </a:r>
              </a:p>
              <a:p>
                <a:pPr marL="800100" lvl="1" indent="-342900">
                  <a:buFont typeface="Arial" panose="020B0604020202020204" pitchFamily="34" charset="0"/>
                  <a:buChar char="•"/>
                </a:pPr>
                <a:r>
                  <a:rPr lang="en-AU" sz="2479" spc="-49" dirty="0">
                    <a:solidFill>
                      <a:srgbClr val="FFFFFF"/>
                    </a:solidFill>
                    <a:latin typeface="DM Sans"/>
                  </a:rPr>
                  <a:t>Step 2: length of A</a:t>
                </a:r>
              </a:p>
              <a:p>
                <a:pPr marL="1257300" lvl="2" indent="-342900">
                  <a:buFont typeface="Arial" panose="020B0604020202020204" pitchFamily="34" charset="0"/>
                  <a:buChar char="•"/>
                </a:pPr>
                <a:r>
                  <a:rPr lang="en-AU" sz="2479" spc="-49" dirty="0">
                    <a:solidFill>
                      <a:srgbClr val="FFFFFF"/>
                    </a:solidFill>
                    <a:latin typeface="DM Sans"/>
                  </a:rPr>
                  <a:t>∥𝐴∥=</a:t>
                </a:r>
                <a14:m>
                  <m:oMath xmlns:m="http://schemas.openxmlformats.org/officeDocument/2006/math">
                    <m:rad>
                      <m:radPr>
                        <m:degHide m:val="on"/>
                        <m:ctrlPr>
                          <a:rPr lang="en-AU" sz="2479" i="1" spc="-49" dirty="0" smtClean="0">
                            <a:solidFill>
                              <a:srgbClr val="FFFFFF"/>
                            </a:solidFill>
                            <a:latin typeface="Cambria Math" panose="02040503050406030204" pitchFamily="18" charset="0"/>
                          </a:rPr>
                        </m:ctrlPr>
                      </m:radPr>
                      <m:deg/>
                      <m:e>
                        <m:sSup>
                          <m:sSupPr>
                            <m:ctrlPr>
                              <a:rPr lang="en-AU" sz="2479" i="1" spc="-49" dirty="0" smtClean="0">
                                <a:solidFill>
                                  <a:srgbClr val="FFFFFF"/>
                                </a:solidFill>
                                <a:latin typeface="Cambria Math" panose="02040503050406030204" pitchFamily="18" charset="0"/>
                              </a:rPr>
                            </m:ctrlPr>
                          </m:sSupPr>
                          <m:e>
                            <m:r>
                              <a:rPr lang="en-AU" sz="2479" i="1" spc="-49" dirty="0" smtClean="0">
                                <a:solidFill>
                                  <a:srgbClr val="FFFFFF"/>
                                </a:solidFill>
                                <a:latin typeface="Cambria Math" panose="02040503050406030204" pitchFamily="18" charset="0"/>
                              </a:rPr>
                              <m:t>1</m:t>
                            </m:r>
                          </m:e>
                          <m:sup>
                            <m:r>
                              <a:rPr lang="en-AU" sz="2479" i="1" spc="-49" dirty="0" smtClean="0">
                                <a:solidFill>
                                  <a:srgbClr val="FFFFFF"/>
                                </a:solidFill>
                                <a:latin typeface="Cambria Math" panose="02040503050406030204" pitchFamily="18" charset="0"/>
                              </a:rPr>
                              <m:t>2</m:t>
                            </m:r>
                          </m:sup>
                        </m:sSup>
                        <m:r>
                          <a:rPr lang="en-AU" sz="2479" i="1" spc="-49" dirty="0" smtClean="0">
                            <a:solidFill>
                              <a:srgbClr val="FFFFFF"/>
                            </a:solidFill>
                            <a:latin typeface="Cambria Math" panose="02040503050406030204" pitchFamily="18" charset="0"/>
                          </a:rPr>
                          <m:t>+</m:t>
                        </m:r>
                        <m:sSup>
                          <m:sSupPr>
                            <m:ctrlPr>
                              <a:rPr lang="en-AU" sz="2479" i="1" spc="-49" dirty="0" smtClean="0">
                                <a:solidFill>
                                  <a:srgbClr val="FFFFFF"/>
                                </a:solidFill>
                                <a:latin typeface="Cambria Math" panose="02040503050406030204" pitchFamily="18" charset="0"/>
                              </a:rPr>
                            </m:ctrlPr>
                          </m:sSupPr>
                          <m:e>
                            <m:r>
                              <a:rPr lang="en-AU" sz="2479" i="1" spc="-49" dirty="0" smtClean="0">
                                <a:solidFill>
                                  <a:srgbClr val="FFFFFF"/>
                                </a:solidFill>
                                <a:latin typeface="Cambria Math" panose="02040503050406030204" pitchFamily="18" charset="0"/>
                              </a:rPr>
                              <m:t>2</m:t>
                            </m:r>
                          </m:e>
                          <m:sup>
                            <m:r>
                              <a:rPr lang="en-AU" sz="2479" i="1" spc="-49" dirty="0" smtClean="0">
                                <a:solidFill>
                                  <a:srgbClr val="FFFFFF"/>
                                </a:solidFill>
                                <a:latin typeface="Cambria Math" panose="02040503050406030204" pitchFamily="18" charset="0"/>
                              </a:rPr>
                              <m:t>2</m:t>
                            </m:r>
                          </m:sup>
                        </m:sSup>
                      </m:e>
                    </m:rad>
                    <m:r>
                      <a:rPr lang="en-AU" sz="2479" i="1" spc="-49" dirty="0" smtClean="0">
                        <a:solidFill>
                          <a:srgbClr val="FFFFFF"/>
                        </a:solidFill>
                        <a:latin typeface="Cambria Math" panose="02040503050406030204" pitchFamily="18" charset="0"/>
                      </a:rPr>
                      <m:t>=</m:t>
                    </m:r>
                    <m:rad>
                      <m:radPr>
                        <m:degHide m:val="on"/>
                        <m:ctrlPr>
                          <a:rPr lang="en-AU" sz="2479" i="1" spc="-49" dirty="0" smtClean="0">
                            <a:solidFill>
                              <a:srgbClr val="FFFFFF"/>
                            </a:solidFill>
                            <a:latin typeface="Cambria Math" panose="02040503050406030204" pitchFamily="18" charset="0"/>
                          </a:rPr>
                        </m:ctrlPr>
                      </m:radPr>
                      <m:deg/>
                      <m:e>
                        <m:r>
                          <a:rPr lang="en-AU" sz="2479" i="1" spc="-49" dirty="0" smtClean="0">
                            <a:solidFill>
                              <a:srgbClr val="FFFFFF"/>
                            </a:solidFill>
                            <a:latin typeface="Cambria Math" panose="02040503050406030204" pitchFamily="18" charset="0"/>
                          </a:rPr>
                          <m:t>5</m:t>
                        </m:r>
                      </m:e>
                    </m:rad>
                  </m:oMath>
                </a14:m>
                <a:endParaRPr lang="en-AU" sz="2479" spc="-49" dirty="0">
                  <a:solidFill>
                    <a:srgbClr val="FFFFFF"/>
                  </a:solidFill>
                  <a:latin typeface="DM Sans"/>
                </a:endParaRPr>
              </a:p>
              <a:p>
                <a:pPr marL="800100" lvl="1" indent="-342900">
                  <a:buFont typeface="Arial" panose="020B0604020202020204" pitchFamily="34" charset="0"/>
                  <a:buChar char="•"/>
                </a:pPr>
                <a:r>
                  <a:rPr lang="en-AU" sz="2479" spc="-49" dirty="0">
                    <a:solidFill>
                      <a:srgbClr val="FFFFFF"/>
                    </a:solidFill>
                    <a:latin typeface="DM Sans"/>
                  </a:rPr>
                  <a:t>Step 3: length of B</a:t>
                </a:r>
              </a:p>
              <a:p>
                <a:pPr marL="1257300" lvl="2" indent="-342900">
                  <a:buFont typeface="Arial" panose="020B0604020202020204" pitchFamily="34" charset="0"/>
                  <a:buChar char="•"/>
                </a:pPr>
                <a14:m>
                  <m:oMath xmlns:m="http://schemas.openxmlformats.org/officeDocument/2006/math">
                    <m:r>
                      <m:rPr>
                        <m:nor/>
                      </m:rPr>
                      <a:rPr lang="en-AU" sz="2479" spc="-49" dirty="0">
                        <a:solidFill>
                          <a:srgbClr val="FFFFFF"/>
                        </a:solidFill>
                        <a:latin typeface="DM Sans"/>
                      </a:rPr>
                      <m:t>∥</m:t>
                    </m:r>
                    <m:r>
                      <m:rPr>
                        <m:nor/>
                      </m:rPr>
                      <a:rPr lang="en-AU" sz="2479" b="0" i="0" spc="-49" dirty="0" smtClean="0">
                        <a:solidFill>
                          <a:srgbClr val="FFFFFF"/>
                        </a:solidFill>
                        <a:latin typeface="DM Sans"/>
                      </a:rPr>
                      <m:t>B</m:t>
                    </m:r>
                    <m:r>
                      <m:rPr>
                        <m:nor/>
                      </m:rPr>
                      <a:rPr lang="en-AU" sz="2479" spc="-49" dirty="0">
                        <a:solidFill>
                          <a:srgbClr val="FFFFFF"/>
                        </a:solidFill>
                        <a:latin typeface="DM Sans"/>
                      </a:rPr>
                      <m:t>∥</m:t>
                    </m:r>
                    <m:r>
                      <a:rPr lang="en-AU" sz="2479" i="1" spc="-49" dirty="0" smtClean="0">
                        <a:solidFill>
                          <a:srgbClr val="FFFFFF"/>
                        </a:solidFill>
                        <a:latin typeface="Cambria Math" panose="02040503050406030204" pitchFamily="18" charset="0"/>
                      </a:rPr>
                      <m:t>=</m:t>
                    </m:r>
                    <m:rad>
                      <m:radPr>
                        <m:degHide m:val="on"/>
                        <m:ctrlPr>
                          <a:rPr lang="en-AU" sz="2479" i="1" spc="-49" dirty="0" smtClean="0">
                            <a:solidFill>
                              <a:srgbClr val="FFFFFF"/>
                            </a:solidFill>
                            <a:latin typeface="Cambria Math" panose="02040503050406030204" pitchFamily="18" charset="0"/>
                          </a:rPr>
                        </m:ctrlPr>
                      </m:radPr>
                      <m:deg/>
                      <m:e>
                        <m:sSup>
                          <m:sSupPr>
                            <m:ctrlPr>
                              <a:rPr lang="en-AU" sz="2479" i="1" spc="-49" dirty="0" smtClean="0">
                                <a:solidFill>
                                  <a:srgbClr val="FFFFFF"/>
                                </a:solidFill>
                                <a:latin typeface="Cambria Math" panose="02040503050406030204" pitchFamily="18" charset="0"/>
                              </a:rPr>
                            </m:ctrlPr>
                          </m:sSupPr>
                          <m:e>
                            <m:r>
                              <a:rPr lang="en-AU" sz="2479" i="1" spc="-49" dirty="0" smtClean="0">
                                <a:solidFill>
                                  <a:srgbClr val="FFFFFF"/>
                                </a:solidFill>
                                <a:latin typeface="Cambria Math" panose="02040503050406030204" pitchFamily="18" charset="0"/>
                              </a:rPr>
                              <m:t>2</m:t>
                            </m:r>
                          </m:e>
                          <m:sup>
                            <m:r>
                              <a:rPr lang="en-AU" sz="2479" i="1" spc="-49" dirty="0" smtClean="0">
                                <a:solidFill>
                                  <a:srgbClr val="FFFFFF"/>
                                </a:solidFill>
                                <a:latin typeface="Cambria Math" panose="02040503050406030204" pitchFamily="18" charset="0"/>
                              </a:rPr>
                              <m:t>2</m:t>
                            </m:r>
                          </m:sup>
                        </m:sSup>
                        <m:r>
                          <a:rPr lang="en-AU" sz="2479" i="1" spc="-49" dirty="0" smtClean="0">
                            <a:solidFill>
                              <a:srgbClr val="FFFFFF"/>
                            </a:solidFill>
                            <a:latin typeface="Cambria Math" panose="02040503050406030204" pitchFamily="18" charset="0"/>
                          </a:rPr>
                          <m:t>+</m:t>
                        </m:r>
                        <m:sSup>
                          <m:sSupPr>
                            <m:ctrlPr>
                              <a:rPr lang="en-AU" sz="2479" i="1" spc="-49" dirty="0" smtClean="0">
                                <a:solidFill>
                                  <a:srgbClr val="FFFFFF"/>
                                </a:solidFill>
                                <a:latin typeface="Cambria Math" panose="02040503050406030204" pitchFamily="18" charset="0"/>
                              </a:rPr>
                            </m:ctrlPr>
                          </m:sSupPr>
                          <m:e>
                            <m:r>
                              <a:rPr lang="en-AU" sz="2479" i="1" spc="-49" dirty="0" smtClean="0">
                                <a:solidFill>
                                  <a:srgbClr val="FFFFFF"/>
                                </a:solidFill>
                                <a:latin typeface="Cambria Math" panose="02040503050406030204" pitchFamily="18" charset="0"/>
                              </a:rPr>
                              <m:t>4</m:t>
                            </m:r>
                          </m:e>
                          <m:sup>
                            <m:r>
                              <a:rPr lang="en-AU" sz="2479" i="1" spc="-49" dirty="0" smtClean="0">
                                <a:solidFill>
                                  <a:srgbClr val="FFFFFF"/>
                                </a:solidFill>
                                <a:latin typeface="Cambria Math" panose="02040503050406030204" pitchFamily="18" charset="0"/>
                              </a:rPr>
                              <m:t>2</m:t>
                            </m:r>
                          </m:sup>
                        </m:sSup>
                      </m:e>
                    </m:rad>
                    <m:r>
                      <a:rPr lang="en-AU" sz="2479" i="1" spc="-49" dirty="0" smtClean="0">
                        <a:solidFill>
                          <a:srgbClr val="FFFFFF"/>
                        </a:solidFill>
                        <a:latin typeface="Cambria Math" panose="02040503050406030204" pitchFamily="18" charset="0"/>
                      </a:rPr>
                      <m:t>=</m:t>
                    </m:r>
                    <m:rad>
                      <m:radPr>
                        <m:degHide m:val="on"/>
                        <m:ctrlPr>
                          <a:rPr lang="en-AU" sz="2479" i="1" spc="-49" dirty="0" smtClean="0">
                            <a:solidFill>
                              <a:srgbClr val="FFFFFF"/>
                            </a:solidFill>
                            <a:latin typeface="Cambria Math" panose="02040503050406030204" pitchFamily="18" charset="0"/>
                          </a:rPr>
                        </m:ctrlPr>
                      </m:radPr>
                      <m:deg/>
                      <m:e>
                        <m:r>
                          <a:rPr lang="en-AU" sz="2479" i="1" spc="-49" dirty="0" smtClean="0">
                            <a:solidFill>
                              <a:srgbClr val="FFFFFF"/>
                            </a:solidFill>
                            <a:latin typeface="Cambria Math" panose="02040503050406030204" pitchFamily="18" charset="0"/>
                          </a:rPr>
                          <m:t>20</m:t>
                        </m:r>
                      </m:e>
                    </m:rad>
                  </m:oMath>
                </a14:m>
                <a:endParaRPr lang="en-AU" sz="2479" spc="-49" dirty="0">
                  <a:solidFill>
                    <a:srgbClr val="FFFFFF"/>
                  </a:solidFill>
                  <a:latin typeface="DM Sans"/>
                </a:endParaRPr>
              </a:p>
              <a:p>
                <a:pPr marL="800100" lvl="1" indent="-342900">
                  <a:buFont typeface="Arial" panose="020B0604020202020204" pitchFamily="34" charset="0"/>
                  <a:buChar char="•"/>
                </a:pPr>
                <a:r>
                  <a:rPr lang="en-AU" sz="2479" spc="-49" dirty="0">
                    <a:solidFill>
                      <a:srgbClr val="FFFFFF"/>
                    </a:solidFill>
                    <a:latin typeface="DM Sans"/>
                  </a:rPr>
                  <a:t>Step 4: cosine similarity</a:t>
                </a:r>
              </a:p>
              <a:p>
                <a:pPr marL="1257300" lvl="2" indent="-342900">
                  <a:buFont typeface="Arial" panose="020B0604020202020204" pitchFamily="34" charset="0"/>
                  <a:buChar char="•"/>
                </a:pPr>
                <a14:m>
                  <m:oMath xmlns:m="http://schemas.openxmlformats.org/officeDocument/2006/math">
                    <m:func>
                      <m:funcPr>
                        <m:ctrlPr>
                          <a:rPr lang="en-AU" sz="2479" i="1" spc="-49" dirty="0" smtClean="0">
                            <a:solidFill>
                              <a:srgbClr val="FFFFFF"/>
                            </a:solidFill>
                            <a:latin typeface="Cambria Math" panose="02040503050406030204" pitchFamily="18" charset="0"/>
                          </a:rPr>
                        </m:ctrlPr>
                      </m:funcPr>
                      <m:fName>
                        <m:r>
                          <m:rPr>
                            <m:sty m:val="p"/>
                          </m:rPr>
                          <a:rPr lang="en-AU" sz="2479" i="0" spc="-49" dirty="0" smtClean="0">
                            <a:solidFill>
                              <a:srgbClr val="FFFFFF"/>
                            </a:solidFill>
                            <a:latin typeface="Cambria Math" panose="02040503050406030204" pitchFamily="18" charset="0"/>
                          </a:rPr>
                          <m:t>cos</m:t>
                        </m:r>
                      </m:fName>
                      <m:e>
                        <m:d>
                          <m:dPr>
                            <m:ctrlPr>
                              <a:rPr lang="en-AU" sz="2479" i="1" spc="-49" dirty="0" smtClean="0">
                                <a:solidFill>
                                  <a:srgbClr val="FFFFFF"/>
                                </a:solidFill>
                                <a:latin typeface="Cambria Math" panose="02040503050406030204" pitchFamily="18" charset="0"/>
                              </a:rPr>
                            </m:ctrlPr>
                          </m:dPr>
                          <m:e>
                            <m:r>
                              <a:rPr lang="en-AU" sz="2479" i="1" spc="-49" dirty="0" smtClean="0">
                                <a:solidFill>
                                  <a:srgbClr val="FFFFFF"/>
                                </a:solidFill>
                                <a:latin typeface="Cambria Math" panose="02040503050406030204" pitchFamily="18" charset="0"/>
                              </a:rPr>
                              <m:t>𝜃</m:t>
                            </m:r>
                          </m:e>
                        </m:d>
                      </m:e>
                    </m:func>
                    <m:r>
                      <a:rPr lang="en-AU" sz="2479" i="1" spc="-49" dirty="0" smtClean="0">
                        <a:solidFill>
                          <a:srgbClr val="FFFFFF"/>
                        </a:solidFill>
                        <a:latin typeface="Cambria Math" panose="02040503050406030204" pitchFamily="18" charset="0"/>
                      </a:rPr>
                      <m:t>=</m:t>
                    </m:r>
                    <m:f>
                      <m:fPr>
                        <m:ctrlPr>
                          <a:rPr lang="en-AU" sz="2479" i="1" spc="-49" dirty="0" smtClean="0">
                            <a:solidFill>
                              <a:srgbClr val="FFFFFF"/>
                            </a:solidFill>
                            <a:latin typeface="Cambria Math" panose="02040503050406030204" pitchFamily="18" charset="0"/>
                          </a:rPr>
                        </m:ctrlPr>
                      </m:fPr>
                      <m:num>
                        <m:r>
                          <a:rPr lang="en-AU" sz="2479" i="1" spc="-49" dirty="0" smtClean="0">
                            <a:solidFill>
                              <a:srgbClr val="FFFFFF"/>
                            </a:solidFill>
                            <a:latin typeface="Cambria Math" panose="02040503050406030204" pitchFamily="18" charset="0"/>
                          </a:rPr>
                          <m:t>10</m:t>
                        </m:r>
                      </m:num>
                      <m:den>
                        <m:rad>
                          <m:radPr>
                            <m:degHide m:val="on"/>
                            <m:ctrlPr>
                              <a:rPr lang="en-AU" sz="2479" i="1" spc="-49" dirty="0" smtClean="0">
                                <a:solidFill>
                                  <a:srgbClr val="FFFFFF"/>
                                </a:solidFill>
                                <a:latin typeface="Cambria Math" panose="02040503050406030204" pitchFamily="18" charset="0"/>
                              </a:rPr>
                            </m:ctrlPr>
                          </m:radPr>
                          <m:deg/>
                          <m:e>
                            <m:r>
                              <a:rPr lang="en-AU" sz="2479" i="1" spc="-49" dirty="0" smtClean="0">
                                <a:solidFill>
                                  <a:srgbClr val="FFFFFF"/>
                                </a:solidFill>
                                <a:latin typeface="Cambria Math" panose="02040503050406030204" pitchFamily="18" charset="0"/>
                              </a:rPr>
                              <m:t>5</m:t>
                            </m:r>
                          </m:e>
                        </m:rad>
                        <m:rad>
                          <m:radPr>
                            <m:degHide m:val="on"/>
                            <m:ctrlPr>
                              <a:rPr lang="en-AU" sz="2479" i="1" spc="-49" dirty="0" smtClean="0">
                                <a:solidFill>
                                  <a:srgbClr val="FFFFFF"/>
                                </a:solidFill>
                                <a:latin typeface="Cambria Math" panose="02040503050406030204" pitchFamily="18" charset="0"/>
                              </a:rPr>
                            </m:ctrlPr>
                          </m:radPr>
                          <m:deg/>
                          <m:e>
                            <m:r>
                              <a:rPr lang="en-AU" sz="2479" i="1" spc="-49" dirty="0" smtClean="0">
                                <a:solidFill>
                                  <a:srgbClr val="FFFFFF"/>
                                </a:solidFill>
                                <a:latin typeface="Cambria Math" panose="02040503050406030204" pitchFamily="18" charset="0"/>
                              </a:rPr>
                              <m:t>20</m:t>
                            </m:r>
                          </m:e>
                        </m:rad>
                      </m:den>
                    </m:f>
                    <m:r>
                      <a:rPr lang="en-AU" sz="2479" i="1" spc="-49" dirty="0" smtClean="0">
                        <a:solidFill>
                          <a:srgbClr val="FFFFFF"/>
                        </a:solidFill>
                        <a:latin typeface="Cambria Math" panose="02040503050406030204" pitchFamily="18" charset="0"/>
                      </a:rPr>
                      <m:t>=</m:t>
                    </m:r>
                    <m:f>
                      <m:fPr>
                        <m:ctrlPr>
                          <a:rPr lang="en-AU" sz="2479" i="1" spc="-49" dirty="0" smtClean="0">
                            <a:solidFill>
                              <a:srgbClr val="FFFFFF"/>
                            </a:solidFill>
                            <a:latin typeface="Cambria Math" panose="02040503050406030204" pitchFamily="18" charset="0"/>
                          </a:rPr>
                        </m:ctrlPr>
                      </m:fPr>
                      <m:num>
                        <m:r>
                          <a:rPr lang="en-AU" sz="2479" i="1" spc="-49" dirty="0" smtClean="0">
                            <a:solidFill>
                              <a:srgbClr val="FFFFFF"/>
                            </a:solidFill>
                            <a:latin typeface="Cambria Math" panose="02040503050406030204" pitchFamily="18" charset="0"/>
                          </a:rPr>
                          <m:t>10</m:t>
                        </m:r>
                      </m:num>
                      <m:den>
                        <m:r>
                          <a:rPr lang="en-AU" sz="2479" i="1" spc="-49" dirty="0" smtClean="0">
                            <a:solidFill>
                              <a:srgbClr val="FFFFFF"/>
                            </a:solidFill>
                            <a:latin typeface="Cambria Math" panose="02040503050406030204" pitchFamily="18" charset="0"/>
                          </a:rPr>
                          <m:t>10</m:t>
                        </m:r>
                      </m:den>
                    </m:f>
                    <m:r>
                      <a:rPr lang="en-AU" sz="2479" i="1" spc="-49" dirty="0" smtClean="0">
                        <a:solidFill>
                          <a:srgbClr val="FFFFFF"/>
                        </a:solidFill>
                        <a:latin typeface="Cambria Math" panose="02040503050406030204" pitchFamily="18" charset="0"/>
                      </a:rPr>
                      <m:t>=1</m:t>
                    </m:r>
                  </m:oMath>
                </a14:m>
                <a:endParaRPr lang="en-AU" sz="2479" spc="-49" dirty="0">
                  <a:solidFill>
                    <a:srgbClr val="FFFFFF"/>
                  </a:solidFill>
                  <a:latin typeface="DM Sans"/>
                </a:endParaRPr>
              </a:p>
              <a:p>
                <a:pPr marL="1257300" lvl="2" indent="-342900">
                  <a:buFont typeface="Arial" panose="020B0604020202020204" pitchFamily="34" charset="0"/>
                  <a:buChar char="•"/>
                </a:pPr>
                <a:r>
                  <a:rPr lang="en-AU" sz="2479" spc="-49" dirty="0">
                    <a:solidFill>
                      <a:srgbClr val="FFFFFF"/>
                    </a:solidFill>
                    <a:latin typeface="DM Sans"/>
                  </a:rPr>
                  <a:t>The cosine similarity is 1, meaning they point to the same direction.</a:t>
                </a:r>
              </a:p>
              <a:p>
                <a:pPr marL="800100" lvl="1" indent="-342900">
                  <a:buFont typeface="Arial" panose="020B0604020202020204" pitchFamily="34" charset="0"/>
                  <a:buChar char="•"/>
                </a:pPr>
                <a:endParaRPr lang="en-AU" sz="2479" spc="-49" dirty="0">
                  <a:solidFill>
                    <a:srgbClr val="FFFFFF"/>
                  </a:solidFill>
                  <a:latin typeface="DM Sans"/>
                </a:endParaRPr>
              </a:p>
              <a:p>
                <a:pPr marL="800100" lvl="1" indent="-342900">
                  <a:buFont typeface="Arial" panose="020B0604020202020204" pitchFamily="34" charset="0"/>
                  <a:buChar char="•"/>
                </a:pPr>
                <a:endParaRPr lang="en-AU" sz="2479" spc="-49" dirty="0">
                  <a:solidFill>
                    <a:srgbClr val="FFFFFF"/>
                  </a:solidFill>
                  <a:latin typeface="DM Sans"/>
                </a:endParaRPr>
              </a:p>
              <a:p>
                <a:pPr marL="800100" lvl="1" indent="-342900">
                  <a:buFont typeface="Arial" panose="020B0604020202020204" pitchFamily="34" charset="0"/>
                  <a:buChar char="•"/>
                </a:pPr>
                <a:endParaRPr lang="en-AU" sz="2479" b="0" spc="-49" dirty="0">
                  <a:solidFill>
                    <a:srgbClr val="FFFFFF"/>
                  </a:solidFill>
                  <a:latin typeface="DM Sans"/>
                  <a:ea typeface="Cambria Math" panose="02040503050406030204" pitchFamily="18" charset="0"/>
                </a:endParaRPr>
              </a:p>
              <a:p>
                <a:pPr lvl="3">
                  <a:lnSpc>
                    <a:spcPts val="3422"/>
                  </a:lnSpc>
                </a:pPr>
                <a:endParaRPr lang="en-AU" sz="2479" spc="-49" dirty="0">
                  <a:solidFill>
                    <a:srgbClr val="FFFFFF"/>
                  </a:solidFill>
                  <a:latin typeface="DM Sans"/>
                </a:endParaRPr>
              </a:p>
              <a:p>
                <a:pPr lvl="3">
                  <a:lnSpc>
                    <a:spcPts val="3422"/>
                  </a:lnSpc>
                </a:pPr>
                <a:r>
                  <a:rPr lang="en-AU" sz="2479" spc="-49" dirty="0">
                    <a:solidFill>
                      <a:srgbClr val="FFFFFF"/>
                    </a:solidFill>
                    <a:latin typeface="DM Sans"/>
                  </a:rPr>
                  <a:t> </a:t>
                </a: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lvl="3">
                  <a:lnSpc>
                    <a:spcPts val="3422"/>
                  </a:lnSpc>
                </a:pPr>
                <a:endParaRPr lang="en-AU" sz="2479" spc="-49" dirty="0">
                  <a:solidFill>
                    <a:srgbClr val="FFFFFF"/>
                  </a:solidFill>
                  <a:latin typeface="DM Sans"/>
                </a:endParaRPr>
              </a:p>
              <a:p>
                <a:pPr marL="1714500" lvl="3"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p:txBody>
          </p:sp>
        </mc:Choice>
        <mc:Fallback xmlns="">
          <p:sp>
            <p:nvSpPr>
              <p:cNvPr id="8" name="TextBox 10">
                <a:extLst>
                  <a:ext uri="{FF2B5EF4-FFF2-40B4-BE49-F238E27FC236}">
                    <a16:creationId xmlns:a16="http://schemas.microsoft.com/office/drawing/2014/main" id="{FD3AFAB4-ECC7-AE9F-EC5C-4EA137610262}"/>
                  </a:ext>
                </a:extLst>
              </p:cNvPr>
              <p:cNvSpPr txBox="1">
                <a:spLocks noRot="1" noChangeAspect="1" noMove="1" noResize="1" noEditPoints="1" noAdjustHandles="1" noChangeArrowheads="1" noChangeShapeType="1" noTextEdit="1"/>
              </p:cNvSpPr>
              <p:nvPr/>
            </p:nvSpPr>
            <p:spPr>
              <a:xfrm>
                <a:off x="1655168" y="3154735"/>
                <a:ext cx="16513812" cy="10231583"/>
              </a:xfrm>
              <a:prstGeom prst="rect">
                <a:avLst/>
              </a:prstGeom>
              <a:blipFill>
                <a:blip r:embed="rId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05783540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E153F490-89AD-CEEA-64E4-84C790B0174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362CAB98-CFAF-FBB6-1088-A41BAEBC9580}"/>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C2C8CF8B-8564-C377-5847-739EF3006C0B}"/>
              </a:ext>
            </a:extLst>
          </p:cNvPr>
          <p:cNvSpPr/>
          <p:nvPr/>
        </p:nvSpPr>
        <p:spPr>
          <a:xfrm>
            <a:off x="-793104" y="8391528"/>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D9E5256E-BF16-38C7-F6F6-31F3773A9134}"/>
              </a:ext>
            </a:extLst>
          </p:cNvPr>
          <p:cNvSpPr txBox="1"/>
          <p:nvPr/>
        </p:nvSpPr>
        <p:spPr>
          <a:xfrm>
            <a:off x="1007096" y="1843516"/>
            <a:ext cx="18025980" cy="1477328"/>
          </a:xfrm>
          <a:prstGeom prst="rect">
            <a:avLst/>
          </a:prstGeom>
        </p:spPr>
        <p:txBody>
          <a:bodyPr wrap="square" lIns="0" tIns="0" rIns="0" bIns="0" rtlCol="0" anchor="t">
            <a:spAutoFit/>
          </a:bodyPr>
          <a:lstStyle/>
          <a:p>
            <a:pPr>
              <a:spcBef>
                <a:spcPct val="0"/>
              </a:spcBef>
              <a:defRPr/>
            </a:pPr>
            <a:r>
              <a:rPr lang="en-AU" sz="4800" dirty="0">
                <a:solidFill>
                  <a:srgbClr val="0CC0DF"/>
                </a:solidFill>
                <a:latin typeface="Now Bold"/>
              </a:rPr>
              <a:t>TOOLS AND TOOL CALLING: Retrieval-Augmented Generation</a:t>
            </a:r>
            <a:endParaRPr lang="en-US" sz="4800" dirty="0">
              <a:solidFill>
                <a:srgbClr val="0CC0DF"/>
              </a:solidFill>
              <a:latin typeface="Now Bold"/>
            </a:endParaRPr>
          </a:p>
        </p:txBody>
      </p:sp>
      <p:sp>
        <p:nvSpPr>
          <p:cNvPr id="4" name="TextBox 10">
            <a:extLst>
              <a:ext uri="{FF2B5EF4-FFF2-40B4-BE49-F238E27FC236}">
                <a16:creationId xmlns:a16="http://schemas.microsoft.com/office/drawing/2014/main" id="{4ABC5305-5A4F-24D7-194D-F9FB0D815C21}"/>
              </a:ext>
            </a:extLst>
          </p:cNvPr>
          <p:cNvSpPr txBox="1"/>
          <p:nvPr/>
        </p:nvSpPr>
        <p:spPr>
          <a:xfrm>
            <a:off x="1007096" y="3673166"/>
            <a:ext cx="16513812" cy="1725857"/>
          </a:xfrm>
          <a:prstGeom prst="rect">
            <a:avLst/>
          </a:prstGeom>
        </p:spPr>
        <p:txBody>
          <a:bodyPr wrap="square" lIns="0" tIns="0" rIns="0" bIns="0" rtlCol="0" anchor="t">
            <a:spAutoFit/>
          </a:bodyPr>
          <a:lstStyle/>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p:txBody>
      </p:sp>
      <p:sp>
        <p:nvSpPr>
          <p:cNvPr id="8" name="TextBox 10">
            <a:extLst>
              <a:ext uri="{FF2B5EF4-FFF2-40B4-BE49-F238E27FC236}">
                <a16:creationId xmlns:a16="http://schemas.microsoft.com/office/drawing/2014/main" id="{1A388187-F1FB-2316-4F47-08E9D0D55F12}"/>
              </a:ext>
            </a:extLst>
          </p:cNvPr>
          <p:cNvSpPr txBox="1"/>
          <p:nvPr/>
        </p:nvSpPr>
        <p:spPr>
          <a:xfrm>
            <a:off x="763992" y="3055268"/>
            <a:ext cx="16513812" cy="9955674"/>
          </a:xfrm>
          <a:prstGeom prst="rect">
            <a:avLst/>
          </a:prstGeom>
        </p:spPr>
        <p:txBody>
          <a:bodyPr wrap="square" lIns="0" tIns="0" rIns="0" bIns="0" rtlCol="0" anchor="t">
            <a:spAutoFit/>
          </a:bodyPr>
          <a:lstStyle/>
          <a:p>
            <a:pPr lvl="3">
              <a:lnSpc>
                <a:spcPts val="3422"/>
              </a:lnSpc>
            </a:pPr>
            <a:endParaRPr lang="en-AU" sz="2479" spc="-49" dirty="0">
              <a:solidFill>
                <a:srgbClr val="FFFFFF"/>
              </a:solidFill>
              <a:latin typeface="DM Sans"/>
            </a:endParaRPr>
          </a:p>
          <a:p>
            <a:pPr marL="800100" lvl="1" indent="-342900">
              <a:buFont typeface="Arial" panose="020B0604020202020204" pitchFamily="34" charset="0"/>
              <a:buChar char="•"/>
            </a:pPr>
            <a:r>
              <a:rPr lang="en-AU" sz="2479" spc="-49" dirty="0">
                <a:solidFill>
                  <a:srgbClr val="FFFFFF"/>
                </a:solidFill>
                <a:latin typeface="DM Sans"/>
              </a:rPr>
              <a:t>A simple RAG, system:</a:t>
            </a:r>
          </a:p>
          <a:p>
            <a:pPr marL="1257300" lvl="2" indent="-342900">
              <a:buFont typeface="Arial" panose="020B0604020202020204" pitchFamily="34" charset="0"/>
              <a:buChar char="•"/>
            </a:pPr>
            <a:r>
              <a:rPr lang="en-AU" sz="2479" spc="-49" dirty="0">
                <a:solidFill>
                  <a:srgbClr val="FFFFFF"/>
                </a:solidFill>
                <a:latin typeface="DM Sans"/>
              </a:rPr>
              <a:t>Receives the content </a:t>
            </a:r>
          </a:p>
          <a:p>
            <a:pPr marL="1257300" lvl="2" indent="-342900">
              <a:buFont typeface="Arial" panose="020B0604020202020204" pitchFamily="34" charset="0"/>
              <a:buChar char="•"/>
            </a:pPr>
            <a:r>
              <a:rPr lang="en-AU" sz="2479" spc="-49" dirty="0">
                <a:solidFill>
                  <a:srgbClr val="FFFFFF"/>
                </a:solidFill>
                <a:latin typeface="DM Sans"/>
              </a:rPr>
              <a:t>Splits documents into chunks</a:t>
            </a:r>
          </a:p>
          <a:p>
            <a:pPr marL="1257300" lvl="2" indent="-342900">
              <a:buFont typeface="Arial" panose="020B0604020202020204" pitchFamily="34" charset="0"/>
              <a:buChar char="•"/>
            </a:pPr>
            <a:r>
              <a:rPr lang="en-AU" sz="2479" spc="-49" dirty="0">
                <a:solidFill>
                  <a:srgbClr val="FFFFFF"/>
                </a:solidFill>
                <a:latin typeface="DM Sans"/>
              </a:rPr>
              <a:t>Turns chunks into embeddings</a:t>
            </a:r>
          </a:p>
          <a:p>
            <a:pPr marL="1257300" lvl="2" indent="-342900">
              <a:buFont typeface="Arial" panose="020B0604020202020204" pitchFamily="34" charset="0"/>
              <a:buChar char="•"/>
            </a:pPr>
            <a:r>
              <a:rPr lang="en-AU" sz="2479" spc="-49" dirty="0">
                <a:solidFill>
                  <a:srgbClr val="FFFFFF"/>
                </a:solidFill>
                <a:latin typeface="DM Sans"/>
              </a:rPr>
              <a:t>Stores those embeddings in a vector database</a:t>
            </a:r>
          </a:p>
          <a:p>
            <a:pPr marL="1257300" lvl="2" indent="-342900">
              <a:buFont typeface="Arial" panose="020B0604020202020204" pitchFamily="34" charset="0"/>
              <a:buChar char="•"/>
            </a:pPr>
            <a:r>
              <a:rPr lang="en-AU" sz="2479" spc="-49" dirty="0">
                <a:solidFill>
                  <a:srgbClr val="FFFFFF"/>
                </a:solidFill>
                <a:latin typeface="DM Sans"/>
              </a:rPr>
              <a:t>Embeds the user’s query</a:t>
            </a:r>
          </a:p>
          <a:p>
            <a:pPr marL="1257300" lvl="2" indent="-342900">
              <a:buFont typeface="Arial" panose="020B0604020202020204" pitchFamily="34" charset="0"/>
              <a:buChar char="•"/>
            </a:pPr>
            <a:r>
              <a:rPr lang="en-AU" sz="2479" spc="-49" dirty="0">
                <a:solidFill>
                  <a:srgbClr val="FFFFFF"/>
                </a:solidFill>
                <a:latin typeface="DM Sans"/>
              </a:rPr>
              <a:t>Compares the query vector to all stored chunk vectors</a:t>
            </a:r>
          </a:p>
          <a:p>
            <a:pPr marL="1257300" lvl="2" indent="-342900">
              <a:buFont typeface="Arial" panose="020B0604020202020204" pitchFamily="34" charset="0"/>
              <a:buChar char="•"/>
            </a:pPr>
            <a:r>
              <a:rPr lang="en-AU" sz="2479" spc="-49" dirty="0">
                <a:solidFill>
                  <a:srgbClr val="FFFFFF"/>
                </a:solidFill>
                <a:latin typeface="DM Sans"/>
              </a:rPr>
              <a:t>Retrieves the closest chunks using a bi-encoder </a:t>
            </a:r>
          </a:p>
          <a:p>
            <a:pPr marL="1257300" lvl="2" indent="-342900">
              <a:buFont typeface="Arial" panose="020B0604020202020204" pitchFamily="34" charset="0"/>
              <a:buChar char="•"/>
            </a:pPr>
            <a:r>
              <a:rPr lang="en-AU" sz="2479" spc="-49" dirty="0">
                <a:solidFill>
                  <a:srgbClr val="FFFFFF"/>
                </a:solidFill>
                <a:latin typeface="DM Sans"/>
              </a:rPr>
              <a:t>If your document contains:</a:t>
            </a:r>
          </a:p>
          <a:p>
            <a:pPr marL="1714500" lvl="3" indent="-342900">
              <a:buFont typeface="Arial" panose="020B0604020202020204" pitchFamily="34" charset="0"/>
              <a:buChar char="•"/>
            </a:pPr>
            <a:r>
              <a:rPr lang="en-AU" sz="2479" spc="-49" dirty="0">
                <a:solidFill>
                  <a:srgbClr val="FFFFFF"/>
                </a:solidFill>
                <a:latin typeface="DM Sans"/>
              </a:rPr>
              <a:t>“Residents were advised to avoid low-lying roads.”</a:t>
            </a:r>
          </a:p>
          <a:p>
            <a:pPr marL="1714500" lvl="3" indent="-342900">
              <a:buFont typeface="Arial" panose="020B0604020202020204" pitchFamily="34" charset="0"/>
              <a:buChar char="•"/>
            </a:pPr>
            <a:r>
              <a:rPr lang="en-AU" sz="2479" spc="-49" dirty="0">
                <a:solidFill>
                  <a:srgbClr val="FFFFFF"/>
                </a:solidFill>
                <a:latin typeface="DM Sans"/>
              </a:rPr>
              <a:t>“Flood barriers were deployed near the river.”</a:t>
            </a:r>
          </a:p>
          <a:p>
            <a:pPr marL="1257300" lvl="2" indent="-342900">
              <a:buFont typeface="Arial" panose="020B0604020202020204" pitchFamily="34" charset="0"/>
              <a:buChar char="•"/>
            </a:pPr>
            <a:r>
              <a:rPr lang="en-AU" sz="2479" spc="-49" dirty="0">
                <a:solidFill>
                  <a:srgbClr val="FFFFFF"/>
                </a:solidFill>
                <a:latin typeface="DM Sans"/>
              </a:rPr>
              <a:t>and the query is:</a:t>
            </a:r>
          </a:p>
          <a:p>
            <a:pPr marL="1714500" lvl="3" indent="-342900">
              <a:buFont typeface="Arial" panose="020B0604020202020204" pitchFamily="34" charset="0"/>
              <a:buChar char="•"/>
            </a:pPr>
            <a:r>
              <a:rPr lang="en-AU" sz="2479" spc="-49" dirty="0">
                <a:solidFill>
                  <a:srgbClr val="FFFFFF"/>
                </a:solidFill>
                <a:latin typeface="DM Sans"/>
              </a:rPr>
              <a:t>“What were people told to do during flooding?”</a:t>
            </a:r>
          </a:p>
          <a:p>
            <a:pPr marL="1257300" lvl="2" indent="-342900">
              <a:buFont typeface="Arial" panose="020B0604020202020204" pitchFamily="34" charset="0"/>
              <a:buChar char="•"/>
            </a:pPr>
            <a:r>
              <a:rPr lang="en-AU" sz="2479" spc="-49" dirty="0">
                <a:solidFill>
                  <a:srgbClr val="FFFFFF"/>
                </a:solidFill>
                <a:latin typeface="DM Sans"/>
              </a:rPr>
              <a:t>The query embedding should be close to the first chunk embedding.</a:t>
            </a:r>
          </a:p>
          <a:p>
            <a:pPr marL="1257300" lvl="2" indent="-342900">
              <a:buFont typeface="Arial" panose="020B0604020202020204" pitchFamily="34" charset="0"/>
              <a:buChar char="•"/>
            </a:pPr>
            <a:r>
              <a:rPr lang="en-AU" sz="2479" spc="-49" dirty="0">
                <a:solidFill>
                  <a:srgbClr val="FFFFFF"/>
                </a:solidFill>
                <a:latin typeface="DM Sans"/>
              </a:rPr>
              <a:t>That is how the system finds relevant text even if the wording differs.</a:t>
            </a:r>
          </a:p>
          <a:p>
            <a:pPr marL="800100" lvl="1" indent="-342900">
              <a:buFont typeface="Arial" panose="020B0604020202020204" pitchFamily="34" charset="0"/>
              <a:buChar char="•"/>
            </a:pPr>
            <a:endParaRPr lang="en-AU" sz="2479" spc="-49" dirty="0">
              <a:solidFill>
                <a:srgbClr val="FFFFFF"/>
              </a:solidFill>
              <a:latin typeface="DM Sans"/>
            </a:endParaRPr>
          </a:p>
          <a:p>
            <a:pPr marL="800100" lvl="1" indent="-342900">
              <a:buFont typeface="Arial" panose="020B0604020202020204" pitchFamily="34" charset="0"/>
              <a:buChar char="•"/>
            </a:pPr>
            <a:endParaRPr lang="en-AU" sz="2479" b="0" spc="-49" dirty="0">
              <a:solidFill>
                <a:srgbClr val="FFFFFF"/>
              </a:solidFill>
              <a:latin typeface="DM Sans"/>
              <a:ea typeface="Cambria Math" panose="02040503050406030204" pitchFamily="18" charset="0"/>
            </a:endParaRPr>
          </a:p>
          <a:p>
            <a:pPr lvl="3">
              <a:lnSpc>
                <a:spcPts val="3422"/>
              </a:lnSpc>
            </a:pPr>
            <a:endParaRPr lang="en-AU" sz="2479" spc="-49" dirty="0">
              <a:solidFill>
                <a:srgbClr val="FFFFFF"/>
              </a:solidFill>
              <a:latin typeface="DM Sans"/>
            </a:endParaRPr>
          </a:p>
          <a:p>
            <a:pPr lvl="3">
              <a:lnSpc>
                <a:spcPts val="3422"/>
              </a:lnSpc>
            </a:pPr>
            <a:r>
              <a:rPr lang="en-AU" sz="2479" spc="-49" dirty="0">
                <a:solidFill>
                  <a:srgbClr val="FFFFFF"/>
                </a:solidFill>
                <a:latin typeface="DM Sans"/>
              </a:rPr>
              <a:t> </a:t>
            </a: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lvl="3">
              <a:lnSpc>
                <a:spcPts val="3422"/>
              </a:lnSpc>
            </a:pPr>
            <a:endParaRPr lang="en-AU" sz="2479" spc="-49" dirty="0">
              <a:solidFill>
                <a:srgbClr val="FFFFFF"/>
              </a:solidFill>
              <a:latin typeface="DM Sans"/>
            </a:endParaRPr>
          </a:p>
          <a:p>
            <a:pPr marL="1714500" lvl="3"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p:txBody>
      </p:sp>
      <p:pic>
        <p:nvPicPr>
          <p:cNvPr id="3" name="Picture 2">
            <a:extLst>
              <a:ext uri="{FF2B5EF4-FFF2-40B4-BE49-F238E27FC236}">
                <a16:creationId xmlns:a16="http://schemas.microsoft.com/office/drawing/2014/main" id="{13CB5333-20EB-783A-451C-A09C9EA69A87}"/>
              </a:ext>
            </a:extLst>
          </p:cNvPr>
          <p:cNvPicPr>
            <a:picLocks noChangeAspect="1"/>
          </p:cNvPicPr>
          <p:nvPr/>
        </p:nvPicPr>
        <p:blipFill>
          <a:blip r:embed="rId4"/>
          <a:stretch>
            <a:fillRect/>
          </a:stretch>
        </p:blipFill>
        <p:spPr>
          <a:xfrm>
            <a:off x="10006293" y="3487672"/>
            <a:ext cx="7750387" cy="4320123"/>
          </a:xfrm>
          <a:prstGeom prst="rect">
            <a:avLst/>
          </a:prstGeom>
        </p:spPr>
      </p:pic>
    </p:spTree>
    <p:extLst>
      <p:ext uri="{BB962C8B-B14F-4D97-AF65-F5344CB8AC3E}">
        <p14:creationId xmlns:p14="http://schemas.microsoft.com/office/powerpoint/2010/main" val="285180128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5DF88243-7286-41C4-D969-50B96C8D8FE7}"/>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3F30EF66-6B29-B475-2FE9-557976731FC9}"/>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B61F767D-4251-1771-C67C-5787E38E5452}"/>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F702C28E-1143-3417-7236-5AF252C71864}"/>
              </a:ext>
            </a:extLst>
          </p:cNvPr>
          <p:cNvSpPr txBox="1"/>
          <p:nvPr/>
        </p:nvSpPr>
        <p:spPr>
          <a:xfrm>
            <a:off x="1007096" y="1843516"/>
            <a:ext cx="18025980" cy="1477328"/>
          </a:xfrm>
          <a:prstGeom prst="rect">
            <a:avLst/>
          </a:prstGeom>
        </p:spPr>
        <p:txBody>
          <a:bodyPr wrap="square" lIns="0" tIns="0" rIns="0" bIns="0" rtlCol="0" anchor="t">
            <a:spAutoFit/>
          </a:bodyPr>
          <a:lstStyle/>
          <a:p>
            <a:pPr>
              <a:spcBef>
                <a:spcPct val="0"/>
              </a:spcBef>
              <a:defRPr/>
            </a:pPr>
            <a:r>
              <a:rPr lang="en-AU" sz="4800" dirty="0">
                <a:solidFill>
                  <a:srgbClr val="0CC0DF"/>
                </a:solidFill>
                <a:latin typeface="Now Bold"/>
              </a:rPr>
              <a:t>TOOLS AND TOOL CALLING: Retrieval-Augmented Generation</a:t>
            </a:r>
            <a:endParaRPr lang="en-US" sz="4800" dirty="0">
              <a:solidFill>
                <a:srgbClr val="0CC0DF"/>
              </a:solidFill>
              <a:latin typeface="Now Bold"/>
            </a:endParaRPr>
          </a:p>
        </p:txBody>
      </p:sp>
      <p:sp>
        <p:nvSpPr>
          <p:cNvPr id="4" name="TextBox 10">
            <a:extLst>
              <a:ext uri="{FF2B5EF4-FFF2-40B4-BE49-F238E27FC236}">
                <a16:creationId xmlns:a16="http://schemas.microsoft.com/office/drawing/2014/main" id="{9187A0CD-CF8D-7EB8-84D1-A806F649303F}"/>
              </a:ext>
            </a:extLst>
          </p:cNvPr>
          <p:cNvSpPr txBox="1"/>
          <p:nvPr/>
        </p:nvSpPr>
        <p:spPr>
          <a:xfrm>
            <a:off x="1007096" y="3673166"/>
            <a:ext cx="16513812" cy="1725857"/>
          </a:xfrm>
          <a:prstGeom prst="rect">
            <a:avLst/>
          </a:prstGeom>
        </p:spPr>
        <p:txBody>
          <a:bodyPr wrap="square" lIns="0" tIns="0" rIns="0" bIns="0" rtlCol="0" anchor="t">
            <a:spAutoFit/>
          </a:bodyPr>
          <a:lstStyle/>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p:txBody>
      </p:sp>
      <p:sp>
        <p:nvSpPr>
          <p:cNvPr id="8" name="TextBox 10">
            <a:extLst>
              <a:ext uri="{FF2B5EF4-FFF2-40B4-BE49-F238E27FC236}">
                <a16:creationId xmlns:a16="http://schemas.microsoft.com/office/drawing/2014/main" id="{7C0FFFD3-1E7F-ACAA-C17A-9775AED7C387}"/>
              </a:ext>
            </a:extLst>
          </p:cNvPr>
          <p:cNvSpPr txBox="1"/>
          <p:nvPr/>
        </p:nvSpPr>
        <p:spPr>
          <a:xfrm>
            <a:off x="1655168" y="3347437"/>
            <a:ext cx="16513812" cy="7612084"/>
          </a:xfrm>
          <a:prstGeom prst="rect">
            <a:avLst/>
          </a:prstGeom>
        </p:spPr>
        <p:txBody>
          <a:bodyPr wrap="square" lIns="0" tIns="0" rIns="0" bIns="0" rtlCol="0" anchor="t">
            <a:spAutoFit/>
          </a:bodyPr>
          <a:lstStyle/>
          <a:p>
            <a:pPr marL="1257300" lvl="2" indent="-342900">
              <a:buFont typeface="Arial" panose="020B0604020202020204" pitchFamily="34" charset="0"/>
              <a:buChar char="•"/>
            </a:pPr>
            <a:r>
              <a:rPr lang="en-AU" sz="2479" spc="-49" dirty="0">
                <a:solidFill>
                  <a:srgbClr val="FFFFFF"/>
                </a:solidFill>
                <a:latin typeface="DM Sans"/>
              </a:rPr>
              <a:t>Example of retrieval logic</a:t>
            </a:r>
          </a:p>
          <a:p>
            <a:pPr marL="1257300" lvl="2" indent="-342900">
              <a:buFont typeface="Arial" panose="020B0604020202020204" pitchFamily="34" charset="0"/>
              <a:buChar char="•"/>
            </a:pPr>
            <a:r>
              <a:rPr lang="en-AU" sz="2479" spc="-49" dirty="0">
                <a:solidFill>
                  <a:srgbClr val="FFFFFF"/>
                </a:solidFill>
                <a:latin typeface="DM Sans"/>
              </a:rPr>
              <a:t>Document chunks:</a:t>
            </a:r>
          </a:p>
          <a:p>
            <a:pPr marL="1714500" lvl="3" indent="-342900">
              <a:buFont typeface="Arial" panose="020B0604020202020204" pitchFamily="34" charset="0"/>
              <a:buChar char="•"/>
            </a:pPr>
            <a:r>
              <a:rPr lang="en-AU" sz="2479" spc="-49" dirty="0">
                <a:solidFill>
                  <a:srgbClr val="FFFFFF"/>
                </a:solidFill>
                <a:latin typeface="DM Sans"/>
              </a:rPr>
              <a:t>Chunk 1:</a:t>
            </a:r>
          </a:p>
          <a:p>
            <a:pPr marL="2171700" lvl="4" indent="-342900">
              <a:buFont typeface="Arial" panose="020B0604020202020204" pitchFamily="34" charset="0"/>
              <a:buChar char="•"/>
            </a:pPr>
            <a:r>
              <a:rPr lang="en-AU" sz="2479" spc="-49" dirty="0">
                <a:solidFill>
                  <a:srgbClr val="FFFFFF"/>
                </a:solidFill>
                <a:latin typeface="DM Sans"/>
              </a:rPr>
              <a:t>“Residents were advised to avoid low-lying roads.”  becomes : [0.8, 0.1, 0.3]	</a:t>
            </a:r>
          </a:p>
          <a:p>
            <a:pPr marL="1714500" lvl="3" indent="-342900">
              <a:buFont typeface="Arial" panose="020B0604020202020204" pitchFamily="34" charset="0"/>
              <a:buChar char="•"/>
            </a:pPr>
            <a:r>
              <a:rPr lang="en-AU" sz="2479" spc="-49" dirty="0">
                <a:solidFill>
                  <a:srgbClr val="FFFFFF"/>
                </a:solidFill>
                <a:latin typeface="DM Sans"/>
              </a:rPr>
              <a:t>Chunk 2:</a:t>
            </a:r>
          </a:p>
          <a:p>
            <a:pPr marL="2171700" lvl="4" indent="-342900">
              <a:buFont typeface="Arial" panose="020B0604020202020204" pitchFamily="34" charset="0"/>
              <a:buChar char="•"/>
            </a:pPr>
            <a:r>
              <a:rPr lang="en-AU" sz="2479" spc="-49" dirty="0">
                <a:solidFill>
                  <a:srgbClr val="FFFFFF"/>
                </a:solidFill>
                <a:latin typeface="DM Sans"/>
              </a:rPr>
              <a:t>“The stock market rose in afternoon trading.” becomes : [-0.4, 0.9, −0.2]</a:t>
            </a:r>
          </a:p>
          <a:p>
            <a:pPr marL="1714500" lvl="3" indent="-342900">
              <a:buFont typeface="Arial" panose="020B0604020202020204" pitchFamily="34" charset="0"/>
              <a:buChar char="•"/>
            </a:pPr>
            <a:r>
              <a:rPr lang="en-AU" sz="2479" spc="-49" dirty="0">
                <a:solidFill>
                  <a:srgbClr val="FFFFFF"/>
                </a:solidFill>
                <a:latin typeface="DM Sans"/>
              </a:rPr>
              <a:t>User query:</a:t>
            </a:r>
          </a:p>
          <a:p>
            <a:pPr marL="2171700" lvl="4" indent="-342900">
              <a:buFont typeface="Arial" panose="020B0604020202020204" pitchFamily="34" charset="0"/>
              <a:buChar char="•"/>
            </a:pPr>
            <a:r>
              <a:rPr lang="en-AU" sz="2479" spc="-49" dirty="0">
                <a:solidFill>
                  <a:srgbClr val="FFFFFF"/>
                </a:solidFill>
                <a:latin typeface="DM Sans"/>
              </a:rPr>
              <a:t>“What safety advice was given during the flood?” becomes : [0.75, 0.15, 0.28]</a:t>
            </a:r>
          </a:p>
          <a:p>
            <a:pPr marL="1714500" lvl="3" indent="-342900">
              <a:buFont typeface="Arial" panose="020B0604020202020204" pitchFamily="34" charset="0"/>
              <a:buChar char="•"/>
            </a:pPr>
            <a:r>
              <a:rPr lang="en-AU" sz="2479" spc="-49" dirty="0">
                <a:solidFill>
                  <a:srgbClr val="FFFFFF"/>
                </a:solidFill>
                <a:latin typeface="DM Sans"/>
              </a:rPr>
              <a:t>The query vector is much closer to Chunk 1 than Chunk 2, so Chunk 1 is retrieved.</a:t>
            </a:r>
          </a:p>
          <a:p>
            <a:pPr marL="1714500" lvl="3" indent="-342900">
              <a:buFont typeface="Arial" panose="020B0604020202020204" pitchFamily="34" charset="0"/>
              <a:buChar char="•"/>
            </a:pPr>
            <a:endParaRPr lang="en-AU" sz="2479" spc="-49" dirty="0">
              <a:solidFill>
                <a:srgbClr val="FFFFFF"/>
              </a:solidFill>
              <a:latin typeface="DM Sans"/>
            </a:endParaRPr>
          </a:p>
          <a:p>
            <a:pPr marL="800100" lvl="1" indent="-342900">
              <a:buFont typeface="Arial" panose="020B0604020202020204" pitchFamily="34" charset="0"/>
              <a:buChar char="•"/>
            </a:pPr>
            <a:endParaRPr lang="en-AU" sz="2479" spc="-49" dirty="0">
              <a:solidFill>
                <a:srgbClr val="FFFFFF"/>
              </a:solidFill>
              <a:latin typeface="DM Sans"/>
            </a:endParaRPr>
          </a:p>
          <a:p>
            <a:pPr marL="800100" lvl="1" indent="-342900">
              <a:buFont typeface="Arial" panose="020B0604020202020204" pitchFamily="34" charset="0"/>
              <a:buChar char="•"/>
            </a:pPr>
            <a:endParaRPr lang="en-AU" sz="2479" b="0" spc="-49" dirty="0">
              <a:solidFill>
                <a:srgbClr val="FFFFFF"/>
              </a:solidFill>
              <a:latin typeface="DM Sans"/>
              <a:ea typeface="Cambria Math" panose="02040503050406030204" pitchFamily="18" charset="0"/>
            </a:endParaRPr>
          </a:p>
          <a:p>
            <a:pPr lvl="3">
              <a:lnSpc>
                <a:spcPts val="3422"/>
              </a:lnSpc>
            </a:pPr>
            <a:endParaRPr lang="en-AU" sz="2479" spc="-49" dirty="0">
              <a:solidFill>
                <a:srgbClr val="FFFFFF"/>
              </a:solidFill>
              <a:latin typeface="DM Sans"/>
            </a:endParaRPr>
          </a:p>
          <a:p>
            <a:pPr lvl="3">
              <a:lnSpc>
                <a:spcPts val="3422"/>
              </a:lnSpc>
            </a:pPr>
            <a:r>
              <a:rPr lang="en-AU" sz="2479" spc="-49" dirty="0">
                <a:solidFill>
                  <a:srgbClr val="FFFFFF"/>
                </a:solidFill>
                <a:latin typeface="DM Sans"/>
              </a:rPr>
              <a:t> </a:t>
            </a: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lvl="3">
              <a:lnSpc>
                <a:spcPts val="3422"/>
              </a:lnSpc>
            </a:pPr>
            <a:endParaRPr lang="en-AU" sz="2479" spc="-49" dirty="0">
              <a:solidFill>
                <a:srgbClr val="FFFFFF"/>
              </a:solidFill>
              <a:latin typeface="DM Sans"/>
            </a:endParaRPr>
          </a:p>
          <a:p>
            <a:pPr marL="1714500" lvl="3"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p:txBody>
      </p:sp>
    </p:spTree>
    <p:extLst>
      <p:ext uri="{BB962C8B-B14F-4D97-AF65-F5344CB8AC3E}">
        <p14:creationId xmlns:p14="http://schemas.microsoft.com/office/powerpoint/2010/main" val="383236853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C8394516-59B6-F221-59C2-276369E16C3F}"/>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7A305D7-3A62-DA36-AF86-03691434829F}"/>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DFF5389D-3D8F-9E2F-5A67-9F05C3CB0057}"/>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F6E3A769-BAFD-B31B-6E17-D161F2136942}"/>
              </a:ext>
            </a:extLst>
          </p:cNvPr>
          <p:cNvSpPr txBox="1"/>
          <p:nvPr/>
        </p:nvSpPr>
        <p:spPr>
          <a:xfrm>
            <a:off x="1007096" y="1843516"/>
            <a:ext cx="18025980" cy="1477328"/>
          </a:xfrm>
          <a:prstGeom prst="rect">
            <a:avLst/>
          </a:prstGeom>
        </p:spPr>
        <p:txBody>
          <a:bodyPr wrap="square" lIns="0" tIns="0" rIns="0" bIns="0" rtlCol="0" anchor="t">
            <a:spAutoFit/>
          </a:bodyPr>
          <a:lstStyle/>
          <a:p>
            <a:pPr>
              <a:spcBef>
                <a:spcPct val="0"/>
              </a:spcBef>
              <a:defRPr/>
            </a:pPr>
            <a:r>
              <a:rPr lang="en-AU" sz="4800" dirty="0">
                <a:solidFill>
                  <a:srgbClr val="0CC0DF"/>
                </a:solidFill>
                <a:latin typeface="Now Bold"/>
              </a:rPr>
              <a:t>TOOLS AND TOOL CALLING: Retrieval-Augmented Generation</a:t>
            </a:r>
            <a:endParaRPr lang="en-US" sz="4800" dirty="0">
              <a:solidFill>
                <a:srgbClr val="0CC0DF"/>
              </a:solidFill>
              <a:latin typeface="Now Bold"/>
            </a:endParaRPr>
          </a:p>
        </p:txBody>
      </p:sp>
      <p:sp>
        <p:nvSpPr>
          <p:cNvPr id="4" name="TextBox 10">
            <a:extLst>
              <a:ext uri="{FF2B5EF4-FFF2-40B4-BE49-F238E27FC236}">
                <a16:creationId xmlns:a16="http://schemas.microsoft.com/office/drawing/2014/main" id="{848F02B9-A941-7F95-0305-AEDC32713819}"/>
              </a:ext>
            </a:extLst>
          </p:cNvPr>
          <p:cNvSpPr txBox="1"/>
          <p:nvPr/>
        </p:nvSpPr>
        <p:spPr>
          <a:xfrm>
            <a:off x="1007096" y="3673166"/>
            <a:ext cx="16513812" cy="1725857"/>
          </a:xfrm>
          <a:prstGeom prst="rect">
            <a:avLst/>
          </a:prstGeom>
        </p:spPr>
        <p:txBody>
          <a:bodyPr wrap="square" lIns="0" tIns="0" rIns="0" bIns="0" rtlCol="0" anchor="t">
            <a:spAutoFit/>
          </a:bodyPr>
          <a:lstStyle/>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p:txBody>
      </p:sp>
      <p:sp>
        <p:nvSpPr>
          <p:cNvPr id="8" name="TextBox 10">
            <a:extLst>
              <a:ext uri="{FF2B5EF4-FFF2-40B4-BE49-F238E27FC236}">
                <a16:creationId xmlns:a16="http://schemas.microsoft.com/office/drawing/2014/main" id="{220FA74A-F66C-1105-2643-0FAC8C33C20A}"/>
              </a:ext>
            </a:extLst>
          </p:cNvPr>
          <p:cNvSpPr txBox="1"/>
          <p:nvPr/>
        </p:nvSpPr>
        <p:spPr>
          <a:xfrm>
            <a:off x="887094" y="3581025"/>
            <a:ext cx="16513812" cy="8756628"/>
          </a:xfrm>
          <a:prstGeom prst="rect">
            <a:avLst/>
          </a:prstGeom>
        </p:spPr>
        <p:txBody>
          <a:bodyPr wrap="square" lIns="0" tIns="0" rIns="0" bIns="0" rtlCol="0" anchor="t">
            <a:spAutoFit/>
          </a:bodyPr>
          <a:lstStyle/>
          <a:p>
            <a:pPr marL="1714500" lvl="3" indent="-342900">
              <a:buFont typeface="Arial" panose="020B0604020202020204" pitchFamily="34" charset="0"/>
              <a:buChar char="•"/>
            </a:pPr>
            <a:r>
              <a:rPr lang="en-AU" sz="2479" spc="-49" dirty="0">
                <a:solidFill>
                  <a:srgbClr val="FFFFFF"/>
                </a:solidFill>
                <a:latin typeface="DM Sans"/>
              </a:rPr>
              <a:t>RAG Limitations</a:t>
            </a:r>
          </a:p>
          <a:p>
            <a:pPr marL="2171700" lvl="4" indent="-342900">
              <a:buFont typeface="Arial" panose="020B0604020202020204" pitchFamily="34" charset="0"/>
              <a:buChar char="•"/>
            </a:pPr>
            <a:r>
              <a:rPr lang="en-AU" sz="2479" spc="-49" dirty="0">
                <a:solidFill>
                  <a:srgbClr val="FFFFFF"/>
                </a:solidFill>
                <a:latin typeface="DM Sans"/>
              </a:rPr>
              <a:t>Similar wording can still be misunderstood</a:t>
            </a:r>
          </a:p>
          <a:p>
            <a:pPr marL="2171700" lvl="4" indent="-342900">
              <a:buFont typeface="Arial" panose="020B0604020202020204" pitchFamily="34" charset="0"/>
              <a:buChar char="•"/>
            </a:pPr>
            <a:r>
              <a:rPr lang="en-AU" sz="2479" spc="-49" dirty="0">
                <a:solidFill>
                  <a:srgbClr val="FFFFFF"/>
                </a:solidFill>
                <a:latin typeface="DM Sans"/>
              </a:rPr>
              <a:t>Domain-specific terminology may be poorly represented</a:t>
            </a:r>
          </a:p>
          <a:p>
            <a:pPr marL="2171700" lvl="4" indent="-342900">
              <a:buFont typeface="Arial" panose="020B0604020202020204" pitchFamily="34" charset="0"/>
              <a:buChar char="•"/>
            </a:pPr>
            <a:r>
              <a:rPr lang="en-AU" sz="2479" spc="-49" dirty="0">
                <a:solidFill>
                  <a:srgbClr val="FFFFFF"/>
                </a:solidFill>
                <a:latin typeface="DM Sans"/>
              </a:rPr>
              <a:t>Very small chunks may lose context</a:t>
            </a:r>
          </a:p>
          <a:p>
            <a:pPr marL="2171700" lvl="4" indent="-342900">
              <a:buFont typeface="Arial" panose="020B0604020202020204" pitchFamily="34" charset="0"/>
              <a:buChar char="•"/>
            </a:pPr>
            <a:r>
              <a:rPr lang="en-AU" sz="2479" spc="-49" dirty="0">
                <a:solidFill>
                  <a:srgbClr val="FFFFFF"/>
                </a:solidFill>
                <a:latin typeface="DM Sans"/>
              </a:rPr>
              <a:t>Very large chunks may blur meaning</a:t>
            </a:r>
          </a:p>
          <a:p>
            <a:pPr marL="2171700" lvl="4" indent="-342900">
              <a:buFont typeface="Arial" panose="020B0604020202020204" pitchFamily="34" charset="0"/>
              <a:buChar char="•"/>
            </a:pPr>
            <a:r>
              <a:rPr lang="en-AU" sz="2479" spc="-49" dirty="0">
                <a:solidFill>
                  <a:srgbClr val="FFFFFF"/>
                </a:solidFill>
                <a:latin typeface="DM Sans"/>
              </a:rPr>
              <a:t>Embeddings can confuse related but distinct ideas</a:t>
            </a:r>
          </a:p>
          <a:p>
            <a:pPr marL="2171700" lvl="4" indent="-342900">
              <a:buFont typeface="Arial" panose="020B0604020202020204" pitchFamily="34" charset="0"/>
              <a:buChar char="•"/>
            </a:pPr>
            <a:r>
              <a:rPr lang="en-AU" sz="2479" spc="-49" dirty="0">
                <a:solidFill>
                  <a:srgbClr val="FFFFFF"/>
                </a:solidFill>
                <a:latin typeface="DM Sans"/>
              </a:rPr>
              <a:t>They are not perfect for exact factual matching</a:t>
            </a:r>
          </a:p>
          <a:p>
            <a:pPr marL="2171700" lvl="4" indent="-342900">
              <a:buFont typeface="Arial" panose="020B0604020202020204" pitchFamily="34" charset="0"/>
              <a:buChar char="•"/>
            </a:pPr>
            <a:r>
              <a:rPr lang="en-AU" sz="2479" spc="-49" dirty="0">
                <a:solidFill>
                  <a:srgbClr val="FFFFFF"/>
                </a:solidFill>
                <a:latin typeface="DM Sans"/>
              </a:rPr>
              <a:t>Some content may not be retrieved</a:t>
            </a:r>
          </a:p>
          <a:p>
            <a:pPr marL="2171700" lvl="4" indent="-342900">
              <a:buFont typeface="Arial" panose="020B0604020202020204" pitchFamily="34" charset="0"/>
              <a:buChar char="•"/>
            </a:pPr>
            <a:endParaRPr lang="en-AU" sz="2479" spc="-49" dirty="0">
              <a:solidFill>
                <a:srgbClr val="FFFFFF"/>
              </a:solidFill>
              <a:latin typeface="DM Sans"/>
            </a:endParaRPr>
          </a:p>
          <a:p>
            <a:pPr marL="2171700" lvl="4" indent="-342900">
              <a:buFont typeface="Arial" panose="020B0604020202020204" pitchFamily="34" charset="0"/>
              <a:buChar char="•"/>
            </a:pPr>
            <a:endParaRPr lang="en-AU" sz="2479" spc="-49" dirty="0">
              <a:solidFill>
                <a:srgbClr val="FFFFFF"/>
              </a:solidFill>
              <a:latin typeface="DM Sans"/>
            </a:endParaRPr>
          </a:p>
          <a:p>
            <a:pPr marL="2171700" lvl="4" indent="-342900">
              <a:buFont typeface="Arial" panose="020B0604020202020204" pitchFamily="34" charset="0"/>
              <a:buChar char="•"/>
            </a:pPr>
            <a:r>
              <a:rPr lang="en-AU" sz="2479" spc="-49" dirty="0">
                <a:solidFill>
                  <a:srgbClr val="FFFFFF"/>
                </a:solidFill>
                <a:latin typeface="DM Sans"/>
              </a:rPr>
              <a:t>A simple vector search might be insufficient at scale</a:t>
            </a:r>
          </a:p>
          <a:p>
            <a:pPr marL="2171700" lvl="4" indent="-342900">
              <a:buFont typeface="Arial" panose="020B0604020202020204" pitchFamily="34" charset="0"/>
              <a:buChar char="•"/>
            </a:pPr>
            <a:endParaRPr lang="en-AU" sz="2479" spc="-49" dirty="0">
              <a:solidFill>
                <a:srgbClr val="FFFFFF"/>
              </a:solidFill>
              <a:latin typeface="DM Sans"/>
            </a:endParaRPr>
          </a:p>
          <a:p>
            <a:pPr marL="1714500" lvl="3" indent="-342900">
              <a:buFont typeface="Arial" panose="020B0604020202020204" pitchFamily="34" charset="0"/>
              <a:buChar char="•"/>
            </a:pPr>
            <a:endParaRPr lang="en-AU" sz="2479" spc="-49" dirty="0">
              <a:solidFill>
                <a:srgbClr val="FFFFFF"/>
              </a:solidFill>
              <a:latin typeface="DM Sans"/>
            </a:endParaRPr>
          </a:p>
          <a:p>
            <a:pPr marL="800100" lvl="1" indent="-342900">
              <a:buFont typeface="Arial" panose="020B0604020202020204" pitchFamily="34" charset="0"/>
              <a:buChar char="•"/>
            </a:pPr>
            <a:endParaRPr lang="en-AU" sz="2479" spc="-49" dirty="0">
              <a:solidFill>
                <a:srgbClr val="FFFFFF"/>
              </a:solidFill>
              <a:latin typeface="DM Sans"/>
            </a:endParaRPr>
          </a:p>
          <a:p>
            <a:pPr marL="800100" lvl="1" indent="-342900">
              <a:buFont typeface="Arial" panose="020B0604020202020204" pitchFamily="34" charset="0"/>
              <a:buChar char="•"/>
            </a:pPr>
            <a:endParaRPr lang="en-AU" sz="2479" b="0" spc="-49" dirty="0">
              <a:solidFill>
                <a:srgbClr val="FFFFFF"/>
              </a:solidFill>
              <a:latin typeface="DM Sans"/>
              <a:ea typeface="Cambria Math" panose="02040503050406030204" pitchFamily="18" charset="0"/>
            </a:endParaRPr>
          </a:p>
          <a:p>
            <a:pPr lvl="3">
              <a:lnSpc>
                <a:spcPts val="3422"/>
              </a:lnSpc>
            </a:pPr>
            <a:endParaRPr lang="en-AU" sz="2479" spc="-49" dirty="0">
              <a:solidFill>
                <a:srgbClr val="FFFFFF"/>
              </a:solidFill>
              <a:latin typeface="DM Sans"/>
            </a:endParaRPr>
          </a:p>
          <a:p>
            <a:pPr lvl="3">
              <a:lnSpc>
                <a:spcPts val="3422"/>
              </a:lnSpc>
            </a:pPr>
            <a:r>
              <a:rPr lang="en-AU" sz="2479" spc="-49" dirty="0">
                <a:solidFill>
                  <a:srgbClr val="FFFFFF"/>
                </a:solidFill>
                <a:latin typeface="DM Sans"/>
              </a:rPr>
              <a:t> </a:t>
            </a: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lvl="3">
              <a:lnSpc>
                <a:spcPts val="3422"/>
              </a:lnSpc>
            </a:pPr>
            <a:endParaRPr lang="en-AU" sz="2479" spc="-49" dirty="0">
              <a:solidFill>
                <a:srgbClr val="FFFFFF"/>
              </a:solidFill>
              <a:latin typeface="DM Sans"/>
            </a:endParaRPr>
          </a:p>
          <a:p>
            <a:pPr marL="1714500" lvl="3"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p:txBody>
      </p:sp>
    </p:spTree>
    <p:extLst>
      <p:ext uri="{BB962C8B-B14F-4D97-AF65-F5344CB8AC3E}">
        <p14:creationId xmlns:p14="http://schemas.microsoft.com/office/powerpoint/2010/main" val="153289325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1CFCBBBD-45EC-EF10-9C29-FDF19A7B505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F62AF2F4-A39B-613E-AB99-4CAB4D7576CA}"/>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Freeform 6">
            <a:extLst>
              <a:ext uri="{FF2B5EF4-FFF2-40B4-BE49-F238E27FC236}">
                <a16:creationId xmlns:a16="http://schemas.microsoft.com/office/drawing/2014/main" id="{1BDE517B-8579-2D55-A80E-CCBFD1F8CB91}"/>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sp>
        <p:nvSpPr>
          <p:cNvPr id="9" name="TextBox 9">
            <a:extLst>
              <a:ext uri="{FF2B5EF4-FFF2-40B4-BE49-F238E27FC236}">
                <a16:creationId xmlns:a16="http://schemas.microsoft.com/office/drawing/2014/main" id="{65DB1673-D00C-56F9-CDEB-A31882024228}"/>
              </a:ext>
            </a:extLst>
          </p:cNvPr>
          <p:cNvSpPr txBox="1"/>
          <p:nvPr/>
        </p:nvSpPr>
        <p:spPr>
          <a:xfrm>
            <a:off x="1007096" y="1843516"/>
            <a:ext cx="18025980" cy="1477328"/>
          </a:xfrm>
          <a:prstGeom prst="rect">
            <a:avLst/>
          </a:prstGeom>
        </p:spPr>
        <p:txBody>
          <a:bodyPr wrap="square" lIns="0" tIns="0" rIns="0" bIns="0" rtlCol="0" anchor="t">
            <a:spAutoFit/>
          </a:body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AU" sz="4800" b="0" i="0" u="none" strike="noStrike" kern="1200" cap="none" spc="0" normalizeH="0" baseline="0" noProof="0" dirty="0">
                <a:ln>
                  <a:noFill/>
                </a:ln>
                <a:solidFill>
                  <a:srgbClr val="0CC0DF"/>
                </a:solidFill>
                <a:effectLst/>
                <a:uLnTx/>
                <a:uFillTx/>
                <a:latin typeface="Now Bold"/>
                <a:ea typeface="+mn-ea"/>
                <a:cs typeface="+mn-cs"/>
              </a:rPr>
              <a:t>TOOLS AND TOOL CALLING: Retrieval-Augmented Generation</a:t>
            </a:r>
            <a:endParaRPr kumimoji="0" lang="en-US" sz="4800" b="0" i="0" u="none" strike="noStrike" kern="1200" cap="none" spc="0" normalizeH="0" baseline="0" noProof="0" dirty="0">
              <a:ln>
                <a:noFill/>
              </a:ln>
              <a:solidFill>
                <a:srgbClr val="0CC0DF"/>
              </a:solidFill>
              <a:effectLst/>
              <a:uLnTx/>
              <a:uFillTx/>
              <a:latin typeface="Now Bold"/>
              <a:ea typeface="+mn-ea"/>
              <a:cs typeface="+mn-cs"/>
            </a:endParaRPr>
          </a:p>
        </p:txBody>
      </p:sp>
      <p:sp>
        <p:nvSpPr>
          <p:cNvPr id="4" name="TextBox 10">
            <a:extLst>
              <a:ext uri="{FF2B5EF4-FFF2-40B4-BE49-F238E27FC236}">
                <a16:creationId xmlns:a16="http://schemas.microsoft.com/office/drawing/2014/main" id="{279FED78-1E69-346B-19C8-32219143990F}"/>
              </a:ext>
            </a:extLst>
          </p:cNvPr>
          <p:cNvSpPr txBox="1"/>
          <p:nvPr/>
        </p:nvSpPr>
        <p:spPr>
          <a:xfrm>
            <a:off x="1007096" y="3673166"/>
            <a:ext cx="16513812" cy="1725857"/>
          </a:xfrm>
          <a:prstGeom prst="rect">
            <a:avLst/>
          </a:prstGeom>
        </p:spPr>
        <p:txBody>
          <a:bodyPr wrap="square" lIns="0" tIns="0" rIns="0" bIns="0" rtlCol="0" anchor="t">
            <a:spAutoFit/>
          </a:bodyPr>
          <a:lstStyle/>
          <a:p>
            <a:pPr marL="1257300" marR="0" lvl="2" indent="-342900" algn="l" defTabSz="914400" rtl="0" eaLnBrk="1" fontAlgn="auto" latinLnBrk="0" hangingPunct="1">
              <a:lnSpc>
                <a:spcPts val="3422"/>
              </a:lnSpc>
              <a:spcBef>
                <a:spcPts val="0"/>
              </a:spcBef>
              <a:spcAft>
                <a:spcPts val="0"/>
              </a:spcAft>
              <a:buClrTx/>
              <a:buSzTx/>
              <a:buFont typeface="Arial" panose="020B0604020202020204" pitchFamily="34" charset="0"/>
              <a:buChar char="•"/>
              <a:tabLst/>
              <a:defRPr/>
            </a:pPr>
            <a:endParaRPr kumimoji="0" lang="en-AU" sz="2479" b="0" i="0" u="none" strike="noStrike" kern="1200" cap="none" spc="-49" normalizeH="0" baseline="0" noProof="0" dirty="0">
              <a:ln>
                <a:noFill/>
              </a:ln>
              <a:solidFill>
                <a:srgbClr val="FFFFFF"/>
              </a:solidFill>
              <a:effectLst/>
              <a:uLnTx/>
              <a:uFillTx/>
              <a:latin typeface="DM Sans"/>
              <a:ea typeface="+mn-ea"/>
              <a:cs typeface="+mn-cs"/>
            </a:endParaRPr>
          </a:p>
          <a:p>
            <a:pPr marL="1257300" marR="0" lvl="2" indent="-342900" algn="l" defTabSz="914400" rtl="0" eaLnBrk="1" fontAlgn="auto" latinLnBrk="0" hangingPunct="1">
              <a:lnSpc>
                <a:spcPts val="3422"/>
              </a:lnSpc>
              <a:spcBef>
                <a:spcPts val="0"/>
              </a:spcBef>
              <a:spcAft>
                <a:spcPts val="0"/>
              </a:spcAft>
              <a:buClrTx/>
              <a:buSzTx/>
              <a:buFont typeface="Arial" panose="020B0604020202020204" pitchFamily="34" charset="0"/>
              <a:buChar char="•"/>
              <a:tabLst/>
              <a:defRPr/>
            </a:pPr>
            <a:endParaRPr kumimoji="0" lang="en-AU" sz="2479" b="0" i="0" u="none" strike="noStrike" kern="1200" cap="none" spc="-49" normalizeH="0" baseline="0" noProof="0" dirty="0">
              <a:ln>
                <a:noFill/>
              </a:ln>
              <a:solidFill>
                <a:srgbClr val="FFFFFF"/>
              </a:solidFill>
              <a:effectLst/>
              <a:uLnTx/>
              <a:uFillTx/>
              <a:latin typeface="DM Sans"/>
              <a:ea typeface="+mn-ea"/>
              <a:cs typeface="+mn-cs"/>
            </a:endParaRPr>
          </a:p>
          <a:p>
            <a:pPr marL="800100" marR="0" lvl="1" indent="-342900" algn="l" defTabSz="914400" rtl="0" eaLnBrk="1" fontAlgn="auto" latinLnBrk="0" hangingPunct="1">
              <a:lnSpc>
                <a:spcPts val="3422"/>
              </a:lnSpc>
              <a:spcBef>
                <a:spcPts val="0"/>
              </a:spcBef>
              <a:spcAft>
                <a:spcPts val="0"/>
              </a:spcAft>
              <a:buClrTx/>
              <a:buSzTx/>
              <a:buFont typeface="Arial" panose="020B0604020202020204" pitchFamily="34" charset="0"/>
              <a:buChar char="•"/>
              <a:tabLst/>
              <a:defRPr/>
            </a:pPr>
            <a:endParaRPr kumimoji="0" lang="en-AU" sz="2479" b="0" i="0" u="none" strike="noStrike" kern="1200" cap="none" spc="-49" normalizeH="0" baseline="0" noProof="0" dirty="0">
              <a:ln>
                <a:noFill/>
              </a:ln>
              <a:solidFill>
                <a:srgbClr val="FFFFFF"/>
              </a:solidFill>
              <a:effectLst/>
              <a:uLnTx/>
              <a:uFillTx/>
              <a:latin typeface="DM Sans"/>
              <a:ea typeface="+mn-ea"/>
              <a:cs typeface="+mn-cs"/>
            </a:endParaRPr>
          </a:p>
          <a:p>
            <a:pPr marL="800100" marR="0" lvl="1" indent="-342900" algn="l" defTabSz="914400" rtl="0" eaLnBrk="1" fontAlgn="auto" latinLnBrk="0" hangingPunct="1">
              <a:lnSpc>
                <a:spcPts val="3422"/>
              </a:lnSpc>
              <a:spcBef>
                <a:spcPts val="0"/>
              </a:spcBef>
              <a:spcAft>
                <a:spcPts val="0"/>
              </a:spcAft>
              <a:buClrTx/>
              <a:buSzTx/>
              <a:buFont typeface="Arial" panose="020B0604020202020204" pitchFamily="34" charset="0"/>
              <a:buChar char="•"/>
              <a:tabLst/>
              <a:defRPr/>
            </a:pPr>
            <a:endParaRPr kumimoji="0" lang="en-AU" sz="2479" b="0" i="0" u="none" strike="noStrike" kern="1200" cap="none" spc="-49" normalizeH="0" baseline="0" noProof="0" dirty="0">
              <a:ln>
                <a:noFill/>
              </a:ln>
              <a:solidFill>
                <a:srgbClr val="FFFFFF"/>
              </a:solidFill>
              <a:effectLst/>
              <a:uLnTx/>
              <a:uFillTx/>
              <a:latin typeface="DM Sans"/>
              <a:ea typeface="+mn-ea"/>
              <a:cs typeface="+mn-cs"/>
            </a:endParaRPr>
          </a:p>
        </p:txBody>
      </p:sp>
      <p:sp>
        <p:nvSpPr>
          <p:cNvPr id="8" name="TextBox 10">
            <a:extLst>
              <a:ext uri="{FF2B5EF4-FFF2-40B4-BE49-F238E27FC236}">
                <a16:creationId xmlns:a16="http://schemas.microsoft.com/office/drawing/2014/main" id="{42258801-6967-2659-1CA4-F0044D422604}"/>
              </a:ext>
            </a:extLst>
          </p:cNvPr>
          <p:cNvSpPr txBox="1"/>
          <p:nvPr/>
        </p:nvSpPr>
        <p:spPr>
          <a:xfrm>
            <a:off x="887094" y="3581025"/>
            <a:ext cx="16513812" cy="11808746"/>
          </a:xfrm>
          <a:prstGeom prst="rect">
            <a:avLst/>
          </a:prstGeom>
        </p:spPr>
        <p:txBody>
          <a:bodyPr wrap="square" lIns="0" tIns="0" rIns="0" bIns="0" rtlCol="0" anchor="t">
            <a:spAutoFit/>
          </a:bodyPr>
          <a:lstStyle/>
          <a:p>
            <a:pPr marL="1714500" marR="0" lvl="3"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2479" b="0" i="0" u="none" strike="noStrike" kern="1200" cap="none" spc="-49" normalizeH="0" baseline="0" noProof="0" dirty="0" err="1">
                <a:ln>
                  <a:noFill/>
                </a:ln>
                <a:solidFill>
                  <a:srgbClr val="FFFFFF"/>
                </a:solidFill>
                <a:effectLst/>
                <a:uLnTx/>
                <a:uFillTx/>
                <a:latin typeface="DM Sans"/>
                <a:ea typeface="+mn-ea"/>
                <a:cs typeface="+mn-cs"/>
              </a:rPr>
              <a:t>Reranker</a:t>
            </a:r>
            <a:r>
              <a:rPr kumimoji="0" lang="en-AU" sz="2479" b="0" i="0" u="none" strike="noStrike" kern="1200" cap="none" spc="-49" normalizeH="0" baseline="0" noProof="0" dirty="0">
                <a:ln>
                  <a:noFill/>
                </a:ln>
                <a:solidFill>
                  <a:srgbClr val="FFFFFF"/>
                </a:solidFill>
                <a:effectLst/>
                <a:uLnTx/>
                <a:uFillTx/>
                <a:latin typeface="DM Sans"/>
                <a:ea typeface="+mn-ea"/>
                <a:cs typeface="+mn-cs"/>
              </a:rPr>
              <a:t> is a secondary model used to refine the results of an initial search.</a:t>
            </a:r>
          </a:p>
          <a:p>
            <a:pPr marL="2171700" marR="0" lvl="4"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2479" b="0" i="0" u="none" strike="noStrike" kern="1200" cap="none" spc="-49" normalizeH="0" baseline="0" noProof="0" dirty="0">
                <a:ln>
                  <a:noFill/>
                </a:ln>
                <a:solidFill>
                  <a:srgbClr val="FFFFFF"/>
                </a:solidFill>
                <a:effectLst/>
                <a:uLnTx/>
                <a:uFillTx/>
                <a:latin typeface="DM Sans"/>
                <a:ea typeface="+mn-ea"/>
                <a:cs typeface="+mn-cs"/>
              </a:rPr>
              <a:t>Vector/Semantic search is great at quickly narrowing down millions of chunks to a "top 100"</a:t>
            </a:r>
          </a:p>
          <a:p>
            <a:pPr marL="2628900" lvl="5" indent="-342900">
              <a:buFont typeface="Arial" panose="020B0604020202020204" pitchFamily="34" charset="0"/>
              <a:buChar char="•"/>
              <a:defRPr/>
            </a:pPr>
            <a:r>
              <a:rPr kumimoji="0" lang="en-AU" sz="2479" b="0" i="0" u="none" strike="noStrike" kern="1200" cap="none" spc="-49" normalizeH="0" baseline="0" noProof="0" dirty="0">
                <a:ln>
                  <a:noFill/>
                </a:ln>
                <a:solidFill>
                  <a:srgbClr val="FFFFFF"/>
                </a:solidFill>
                <a:effectLst/>
                <a:uLnTx/>
                <a:uFillTx/>
                <a:latin typeface="DM Sans"/>
                <a:ea typeface="+mn-ea"/>
                <a:cs typeface="+mn-cs"/>
              </a:rPr>
              <a:t>It lacks precision</a:t>
            </a:r>
          </a:p>
          <a:p>
            <a:pPr marL="2628900" lvl="5" indent="-342900">
              <a:buFont typeface="Arial" panose="020B0604020202020204" pitchFamily="34" charset="0"/>
              <a:buChar char="•"/>
              <a:defRPr/>
            </a:pPr>
            <a:endParaRPr kumimoji="0" lang="en-AU" sz="2479" b="0" i="0" u="none" strike="noStrike" kern="1200" cap="none" spc="-49" normalizeH="0" baseline="0" noProof="0" dirty="0">
              <a:ln>
                <a:noFill/>
              </a:ln>
              <a:solidFill>
                <a:srgbClr val="FFFFFF"/>
              </a:solidFill>
              <a:effectLst/>
              <a:uLnTx/>
              <a:uFillTx/>
              <a:latin typeface="DM Sans"/>
              <a:ea typeface="+mn-ea"/>
              <a:cs typeface="+mn-cs"/>
            </a:endParaRPr>
          </a:p>
          <a:p>
            <a:pPr marL="2171700" marR="0" lvl="4"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2479" b="0" i="0" u="none" strike="noStrike" kern="1200" cap="none" spc="-49" normalizeH="0" baseline="0" noProof="0" dirty="0" err="1">
                <a:ln>
                  <a:noFill/>
                </a:ln>
                <a:solidFill>
                  <a:srgbClr val="FFFFFF"/>
                </a:solidFill>
                <a:effectLst/>
                <a:uLnTx/>
                <a:uFillTx/>
                <a:latin typeface="DM Sans"/>
                <a:ea typeface="+mn-ea"/>
                <a:cs typeface="+mn-cs"/>
              </a:rPr>
              <a:t>Reranker</a:t>
            </a:r>
            <a:r>
              <a:rPr kumimoji="0" lang="en-AU" sz="2479" b="0" i="0" u="none" strike="noStrike" kern="1200" cap="none" spc="-49" normalizeH="0" baseline="0" noProof="0" dirty="0">
                <a:ln>
                  <a:noFill/>
                </a:ln>
                <a:solidFill>
                  <a:srgbClr val="FFFFFF"/>
                </a:solidFill>
                <a:effectLst/>
                <a:uLnTx/>
                <a:uFillTx/>
                <a:latin typeface="DM Sans"/>
                <a:ea typeface="+mn-ea"/>
                <a:cs typeface="+mn-cs"/>
              </a:rPr>
              <a:t> is more computationally expensive </a:t>
            </a:r>
          </a:p>
          <a:p>
            <a:pPr marL="2171700" marR="0" lvl="4"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2479" b="0" i="0" u="none" strike="noStrike" kern="1200" cap="none" spc="-49" normalizeH="0" baseline="0" noProof="0" dirty="0">
                <a:ln>
                  <a:noFill/>
                </a:ln>
                <a:solidFill>
                  <a:srgbClr val="FFFFFF"/>
                </a:solidFill>
                <a:effectLst/>
                <a:uLnTx/>
                <a:uFillTx/>
                <a:latin typeface="DM Sans"/>
                <a:ea typeface="+mn-ea"/>
                <a:cs typeface="+mn-cs"/>
              </a:rPr>
              <a:t>Can be used as the second filter to improve precision</a:t>
            </a:r>
          </a:p>
          <a:p>
            <a:pPr marL="2171700" marR="0" lvl="4"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AU" sz="2479" b="0" i="0" u="none" strike="noStrike" kern="1200" cap="none" spc="-49" normalizeH="0" baseline="0" noProof="0" dirty="0">
              <a:ln>
                <a:noFill/>
              </a:ln>
              <a:solidFill>
                <a:srgbClr val="FFFFFF"/>
              </a:solidFill>
              <a:effectLst/>
              <a:uLnTx/>
              <a:uFillTx/>
              <a:latin typeface="DM Sans"/>
              <a:ea typeface="+mn-ea"/>
              <a:cs typeface="+mn-cs"/>
            </a:endParaRPr>
          </a:p>
          <a:p>
            <a:pPr marL="2171700" marR="0" lvl="4"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2479" b="1" i="0" u="sng" strike="noStrike" kern="1200" cap="none" spc="-49" normalizeH="0" baseline="0" noProof="0" dirty="0">
                <a:ln>
                  <a:noFill/>
                </a:ln>
                <a:solidFill>
                  <a:srgbClr val="FFFFFF"/>
                </a:solidFill>
                <a:effectLst/>
                <a:uLnTx/>
                <a:uFillTx/>
                <a:latin typeface="DM Sans"/>
                <a:ea typeface="+mn-ea"/>
                <a:cs typeface="+mn-cs"/>
              </a:rPr>
              <a:t>Cross-Encoders</a:t>
            </a:r>
          </a:p>
          <a:p>
            <a:pPr marL="2628900" marR="0" lvl="5"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2479" b="0" i="0" u="none" strike="noStrike" kern="1200" cap="none" spc="-49" normalizeH="0" baseline="0" noProof="0" dirty="0">
                <a:ln>
                  <a:noFill/>
                </a:ln>
                <a:solidFill>
                  <a:srgbClr val="FFFFFF"/>
                </a:solidFill>
                <a:effectLst/>
                <a:uLnTx/>
                <a:uFillTx/>
                <a:latin typeface="DM Sans"/>
                <a:ea typeface="+mn-ea"/>
                <a:cs typeface="+mn-cs"/>
              </a:rPr>
              <a:t>It processes the Query and the Document together in a single pass through the Transformer model. It uses "Full Attention," meaning every word in the query is compared directly to every word in the document(chunk).</a:t>
            </a:r>
          </a:p>
          <a:p>
            <a:pPr marL="2628900" marR="0" lvl="5"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AU" sz="2479" b="0" i="0" u="none" strike="noStrike" kern="1200" cap="none" spc="-49" normalizeH="0" baseline="0" noProof="0" dirty="0">
              <a:ln>
                <a:noFill/>
              </a:ln>
              <a:solidFill>
                <a:srgbClr val="FFFFFF"/>
              </a:solidFill>
              <a:effectLst/>
              <a:uLnTx/>
              <a:uFillTx/>
              <a:latin typeface="DM Sans"/>
              <a:ea typeface="+mn-ea"/>
              <a:cs typeface="+mn-cs"/>
            </a:endParaRPr>
          </a:p>
          <a:p>
            <a:pPr marL="2171700" marR="0" lvl="4"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2479" b="1" i="0" u="sng" strike="noStrike" kern="1200" cap="none" spc="-49" normalizeH="0" baseline="0" noProof="0" dirty="0">
                <a:ln>
                  <a:noFill/>
                </a:ln>
                <a:solidFill>
                  <a:srgbClr val="FFFFFF"/>
                </a:solidFill>
                <a:effectLst/>
                <a:uLnTx/>
                <a:uFillTx/>
                <a:latin typeface="DM Sans"/>
                <a:ea typeface="+mn-ea"/>
                <a:cs typeface="+mn-cs"/>
              </a:rPr>
              <a:t>Bi-Encoders</a:t>
            </a:r>
          </a:p>
          <a:p>
            <a:pPr marL="2628900" marR="0" lvl="5"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2479" b="0" i="0" u="none" strike="noStrike" kern="1200" cap="none" spc="-49" normalizeH="0" baseline="0" noProof="0" dirty="0">
                <a:ln>
                  <a:noFill/>
                </a:ln>
                <a:solidFill>
                  <a:srgbClr val="FFFFFF"/>
                </a:solidFill>
                <a:effectLst/>
                <a:uLnTx/>
                <a:uFillTx/>
                <a:latin typeface="DM Sans"/>
                <a:ea typeface="+mn-ea"/>
                <a:cs typeface="+mn-cs"/>
              </a:rPr>
              <a:t>How it works: Instead of a single vector representing a whole document, it uses "Late Interaction." It stores multiple vectors for every token (word) in a document. During reranking, it performs a fast alignment check between query tokens and document tokens. </a:t>
            </a:r>
          </a:p>
          <a:p>
            <a:pPr marL="2628900" marR="0" lvl="5"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AU" sz="2479" b="0" i="0" u="none" strike="noStrike" kern="1200" cap="none" spc="-49" normalizeH="0" baseline="0" noProof="0" dirty="0">
              <a:ln>
                <a:noFill/>
              </a:ln>
              <a:solidFill>
                <a:srgbClr val="FFFFFF"/>
              </a:solidFill>
              <a:effectLst/>
              <a:uLnTx/>
              <a:uFillTx/>
              <a:latin typeface="DM Sans"/>
              <a:ea typeface="+mn-ea"/>
              <a:cs typeface="+mn-cs"/>
            </a:endParaRPr>
          </a:p>
          <a:p>
            <a:pPr marL="2628900" marR="0" lvl="5"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AU" sz="2479" b="0" i="0" u="none" strike="noStrike" kern="1200" cap="none" spc="-49" normalizeH="0" baseline="0" noProof="0" dirty="0">
              <a:ln>
                <a:noFill/>
              </a:ln>
              <a:solidFill>
                <a:srgbClr val="FFFFFF"/>
              </a:solidFill>
              <a:effectLst/>
              <a:uLnTx/>
              <a:uFillTx/>
              <a:latin typeface="DM Sans"/>
              <a:ea typeface="+mn-ea"/>
              <a:cs typeface="+mn-cs"/>
            </a:endParaRPr>
          </a:p>
          <a:p>
            <a:pPr marL="2171700" marR="0" lvl="4"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AU" sz="2479" b="0" i="0" u="none" strike="noStrike" kern="1200" cap="none" spc="-49" normalizeH="0" baseline="0" noProof="0" dirty="0">
              <a:ln>
                <a:noFill/>
              </a:ln>
              <a:solidFill>
                <a:srgbClr val="FFFFFF"/>
              </a:solidFill>
              <a:effectLst/>
              <a:uLnTx/>
              <a:uFillTx/>
              <a:latin typeface="DM Sans"/>
              <a:ea typeface="+mn-ea"/>
              <a:cs typeface="+mn-cs"/>
            </a:endParaRPr>
          </a:p>
          <a:p>
            <a:pPr marL="2171700" marR="0" lvl="4"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AU" sz="2479" b="0" i="0" u="none" strike="noStrike" kern="1200" cap="none" spc="-49" normalizeH="0" baseline="0" noProof="0" dirty="0">
              <a:ln>
                <a:noFill/>
              </a:ln>
              <a:solidFill>
                <a:srgbClr val="FFFFFF"/>
              </a:solidFill>
              <a:effectLst/>
              <a:uLnTx/>
              <a:uFillTx/>
              <a:latin typeface="DM Sans"/>
              <a:ea typeface="+mn-ea"/>
              <a:cs typeface="+mn-cs"/>
            </a:endParaRPr>
          </a:p>
          <a:p>
            <a:pPr marL="1714500" marR="0" lvl="3"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AU" sz="2479" b="0" i="0" u="none" strike="noStrike" kern="1200" cap="none" spc="-49" normalizeH="0" baseline="0" noProof="0" dirty="0">
              <a:ln>
                <a:noFill/>
              </a:ln>
              <a:solidFill>
                <a:srgbClr val="FFFFFF"/>
              </a:solidFill>
              <a:effectLst/>
              <a:uLnTx/>
              <a:uFillTx/>
              <a:latin typeface="DM Sans"/>
              <a:ea typeface="+mn-ea"/>
              <a:cs typeface="+mn-cs"/>
            </a:endParaRPr>
          </a:p>
          <a:p>
            <a:pPr marL="800100" marR="0" lvl="1"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AU" sz="2479" b="0" i="0" u="none" strike="noStrike" kern="1200" cap="none" spc="-49" normalizeH="0" baseline="0" noProof="0" dirty="0">
              <a:ln>
                <a:noFill/>
              </a:ln>
              <a:solidFill>
                <a:srgbClr val="FFFFFF"/>
              </a:solidFill>
              <a:effectLst/>
              <a:uLnTx/>
              <a:uFillTx/>
              <a:latin typeface="DM Sans"/>
              <a:ea typeface="+mn-ea"/>
              <a:cs typeface="+mn-cs"/>
            </a:endParaRPr>
          </a:p>
          <a:p>
            <a:pPr marL="800100" marR="0" lvl="1"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AU" sz="2479" b="0" i="0" u="none" strike="noStrike" kern="1200" cap="none" spc="-49" normalizeH="0" baseline="0" noProof="0" dirty="0">
              <a:ln>
                <a:noFill/>
              </a:ln>
              <a:solidFill>
                <a:srgbClr val="FFFFFF"/>
              </a:solidFill>
              <a:effectLst/>
              <a:uLnTx/>
              <a:uFillTx/>
              <a:latin typeface="DM Sans"/>
              <a:ea typeface="Cambria Math" panose="02040503050406030204" pitchFamily="18" charset="0"/>
              <a:cs typeface="+mn-cs"/>
            </a:endParaRPr>
          </a:p>
          <a:p>
            <a:pPr marL="1371600" marR="0" lvl="3" indent="0" algn="l" defTabSz="914400" rtl="0" eaLnBrk="1" fontAlgn="auto" latinLnBrk="0" hangingPunct="1">
              <a:lnSpc>
                <a:spcPts val="3422"/>
              </a:lnSpc>
              <a:spcBef>
                <a:spcPts val="0"/>
              </a:spcBef>
              <a:spcAft>
                <a:spcPts val="0"/>
              </a:spcAft>
              <a:buClrTx/>
              <a:buSzTx/>
              <a:buFontTx/>
              <a:buNone/>
              <a:tabLst/>
              <a:defRPr/>
            </a:pPr>
            <a:endParaRPr kumimoji="0" lang="en-AU" sz="2479" b="0" i="0" u="none" strike="noStrike" kern="1200" cap="none" spc="-49" normalizeH="0" baseline="0" noProof="0" dirty="0">
              <a:ln>
                <a:noFill/>
              </a:ln>
              <a:solidFill>
                <a:srgbClr val="FFFFFF"/>
              </a:solidFill>
              <a:effectLst/>
              <a:uLnTx/>
              <a:uFillTx/>
              <a:latin typeface="DM Sans"/>
              <a:ea typeface="+mn-ea"/>
              <a:cs typeface="+mn-cs"/>
            </a:endParaRPr>
          </a:p>
          <a:p>
            <a:pPr marL="1371600" marR="0" lvl="3" indent="0" algn="l" defTabSz="914400" rtl="0" eaLnBrk="1" fontAlgn="auto" latinLnBrk="0" hangingPunct="1">
              <a:lnSpc>
                <a:spcPts val="3422"/>
              </a:lnSpc>
              <a:spcBef>
                <a:spcPts val="0"/>
              </a:spcBef>
              <a:spcAft>
                <a:spcPts val="0"/>
              </a:spcAft>
              <a:buClrTx/>
              <a:buSzTx/>
              <a:buFontTx/>
              <a:buNone/>
              <a:tabLst/>
              <a:defRPr/>
            </a:pPr>
            <a:r>
              <a:rPr kumimoji="0" lang="en-AU" sz="2479" b="0" i="0" u="none" strike="noStrike" kern="1200" cap="none" spc="-49" normalizeH="0" baseline="0" noProof="0" dirty="0">
                <a:ln>
                  <a:noFill/>
                </a:ln>
                <a:solidFill>
                  <a:srgbClr val="FFFFFF"/>
                </a:solidFill>
                <a:effectLst/>
                <a:uLnTx/>
                <a:uFillTx/>
                <a:latin typeface="DM Sans"/>
                <a:ea typeface="+mn-ea"/>
                <a:cs typeface="+mn-cs"/>
              </a:rPr>
              <a:t> </a:t>
            </a:r>
          </a:p>
          <a:p>
            <a:pPr marL="1257300" marR="0" lvl="2" indent="-342900" algn="l" defTabSz="914400" rtl="0" eaLnBrk="1" fontAlgn="auto" latinLnBrk="0" hangingPunct="1">
              <a:lnSpc>
                <a:spcPts val="3422"/>
              </a:lnSpc>
              <a:spcBef>
                <a:spcPts val="0"/>
              </a:spcBef>
              <a:spcAft>
                <a:spcPts val="0"/>
              </a:spcAft>
              <a:buClrTx/>
              <a:buSzTx/>
              <a:buFont typeface="Arial" panose="020B0604020202020204" pitchFamily="34" charset="0"/>
              <a:buChar char="•"/>
              <a:tabLst/>
              <a:defRPr/>
            </a:pPr>
            <a:endParaRPr kumimoji="0" lang="en-AU" sz="2479" b="0" i="0" u="none" strike="noStrike" kern="1200" cap="none" spc="-49" normalizeH="0" baseline="0" noProof="0" dirty="0">
              <a:ln>
                <a:noFill/>
              </a:ln>
              <a:solidFill>
                <a:srgbClr val="FFFFFF"/>
              </a:solidFill>
              <a:effectLst/>
              <a:uLnTx/>
              <a:uFillTx/>
              <a:latin typeface="DM Sans"/>
              <a:ea typeface="+mn-ea"/>
              <a:cs typeface="+mn-cs"/>
            </a:endParaRPr>
          </a:p>
          <a:p>
            <a:pPr marL="1371600" marR="0" lvl="3" indent="0" algn="l" defTabSz="914400" rtl="0" eaLnBrk="1" fontAlgn="auto" latinLnBrk="0" hangingPunct="1">
              <a:lnSpc>
                <a:spcPts val="3422"/>
              </a:lnSpc>
              <a:spcBef>
                <a:spcPts val="0"/>
              </a:spcBef>
              <a:spcAft>
                <a:spcPts val="0"/>
              </a:spcAft>
              <a:buClrTx/>
              <a:buSzTx/>
              <a:buFontTx/>
              <a:buNone/>
              <a:tabLst/>
              <a:defRPr/>
            </a:pPr>
            <a:endParaRPr kumimoji="0" lang="en-AU" sz="2479" b="0" i="0" u="none" strike="noStrike" kern="1200" cap="none" spc="-49" normalizeH="0" baseline="0" noProof="0" dirty="0">
              <a:ln>
                <a:noFill/>
              </a:ln>
              <a:solidFill>
                <a:srgbClr val="FFFFFF"/>
              </a:solidFill>
              <a:effectLst/>
              <a:uLnTx/>
              <a:uFillTx/>
              <a:latin typeface="DM Sans"/>
              <a:ea typeface="+mn-ea"/>
              <a:cs typeface="+mn-cs"/>
            </a:endParaRPr>
          </a:p>
          <a:p>
            <a:pPr marL="1714500" marR="0" lvl="3" indent="-342900" algn="l" defTabSz="914400" rtl="0" eaLnBrk="1" fontAlgn="auto" latinLnBrk="0" hangingPunct="1">
              <a:lnSpc>
                <a:spcPts val="3422"/>
              </a:lnSpc>
              <a:spcBef>
                <a:spcPts val="0"/>
              </a:spcBef>
              <a:spcAft>
                <a:spcPts val="0"/>
              </a:spcAft>
              <a:buClrTx/>
              <a:buSzTx/>
              <a:buFont typeface="Arial" panose="020B0604020202020204" pitchFamily="34" charset="0"/>
              <a:buChar char="•"/>
              <a:tabLst/>
              <a:defRPr/>
            </a:pPr>
            <a:endParaRPr kumimoji="0" lang="en-AU" sz="2479" b="0" i="0" u="none" strike="noStrike" kern="1200" cap="none" spc="-49" normalizeH="0" baseline="0" noProof="0" dirty="0">
              <a:ln>
                <a:noFill/>
              </a:ln>
              <a:solidFill>
                <a:srgbClr val="FFFFFF"/>
              </a:solidFill>
              <a:effectLst/>
              <a:uLnTx/>
              <a:uFillTx/>
              <a:latin typeface="DM Sans"/>
              <a:ea typeface="+mn-ea"/>
              <a:cs typeface="+mn-cs"/>
            </a:endParaRPr>
          </a:p>
          <a:p>
            <a:pPr marL="800100" marR="0" lvl="1" indent="-342900" algn="l" defTabSz="914400" rtl="0" eaLnBrk="1" fontAlgn="auto" latinLnBrk="0" hangingPunct="1">
              <a:lnSpc>
                <a:spcPts val="3422"/>
              </a:lnSpc>
              <a:spcBef>
                <a:spcPts val="0"/>
              </a:spcBef>
              <a:spcAft>
                <a:spcPts val="0"/>
              </a:spcAft>
              <a:buClrTx/>
              <a:buSzTx/>
              <a:buFont typeface="Arial" panose="020B0604020202020204" pitchFamily="34" charset="0"/>
              <a:buChar char="•"/>
              <a:tabLst/>
              <a:defRPr/>
            </a:pPr>
            <a:endParaRPr kumimoji="0" lang="en-AU" sz="2479" b="0" i="0" u="none" strike="noStrike" kern="1200" cap="none" spc="-49" normalizeH="0" baseline="0" noProof="0" dirty="0">
              <a:ln>
                <a:noFill/>
              </a:ln>
              <a:solidFill>
                <a:srgbClr val="FFFFFF"/>
              </a:solidFill>
              <a:effectLst/>
              <a:uLnTx/>
              <a:uFillTx/>
              <a:latin typeface="DM Sans"/>
              <a:ea typeface="+mn-ea"/>
              <a:cs typeface="+mn-cs"/>
            </a:endParaRPr>
          </a:p>
          <a:p>
            <a:pPr marL="800100" marR="0" lvl="1" indent="-342900" algn="l" defTabSz="914400" rtl="0" eaLnBrk="1" fontAlgn="auto" latinLnBrk="0" hangingPunct="1">
              <a:lnSpc>
                <a:spcPts val="3422"/>
              </a:lnSpc>
              <a:spcBef>
                <a:spcPts val="0"/>
              </a:spcBef>
              <a:spcAft>
                <a:spcPts val="0"/>
              </a:spcAft>
              <a:buClrTx/>
              <a:buSzTx/>
              <a:buFont typeface="Arial" panose="020B0604020202020204" pitchFamily="34" charset="0"/>
              <a:buChar char="•"/>
              <a:tabLst/>
              <a:defRPr/>
            </a:pPr>
            <a:endParaRPr kumimoji="0" lang="en-AU" sz="2479" b="0" i="0" u="none" strike="noStrike" kern="1200" cap="none" spc="-49" normalizeH="0" baseline="0" noProof="0" dirty="0">
              <a:ln>
                <a:noFill/>
              </a:ln>
              <a:solidFill>
                <a:srgbClr val="FFFFFF"/>
              </a:solidFill>
              <a:effectLst/>
              <a:uLnTx/>
              <a:uFillTx/>
              <a:latin typeface="DM Sans"/>
              <a:ea typeface="+mn-ea"/>
              <a:cs typeface="+mn-cs"/>
            </a:endParaRPr>
          </a:p>
        </p:txBody>
      </p:sp>
    </p:spTree>
    <p:extLst>
      <p:ext uri="{BB962C8B-B14F-4D97-AF65-F5344CB8AC3E}">
        <p14:creationId xmlns:p14="http://schemas.microsoft.com/office/powerpoint/2010/main" val="131329114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D97309B8-0C65-5029-01E8-A0A751FF945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6C4B556-52BD-56B4-A78A-F7296A94003C}"/>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Freeform 6">
            <a:extLst>
              <a:ext uri="{FF2B5EF4-FFF2-40B4-BE49-F238E27FC236}">
                <a16:creationId xmlns:a16="http://schemas.microsoft.com/office/drawing/2014/main" id="{30B15518-E8FE-D0EC-C6F9-C09BBE9517AA}"/>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sp>
        <p:nvSpPr>
          <p:cNvPr id="9" name="TextBox 9">
            <a:extLst>
              <a:ext uri="{FF2B5EF4-FFF2-40B4-BE49-F238E27FC236}">
                <a16:creationId xmlns:a16="http://schemas.microsoft.com/office/drawing/2014/main" id="{D29A8682-1C8A-B4E8-C610-63892ED550AB}"/>
              </a:ext>
            </a:extLst>
          </p:cNvPr>
          <p:cNvSpPr txBox="1"/>
          <p:nvPr/>
        </p:nvSpPr>
        <p:spPr>
          <a:xfrm>
            <a:off x="1007096" y="1843516"/>
            <a:ext cx="18025980" cy="1477328"/>
          </a:xfrm>
          <a:prstGeom prst="rect">
            <a:avLst/>
          </a:prstGeom>
        </p:spPr>
        <p:txBody>
          <a:bodyPr wrap="square" lIns="0" tIns="0" rIns="0" bIns="0" rtlCol="0" anchor="t">
            <a:spAutoFit/>
          </a:body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AU" sz="4800" b="0" i="0" u="none" strike="noStrike" kern="1200" cap="none" spc="0" normalizeH="0" baseline="0" noProof="0" dirty="0">
                <a:ln>
                  <a:noFill/>
                </a:ln>
                <a:solidFill>
                  <a:srgbClr val="0CC0DF"/>
                </a:solidFill>
                <a:effectLst/>
                <a:uLnTx/>
                <a:uFillTx/>
                <a:latin typeface="Now Bold"/>
                <a:ea typeface="+mn-ea"/>
                <a:cs typeface="+mn-cs"/>
              </a:rPr>
              <a:t>TOOLS AND TOOL CALLING: Retrieval-Augmented Generation</a:t>
            </a:r>
            <a:endParaRPr kumimoji="0" lang="en-US" sz="4800" b="0" i="0" u="none" strike="noStrike" kern="1200" cap="none" spc="0" normalizeH="0" baseline="0" noProof="0" dirty="0">
              <a:ln>
                <a:noFill/>
              </a:ln>
              <a:solidFill>
                <a:srgbClr val="0CC0DF"/>
              </a:solidFill>
              <a:effectLst/>
              <a:uLnTx/>
              <a:uFillTx/>
              <a:latin typeface="Now Bold"/>
              <a:ea typeface="+mn-ea"/>
              <a:cs typeface="+mn-cs"/>
            </a:endParaRPr>
          </a:p>
        </p:txBody>
      </p:sp>
      <p:sp>
        <p:nvSpPr>
          <p:cNvPr id="4" name="TextBox 10">
            <a:extLst>
              <a:ext uri="{FF2B5EF4-FFF2-40B4-BE49-F238E27FC236}">
                <a16:creationId xmlns:a16="http://schemas.microsoft.com/office/drawing/2014/main" id="{525E4B3F-81E6-6D43-6977-95D70FC559D9}"/>
              </a:ext>
            </a:extLst>
          </p:cNvPr>
          <p:cNvSpPr txBox="1"/>
          <p:nvPr/>
        </p:nvSpPr>
        <p:spPr>
          <a:xfrm>
            <a:off x="1007096" y="3673166"/>
            <a:ext cx="16513812" cy="1725857"/>
          </a:xfrm>
          <a:prstGeom prst="rect">
            <a:avLst/>
          </a:prstGeom>
        </p:spPr>
        <p:txBody>
          <a:bodyPr wrap="square" lIns="0" tIns="0" rIns="0" bIns="0" rtlCol="0" anchor="t">
            <a:spAutoFit/>
          </a:bodyPr>
          <a:lstStyle/>
          <a:p>
            <a:pPr marL="1257300" marR="0" lvl="2" indent="-342900" algn="l" defTabSz="914400" rtl="0" eaLnBrk="1" fontAlgn="auto" latinLnBrk="0" hangingPunct="1">
              <a:lnSpc>
                <a:spcPts val="3422"/>
              </a:lnSpc>
              <a:spcBef>
                <a:spcPts val="0"/>
              </a:spcBef>
              <a:spcAft>
                <a:spcPts val="0"/>
              </a:spcAft>
              <a:buClrTx/>
              <a:buSzTx/>
              <a:buFont typeface="Arial" panose="020B0604020202020204" pitchFamily="34" charset="0"/>
              <a:buChar char="•"/>
              <a:tabLst/>
              <a:defRPr/>
            </a:pPr>
            <a:endParaRPr kumimoji="0" lang="en-AU" sz="2479" b="0" i="0" u="none" strike="noStrike" kern="1200" cap="none" spc="-49" normalizeH="0" baseline="0" noProof="0" dirty="0">
              <a:ln>
                <a:noFill/>
              </a:ln>
              <a:solidFill>
                <a:srgbClr val="FFFFFF"/>
              </a:solidFill>
              <a:effectLst/>
              <a:uLnTx/>
              <a:uFillTx/>
              <a:latin typeface="DM Sans"/>
              <a:ea typeface="+mn-ea"/>
              <a:cs typeface="+mn-cs"/>
            </a:endParaRPr>
          </a:p>
          <a:p>
            <a:pPr marL="1257300" marR="0" lvl="2" indent="-342900" algn="l" defTabSz="914400" rtl="0" eaLnBrk="1" fontAlgn="auto" latinLnBrk="0" hangingPunct="1">
              <a:lnSpc>
                <a:spcPts val="3422"/>
              </a:lnSpc>
              <a:spcBef>
                <a:spcPts val="0"/>
              </a:spcBef>
              <a:spcAft>
                <a:spcPts val="0"/>
              </a:spcAft>
              <a:buClrTx/>
              <a:buSzTx/>
              <a:buFont typeface="Arial" panose="020B0604020202020204" pitchFamily="34" charset="0"/>
              <a:buChar char="•"/>
              <a:tabLst/>
              <a:defRPr/>
            </a:pPr>
            <a:endParaRPr kumimoji="0" lang="en-AU" sz="2479" b="0" i="0" u="none" strike="noStrike" kern="1200" cap="none" spc="-49" normalizeH="0" baseline="0" noProof="0" dirty="0">
              <a:ln>
                <a:noFill/>
              </a:ln>
              <a:solidFill>
                <a:srgbClr val="FFFFFF"/>
              </a:solidFill>
              <a:effectLst/>
              <a:uLnTx/>
              <a:uFillTx/>
              <a:latin typeface="DM Sans"/>
              <a:ea typeface="+mn-ea"/>
              <a:cs typeface="+mn-cs"/>
            </a:endParaRPr>
          </a:p>
          <a:p>
            <a:pPr marL="800100" marR="0" lvl="1" indent="-342900" algn="l" defTabSz="914400" rtl="0" eaLnBrk="1" fontAlgn="auto" latinLnBrk="0" hangingPunct="1">
              <a:lnSpc>
                <a:spcPts val="3422"/>
              </a:lnSpc>
              <a:spcBef>
                <a:spcPts val="0"/>
              </a:spcBef>
              <a:spcAft>
                <a:spcPts val="0"/>
              </a:spcAft>
              <a:buClrTx/>
              <a:buSzTx/>
              <a:buFont typeface="Arial" panose="020B0604020202020204" pitchFamily="34" charset="0"/>
              <a:buChar char="•"/>
              <a:tabLst/>
              <a:defRPr/>
            </a:pPr>
            <a:endParaRPr kumimoji="0" lang="en-AU" sz="2479" b="0" i="0" u="none" strike="noStrike" kern="1200" cap="none" spc="-49" normalizeH="0" baseline="0" noProof="0" dirty="0">
              <a:ln>
                <a:noFill/>
              </a:ln>
              <a:solidFill>
                <a:srgbClr val="FFFFFF"/>
              </a:solidFill>
              <a:effectLst/>
              <a:uLnTx/>
              <a:uFillTx/>
              <a:latin typeface="DM Sans"/>
              <a:ea typeface="+mn-ea"/>
              <a:cs typeface="+mn-cs"/>
            </a:endParaRPr>
          </a:p>
          <a:p>
            <a:pPr marL="800100" marR="0" lvl="1" indent="-342900" algn="l" defTabSz="914400" rtl="0" eaLnBrk="1" fontAlgn="auto" latinLnBrk="0" hangingPunct="1">
              <a:lnSpc>
                <a:spcPts val="3422"/>
              </a:lnSpc>
              <a:spcBef>
                <a:spcPts val="0"/>
              </a:spcBef>
              <a:spcAft>
                <a:spcPts val="0"/>
              </a:spcAft>
              <a:buClrTx/>
              <a:buSzTx/>
              <a:buFont typeface="Arial" panose="020B0604020202020204" pitchFamily="34" charset="0"/>
              <a:buChar char="•"/>
              <a:tabLst/>
              <a:defRPr/>
            </a:pPr>
            <a:endParaRPr kumimoji="0" lang="en-AU" sz="2479" b="0" i="0" u="none" strike="noStrike" kern="1200" cap="none" spc="-49" normalizeH="0" baseline="0" noProof="0" dirty="0">
              <a:ln>
                <a:noFill/>
              </a:ln>
              <a:solidFill>
                <a:srgbClr val="FFFFFF"/>
              </a:solidFill>
              <a:effectLst/>
              <a:uLnTx/>
              <a:uFillTx/>
              <a:latin typeface="DM Sans"/>
              <a:ea typeface="+mn-ea"/>
              <a:cs typeface="+mn-cs"/>
            </a:endParaRPr>
          </a:p>
        </p:txBody>
      </p:sp>
      <p:pic>
        <p:nvPicPr>
          <p:cNvPr id="3074" name="Picture 2" descr="Typical architecture of a Bi-Encoder">
            <a:extLst>
              <a:ext uri="{FF2B5EF4-FFF2-40B4-BE49-F238E27FC236}">
                <a16:creationId xmlns:a16="http://schemas.microsoft.com/office/drawing/2014/main" id="{A3EA2663-75F5-A6C1-B3DD-26738595B49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99185" y="3320844"/>
            <a:ext cx="5760640" cy="6097508"/>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Typical architecture of a Cross Encoder">
            <a:extLst>
              <a:ext uri="{FF2B5EF4-FFF2-40B4-BE49-F238E27FC236}">
                <a16:creationId xmlns:a16="http://schemas.microsoft.com/office/drawing/2014/main" id="{D5E447B1-FF40-F641-E80E-1202E939A31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222279" y="3320844"/>
            <a:ext cx="7318595" cy="609750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4D10EF32-0C8F-F2AC-CE0B-87BCB4E77FED}"/>
              </a:ext>
            </a:extLst>
          </p:cNvPr>
          <p:cNvSpPr txBox="1"/>
          <p:nvPr/>
        </p:nvSpPr>
        <p:spPr>
          <a:xfrm>
            <a:off x="1799184" y="9565144"/>
            <a:ext cx="15060313"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AU" sz="1800" b="0" i="0" u="none" strike="noStrike" kern="1200" cap="none" spc="0" normalizeH="0" baseline="0" noProof="0" dirty="0">
                <a:ln>
                  <a:noFill/>
                </a:ln>
                <a:solidFill>
                  <a:prstClr val="white"/>
                </a:solidFill>
                <a:effectLst/>
                <a:uLnTx/>
                <a:uFillTx/>
                <a:latin typeface="Roboto" panose="02000000000000000000" pitchFamily="2" charset="0"/>
                <a:ea typeface="+mn-ea"/>
                <a:cs typeface="+mn-cs"/>
              </a:rPr>
              <a:t>* BERT (</a:t>
            </a:r>
            <a:r>
              <a:rPr kumimoji="0" lang="en-AU" sz="1800" b="1" i="0" u="none" strike="noStrike" kern="1200" cap="none" spc="0" normalizeH="0" baseline="0" noProof="0" dirty="0">
                <a:ln>
                  <a:noFill/>
                </a:ln>
                <a:solidFill>
                  <a:prstClr val="white"/>
                </a:solidFill>
                <a:effectLst/>
                <a:uLnTx/>
                <a:uFillTx/>
                <a:latin typeface="Roboto" panose="02000000000000000000" pitchFamily="2" charset="0"/>
                <a:ea typeface="+mn-ea"/>
                <a:cs typeface="+mn-cs"/>
              </a:rPr>
              <a:t>Bidirectional Encoder Representations from Transformers</a:t>
            </a:r>
            <a:r>
              <a:rPr kumimoji="0" lang="en-AU" sz="1800" b="0" i="0" u="none" strike="noStrike" kern="1200" cap="none" spc="0" normalizeH="0" baseline="0" noProof="0" dirty="0">
                <a:ln>
                  <a:noFill/>
                </a:ln>
                <a:solidFill>
                  <a:prstClr val="white"/>
                </a:solidFill>
                <a:effectLst/>
                <a:uLnTx/>
                <a:uFillTx/>
                <a:latin typeface="Roboto" panose="02000000000000000000" pitchFamily="2" charset="0"/>
                <a:ea typeface="+mn-ea"/>
                <a:cs typeface="+mn-cs"/>
              </a:rPr>
              <a:t>) is a </a:t>
            </a:r>
            <a:r>
              <a:rPr kumimoji="0" lang="en-AU" sz="1800" b="1" i="0" u="none" strike="noStrike" kern="1200" cap="none" spc="0" normalizeH="0" baseline="0" noProof="0" dirty="0">
                <a:ln>
                  <a:noFill/>
                </a:ln>
                <a:solidFill>
                  <a:prstClr val="white"/>
                </a:solidFill>
                <a:effectLst/>
                <a:uLnTx/>
                <a:uFillTx/>
                <a:latin typeface="Roboto" panose="02000000000000000000" pitchFamily="2" charset="0"/>
                <a:ea typeface="+mn-ea"/>
                <a:cs typeface="+mn-cs"/>
              </a:rPr>
              <a:t>Transformer-based</a:t>
            </a:r>
            <a:r>
              <a:rPr kumimoji="0" lang="en-AU" sz="1800" b="0" i="0" u="none" strike="noStrike" kern="1200" cap="none" spc="0" normalizeH="0" baseline="0" noProof="0" dirty="0">
                <a:ln>
                  <a:noFill/>
                </a:ln>
                <a:solidFill>
                  <a:prstClr val="white"/>
                </a:solidFill>
                <a:effectLst/>
                <a:uLnTx/>
                <a:uFillTx/>
                <a:latin typeface="Roboto" panose="02000000000000000000" pitchFamily="2" charset="0"/>
                <a:ea typeface="+mn-ea"/>
                <a:cs typeface="+mn-cs"/>
              </a:rPr>
              <a:t> model developed by Google AI for </a:t>
            </a:r>
            <a:r>
              <a:rPr kumimoji="0" lang="en-AU" sz="1800" b="1" i="0" u="none" strike="noStrike" kern="1200" cap="none" spc="0" normalizeH="0" baseline="0" noProof="0" dirty="0">
                <a:ln>
                  <a:noFill/>
                </a:ln>
                <a:solidFill>
                  <a:prstClr val="white"/>
                </a:solidFill>
                <a:effectLst/>
                <a:uLnTx/>
                <a:uFillTx/>
                <a:latin typeface="Roboto" panose="02000000000000000000" pitchFamily="2" charset="0"/>
                <a:ea typeface="+mn-ea"/>
                <a:cs typeface="+mn-cs"/>
              </a:rPr>
              <a:t>Natural Language Understanding (NLU)</a:t>
            </a:r>
            <a:r>
              <a:rPr kumimoji="0" lang="en-AU" sz="1800" b="0" i="0" u="none" strike="noStrike" kern="1200" cap="none" spc="0" normalizeH="0" baseline="0" noProof="0" dirty="0">
                <a:ln>
                  <a:noFill/>
                </a:ln>
                <a:solidFill>
                  <a:prstClr val="white"/>
                </a:solidFill>
                <a:effectLst/>
                <a:uLnTx/>
                <a:uFillTx/>
                <a:latin typeface="Roboto" panose="02000000000000000000" pitchFamily="2" charset="0"/>
                <a:ea typeface="+mn-ea"/>
                <a:cs typeface="+mn-cs"/>
              </a:rPr>
              <a:t>.</a:t>
            </a: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Tree>
    <p:extLst>
      <p:ext uri="{BB962C8B-B14F-4D97-AF65-F5344CB8AC3E}">
        <p14:creationId xmlns:p14="http://schemas.microsoft.com/office/powerpoint/2010/main" val="40853132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D5D5783B-BB4F-076D-FEE7-550748553879}"/>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218AC39-685D-C191-CEF6-87034C4C8986}"/>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Freeform 6">
            <a:extLst>
              <a:ext uri="{FF2B5EF4-FFF2-40B4-BE49-F238E27FC236}">
                <a16:creationId xmlns:a16="http://schemas.microsoft.com/office/drawing/2014/main" id="{53D419EE-144B-AE4B-9C12-565A664DAA4A}"/>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sp>
        <p:nvSpPr>
          <p:cNvPr id="9" name="TextBox 9">
            <a:extLst>
              <a:ext uri="{FF2B5EF4-FFF2-40B4-BE49-F238E27FC236}">
                <a16:creationId xmlns:a16="http://schemas.microsoft.com/office/drawing/2014/main" id="{67213E22-C42B-C443-795E-2ABED2308737}"/>
              </a:ext>
            </a:extLst>
          </p:cNvPr>
          <p:cNvSpPr txBox="1"/>
          <p:nvPr/>
        </p:nvSpPr>
        <p:spPr>
          <a:xfrm>
            <a:off x="1007096" y="1843516"/>
            <a:ext cx="18025980" cy="1477328"/>
          </a:xfrm>
          <a:prstGeom prst="rect">
            <a:avLst/>
          </a:prstGeom>
        </p:spPr>
        <p:txBody>
          <a:bodyPr wrap="square" lIns="0" tIns="0" rIns="0" bIns="0" rtlCol="0" anchor="t">
            <a:spAutoFit/>
          </a:body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AU" sz="4800" b="0" i="0" u="none" strike="noStrike" kern="1200" cap="none" spc="0" normalizeH="0" baseline="0" noProof="0" dirty="0">
                <a:ln>
                  <a:noFill/>
                </a:ln>
                <a:solidFill>
                  <a:srgbClr val="0CC0DF"/>
                </a:solidFill>
                <a:effectLst/>
                <a:uLnTx/>
                <a:uFillTx/>
                <a:latin typeface="Now Bold"/>
                <a:ea typeface="+mn-ea"/>
                <a:cs typeface="+mn-cs"/>
              </a:rPr>
              <a:t>TOOLS AND TOOL CALLING: Retrieval-Augmented Generation</a:t>
            </a:r>
            <a:endParaRPr kumimoji="0" lang="en-US" sz="4800" b="0" i="0" u="none" strike="noStrike" kern="1200" cap="none" spc="0" normalizeH="0" baseline="0" noProof="0" dirty="0">
              <a:ln>
                <a:noFill/>
              </a:ln>
              <a:solidFill>
                <a:srgbClr val="0CC0DF"/>
              </a:solidFill>
              <a:effectLst/>
              <a:uLnTx/>
              <a:uFillTx/>
              <a:latin typeface="Now Bold"/>
              <a:ea typeface="+mn-ea"/>
              <a:cs typeface="+mn-cs"/>
            </a:endParaRPr>
          </a:p>
        </p:txBody>
      </p:sp>
      <p:sp>
        <p:nvSpPr>
          <p:cNvPr id="4" name="TextBox 10">
            <a:extLst>
              <a:ext uri="{FF2B5EF4-FFF2-40B4-BE49-F238E27FC236}">
                <a16:creationId xmlns:a16="http://schemas.microsoft.com/office/drawing/2014/main" id="{A0AF1A9E-1AEC-17F3-F7B2-870E522DCA87}"/>
              </a:ext>
            </a:extLst>
          </p:cNvPr>
          <p:cNvSpPr txBox="1"/>
          <p:nvPr/>
        </p:nvSpPr>
        <p:spPr>
          <a:xfrm>
            <a:off x="1007096" y="3673166"/>
            <a:ext cx="16513812" cy="1725857"/>
          </a:xfrm>
          <a:prstGeom prst="rect">
            <a:avLst/>
          </a:prstGeom>
        </p:spPr>
        <p:txBody>
          <a:bodyPr wrap="square" lIns="0" tIns="0" rIns="0" bIns="0" rtlCol="0" anchor="t">
            <a:spAutoFit/>
          </a:bodyPr>
          <a:lstStyle/>
          <a:p>
            <a:pPr marL="1257300" marR="0" lvl="2" indent="-342900" algn="l" defTabSz="914400" rtl="0" eaLnBrk="1" fontAlgn="auto" latinLnBrk="0" hangingPunct="1">
              <a:lnSpc>
                <a:spcPts val="3422"/>
              </a:lnSpc>
              <a:spcBef>
                <a:spcPts val="0"/>
              </a:spcBef>
              <a:spcAft>
                <a:spcPts val="0"/>
              </a:spcAft>
              <a:buClrTx/>
              <a:buSzTx/>
              <a:buFont typeface="Arial" panose="020B0604020202020204" pitchFamily="34" charset="0"/>
              <a:buChar char="•"/>
              <a:tabLst/>
              <a:defRPr/>
            </a:pPr>
            <a:endParaRPr kumimoji="0" lang="en-AU" sz="2479" b="0" i="0" u="none" strike="noStrike" kern="1200" cap="none" spc="-49" normalizeH="0" baseline="0" noProof="0" dirty="0">
              <a:ln>
                <a:noFill/>
              </a:ln>
              <a:solidFill>
                <a:srgbClr val="FFFFFF"/>
              </a:solidFill>
              <a:effectLst/>
              <a:uLnTx/>
              <a:uFillTx/>
              <a:latin typeface="DM Sans"/>
              <a:ea typeface="+mn-ea"/>
              <a:cs typeface="+mn-cs"/>
            </a:endParaRPr>
          </a:p>
          <a:p>
            <a:pPr marL="1257300" marR="0" lvl="2" indent="-342900" algn="l" defTabSz="914400" rtl="0" eaLnBrk="1" fontAlgn="auto" latinLnBrk="0" hangingPunct="1">
              <a:lnSpc>
                <a:spcPts val="3422"/>
              </a:lnSpc>
              <a:spcBef>
                <a:spcPts val="0"/>
              </a:spcBef>
              <a:spcAft>
                <a:spcPts val="0"/>
              </a:spcAft>
              <a:buClrTx/>
              <a:buSzTx/>
              <a:buFont typeface="Arial" panose="020B0604020202020204" pitchFamily="34" charset="0"/>
              <a:buChar char="•"/>
              <a:tabLst/>
              <a:defRPr/>
            </a:pPr>
            <a:endParaRPr kumimoji="0" lang="en-AU" sz="2479" b="0" i="0" u="none" strike="noStrike" kern="1200" cap="none" spc="-49" normalizeH="0" baseline="0" noProof="0" dirty="0">
              <a:ln>
                <a:noFill/>
              </a:ln>
              <a:solidFill>
                <a:srgbClr val="FFFFFF"/>
              </a:solidFill>
              <a:effectLst/>
              <a:uLnTx/>
              <a:uFillTx/>
              <a:latin typeface="DM Sans"/>
              <a:ea typeface="+mn-ea"/>
              <a:cs typeface="+mn-cs"/>
            </a:endParaRPr>
          </a:p>
          <a:p>
            <a:pPr marL="800100" marR="0" lvl="1" indent="-342900" algn="l" defTabSz="914400" rtl="0" eaLnBrk="1" fontAlgn="auto" latinLnBrk="0" hangingPunct="1">
              <a:lnSpc>
                <a:spcPts val="3422"/>
              </a:lnSpc>
              <a:spcBef>
                <a:spcPts val="0"/>
              </a:spcBef>
              <a:spcAft>
                <a:spcPts val="0"/>
              </a:spcAft>
              <a:buClrTx/>
              <a:buSzTx/>
              <a:buFont typeface="Arial" panose="020B0604020202020204" pitchFamily="34" charset="0"/>
              <a:buChar char="•"/>
              <a:tabLst/>
              <a:defRPr/>
            </a:pPr>
            <a:endParaRPr kumimoji="0" lang="en-AU" sz="2479" b="0" i="0" u="none" strike="noStrike" kern="1200" cap="none" spc="-49" normalizeH="0" baseline="0" noProof="0" dirty="0">
              <a:ln>
                <a:noFill/>
              </a:ln>
              <a:solidFill>
                <a:srgbClr val="FFFFFF"/>
              </a:solidFill>
              <a:effectLst/>
              <a:uLnTx/>
              <a:uFillTx/>
              <a:latin typeface="DM Sans"/>
              <a:ea typeface="+mn-ea"/>
              <a:cs typeface="+mn-cs"/>
            </a:endParaRPr>
          </a:p>
          <a:p>
            <a:pPr marL="800100" marR="0" lvl="1" indent="-342900" algn="l" defTabSz="914400" rtl="0" eaLnBrk="1" fontAlgn="auto" latinLnBrk="0" hangingPunct="1">
              <a:lnSpc>
                <a:spcPts val="3422"/>
              </a:lnSpc>
              <a:spcBef>
                <a:spcPts val="0"/>
              </a:spcBef>
              <a:spcAft>
                <a:spcPts val="0"/>
              </a:spcAft>
              <a:buClrTx/>
              <a:buSzTx/>
              <a:buFont typeface="Arial" panose="020B0604020202020204" pitchFamily="34" charset="0"/>
              <a:buChar char="•"/>
              <a:tabLst/>
              <a:defRPr/>
            </a:pPr>
            <a:endParaRPr kumimoji="0" lang="en-AU" sz="2479" b="0" i="0" u="none" strike="noStrike" kern="1200" cap="none" spc="-49" normalizeH="0" baseline="0" noProof="0" dirty="0">
              <a:ln>
                <a:noFill/>
              </a:ln>
              <a:solidFill>
                <a:srgbClr val="FFFFFF"/>
              </a:solidFill>
              <a:effectLst/>
              <a:uLnTx/>
              <a:uFillTx/>
              <a:latin typeface="DM Sans"/>
              <a:ea typeface="+mn-ea"/>
              <a:cs typeface="+mn-cs"/>
            </a:endParaRPr>
          </a:p>
        </p:txBody>
      </p:sp>
      <p:graphicFrame>
        <p:nvGraphicFramePr>
          <p:cNvPr id="3" name="Table 2">
            <a:extLst>
              <a:ext uri="{FF2B5EF4-FFF2-40B4-BE49-F238E27FC236}">
                <a16:creationId xmlns:a16="http://schemas.microsoft.com/office/drawing/2014/main" id="{970BD2B4-1954-F6F2-B8EF-7CCC5D20E822}"/>
              </a:ext>
            </a:extLst>
          </p:cNvPr>
          <p:cNvGraphicFramePr>
            <a:graphicFrameLocks noGrp="1"/>
          </p:cNvGraphicFramePr>
          <p:nvPr>
            <p:extLst>
              <p:ext uri="{D42A27DB-BD31-4B8C-83A1-F6EECF244321}">
                <p14:modId xmlns:p14="http://schemas.microsoft.com/office/powerpoint/2010/main" val="144568500"/>
              </p:ext>
            </p:extLst>
          </p:nvPr>
        </p:nvGraphicFramePr>
        <p:xfrm>
          <a:off x="1907196" y="3320844"/>
          <a:ext cx="12925437" cy="5855106"/>
        </p:xfrm>
        <a:graphic>
          <a:graphicData uri="http://schemas.openxmlformats.org/drawingml/2006/table">
            <a:tbl>
              <a:tblPr firstRow="1" bandRow="1">
                <a:tableStyleId>{5C22544A-7EE6-4342-B048-85BDC9FD1C3A}</a:tableStyleId>
              </a:tblPr>
              <a:tblGrid>
                <a:gridCol w="4308479">
                  <a:extLst>
                    <a:ext uri="{9D8B030D-6E8A-4147-A177-3AD203B41FA5}">
                      <a16:colId xmlns:a16="http://schemas.microsoft.com/office/drawing/2014/main" val="1944395681"/>
                    </a:ext>
                  </a:extLst>
                </a:gridCol>
                <a:gridCol w="4308479">
                  <a:extLst>
                    <a:ext uri="{9D8B030D-6E8A-4147-A177-3AD203B41FA5}">
                      <a16:colId xmlns:a16="http://schemas.microsoft.com/office/drawing/2014/main" val="1480614520"/>
                    </a:ext>
                  </a:extLst>
                </a:gridCol>
                <a:gridCol w="4308479">
                  <a:extLst>
                    <a:ext uri="{9D8B030D-6E8A-4147-A177-3AD203B41FA5}">
                      <a16:colId xmlns:a16="http://schemas.microsoft.com/office/drawing/2014/main" val="1128760664"/>
                    </a:ext>
                  </a:extLst>
                </a:gridCol>
              </a:tblGrid>
              <a:tr h="975851">
                <a:tc>
                  <a:txBody>
                    <a:bodyPr/>
                    <a:lstStyle/>
                    <a:p>
                      <a:pPr>
                        <a:buNone/>
                      </a:pPr>
                      <a:endParaRPr lang="en-AU" dirty="0">
                        <a:solidFill>
                          <a:schemeClr val="tx1"/>
                        </a:solidFill>
                      </a:endParaRPr>
                    </a:p>
                  </a:txBody>
                  <a:tcPr anchor="ctr"/>
                </a:tc>
                <a:tc>
                  <a:txBody>
                    <a:bodyPr/>
                    <a:lstStyle/>
                    <a:p>
                      <a:pPr>
                        <a:buNone/>
                      </a:pPr>
                      <a:r>
                        <a:rPr lang="en-AU" dirty="0">
                          <a:solidFill>
                            <a:schemeClr val="tx1"/>
                          </a:solidFill>
                        </a:rPr>
                        <a:t>Bi-Encoder</a:t>
                      </a:r>
                    </a:p>
                  </a:txBody>
                  <a:tcPr anchor="ctr"/>
                </a:tc>
                <a:tc>
                  <a:txBody>
                    <a:bodyPr/>
                    <a:lstStyle/>
                    <a:p>
                      <a:pPr>
                        <a:buNone/>
                      </a:pPr>
                      <a:r>
                        <a:rPr lang="en-AU">
                          <a:solidFill>
                            <a:schemeClr val="tx1"/>
                          </a:solidFill>
                        </a:rPr>
                        <a:t>Cross-Encoder</a:t>
                      </a:r>
                    </a:p>
                  </a:txBody>
                  <a:tcPr anchor="ctr"/>
                </a:tc>
                <a:extLst>
                  <a:ext uri="{0D108BD9-81ED-4DB2-BD59-A6C34878D82A}">
                    <a16:rowId xmlns:a16="http://schemas.microsoft.com/office/drawing/2014/main" val="4163798084"/>
                  </a:ext>
                </a:extLst>
              </a:tr>
              <a:tr h="975851">
                <a:tc>
                  <a:txBody>
                    <a:bodyPr/>
                    <a:lstStyle/>
                    <a:p>
                      <a:pPr>
                        <a:buNone/>
                      </a:pPr>
                      <a:r>
                        <a:rPr lang="en-AU" b="1" dirty="0">
                          <a:solidFill>
                            <a:schemeClr val="tx1"/>
                          </a:solidFill>
                        </a:rPr>
                        <a:t>Input</a:t>
                      </a:r>
                      <a:endParaRPr lang="en-AU" dirty="0">
                        <a:solidFill>
                          <a:schemeClr val="tx1"/>
                        </a:solidFill>
                      </a:endParaRPr>
                    </a:p>
                  </a:txBody>
                  <a:tcPr anchor="ctr"/>
                </a:tc>
                <a:tc>
                  <a:txBody>
                    <a:bodyPr/>
                    <a:lstStyle/>
                    <a:p>
                      <a:pPr>
                        <a:buNone/>
                      </a:pPr>
                      <a:r>
                        <a:rPr lang="en-AU" dirty="0">
                          <a:solidFill>
                            <a:schemeClr val="tx1"/>
                          </a:solidFill>
                        </a:rPr>
                        <a:t>Sentences processed separately</a:t>
                      </a:r>
                    </a:p>
                  </a:txBody>
                  <a:tcPr anchor="ctr"/>
                </a:tc>
                <a:tc>
                  <a:txBody>
                    <a:bodyPr/>
                    <a:lstStyle/>
                    <a:p>
                      <a:pPr>
                        <a:buNone/>
                      </a:pPr>
                      <a:r>
                        <a:rPr lang="en-AU">
                          <a:solidFill>
                            <a:schemeClr val="tx1"/>
                          </a:solidFill>
                        </a:rPr>
                        <a:t>Both sentences fed in together</a:t>
                      </a:r>
                    </a:p>
                  </a:txBody>
                  <a:tcPr anchor="ctr"/>
                </a:tc>
                <a:extLst>
                  <a:ext uri="{0D108BD9-81ED-4DB2-BD59-A6C34878D82A}">
                    <a16:rowId xmlns:a16="http://schemas.microsoft.com/office/drawing/2014/main" val="3699938209"/>
                  </a:ext>
                </a:extLst>
              </a:tr>
              <a:tr h="975851">
                <a:tc>
                  <a:txBody>
                    <a:bodyPr/>
                    <a:lstStyle/>
                    <a:p>
                      <a:pPr>
                        <a:buNone/>
                      </a:pPr>
                      <a:r>
                        <a:rPr lang="en-AU" b="1" dirty="0">
                          <a:solidFill>
                            <a:schemeClr val="tx1"/>
                          </a:solidFill>
                        </a:rPr>
                        <a:t>Output</a:t>
                      </a:r>
                      <a:endParaRPr lang="en-AU" dirty="0">
                        <a:solidFill>
                          <a:schemeClr val="tx1"/>
                        </a:solidFill>
                      </a:endParaRPr>
                    </a:p>
                  </a:txBody>
                  <a:tcPr anchor="ctr"/>
                </a:tc>
                <a:tc>
                  <a:txBody>
                    <a:bodyPr/>
                    <a:lstStyle/>
                    <a:p>
                      <a:pPr>
                        <a:buNone/>
                      </a:pPr>
                      <a:r>
                        <a:rPr lang="en-AU" dirty="0">
                          <a:solidFill>
                            <a:schemeClr val="tx1"/>
                          </a:solidFill>
                        </a:rPr>
                        <a:t>Two vectors → cosine similarity</a:t>
                      </a:r>
                    </a:p>
                  </a:txBody>
                  <a:tcPr anchor="ctr"/>
                </a:tc>
                <a:tc>
                  <a:txBody>
                    <a:bodyPr/>
                    <a:lstStyle/>
                    <a:p>
                      <a:pPr>
                        <a:buNone/>
                      </a:pPr>
                      <a:r>
                        <a:rPr lang="en-AU" dirty="0">
                          <a:solidFill>
                            <a:schemeClr val="tx1"/>
                          </a:solidFill>
                        </a:rPr>
                        <a:t>One direct score (0–1)</a:t>
                      </a:r>
                    </a:p>
                  </a:txBody>
                  <a:tcPr anchor="ctr"/>
                </a:tc>
                <a:extLst>
                  <a:ext uri="{0D108BD9-81ED-4DB2-BD59-A6C34878D82A}">
                    <a16:rowId xmlns:a16="http://schemas.microsoft.com/office/drawing/2014/main" val="3603616790"/>
                  </a:ext>
                </a:extLst>
              </a:tr>
              <a:tr h="975851">
                <a:tc>
                  <a:txBody>
                    <a:bodyPr/>
                    <a:lstStyle/>
                    <a:p>
                      <a:pPr>
                        <a:buNone/>
                      </a:pPr>
                      <a:r>
                        <a:rPr lang="en-AU" b="1" dirty="0">
                          <a:solidFill>
                            <a:schemeClr val="tx1"/>
                          </a:solidFill>
                        </a:rPr>
                        <a:t>Accuracy</a:t>
                      </a:r>
                      <a:endParaRPr lang="en-AU" dirty="0">
                        <a:solidFill>
                          <a:schemeClr val="tx1"/>
                        </a:solidFill>
                      </a:endParaRPr>
                    </a:p>
                  </a:txBody>
                  <a:tcPr anchor="ctr"/>
                </a:tc>
                <a:tc>
                  <a:txBody>
                    <a:bodyPr/>
                    <a:lstStyle/>
                    <a:p>
                      <a:pPr>
                        <a:buNone/>
                      </a:pPr>
                      <a:r>
                        <a:rPr lang="en-AU" dirty="0">
                          <a:solidFill>
                            <a:schemeClr val="tx1"/>
                          </a:solidFill>
                        </a:rPr>
                        <a:t>Good</a:t>
                      </a:r>
                    </a:p>
                  </a:txBody>
                  <a:tcPr anchor="ctr"/>
                </a:tc>
                <a:tc>
                  <a:txBody>
                    <a:bodyPr/>
                    <a:lstStyle/>
                    <a:p>
                      <a:pPr>
                        <a:buNone/>
                      </a:pPr>
                      <a:r>
                        <a:rPr lang="en-AU" b="1">
                          <a:solidFill>
                            <a:schemeClr val="tx1"/>
                          </a:solidFill>
                        </a:rPr>
                        <a:t>Higher</a:t>
                      </a:r>
                      <a:r>
                        <a:rPr lang="en-AU">
                          <a:solidFill>
                            <a:schemeClr val="tx1"/>
                          </a:solidFill>
                        </a:rPr>
                        <a:t> (sees full context of both)</a:t>
                      </a:r>
                    </a:p>
                  </a:txBody>
                  <a:tcPr anchor="ctr"/>
                </a:tc>
                <a:extLst>
                  <a:ext uri="{0D108BD9-81ED-4DB2-BD59-A6C34878D82A}">
                    <a16:rowId xmlns:a16="http://schemas.microsoft.com/office/drawing/2014/main" val="2257182714"/>
                  </a:ext>
                </a:extLst>
              </a:tr>
              <a:tr h="975851">
                <a:tc>
                  <a:txBody>
                    <a:bodyPr/>
                    <a:lstStyle/>
                    <a:p>
                      <a:pPr>
                        <a:buNone/>
                      </a:pPr>
                      <a:r>
                        <a:rPr lang="en-AU" b="1">
                          <a:solidFill>
                            <a:schemeClr val="tx1"/>
                          </a:solidFill>
                        </a:rPr>
                        <a:t>Speed</a:t>
                      </a:r>
                      <a:endParaRPr lang="en-AU">
                        <a:solidFill>
                          <a:schemeClr val="tx1"/>
                        </a:solidFill>
                      </a:endParaRPr>
                    </a:p>
                  </a:txBody>
                  <a:tcPr anchor="ctr"/>
                </a:tc>
                <a:tc>
                  <a:txBody>
                    <a:bodyPr/>
                    <a:lstStyle/>
                    <a:p>
                      <a:pPr>
                        <a:buNone/>
                      </a:pPr>
                      <a:r>
                        <a:rPr lang="en-AU" b="1" dirty="0">
                          <a:solidFill>
                            <a:schemeClr val="tx1"/>
                          </a:solidFill>
                        </a:rPr>
                        <a:t>Fast</a:t>
                      </a:r>
                      <a:r>
                        <a:rPr lang="en-AU" dirty="0">
                          <a:solidFill>
                            <a:schemeClr val="tx1"/>
                          </a:solidFill>
                        </a:rPr>
                        <a:t> (pre-compute embeddings)</a:t>
                      </a:r>
                    </a:p>
                  </a:txBody>
                  <a:tcPr anchor="ctr"/>
                </a:tc>
                <a:tc>
                  <a:txBody>
                    <a:bodyPr/>
                    <a:lstStyle/>
                    <a:p>
                      <a:pPr>
                        <a:buNone/>
                      </a:pPr>
                      <a:r>
                        <a:rPr lang="en-AU" dirty="0">
                          <a:solidFill>
                            <a:schemeClr val="tx1"/>
                          </a:solidFill>
                        </a:rPr>
                        <a:t>Slow (must re-run for every pair)</a:t>
                      </a:r>
                    </a:p>
                  </a:txBody>
                  <a:tcPr anchor="ctr"/>
                </a:tc>
                <a:extLst>
                  <a:ext uri="{0D108BD9-81ED-4DB2-BD59-A6C34878D82A}">
                    <a16:rowId xmlns:a16="http://schemas.microsoft.com/office/drawing/2014/main" val="1633573143"/>
                  </a:ext>
                </a:extLst>
              </a:tr>
              <a:tr h="975851">
                <a:tc>
                  <a:txBody>
                    <a:bodyPr/>
                    <a:lstStyle/>
                    <a:p>
                      <a:pPr>
                        <a:buNone/>
                      </a:pPr>
                      <a:r>
                        <a:rPr lang="en-AU" b="1" dirty="0">
                          <a:solidFill>
                            <a:schemeClr val="tx1"/>
                          </a:solidFill>
                        </a:rPr>
                        <a:t>Scalable to large datasets?</a:t>
                      </a:r>
                      <a:endParaRPr lang="en-AU" dirty="0">
                        <a:solidFill>
                          <a:schemeClr val="tx1"/>
                        </a:solidFill>
                      </a:endParaRPr>
                    </a:p>
                  </a:txBody>
                  <a:tcPr anchor="ctr"/>
                </a:tc>
                <a:tc>
                  <a:txBody>
                    <a:bodyPr/>
                    <a:lstStyle/>
                    <a:p>
                      <a:pPr>
                        <a:buNone/>
                      </a:pPr>
                      <a:r>
                        <a:rPr lang="en-AU" dirty="0">
                          <a:solidFill>
                            <a:schemeClr val="tx1"/>
                          </a:solidFill>
                        </a:rPr>
                        <a:t> Yes</a:t>
                      </a:r>
                    </a:p>
                  </a:txBody>
                  <a:tcPr anchor="ctr"/>
                </a:tc>
                <a:tc>
                  <a:txBody>
                    <a:bodyPr/>
                    <a:lstStyle/>
                    <a:p>
                      <a:pPr>
                        <a:buNone/>
                      </a:pPr>
                      <a:r>
                        <a:rPr lang="en-AU" dirty="0">
                          <a:solidFill>
                            <a:schemeClr val="tx1"/>
                          </a:solidFill>
                        </a:rPr>
                        <a:t> No</a:t>
                      </a:r>
                    </a:p>
                  </a:txBody>
                  <a:tcPr anchor="ctr"/>
                </a:tc>
                <a:extLst>
                  <a:ext uri="{0D108BD9-81ED-4DB2-BD59-A6C34878D82A}">
                    <a16:rowId xmlns:a16="http://schemas.microsoft.com/office/drawing/2014/main" val="3048154865"/>
                  </a:ext>
                </a:extLst>
              </a:tr>
            </a:tbl>
          </a:graphicData>
        </a:graphic>
      </p:graphicFrame>
    </p:spTree>
    <p:extLst>
      <p:ext uri="{BB962C8B-B14F-4D97-AF65-F5344CB8AC3E}">
        <p14:creationId xmlns:p14="http://schemas.microsoft.com/office/powerpoint/2010/main" val="7743264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F2466540-DB4C-06D1-3567-77582A4DC906}"/>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9669598-D8AC-6EEA-F5EE-62D7B5F266CC}"/>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Freeform 6">
            <a:extLst>
              <a:ext uri="{FF2B5EF4-FFF2-40B4-BE49-F238E27FC236}">
                <a16:creationId xmlns:a16="http://schemas.microsoft.com/office/drawing/2014/main" id="{4C5B067D-357D-F9CD-BDB4-FB23C219FFD5}"/>
              </a:ext>
            </a:extLst>
          </p:cNvPr>
          <p:cNvSpPr/>
          <p:nvPr/>
        </p:nvSpPr>
        <p:spPr>
          <a:xfrm>
            <a:off x="-721096" y="8434808"/>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sp>
        <p:nvSpPr>
          <p:cNvPr id="9" name="TextBox 9">
            <a:extLst>
              <a:ext uri="{FF2B5EF4-FFF2-40B4-BE49-F238E27FC236}">
                <a16:creationId xmlns:a16="http://schemas.microsoft.com/office/drawing/2014/main" id="{7B237685-2213-C2D7-E8D1-22DBAAD058D9}"/>
              </a:ext>
            </a:extLst>
          </p:cNvPr>
          <p:cNvSpPr txBox="1"/>
          <p:nvPr/>
        </p:nvSpPr>
        <p:spPr>
          <a:xfrm>
            <a:off x="1007096" y="1843516"/>
            <a:ext cx="18025980" cy="1477328"/>
          </a:xfrm>
          <a:prstGeom prst="rect">
            <a:avLst/>
          </a:prstGeom>
        </p:spPr>
        <p:txBody>
          <a:bodyPr wrap="square" lIns="0" tIns="0" rIns="0" bIns="0" rtlCol="0" anchor="t">
            <a:spAutoFit/>
          </a:body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AU" sz="4800" b="0" i="0" u="none" strike="noStrike" kern="1200" cap="none" spc="0" normalizeH="0" baseline="0" noProof="0" dirty="0">
                <a:ln>
                  <a:noFill/>
                </a:ln>
                <a:solidFill>
                  <a:srgbClr val="0CC0DF"/>
                </a:solidFill>
                <a:effectLst/>
                <a:uLnTx/>
                <a:uFillTx/>
                <a:latin typeface="Now Bold"/>
                <a:ea typeface="+mn-ea"/>
                <a:cs typeface="+mn-cs"/>
              </a:rPr>
              <a:t>TOOLS AND TOOL CALLING: Retrieval-Augmented Generation</a:t>
            </a:r>
            <a:endParaRPr kumimoji="0" lang="en-US" sz="4800" b="0" i="0" u="none" strike="noStrike" kern="1200" cap="none" spc="0" normalizeH="0" baseline="0" noProof="0" dirty="0">
              <a:ln>
                <a:noFill/>
              </a:ln>
              <a:solidFill>
                <a:srgbClr val="0CC0DF"/>
              </a:solidFill>
              <a:effectLst/>
              <a:uLnTx/>
              <a:uFillTx/>
              <a:latin typeface="Now Bold"/>
              <a:ea typeface="+mn-ea"/>
              <a:cs typeface="+mn-cs"/>
            </a:endParaRPr>
          </a:p>
        </p:txBody>
      </p:sp>
      <p:sp>
        <p:nvSpPr>
          <p:cNvPr id="4" name="TextBox 10">
            <a:extLst>
              <a:ext uri="{FF2B5EF4-FFF2-40B4-BE49-F238E27FC236}">
                <a16:creationId xmlns:a16="http://schemas.microsoft.com/office/drawing/2014/main" id="{09C9B4B9-9D11-7F6D-E20D-CE702AD66022}"/>
              </a:ext>
            </a:extLst>
          </p:cNvPr>
          <p:cNvSpPr txBox="1"/>
          <p:nvPr/>
        </p:nvSpPr>
        <p:spPr>
          <a:xfrm>
            <a:off x="1007096" y="3673166"/>
            <a:ext cx="16513812" cy="1725857"/>
          </a:xfrm>
          <a:prstGeom prst="rect">
            <a:avLst/>
          </a:prstGeom>
        </p:spPr>
        <p:txBody>
          <a:bodyPr wrap="square" lIns="0" tIns="0" rIns="0" bIns="0" rtlCol="0" anchor="t">
            <a:spAutoFit/>
          </a:bodyPr>
          <a:lstStyle/>
          <a:p>
            <a:pPr marL="1257300" marR="0" lvl="2" indent="-342900" algn="l" defTabSz="914400" rtl="0" eaLnBrk="1" fontAlgn="auto" latinLnBrk="0" hangingPunct="1">
              <a:lnSpc>
                <a:spcPts val="3422"/>
              </a:lnSpc>
              <a:spcBef>
                <a:spcPts val="0"/>
              </a:spcBef>
              <a:spcAft>
                <a:spcPts val="0"/>
              </a:spcAft>
              <a:buClrTx/>
              <a:buSzTx/>
              <a:buFont typeface="Arial" panose="020B0604020202020204" pitchFamily="34" charset="0"/>
              <a:buChar char="•"/>
              <a:tabLst/>
              <a:defRPr/>
            </a:pPr>
            <a:endParaRPr kumimoji="0" lang="en-AU" sz="2479" b="0" i="0" u="none" strike="noStrike" kern="1200" cap="none" spc="-49" normalizeH="0" baseline="0" noProof="0" dirty="0">
              <a:ln>
                <a:noFill/>
              </a:ln>
              <a:solidFill>
                <a:srgbClr val="FFFFFF"/>
              </a:solidFill>
              <a:effectLst/>
              <a:uLnTx/>
              <a:uFillTx/>
              <a:latin typeface="DM Sans"/>
              <a:ea typeface="+mn-ea"/>
              <a:cs typeface="+mn-cs"/>
            </a:endParaRPr>
          </a:p>
          <a:p>
            <a:pPr marL="1257300" marR="0" lvl="2" indent="-342900" algn="l" defTabSz="914400" rtl="0" eaLnBrk="1" fontAlgn="auto" latinLnBrk="0" hangingPunct="1">
              <a:lnSpc>
                <a:spcPts val="3422"/>
              </a:lnSpc>
              <a:spcBef>
                <a:spcPts val="0"/>
              </a:spcBef>
              <a:spcAft>
                <a:spcPts val="0"/>
              </a:spcAft>
              <a:buClrTx/>
              <a:buSzTx/>
              <a:buFont typeface="Arial" panose="020B0604020202020204" pitchFamily="34" charset="0"/>
              <a:buChar char="•"/>
              <a:tabLst/>
              <a:defRPr/>
            </a:pPr>
            <a:endParaRPr kumimoji="0" lang="en-AU" sz="2479" b="0" i="0" u="none" strike="noStrike" kern="1200" cap="none" spc="-49" normalizeH="0" baseline="0" noProof="0" dirty="0">
              <a:ln>
                <a:noFill/>
              </a:ln>
              <a:solidFill>
                <a:srgbClr val="FFFFFF"/>
              </a:solidFill>
              <a:effectLst/>
              <a:uLnTx/>
              <a:uFillTx/>
              <a:latin typeface="DM Sans"/>
              <a:ea typeface="+mn-ea"/>
              <a:cs typeface="+mn-cs"/>
            </a:endParaRPr>
          </a:p>
          <a:p>
            <a:pPr marL="800100" marR="0" lvl="1" indent="-342900" algn="l" defTabSz="914400" rtl="0" eaLnBrk="1" fontAlgn="auto" latinLnBrk="0" hangingPunct="1">
              <a:lnSpc>
                <a:spcPts val="3422"/>
              </a:lnSpc>
              <a:spcBef>
                <a:spcPts val="0"/>
              </a:spcBef>
              <a:spcAft>
                <a:spcPts val="0"/>
              </a:spcAft>
              <a:buClrTx/>
              <a:buSzTx/>
              <a:buFont typeface="Arial" panose="020B0604020202020204" pitchFamily="34" charset="0"/>
              <a:buChar char="•"/>
              <a:tabLst/>
              <a:defRPr/>
            </a:pPr>
            <a:endParaRPr kumimoji="0" lang="en-AU" sz="2479" b="0" i="0" u="none" strike="noStrike" kern="1200" cap="none" spc="-49" normalizeH="0" baseline="0" noProof="0" dirty="0">
              <a:ln>
                <a:noFill/>
              </a:ln>
              <a:solidFill>
                <a:srgbClr val="FFFFFF"/>
              </a:solidFill>
              <a:effectLst/>
              <a:uLnTx/>
              <a:uFillTx/>
              <a:latin typeface="DM Sans"/>
              <a:ea typeface="+mn-ea"/>
              <a:cs typeface="+mn-cs"/>
            </a:endParaRPr>
          </a:p>
          <a:p>
            <a:pPr marL="800100" marR="0" lvl="1" indent="-342900" algn="l" defTabSz="914400" rtl="0" eaLnBrk="1" fontAlgn="auto" latinLnBrk="0" hangingPunct="1">
              <a:lnSpc>
                <a:spcPts val="3422"/>
              </a:lnSpc>
              <a:spcBef>
                <a:spcPts val="0"/>
              </a:spcBef>
              <a:spcAft>
                <a:spcPts val="0"/>
              </a:spcAft>
              <a:buClrTx/>
              <a:buSzTx/>
              <a:buFont typeface="Arial" panose="020B0604020202020204" pitchFamily="34" charset="0"/>
              <a:buChar char="•"/>
              <a:tabLst/>
              <a:defRPr/>
            </a:pPr>
            <a:endParaRPr kumimoji="0" lang="en-AU" sz="2479" b="0" i="0" u="none" strike="noStrike" kern="1200" cap="none" spc="-49" normalizeH="0" baseline="0" noProof="0" dirty="0">
              <a:ln>
                <a:noFill/>
              </a:ln>
              <a:solidFill>
                <a:srgbClr val="FFFFFF"/>
              </a:solidFill>
              <a:effectLst/>
              <a:uLnTx/>
              <a:uFillTx/>
              <a:latin typeface="DM Sans"/>
              <a:ea typeface="+mn-ea"/>
              <a:cs typeface="+mn-cs"/>
            </a:endParaRPr>
          </a:p>
        </p:txBody>
      </p:sp>
      <p:sp>
        <p:nvSpPr>
          <p:cNvPr id="5" name="TextBox 4">
            <a:extLst>
              <a:ext uri="{FF2B5EF4-FFF2-40B4-BE49-F238E27FC236}">
                <a16:creationId xmlns:a16="http://schemas.microsoft.com/office/drawing/2014/main" id="{AAFFDAA1-2F8F-3B38-9AE3-7152F1DCB425}"/>
              </a:ext>
            </a:extLst>
          </p:cNvPr>
          <p:cNvSpPr txBox="1"/>
          <p:nvPr/>
        </p:nvSpPr>
        <p:spPr>
          <a:xfrm>
            <a:off x="1151112" y="4032009"/>
            <a:ext cx="17548374" cy="4414029"/>
          </a:xfrm>
          <a:prstGeom prst="rect">
            <a:avLst/>
          </a:prstGeom>
          <a:noFill/>
        </p:spPr>
        <p:txBody>
          <a:bodyPr wrap="square">
            <a:spAutoFit/>
          </a:bodyPr>
          <a:lstStyle/>
          <a:p>
            <a:pPr>
              <a:spcAft>
                <a:spcPts val="1118"/>
              </a:spcAft>
              <a:buNone/>
            </a:pPr>
            <a:r>
              <a:rPr lang="en-AU" sz="2400" b="1" dirty="0">
                <a:solidFill>
                  <a:schemeClr val="bg1"/>
                </a:solidFill>
                <a:effectLst/>
                <a:latin typeface="DM Sans" pitchFamily="2" charset="77"/>
              </a:rPr>
              <a:t>Bi-Encoder vs Cross-Encoder:</a:t>
            </a:r>
          </a:p>
          <a:p>
            <a:pPr>
              <a:spcAft>
                <a:spcPts val="1118"/>
              </a:spcAft>
              <a:buNone/>
            </a:pPr>
            <a:endParaRPr lang="en-AU" sz="2400" b="1" dirty="0">
              <a:solidFill>
                <a:schemeClr val="bg1"/>
              </a:solidFill>
              <a:effectLst/>
              <a:latin typeface="DM Sans" pitchFamily="2" charset="77"/>
            </a:endParaRPr>
          </a:p>
          <a:p>
            <a:pPr>
              <a:spcAft>
                <a:spcPts val="900"/>
              </a:spcAft>
              <a:buNone/>
            </a:pPr>
            <a:r>
              <a:rPr lang="en-AU" sz="2400" b="1" dirty="0">
                <a:solidFill>
                  <a:schemeClr val="bg1"/>
                </a:solidFill>
                <a:effectLst/>
                <a:latin typeface="DM Sans" pitchFamily="2" charset="77"/>
              </a:rPr>
              <a:t>Task: Find the most relevant document for the query </a:t>
            </a:r>
            <a:r>
              <a:rPr lang="en-AU" sz="2400" b="1" i="1" dirty="0">
                <a:solidFill>
                  <a:schemeClr val="bg1"/>
                </a:solidFill>
                <a:effectLst/>
                <a:latin typeface="DM Sans" pitchFamily="2" charset="77"/>
              </a:rPr>
              <a:t>"What is the capital of France?”</a:t>
            </a:r>
          </a:p>
          <a:p>
            <a:pPr>
              <a:spcAft>
                <a:spcPts val="900"/>
              </a:spcAft>
              <a:buNone/>
            </a:pPr>
            <a:endParaRPr lang="en-AU" sz="2400" b="1" dirty="0">
              <a:solidFill>
                <a:schemeClr val="bg1"/>
              </a:solidFill>
              <a:effectLst/>
              <a:latin typeface="DM Sans" pitchFamily="2" charset="77"/>
            </a:endParaRPr>
          </a:p>
          <a:p>
            <a:pPr>
              <a:spcAft>
                <a:spcPts val="900"/>
              </a:spcAft>
              <a:buNone/>
            </a:pPr>
            <a:r>
              <a:rPr lang="en-AU" sz="2400" b="1" dirty="0">
                <a:solidFill>
                  <a:schemeClr val="bg1"/>
                </a:solidFill>
                <a:effectLst/>
                <a:latin typeface="DM Sans" pitchFamily="2" charset="77"/>
              </a:rPr>
              <a:t>Documents:</a:t>
            </a:r>
          </a:p>
          <a:p>
            <a:pPr lvl="1">
              <a:buFont typeface="+mj-lt"/>
              <a:buAutoNum type="arabicPeriod"/>
            </a:pPr>
            <a:r>
              <a:rPr lang="en-AU" sz="2400" b="1" dirty="0">
                <a:solidFill>
                  <a:schemeClr val="bg1"/>
                </a:solidFill>
                <a:effectLst/>
                <a:latin typeface="DM Sans" pitchFamily="2" charset="77"/>
              </a:rPr>
              <a:t>"Paris is the capital and largest city of France."</a:t>
            </a:r>
          </a:p>
          <a:p>
            <a:pPr lvl="1">
              <a:buFont typeface="+mj-lt"/>
              <a:buAutoNum type="arabicPeriod"/>
            </a:pPr>
            <a:r>
              <a:rPr lang="en-AU" sz="2400" b="1" dirty="0">
                <a:solidFill>
                  <a:schemeClr val="bg1"/>
                </a:solidFill>
                <a:effectLst/>
                <a:latin typeface="DM Sans" pitchFamily="2" charset="77"/>
              </a:rPr>
              <a:t>"France is known for its wine and cuisine."</a:t>
            </a:r>
          </a:p>
          <a:p>
            <a:pPr lvl="1">
              <a:buFont typeface="+mj-lt"/>
              <a:buAutoNum type="arabicPeriod"/>
            </a:pPr>
            <a:r>
              <a:rPr lang="en-AU" sz="2400" b="1" dirty="0">
                <a:solidFill>
                  <a:schemeClr val="bg1"/>
                </a:solidFill>
                <a:effectLst/>
                <a:latin typeface="DM Sans" pitchFamily="2" charset="77"/>
              </a:rPr>
              <a:t>"The Eiffel Tower is a famous landmark."</a:t>
            </a:r>
          </a:p>
          <a:p>
            <a:pPr>
              <a:buNone/>
            </a:pPr>
            <a:br>
              <a:rPr lang="en-AU" sz="2400" b="1" dirty="0">
                <a:solidFill>
                  <a:schemeClr val="bg1"/>
                </a:solidFill>
                <a:effectLst/>
                <a:latin typeface="DM Sans" pitchFamily="2" charset="77"/>
              </a:rPr>
            </a:br>
            <a:endParaRPr lang="en-AU" sz="2400" b="1" dirty="0">
              <a:solidFill>
                <a:schemeClr val="bg1"/>
              </a:solidFill>
              <a:effectLst/>
              <a:latin typeface="DM Sans" pitchFamily="2" charset="77"/>
            </a:endParaRPr>
          </a:p>
        </p:txBody>
      </p:sp>
    </p:spTree>
    <p:extLst>
      <p:ext uri="{BB962C8B-B14F-4D97-AF65-F5344CB8AC3E}">
        <p14:creationId xmlns:p14="http://schemas.microsoft.com/office/powerpoint/2010/main" val="80941432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20FB307A-916C-EE40-49B4-BC269CDB01DF}"/>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4391BDEE-7209-3AC1-4412-4D32E8BD8D13}"/>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Freeform 6">
            <a:extLst>
              <a:ext uri="{FF2B5EF4-FFF2-40B4-BE49-F238E27FC236}">
                <a16:creationId xmlns:a16="http://schemas.microsoft.com/office/drawing/2014/main" id="{4710BC99-D935-DEB9-EB75-3DBD28B525CC}"/>
              </a:ext>
            </a:extLst>
          </p:cNvPr>
          <p:cNvSpPr/>
          <p:nvPr/>
        </p:nvSpPr>
        <p:spPr>
          <a:xfrm>
            <a:off x="-721096" y="8434808"/>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sp>
        <p:nvSpPr>
          <p:cNvPr id="9" name="TextBox 9">
            <a:extLst>
              <a:ext uri="{FF2B5EF4-FFF2-40B4-BE49-F238E27FC236}">
                <a16:creationId xmlns:a16="http://schemas.microsoft.com/office/drawing/2014/main" id="{92B8507B-C41C-514F-14BD-B74CE597B396}"/>
              </a:ext>
            </a:extLst>
          </p:cNvPr>
          <p:cNvSpPr txBox="1"/>
          <p:nvPr/>
        </p:nvSpPr>
        <p:spPr>
          <a:xfrm>
            <a:off x="1007096" y="1843516"/>
            <a:ext cx="18025980" cy="1477328"/>
          </a:xfrm>
          <a:prstGeom prst="rect">
            <a:avLst/>
          </a:prstGeom>
        </p:spPr>
        <p:txBody>
          <a:bodyPr wrap="square" lIns="0" tIns="0" rIns="0" bIns="0" rtlCol="0" anchor="t">
            <a:spAutoFit/>
          </a:body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AU" sz="4800" b="0" i="0" u="none" strike="noStrike" kern="1200" cap="none" spc="0" normalizeH="0" baseline="0" noProof="0" dirty="0">
                <a:ln>
                  <a:noFill/>
                </a:ln>
                <a:solidFill>
                  <a:srgbClr val="0CC0DF"/>
                </a:solidFill>
                <a:effectLst/>
                <a:uLnTx/>
                <a:uFillTx/>
                <a:latin typeface="Now Bold"/>
                <a:ea typeface="+mn-ea"/>
                <a:cs typeface="+mn-cs"/>
              </a:rPr>
              <a:t>TOOLS AND TOOL CALLING: Retrieval-Augmented Generation</a:t>
            </a:r>
            <a:endParaRPr kumimoji="0" lang="en-US" sz="4800" b="0" i="0" u="none" strike="noStrike" kern="1200" cap="none" spc="0" normalizeH="0" baseline="0" noProof="0" dirty="0">
              <a:ln>
                <a:noFill/>
              </a:ln>
              <a:solidFill>
                <a:srgbClr val="0CC0DF"/>
              </a:solidFill>
              <a:effectLst/>
              <a:uLnTx/>
              <a:uFillTx/>
              <a:latin typeface="Now Bold"/>
              <a:ea typeface="+mn-ea"/>
              <a:cs typeface="+mn-cs"/>
            </a:endParaRPr>
          </a:p>
        </p:txBody>
      </p:sp>
      <p:sp>
        <p:nvSpPr>
          <p:cNvPr id="4" name="TextBox 10">
            <a:extLst>
              <a:ext uri="{FF2B5EF4-FFF2-40B4-BE49-F238E27FC236}">
                <a16:creationId xmlns:a16="http://schemas.microsoft.com/office/drawing/2014/main" id="{AE338643-827B-37A7-809A-5B1B4FC5DDB6}"/>
              </a:ext>
            </a:extLst>
          </p:cNvPr>
          <p:cNvSpPr txBox="1"/>
          <p:nvPr/>
        </p:nvSpPr>
        <p:spPr>
          <a:xfrm>
            <a:off x="1007096" y="3673166"/>
            <a:ext cx="16513812" cy="1725857"/>
          </a:xfrm>
          <a:prstGeom prst="rect">
            <a:avLst/>
          </a:prstGeom>
        </p:spPr>
        <p:txBody>
          <a:bodyPr wrap="square" lIns="0" tIns="0" rIns="0" bIns="0" rtlCol="0" anchor="t">
            <a:spAutoFit/>
          </a:bodyPr>
          <a:lstStyle/>
          <a:p>
            <a:pPr marL="1257300" marR="0" lvl="2" indent="-342900" algn="l" defTabSz="914400" rtl="0" eaLnBrk="1" fontAlgn="auto" latinLnBrk="0" hangingPunct="1">
              <a:lnSpc>
                <a:spcPts val="3422"/>
              </a:lnSpc>
              <a:spcBef>
                <a:spcPts val="0"/>
              </a:spcBef>
              <a:spcAft>
                <a:spcPts val="0"/>
              </a:spcAft>
              <a:buClrTx/>
              <a:buSzTx/>
              <a:buFont typeface="Arial" panose="020B0604020202020204" pitchFamily="34" charset="0"/>
              <a:buChar char="•"/>
              <a:tabLst/>
              <a:defRPr/>
            </a:pPr>
            <a:endParaRPr kumimoji="0" lang="en-AU" sz="2479" b="0" i="0" u="none" strike="noStrike" kern="1200" cap="none" spc="-49" normalizeH="0" baseline="0" noProof="0" dirty="0">
              <a:ln>
                <a:noFill/>
              </a:ln>
              <a:solidFill>
                <a:srgbClr val="FFFFFF"/>
              </a:solidFill>
              <a:effectLst/>
              <a:uLnTx/>
              <a:uFillTx/>
              <a:latin typeface="DM Sans"/>
              <a:ea typeface="+mn-ea"/>
              <a:cs typeface="+mn-cs"/>
            </a:endParaRPr>
          </a:p>
          <a:p>
            <a:pPr marL="1257300" marR="0" lvl="2" indent="-342900" algn="l" defTabSz="914400" rtl="0" eaLnBrk="1" fontAlgn="auto" latinLnBrk="0" hangingPunct="1">
              <a:lnSpc>
                <a:spcPts val="3422"/>
              </a:lnSpc>
              <a:spcBef>
                <a:spcPts val="0"/>
              </a:spcBef>
              <a:spcAft>
                <a:spcPts val="0"/>
              </a:spcAft>
              <a:buClrTx/>
              <a:buSzTx/>
              <a:buFont typeface="Arial" panose="020B0604020202020204" pitchFamily="34" charset="0"/>
              <a:buChar char="•"/>
              <a:tabLst/>
              <a:defRPr/>
            </a:pPr>
            <a:endParaRPr kumimoji="0" lang="en-AU" sz="2479" b="0" i="0" u="none" strike="noStrike" kern="1200" cap="none" spc="-49" normalizeH="0" baseline="0" noProof="0" dirty="0">
              <a:ln>
                <a:noFill/>
              </a:ln>
              <a:solidFill>
                <a:srgbClr val="FFFFFF"/>
              </a:solidFill>
              <a:effectLst/>
              <a:uLnTx/>
              <a:uFillTx/>
              <a:latin typeface="DM Sans"/>
              <a:ea typeface="+mn-ea"/>
              <a:cs typeface="+mn-cs"/>
            </a:endParaRPr>
          </a:p>
          <a:p>
            <a:pPr marL="800100" marR="0" lvl="1" indent="-342900" algn="l" defTabSz="914400" rtl="0" eaLnBrk="1" fontAlgn="auto" latinLnBrk="0" hangingPunct="1">
              <a:lnSpc>
                <a:spcPts val="3422"/>
              </a:lnSpc>
              <a:spcBef>
                <a:spcPts val="0"/>
              </a:spcBef>
              <a:spcAft>
                <a:spcPts val="0"/>
              </a:spcAft>
              <a:buClrTx/>
              <a:buSzTx/>
              <a:buFont typeface="Arial" panose="020B0604020202020204" pitchFamily="34" charset="0"/>
              <a:buChar char="•"/>
              <a:tabLst/>
              <a:defRPr/>
            </a:pPr>
            <a:endParaRPr kumimoji="0" lang="en-AU" sz="2479" b="0" i="0" u="none" strike="noStrike" kern="1200" cap="none" spc="-49" normalizeH="0" baseline="0" noProof="0" dirty="0">
              <a:ln>
                <a:noFill/>
              </a:ln>
              <a:solidFill>
                <a:srgbClr val="FFFFFF"/>
              </a:solidFill>
              <a:effectLst/>
              <a:uLnTx/>
              <a:uFillTx/>
              <a:latin typeface="DM Sans"/>
              <a:ea typeface="+mn-ea"/>
              <a:cs typeface="+mn-cs"/>
            </a:endParaRPr>
          </a:p>
          <a:p>
            <a:pPr marL="800100" marR="0" lvl="1" indent="-342900" algn="l" defTabSz="914400" rtl="0" eaLnBrk="1" fontAlgn="auto" latinLnBrk="0" hangingPunct="1">
              <a:lnSpc>
                <a:spcPts val="3422"/>
              </a:lnSpc>
              <a:spcBef>
                <a:spcPts val="0"/>
              </a:spcBef>
              <a:spcAft>
                <a:spcPts val="0"/>
              </a:spcAft>
              <a:buClrTx/>
              <a:buSzTx/>
              <a:buFont typeface="Arial" panose="020B0604020202020204" pitchFamily="34" charset="0"/>
              <a:buChar char="•"/>
              <a:tabLst/>
              <a:defRPr/>
            </a:pPr>
            <a:endParaRPr kumimoji="0" lang="en-AU" sz="2479" b="0" i="0" u="none" strike="noStrike" kern="1200" cap="none" spc="-49" normalizeH="0" baseline="0" noProof="0" dirty="0">
              <a:ln>
                <a:noFill/>
              </a:ln>
              <a:solidFill>
                <a:srgbClr val="FFFFFF"/>
              </a:solidFill>
              <a:effectLst/>
              <a:uLnTx/>
              <a:uFillTx/>
              <a:latin typeface="DM Sans"/>
              <a:ea typeface="+mn-ea"/>
              <a:cs typeface="+mn-cs"/>
            </a:endParaRPr>
          </a:p>
        </p:txBody>
      </p:sp>
      <p:sp>
        <p:nvSpPr>
          <p:cNvPr id="5" name="TextBox 4">
            <a:extLst>
              <a:ext uri="{FF2B5EF4-FFF2-40B4-BE49-F238E27FC236}">
                <a16:creationId xmlns:a16="http://schemas.microsoft.com/office/drawing/2014/main" id="{97D5ED33-31CC-C3DC-B216-6ED75E0BDF4B}"/>
              </a:ext>
            </a:extLst>
          </p:cNvPr>
          <p:cNvSpPr txBox="1"/>
          <p:nvPr/>
        </p:nvSpPr>
        <p:spPr>
          <a:xfrm>
            <a:off x="1007096" y="3491684"/>
            <a:ext cx="17548374" cy="5378395"/>
          </a:xfrm>
          <a:prstGeom prst="rect">
            <a:avLst/>
          </a:prstGeom>
          <a:noFill/>
        </p:spPr>
        <p:txBody>
          <a:bodyPr wrap="square">
            <a:spAutoFit/>
          </a:bodyPr>
          <a:lstStyle/>
          <a:p>
            <a:r>
              <a:rPr lang="en-AU" sz="2400" b="1" dirty="0">
                <a:solidFill>
                  <a:schemeClr val="bg1"/>
                </a:solidFill>
                <a:effectLst/>
                <a:latin typeface="DM Sans" pitchFamily="2" charset="77"/>
              </a:rPr>
              <a:t>Bi-Encoder</a:t>
            </a:r>
          </a:p>
          <a:p>
            <a:pPr marL="342900" indent="-342900">
              <a:spcAft>
                <a:spcPts val="900"/>
              </a:spcAft>
              <a:buFont typeface="Arial" panose="020B0604020202020204" pitchFamily="34" charset="0"/>
              <a:buChar char="•"/>
            </a:pPr>
            <a:r>
              <a:rPr lang="en-AU" sz="2400" b="1" dirty="0">
                <a:solidFill>
                  <a:schemeClr val="bg1"/>
                </a:solidFill>
                <a:effectLst/>
                <a:latin typeface="DM Sans" pitchFamily="2" charset="77"/>
              </a:rPr>
              <a:t>Each text is encoded independently into a vector (embedding), then similarity is measured after the fact.</a:t>
            </a:r>
            <a:br>
              <a:rPr lang="en-AU" sz="2400" b="1" dirty="0">
                <a:solidFill>
                  <a:schemeClr val="bg1"/>
                </a:solidFill>
                <a:effectLst/>
                <a:latin typeface="DM Sans" pitchFamily="2" charset="77"/>
              </a:rPr>
            </a:br>
            <a:endParaRPr lang="en-AU" sz="2400" b="1" dirty="0">
              <a:solidFill>
                <a:schemeClr val="bg1"/>
              </a:solidFill>
              <a:effectLst/>
              <a:latin typeface="DM Sans" pitchFamily="2" charset="77"/>
            </a:endParaRPr>
          </a:p>
          <a:p>
            <a:pPr marL="342900" indent="-342900">
              <a:buFont typeface="Arial" panose="020B0604020202020204" pitchFamily="34" charset="0"/>
              <a:buChar char="•"/>
            </a:pPr>
            <a:r>
              <a:rPr lang="en-AU" sz="2400" b="1" dirty="0">
                <a:solidFill>
                  <a:schemeClr val="bg1"/>
                </a:solidFill>
                <a:effectLst/>
                <a:latin typeface="DM Sans" pitchFamily="2" charset="77"/>
              </a:rPr>
              <a:t>Query  → Encoder →[0.12, 0.87, 0.45, ...]   </a:t>
            </a:r>
          </a:p>
          <a:p>
            <a:pPr marL="800100" lvl="1" indent="-342900">
              <a:buFont typeface="Arial" panose="020B0604020202020204" pitchFamily="34" charset="0"/>
              <a:buChar char="•"/>
            </a:pPr>
            <a:r>
              <a:rPr lang="en-AU" sz="2400" b="1" dirty="0">
                <a:solidFill>
                  <a:schemeClr val="bg1"/>
                </a:solidFill>
                <a:effectLst/>
                <a:latin typeface="DM Sans" pitchFamily="2" charset="77"/>
              </a:rPr>
              <a:t>Doc 1  → Encoder →[0.11, 0.85, 0.46, ...] → 0.98 </a:t>
            </a:r>
          </a:p>
          <a:p>
            <a:pPr marL="800100" lvl="1" indent="-342900">
              <a:buFont typeface="Arial" panose="020B0604020202020204" pitchFamily="34" charset="0"/>
              <a:buChar char="•"/>
            </a:pPr>
            <a:r>
              <a:rPr lang="en-AU" sz="2400" b="1" dirty="0">
                <a:solidFill>
                  <a:schemeClr val="bg1"/>
                </a:solidFill>
                <a:effectLst/>
                <a:latin typeface="DM Sans" pitchFamily="2" charset="77"/>
              </a:rPr>
              <a:t>Doc 2  → Encoder →[0.60, 0.20, 0.71, ...] → 0.41</a:t>
            </a:r>
          </a:p>
          <a:p>
            <a:pPr marL="800100" lvl="1" indent="-342900">
              <a:buFont typeface="Arial" panose="020B0604020202020204" pitchFamily="34" charset="0"/>
              <a:buChar char="•"/>
            </a:pPr>
            <a:r>
              <a:rPr lang="en-AU" sz="2400" b="1" dirty="0">
                <a:solidFill>
                  <a:schemeClr val="bg1"/>
                </a:solidFill>
                <a:effectLst/>
                <a:latin typeface="DM Sans" pitchFamily="2" charset="77"/>
              </a:rPr>
              <a:t>Doc 3  → Encoder →[0.55, 0.30, 0.60, ...] → 0.38</a:t>
            </a:r>
          </a:p>
          <a:p>
            <a:pPr marL="342900" indent="-342900">
              <a:buFont typeface="Arial" panose="020B0604020202020204" pitchFamily="34" charset="0"/>
              <a:buChar char="•"/>
            </a:pPr>
            <a:endParaRPr lang="en-AU" sz="2400" b="1" dirty="0">
              <a:solidFill>
                <a:schemeClr val="bg1"/>
              </a:solidFill>
              <a:effectLst/>
              <a:latin typeface="DM Sans" pitchFamily="2" charset="77"/>
            </a:endParaRPr>
          </a:p>
          <a:p>
            <a:pPr>
              <a:buFont typeface="Arial" panose="020B0604020202020204" pitchFamily="34" charset="0"/>
              <a:buChar char="•"/>
            </a:pPr>
            <a:r>
              <a:rPr lang="en-AU" sz="2400" b="1" dirty="0">
                <a:solidFill>
                  <a:schemeClr val="bg1"/>
                </a:solidFill>
                <a:effectLst/>
                <a:latin typeface="DM Sans" pitchFamily="2" charset="77"/>
              </a:rPr>
              <a:t>The query and each document go through the encoder separately, producing fixed vectors.</a:t>
            </a:r>
          </a:p>
          <a:p>
            <a:pPr>
              <a:buFont typeface="Arial" panose="020B0604020202020204" pitchFamily="34" charset="0"/>
              <a:buChar char="•"/>
            </a:pPr>
            <a:endParaRPr lang="en-AU" sz="2400" b="1" dirty="0">
              <a:solidFill>
                <a:schemeClr val="bg1"/>
              </a:solidFill>
              <a:effectLst/>
              <a:latin typeface="DM Sans" pitchFamily="2" charset="77"/>
            </a:endParaRPr>
          </a:p>
          <a:p>
            <a:pPr>
              <a:buFont typeface="Arial" panose="020B0604020202020204" pitchFamily="34" charset="0"/>
              <a:buChar char="•"/>
            </a:pPr>
            <a:r>
              <a:rPr lang="en-AU" sz="2400" b="1" dirty="0">
                <a:solidFill>
                  <a:schemeClr val="bg1"/>
                </a:solidFill>
                <a:effectLst/>
                <a:latin typeface="DM Sans" pitchFamily="2" charset="77"/>
              </a:rPr>
              <a:t>Similarity is just a dot product / cosine </a:t>
            </a:r>
          </a:p>
          <a:p>
            <a:pPr lvl="2">
              <a:buFont typeface="Arial" panose="020B0604020202020204" pitchFamily="34" charset="0"/>
              <a:buChar char="•"/>
            </a:pPr>
            <a:r>
              <a:rPr lang="en-AU" sz="2400" b="1" dirty="0">
                <a:solidFill>
                  <a:schemeClr val="bg1"/>
                </a:solidFill>
                <a:effectLst/>
                <a:latin typeface="DM Sans" pitchFamily="2" charset="77"/>
              </a:rPr>
              <a:t> very cheap.</a:t>
            </a:r>
          </a:p>
          <a:p>
            <a:pPr>
              <a:buNone/>
            </a:pPr>
            <a:br>
              <a:rPr lang="en-AU" sz="2400" b="1" dirty="0">
                <a:solidFill>
                  <a:schemeClr val="bg1"/>
                </a:solidFill>
                <a:effectLst/>
                <a:latin typeface="DM Sans" pitchFamily="2" charset="77"/>
              </a:rPr>
            </a:br>
            <a:endParaRPr lang="en-AU" sz="2400" b="1" dirty="0">
              <a:solidFill>
                <a:schemeClr val="bg1"/>
              </a:solidFill>
              <a:effectLst/>
              <a:latin typeface="DM Sans" pitchFamily="2" charset="77"/>
            </a:endParaRPr>
          </a:p>
        </p:txBody>
      </p:sp>
    </p:spTree>
    <p:extLst>
      <p:ext uri="{BB962C8B-B14F-4D97-AF65-F5344CB8AC3E}">
        <p14:creationId xmlns:p14="http://schemas.microsoft.com/office/powerpoint/2010/main" val="272335655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BA2B3036-BDA5-A815-E46A-0553056190EE}"/>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82D39F1F-E1B0-A18B-FEDC-95CD30EE42CC}"/>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Freeform 6">
            <a:extLst>
              <a:ext uri="{FF2B5EF4-FFF2-40B4-BE49-F238E27FC236}">
                <a16:creationId xmlns:a16="http://schemas.microsoft.com/office/drawing/2014/main" id="{624D0D59-46AC-F7EA-C020-079CC2B8AC7C}"/>
              </a:ext>
            </a:extLst>
          </p:cNvPr>
          <p:cNvSpPr/>
          <p:nvPr/>
        </p:nvSpPr>
        <p:spPr>
          <a:xfrm>
            <a:off x="-721096" y="8434808"/>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sp>
        <p:nvSpPr>
          <p:cNvPr id="9" name="TextBox 9">
            <a:extLst>
              <a:ext uri="{FF2B5EF4-FFF2-40B4-BE49-F238E27FC236}">
                <a16:creationId xmlns:a16="http://schemas.microsoft.com/office/drawing/2014/main" id="{7F222459-E2F2-FBFB-2D89-C5A42163394F}"/>
              </a:ext>
            </a:extLst>
          </p:cNvPr>
          <p:cNvSpPr txBox="1"/>
          <p:nvPr/>
        </p:nvSpPr>
        <p:spPr>
          <a:xfrm>
            <a:off x="1007096" y="1843516"/>
            <a:ext cx="18025980" cy="1477328"/>
          </a:xfrm>
          <a:prstGeom prst="rect">
            <a:avLst/>
          </a:prstGeom>
        </p:spPr>
        <p:txBody>
          <a:bodyPr wrap="square" lIns="0" tIns="0" rIns="0" bIns="0" rtlCol="0" anchor="t">
            <a:spAutoFit/>
          </a:body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AU" sz="4800" b="0" i="0" u="none" strike="noStrike" kern="1200" cap="none" spc="0" normalizeH="0" baseline="0" noProof="0" dirty="0">
                <a:ln>
                  <a:noFill/>
                </a:ln>
                <a:solidFill>
                  <a:srgbClr val="0CC0DF"/>
                </a:solidFill>
                <a:effectLst/>
                <a:uLnTx/>
                <a:uFillTx/>
                <a:latin typeface="Now Bold"/>
                <a:ea typeface="+mn-ea"/>
                <a:cs typeface="+mn-cs"/>
              </a:rPr>
              <a:t>TOOLS AND TOOL CALLING: Retrieval-Augmented Generation</a:t>
            </a:r>
            <a:endParaRPr kumimoji="0" lang="en-US" sz="4800" b="0" i="0" u="none" strike="noStrike" kern="1200" cap="none" spc="0" normalizeH="0" baseline="0" noProof="0" dirty="0">
              <a:ln>
                <a:noFill/>
              </a:ln>
              <a:solidFill>
                <a:srgbClr val="0CC0DF"/>
              </a:solidFill>
              <a:effectLst/>
              <a:uLnTx/>
              <a:uFillTx/>
              <a:latin typeface="Now Bold"/>
              <a:ea typeface="+mn-ea"/>
              <a:cs typeface="+mn-cs"/>
            </a:endParaRPr>
          </a:p>
        </p:txBody>
      </p:sp>
      <p:sp>
        <p:nvSpPr>
          <p:cNvPr id="4" name="TextBox 10">
            <a:extLst>
              <a:ext uri="{FF2B5EF4-FFF2-40B4-BE49-F238E27FC236}">
                <a16:creationId xmlns:a16="http://schemas.microsoft.com/office/drawing/2014/main" id="{D7522CAB-B057-203A-B4CE-30F464C083A7}"/>
              </a:ext>
            </a:extLst>
          </p:cNvPr>
          <p:cNvSpPr txBox="1"/>
          <p:nvPr/>
        </p:nvSpPr>
        <p:spPr>
          <a:xfrm>
            <a:off x="1007096" y="3673166"/>
            <a:ext cx="16513812" cy="1725857"/>
          </a:xfrm>
          <a:prstGeom prst="rect">
            <a:avLst/>
          </a:prstGeom>
        </p:spPr>
        <p:txBody>
          <a:bodyPr wrap="square" lIns="0" tIns="0" rIns="0" bIns="0" rtlCol="0" anchor="t">
            <a:spAutoFit/>
          </a:bodyPr>
          <a:lstStyle/>
          <a:p>
            <a:pPr marL="1257300" marR="0" lvl="2" indent="-342900" algn="l" defTabSz="914400" rtl="0" eaLnBrk="1" fontAlgn="auto" latinLnBrk="0" hangingPunct="1">
              <a:lnSpc>
                <a:spcPts val="3422"/>
              </a:lnSpc>
              <a:spcBef>
                <a:spcPts val="0"/>
              </a:spcBef>
              <a:spcAft>
                <a:spcPts val="0"/>
              </a:spcAft>
              <a:buClrTx/>
              <a:buSzTx/>
              <a:buFont typeface="Arial" panose="020B0604020202020204" pitchFamily="34" charset="0"/>
              <a:buChar char="•"/>
              <a:tabLst/>
              <a:defRPr/>
            </a:pPr>
            <a:endParaRPr kumimoji="0" lang="en-AU" sz="2479" b="0" i="0" u="none" strike="noStrike" kern="1200" cap="none" spc="-49" normalizeH="0" baseline="0" noProof="0" dirty="0">
              <a:ln>
                <a:noFill/>
              </a:ln>
              <a:solidFill>
                <a:srgbClr val="FFFFFF"/>
              </a:solidFill>
              <a:effectLst/>
              <a:uLnTx/>
              <a:uFillTx/>
              <a:latin typeface="DM Sans"/>
              <a:ea typeface="+mn-ea"/>
              <a:cs typeface="+mn-cs"/>
            </a:endParaRPr>
          </a:p>
          <a:p>
            <a:pPr marL="1257300" marR="0" lvl="2" indent="-342900" algn="l" defTabSz="914400" rtl="0" eaLnBrk="1" fontAlgn="auto" latinLnBrk="0" hangingPunct="1">
              <a:lnSpc>
                <a:spcPts val="3422"/>
              </a:lnSpc>
              <a:spcBef>
                <a:spcPts val="0"/>
              </a:spcBef>
              <a:spcAft>
                <a:spcPts val="0"/>
              </a:spcAft>
              <a:buClrTx/>
              <a:buSzTx/>
              <a:buFont typeface="Arial" panose="020B0604020202020204" pitchFamily="34" charset="0"/>
              <a:buChar char="•"/>
              <a:tabLst/>
              <a:defRPr/>
            </a:pPr>
            <a:endParaRPr kumimoji="0" lang="en-AU" sz="2479" b="0" i="0" u="none" strike="noStrike" kern="1200" cap="none" spc="-49" normalizeH="0" baseline="0" noProof="0" dirty="0">
              <a:ln>
                <a:noFill/>
              </a:ln>
              <a:solidFill>
                <a:srgbClr val="FFFFFF"/>
              </a:solidFill>
              <a:effectLst/>
              <a:uLnTx/>
              <a:uFillTx/>
              <a:latin typeface="DM Sans"/>
              <a:ea typeface="+mn-ea"/>
              <a:cs typeface="+mn-cs"/>
            </a:endParaRPr>
          </a:p>
          <a:p>
            <a:pPr marL="800100" marR="0" lvl="1" indent="-342900" algn="l" defTabSz="914400" rtl="0" eaLnBrk="1" fontAlgn="auto" latinLnBrk="0" hangingPunct="1">
              <a:lnSpc>
                <a:spcPts val="3422"/>
              </a:lnSpc>
              <a:spcBef>
                <a:spcPts val="0"/>
              </a:spcBef>
              <a:spcAft>
                <a:spcPts val="0"/>
              </a:spcAft>
              <a:buClrTx/>
              <a:buSzTx/>
              <a:buFont typeface="Arial" panose="020B0604020202020204" pitchFamily="34" charset="0"/>
              <a:buChar char="•"/>
              <a:tabLst/>
              <a:defRPr/>
            </a:pPr>
            <a:endParaRPr kumimoji="0" lang="en-AU" sz="2479" b="0" i="0" u="none" strike="noStrike" kern="1200" cap="none" spc="-49" normalizeH="0" baseline="0" noProof="0" dirty="0">
              <a:ln>
                <a:noFill/>
              </a:ln>
              <a:solidFill>
                <a:srgbClr val="FFFFFF"/>
              </a:solidFill>
              <a:effectLst/>
              <a:uLnTx/>
              <a:uFillTx/>
              <a:latin typeface="DM Sans"/>
              <a:ea typeface="+mn-ea"/>
              <a:cs typeface="+mn-cs"/>
            </a:endParaRPr>
          </a:p>
          <a:p>
            <a:pPr marL="800100" marR="0" lvl="1" indent="-342900" algn="l" defTabSz="914400" rtl="0" eaLnBrk="1" fontAlgn="auto" latinLnBrk="0" hangingPunct="1">
              <a:lnSpc>
                <a:spcPts val="3422"/>
              </a:lnSpc>
              <a:spcBef>
                <a:spcPts val="0"/>
              </a:spcBef>
              <a:spcAft>
                <a:spcPts val="0"/>
              </a:spcAft>
              <a:buClrTx/>
              <a:buSzTx/>
              <a:buFont typeface="Arial" panose="020B0604020202020204" pitchFamily="34" charset="0"/>
              <a:buChar char="•"/>
              <a:tabLst/>
              <a:defRPr/>
            </a:pPr>
            <a:endParaRPr kumimoji="0" lang="en-AU" sz="2479" b="0" i="0" u="none" strike="noStrike" kern="1200" cap="none" spc="-49" normalizeH="0" baseline="0" noProof="0" dirty="0">
              <a:ln>
                <a:noFill/>
              </a:ln>
              <a:solidFill>
                <a:srgbClr val="FFFFFF"/>
              </a:solidFill>
              <a:effectLst/>
              <a:uLnTx/>
              <a:uFillTx/>
              <a:latin typeface="DM Sans"/>
              <a:ea typeface="+mn-ea"/>
              <a:cs typeface="+mn-cs"/>
            </a:endParaRPr>
          </a:p>
        </p:txBody>
      </p:sp>
      <p:sp>
        <p:nvSpPr>
          <p:cNvPr id="5" name="TextBox 4">
            <a:extLst>
              <a:ext uri="{FF2B5EF4-FFF2-40B4-BE49-F238E27FC236}">
                <a16:creationId xmlns:a16="http://schemas.microsoft.com/office/drawing/2014/main" id="{1061BDAC-E363-86D9-B9F2-F63380967BFB}"/>
              </a:ext>
            </a:extLst>
          </p:cNvPr>
          <p:cNvSpPr txBox="1"/>
          <p:nvPr/>
        </p:nvSpPr>
        <p:spPr>
          <a:xfrm>
            <a:off x="1007096" y="3320844"/>
            <a:ext cx="17548374" cy="5750292"/>
          </a:xfrm>
          <a:prstGeom prst="rect">
            <a:avLst/>
          </a:prstGeom>
          <a:noFill/>
        </p:spPr>
        <p:txBody>
          <a:bodyPr wrap="square">
            <a:spAutoFit/>
          </a:bodyPr>
          <a:lstStyle/>
          <a:p>
            <a:pPr>
              <a:spcAft>
                <a:spcPts val="1050"/>
              </a:spcAft>
              <a:buNone/>
            </a:pPr>
            <a:r>
              <a:rPr lang="en-AU" sz="2400" b="1" dirty="0">
                <a:solidFill>
                  <a:schemeClr val="bg1"/>
                </a:solidFill>
                <a:effectLst/>
                <a:latin typeface="DM Sans" pitchFamily="2" charset="77"/>
              </a:rPr>
              <a:t>Cross-Encoder</a:t>
            </a:r>
          </a:p>
          <a:p>
            <a:pPr marL="800100" lvl="1" indent="-342900">
              <a:spcAft>
                <a:spcPts val="900"/>
              </a:spcAft>
              <a:buFont typeface="Arial" panose="020B0604020202020204" pitchFamily="34" charset="0"/>
              <a:buChar char="•"/>
            </a:pPr>
            <a:r>
              <a:rPr lang="en-AU" sz="2400" b="1" dirty="0">
                <a:solidFill>
                  <a:schemeClr val="bg1"/>
                </a:solidFill>
                <a:effectLst/>
                <a:latin typeface="DM Sans" pitchFamily="2" charset="77"/>
              </a:rPr>
              <a:t>The query and document are concatenated and fed together into the model, which outputs a single relevance score.</a:t>
            </a:r>
          </a:p>
          <a:p>
            <a:pPr marL="800100" lvl="1" indent="-342900">
              <a:spcAft>
                <a:spcPts val="900"/>
              </a:spcAft>
              <a:buFont typeface="Arial" panose="020B0604020202020204" pitchFamily="34" charset="0"/>
              <a:buChar char="•"/>
            </a:pPr>
            <a:r>
              <a:rPr lang="en-AU" sz="2400" b="1" dirty="0">
                <a:solidFill>
                  <a:schemeClr val="bg1"/>
                </a:solidFill>
                <a:latin typeface="DM Sans" pitchFamily="2" charset="77"/>
              </a:rPr>
              <a:t>Compares: </a:t>
            </a:r>
          </a:p>
          <a:p>
            <a:pPr marL="1257300" lvl="2" indent="-342900">
              <a:spcAft>
                <a:spcPts val="900"/>
              </a:spcAft>
              <a:buFont typeface="Arial" panose="020B0604020202020204" pitchFamily="34" charset="0"/>
              <a:buChar char="•"/>
            </a:pPr>
            <a:r>
              <a:rPr lang="en-AU" sz="2400" b="1" dirty="0">
                <a:solidFill>
                  <a:schemeClr val="bg1"/>
                </a:solidFill>
                <a:effectLst/>
                <a:latin typeface="DM Sans" pitchFamily="2" charset="77"/>
              </a:rPr>
              <a:t>“What is the capital of France? “And “Paris is the capital and largest city of France.”</a:t>
            </a:r>
          </a:p>
          <a:p>
            <a:pPr lvl="1" algn="ctr"/>
            <a:endParaRPr lang="en-AU" sz="2400" b="1" dirty="0">
              <a:solidFill>
                <a:schemeClr val="bg1"/>
              </a:solidFill>
              <a:effectLst/>
              <a:latin typeface="DM Sans" pitchFamily="2" charset="77"/>
            </a:endParaRPr>
          </a:p>
          <a:p>
            <a:pPr marL="800100" lvl="1" indent="-342900">
              <a:buFont typeface="Arial" panose="020B0604020202020204" pitchFamily="34" charset="0"/>
              <a:buChar char="•"/>
            </a:pPr>
            <a:r>
              <a:rPr lang="en-AU" sz="2400" b="1" dirty="0">
                <a:solidFill>
                  <a:schemeClr val="bg1"/>
                </a:solidFill>
                <a:effectLst/>
                <a:latin typeface="DM Sans" pitchFamily="2" charset="77"/>
              </a:rPr>
              <a:t>[Query + Doc 1] → Encoder → score: 0.97 ✅</a:t>
            </a:r>
          </a:p>
          <a:p>
            <a:pPr marL="800100" lvl="1" indent="-342900">
              <a:buFont typeface="Arial" panose="020B0604020202020204" pitchFamily="34" charset="0"/>
              <a:buChar char="•"/>
            </a:pPr>
            <a:r>
              <a:rPr lang="en-AU" sz="2400" b="1" dirty="0">
                <a:solidFill>
                  <a:schemeClr val="bg1"/>
                </a:solidFill>
                <a:effectLst/>
                <a:latin typeface="DM Sans" pitchFamily="2" charset="77"/>
              </a:rPr>
              <a:t>[Query + Doc 2] → Encoder → score: 0.21</a:t>
            </a:r>
          </a:p>
          <a:p>
            <a:pPr marL="800100" lvl="1" indent="-342900">
              <a:buFont typeface="Arial" panose="020B0604020202020204" pitchFamily="34" charset="0"/>
              <a:buChar char="•"/>
            </a:pPr>
            <a:r>
              <a:rPr lang="en-AU" sz="2400" b="1" dirty="0">
                <a:solidFill>
                  <a:schemeClr val="bg1"/>
                </a:solidFill>
                <a:effectLst/>
                <a:latin typeface="DM Sans" pitchFamily="2" charset="77"/>
              </a:rPr>
              <a:t>[Query + Doc 3] → Encoder → score: 0.35</a:t>
            </a:r>
          </a:p>
          <a:p>
            <a:pPr marL="800100" lvl="1" indent="-342900">
              <a:buFont typeface="Arial" panose="020B0604020202020204" pitchFamily="34" charset="0"/>
              <a:buChar char="•"/>
            </a:pPr>
            <a:endParaRPr lang="en-AU" sz="2400" b="1" dirty="0">
              <a:solidFill>
                <a:schemeClr val="bg1"/>
              </a:solidFill>
              <a:effectLst/>
              <a:latin typeface="DM Sans" pitchFamily="2" charset="77"/>
            </a:endParaRPr>
          </a:p>
          <a:p>
            <a:pPr lvl="1">
              <a:buFont typeface="Arial" panose="020B0604020202020204" pitchFamily="34" charset="0"/>
              <a:buChar char="•"/>
            </a:pPr>
            <a:r>
              <a:rPr lang="en-AU" sz="2400" b="1" dirty="0">
                <a:solidFill>
                  <a:schemeClr val="bg1"/>
                </a:solidFill>
                <a:effectLst/>
                <a:latin typeface="DM Sans" pitchFamily="2" charset="77"/>
              </a:rPr>
              <a:t>The model attends to both texts simultaneously via self-attention, capturing rich interactions (e.g., it notices "capital" in the query directly relates to "capital" in Doc 1).</a:t>
            </a:r>
          </a:p>
          <a:p>
            <a:pPr lvl="1">
              <a:buFont typeface="Arial" panose="020B0604020202020204" pitchFamily="34" charset="0"/>
              <a:buChar char="•"/>
            </a:pPr>
            <a:r>
              <a:rPr lang="en-AU" sz="2400" b="1" dirty="0">
                <a:solidFill>
                  <a:schemeClr val="bg1"/>
                </a:solidFill>
                <a:effectLst/>
                <a:latin typeface="DM Sans" pitchFamily="2" charset="77"/>
              </a:rPr>
              <a:t>The model can directly compare words across the query and document.</a:t>
            </a:r>
          </a:p>
          <a:p>
            <a:pPr lvl="1">
              <a:buFont typeface="Arial" panose="020B0604020202020204" pitchFamily="34" charset="0"/>
              <a:buChar char="•"/>
            </a:pPr>
            <a:r>
              <a:rPr lang="en-AU" sz="2400" b="1" dirty="0">
                <a:solidFill>
                  <a:schemeClr val="bg1"/>
                </a:solidFill>
                <a:effectLst/>
                <a:latin typeface="DM Sans" pitchFamily="2" charset="77"/>
              </a:rPr>
              <a:t>Much more accurate, but slower</a:t>
            </a:r>
          </a:p>
        </p:txBody>
      </p:sp>
    </p:spTree>
    <p:extLst>
      <p:ext uri="{BB962C8B-B14F-4D97-AF65-F5344CB8AC3E}">
        <p14:creationId xmlns:p14="http://schemas.microsoft.com/office/powerpoint/2010/main" val="325504982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C63F65DD-B048-CE77-3BB3-A51217F096D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E8B15C66-E47C-1DAD-5588-13178BA6201B}"/>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E9E209D4-3694-90D2-27AF-D5F52FCB87F1}"/>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ABBD4351-35A0-BBC4-6709-FAF37D8DF6DE}"/>
              </a:ext>
            </a:extLst>
          </p:cNvPr>
          <p:cNvSpPr txBox="1"/>
          <p:nvPr/>
        </p:nvSpPr>
        <p:spPr>
          <a:xfrm>
            <a:off x="1007096" y="1843516"/>
            <a:ext cx="18025980" cy="1477328"/>
          </a:xfrm>
          <a:prstGeom prst="rect">
            <a:avLst/>
          </a:prstGeom>
        </p:spPr>
        <p:txBody>
          <a:bodyPr wrap="square" lIns="0" tIns="0" rIns="0" bIns="0" rtlCol="0" anchor="t">
            <a:spAutoFit/>
          </a:bodyPr>
          <a:lstStyle/>
          <a:p>
            <a:pPr>
              <a:spcBef>
                <a:spcPct val="0"/>
              </a:spcBef>
              <a:defRPr/>
            </a:pPr>
            <a:r>
              <a:rPr lang="en-AU" sz="4800" dirty="0">
                <a:solidFill>
                  <a:srgbClr val="0CC0DF"/>
                </a:solidFill>
                <a:latin typeface="Now Bold"/>
              </a:rPr>
              <a:t>TOOLS AND TOOL CALLING: Retrieval-Augmented Generation</a:t>
            </a:r>
            <a:endParaRPr lang="en-US" sz="4800" dirty="0">
              <a:solidFill>
                <a:srgbClr val="0CC0DF"/>
              </a:solidFill>
              <a:latin typeface="Now Bold"/>
            </a:endParaRPr>
          </a:p>
        </p:txBody>
      </p:sp>
      <p:sp>
        <p:nvSpPr>
          <p:cNvPr id="4" name="TextBox 10">
            <a:extLst>
              <a:ext uri="{FF2B5EF4-FFF2-40B4-BE49-F238E27FC236}">
                <a16:creationId xmlns:a16="http://schemas.microsoft.com/office/drawing/2014/main" id="{6A90D383-8DA0-E40C-CAA8-96D36B5348D2}"/>
              </a:ext>
            </a:extLst>
          </p:cNvPr>
          <p:cNvSpPr txBox="1"/>
          <p:nvPr/>
        </p:nvSpPr>
        <p:spPr>
          <a:xfrm>
            <a:off x="-1035211" y="2978576"/>
            <a:ext cx="45536881" cy="1725857"/>
          </a:xfrm>
          <a:prstGeom prst="rect">
            <a:avLst/>
          </a:prstGeom>
        </p:spPr>
        <p:txBody>
          <a:bodyPr wrap="square" lIns="0" tIns="0" rIns="0" bIns="0" rtlCol="0" anchor="t">
            <a:spAutoFit/>
          </a:bodyPr>
          <a:lstStyle/>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p:txBody>
      </p:sp>
      <p:sp>
        <p:nvSpPr>
          <p:cNvPr id="7" name="TextBox 6">
            <a:extLst>
              <a:ext uri="{FF2B5EF4-FFF2-40B4-BE49-F238E27FC236}">
                <a16:creationId xmlns:a16="http://schemas.microsoft.com/office/drawing/2014/main" id="{8CBA20B3-20AB-F6BF-32EB-1A143DAE6320}"/>
              </a:ext>
            </a:extLst>
          </p:cNvPr>
          <p:cNvSpPr txBox="1"/>
          <p:nvPr/>
        </p:nvSpPr>
        <p:spPr>
          <a:xfrm>
            <a:off x="158550" y="3651561"/>
            <a:ext cx="6969225" cy="2252604"/>
          </a:xfrm>
          <a:prstGeom prst="rect">
            <a:avLst/>
          </a:prstGeom>
          <a:noFill/>
        </p:spPr>
        <p:txBody>
          <a:bodyPr wrap="square" rtlCol="0">
            <a:spAutoFit/>
          </a:bodyPr>
          <a:lstStyle/>
          <a:p>
            <a:pPr marL="800100" lvl="1" indent="-342900">
              <a:lnSpc>
                <a:spcPts val="3422"/>
              </a:lnSpc>
              <a:buFont typeface="Arial" panose="020B0604020202020204" pitchFamily="34" charset="0"/>
              <a:buChar char="•"/>
            </a:pPr>
            <a:r>
              <a:rPr lang="en-AU" sz="2479" spc="-49" dirty="0">
                <a:solidFill>
                  <a:srgbClr val="FFFFFF"/>
                </a:solidFill>
                <a:latin typeface="DM Sans"/>
              </a:rPr>
              <a:t>RAG 1 — Embedding only. The query is embedded, top-K chunks are pulled from the vector store by cosine similarity, and everything goes straight to the LLM. Fast and simple.</a:t>
            </a:r>
            <a:endParaRPr lang="en-US" dirty="0"/>
          </a:p>
        </p:txBody>
      </p:sp>
      <p:pic>
        <p:nvPicPr>
          <p:cNvPr id="16" name="Picture 15">
            <a:extLst>
              <a:ext uri="{FF2B5EF4-FFF2-40B4-BE49-F238E27FC236}">
                <a16:creationId xmlns:a16="http://schemas.microsoft.com/office/drawing/2014/main" id="{63B82644-ACE5-9A3C-F5F0-43E5CDF49A09}"/>
              </a:ext>
            </a:extLst>
          </p:cNvPr>
          <p:cNvPicPr>
            <a:picLocks noChangeAspect="1"/>
          </p:cNvPicPr>
          <p:nvPr/>
        </p:nvPicPr>
        <p:blipFill>
          <a:blip r:embed="rId4"/>
          <a:stretch>
            <a:fillRect/>
          </a:stretch>
        </p:blipFill>
        <p:spPr>
          <a:xfrm>
            <a:off x="8927976" y="2623220"/>
            <a:ext cx="7772400" cy="7663780"/>
          </a:xfrm>
          <a:prstGeom prst="rect">
            <a:avLst/>
          </a:prstGeom>
        </p:spPr>
      </p:pic>
    </p:spTree>
    <p:extLst>
      <p:ext uri="{BB962C8B-B14F-4D97-AF65-F5344CB8AC3E}">
        <p14:creationId xmlns:p14="http://schemas.microsoft.com/office/powerpoint/2010/main" val="180157289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6E88144C-EE3F-BEDF-7AB1-EB21992DB3BE}"/>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665ABB29-53A5-7FB5-7AA4-D1C7D080FE1C}"/>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BF9DCE74-BB10-53B6-DA5D-8542E8067442}"/>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83C0EF20-666A-6827-4B32-FA3D0B613DF9}"/>
              </a:ext>
            </a:extLst>
          </p:cNvPr>
          <p:cNvSpPr txBox="1"/>
          <p:nvPr/>
        </p:nvSpPr>
        <p:spPr>
          <a:xfrm>
            <a:off x="1007096" y="1843516"/>
            <a:ext cx="18025980" cy="1477328"/>
          </a:xfrm>
          <a:prstGeom prst="rect">
            <a:avLst/>
          </a:prstGeom>
        </p:spPr>
        <p:txBody>
          <a:bodyPr wrap="square" lIns="0" tIns="0" rIns="0" bIns="0" rtlCol="0" anchor="t">
            <a:spAutoFit/>
          </a:bodyPr>
          <a:lstStyle/>
          <a:p>
            <a:pPr>
              <a:spcBef>
                <a:spcPct val="0"/>
              </a:spcBef>
              <a:defRPr/>
            </a:pPr>
            <a:r>
              <a:rPr lang="en-AU" sz="4800" dirty="0">
                <a:solidFill>
                  <a:srgbClr val="0CC0DF"/>
                </a:solidFill>
                <a:latin typeface="Now Bold"/>
              </a:rPr>
              <a:t>TOOLS AND TOOL CALLING: Retrieval-Augmented Generation</a:t>
            </a:r>
            <a:endParaRPr lang="en-US" sz="4800" dirty="0">
              <a:solidFill>
                <a:srgbClr val="0CC0DF"/>
              </a:solidFill>
              <a:latin typeface="Now Bold"/>
            </a:endParaRPr>
          </a:p>
        </p:txBody>
      </p:sp>
      <p:sp>
        <p:nvSpPr>
          <p:cNvPr id="4" name="TextBox 10">
            <a:extLst>
              <a:ext uri="{FF2B5EF4-FFF2-40B4-BE49-F238E27FC236}">
                <a16:creationId xmlns:a16="http://schemas.microsoft.com/office/drawing/2014/main" id="{3C48AF20-0334-CF08-5AD7-697CCCD9FF40}"/>
              </a:ext>
            </a:extLst>
          </p:cNvPr>
          <p:cNvSpPr txBox="1"/>
          <p:nvPr/>
        </p:nvSpPr>
        <p:spPr>
          <a:xfrm>
            <a:off x="-1035211" y="2978576"/>
            <a:ext cx="45536881" cy="1725857"/>
          </a:xfrm>
          <a:prstGeom prst="rect">
            <a:avLst/>
          </a:prstGeom>
        </p:spPr>
        <p:txBody>
          <a:bodyPr wrap="square" lIns="0" tIns="0" rIns="0" bIns="0" rtlCol="0" anchor="t">
            <a:spAutoFit/>
          </a:bodyPr>
          <a:lstStyle/>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p:txBody>
      </p:sp>
      <p:sp>
        <p:nvSpPr>
          <p:cNvPr id="7" name="TextBox 6">
            <a:extLst>
              <a:ext uri="{FF2B5EF4-FFF2-40B4-BE49-F238E27FC236}">
                <a16:creationId xmlns:a16="http://schemas.microsoft.com/office/drawing/2014/main" id="{63E0C276-51CF-7775-00D9-97B6F5833CEE}"/>
              </a:ext>
            </a:extLst>
          </p:cNvPr>
          <p:cNvSpPr txBox="1"/>
          <p:nvPr/>
        </p:nvSpPr>
        <p:spPr>
          <a:xfrm>
            <a:off x="158550" y="3651561"/>
            <a:ext cx="8553401" cy="2252604"/>
          </a:xfrm>
          <a:prstGeom prst="rect">
            <a:avLst/>
          </a:prstGeom>
          <a:noFill/>
        </p:spPr>
        <p:txBody>
          <a:bodyPr wrap="square" rtlCol="0">
            <a:spAutoFit/>
          </a:bodyPr>
          <a:lstStyle/>
          <a:p>
            <a:pPr marL="800100" lvl="1" indent="-342900">
              <a:lnSpc>
                <a:spcPts val="3422"/>
              </a:lnSpc>
              <a:buFont typeface="Arial" panose="020B0604020202020204" pitchFamily="34" charset="0"/>
              <a:buChar char="•"/>
            </a:pPr>
            <a:r>
              <a:rPr lang="en-AU" sz="2479" spc="-49" dirty="0">
                <a:solidFill>
                  <a:srgbClr val="FFFFFF"/>
                </a:solidFill>
                <a:latin typeface="DM Sans"/>
              </a:rPr>
              <a:t>RAG 2 — With cross-encoder reranking. A bi-encoder does a fast first-pass retrieval (top-K), then a cross-encoder scores every (query, chunk) pair jointly much more accurate but slower. Only the top-N reranked chunks go to the LLM, cutting noise significantly.</a:t>
            </a:r>
            <a:endParaRPr lang="en-US" dirty="0"/>
          </a:p>
        </p:txBody>
      </p:sp>
      <p:pic>
        <p:nvPicPr>
          <p:cNvPr id="3" name="Picture 2">
            <a:extLst>
              <a:ext uri="{FF2B5EF4-FFF2-40B4-BE49-F238E27FC236}">
                <a16:creationId xmlns:a16="http://schemas.microsoft.com/office/drawing/2014/main" id="{787DC1AE-F536-4264-ECB2-7C0CB8690FF8}"/>
              </a:ext>
            </a:extLst>
          </p:cNvPr>
          <p:cNvPicPr>
            <a:picLocks noChangeAspect="1"/>
          </p:cNvPicPr>
          <p:nvPr/>
        </p:nvPicPr>
        <p:blipFill>
          <a:blip r:embed="rId4"/>
          <a:stretch>
            <a:fillRect/>
          </a:stretch>
        </p:blipFill>
        <p:spPr>
          <a:xfrm>
            <a:off x="10719340" y="2582180"/>
            <a:ext cx="5184576" cy="7611247"/>
          </a:xfrm>
          <a:prstGeom prst="rect">
            <a:avLst/>
          </a:prstGeom>
        </p:spPr>
      </p:pic>
    </p:spTree>
    <p:extLst>
      <p:ext uri="{BB962C8B-B14F-4D97-AF65-F5344CB8AC3E}">
        <p14:creationId xmlns:p14="http://schemas.microsoft.com/office/powerpoint/2010/main" val="313230618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3C867AFB-E2C3-7ADB-69B6-42DFA1A48D1D}"/>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F6B07BE2-B569-42D9-8EAE-B5E8988CCD06}"/>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3033A496-6DC0-C11E-D254-A44D428F7F0C}"/>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117FA78B-62E9-19CF-59F1-53E12F3A9AD4}"/>
              </a:ext>
            </a:extLst>
          </p:cNvPr>
          <p:cNvSpPr txBox="1"/>
          <p:nvPr/>
        </p:nvSpPr>
        <p:spPr>
          <a:xfrm>
            <a:off x="1007096" y="1843516"/>
            <a:ext cx="18025980" cy="1477328"/>
          </a:xfrm>
          <a:prstGeom prst="rect">
            <a:avLst/>
          </a:prstGeom>
        </p:spPr>
        <p:txBody>
          <a:bodyPr wrap="square" lIns="0" tIns="0" rIns="0" bIns="0" rtlCol="0" anchor="t">
            <a:spAutoFit/>
          </a:bodyPr>
          <a:lstStyle/>
          <a:p>
            <a:pPr>
              <a:spcBef>
                <a:spcPct val="0"/>
              </a:spcBef>
              <a:defRPr/>
            </a:pPr>
            <a:r>
              <a:rPr lang="en-AU" sz="4800" dirty="0">
                <a:solidFill>
                  <a:srgbClr val="0CC0DF"/>
                </a:solidFill>
                <a:latin typeface="Now Bold"/>
              </a:rPr>
              <a:t>TOOLS AND TOOL CALLING: Retrieval-Augmented Generation</a:t>
            </a:r>
            <a:endParaRPr lang="en-US" sz="4800" dirty="0">
              <a:solidFill>
                <a:srgbClr val="0CC0DF"/>
              </a:solidFill>
              <a:latin typeface="Now Bold"/>
            </a:endParaRPr>
          </a:p>
        </p:txBody>
      </p:sp>
      <p:sp>
        <p:nvSpPr>
          <p:cNvPr id="4" name="TextBox 10">
            <a:extLst>
              <a:ext uri="{FF2B5EF4-FFF2-40B4-BE49-F238E27FC236}">
                <a16:creationId xmlns:a16="http://schemas.microsoft.com/office/drawing/2014/main" id="{DAF5509E-C6A0-A2CF-24D5-FCAB825471D3}"/>
              </a:ext>
            </a:extLst>
          </p:cNvPr>
          <p:cNvSpPr txBox="1"/>
          <p:nvPr/>
        </p:nvSpPr>
        <p:spPr>
          <a:xfrm>
            <a:off x="-1035211" y="2978576"/>
            <a:ext cx="45536881" cy="1725857"/>
          </a:xfrm>
          <a:prstGeom prst="rect">
            <a:avLst/>
          </a:prstGeom>
        </p:spPr>
        <p:txBody>
          <a:bodyPr wrap="square" lIns="0" tIns="0" rIns="0" bIns="0" rtlCol="0" anchor="t">
            <a:spAutoFit/>
          </a:bodyPr>
          <a:lstStyle/>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p:txBody>
      </p:sp>
      <p:sp>
        <p:nvSpPr>
          <p:cNvPr id="7" name="TextBox 6">
            <a:extLst>
              <a:ext uri="{FF2B5EF4-FFF2-40B4-BE49-F238E27FC236}">
                <a16:creationId xmlns:a16="http://schemas.microsoft.com/office/drawing/2014/main" id="{7F1410DC-EF66-AE58-CB2C-EB8663F76EF2}"/>
              </a:ext>
            </a:extLst>
          </p:cNvPr>
          <p:cNvSpPr txBox="1"/>
          <p:nvPr/>
        </p:nvSpPr>
        <p:spPr>
          <a:xfrm>
            <a:off x="431032" y="3487316"/>
            <a:ext cx="8553401" cy="6584495"/>
          </a:xfrm>
          <a:prstGeom prst="rect">
            <a:avLst/>
          </a:prstGeom>
          <a:noFill/>
        </p:spPr>
        <p:txBody>
          <a:bodyPr wrap="square" rtlCol="0">
            <a:spAutoFit/>
          </a:bodyPr>
          <a:lstStyle/>
          <a:p>
            <a:pPr marL="800100" lvl="1" indent="-342900">
              <a:lnSpc>
                <a:spcPts val="3422"/>
              </a:lnSpc>
              <a:buFont typeface="Arial" panose="020B0604020202020204" pitchFamily="34" charset="0"/>
              <a:buChar char="•"/>
            </a:pPr>
            <a:r>
              <a:rPr lang="en-AU" sz="2479" spc="-49" dirty="0">
                <a:solidFill>
                  <a:srgbClr val="FFFFFF"/>
                </a:solidFill>
                <a:latin typeface="DM Sans"/>
              </a:rPr>
              <a:t>RAG 3 — With knowledge tree + reranking</a:t>
            </a:r>
          </a:p>
          <a:p>
            <a:pPr marL="800100" lvl="1" indent="-342900">
              <a:lnSpc>
                <a:spcPts val="3422"/>
              </a:lnSpc>
              <a:buFont typeface="Arial" panose="020B0604020202020204" pitchFamily="34" charset="0"/>
              <a:buChar char="•"/>
            </a:pPr>
            <a:r>
              <a:rPr lang="en-AU" sz="2479" spc="-49" dirty="0">
                <a:solidFill>
                  <a:srgbClr val="FFFFFF"/>
                </a:solidFill>
                <a:latin typeface="DM Sans"/>
              </a:rPr>
              <a:t>Chunk documents into passages (same as RAG 1 &amp; 2)</a:t>
            </a:r>
          </a:p>
          <a:p>
            <a:pPr marL="1257300" lvl="2" indent="-342900">
              <a:lnSpc>
                <a:spcPts val="3422"/>
              </a:lnSpc>
              <a:buFont typeface="Arial" panose="020B0604020202020204" pitchFamily="34" charset="0"/>
              <a:buChar char="•"/>
            </a:pPr>
            <a:r>
              <a:rPr lang="en-AU" sz="2479" spc="-49" dirty="0">
                <a:solidFill>
                  <a:srgbClr val="FFFFFF"/>
                </a:solidFill>
                <a:latin typeface="DM Sans"/>
              </a:rPr>
              <a:t>Embed every chunk → stored in a vector store</a:t>
            </a:r>
          </a:p>
          <a:p>
            <a:pPr marL="1257300" lvl="2" indent="-342900">
              <a:lnSpc>
                <a:spcPts val="3422"/>
              </a:lnSpc>
              <a:buFont typeface="Arial" panose="020B0604020202020204" pitchFamily="34" charset="0"/>
              <a:buChar char="•"/>
            </a:pPr>
            <a:r>
              <a:rPr lang="en-AU" sz="2479" spc="-49" dirty="0">
                <a:solidFill>
                  <a:srgbClr val="FFFFFF"/>
                </a:solidFill>
                <a:latin typeface="DM Sans"/>
              </a:rPr>
              <a:t>Run entity + relationship extraction → "Tesla — faced — bankruptcy risk"</a:t>
            </a:r>
          </a:p>
          <a:p>
            <a:pPr marL="1257300" lvl="2" indent="-342900">
              <a:lnSpc>
                <a:spcPts val="3422"/>
              </a:lnSpc>
              <a:buFont typeface="Arial" panose="020B0604020202020204" pitchFamily="34" charset="0"/>
              <a:buChar char="•"/>
            </a:pPr>
            <a:r>
              <a:rPr lang="en-AU" sz="2479" spc="-49" dirty="0">
                <a:solidFill>
                  <a:srgbClr val="FFFFFF"/>
                </a:solidFill>
                <a:latin typeface="DM Sans"/>
              </a:rPr>
              <a:t>Stitch all entities and relationships into a knowledge graph</a:t>
            </a:r>
          </a:p>
          <a:p>
            <a:pPr marL="1257300" lvl="2" indent="-342900">
              <a:lnSpc>
                <a:spcPts val="3422"/>
              </a:lnSpc>
              <a:buFont typeface="Arial" panose="020B0604020202020204" pitchFamily="34" charset="0"/>
              <a:buChar char="•"/>
            </a:pPr>
            <a:r>
              <a:rPr lang="en-AU" sz="2479" spc="-49" dirty="0">
                <a:solidFill>
                  <a:srgbClr val="FFFFFF"/>
                </a:solidFill>
                <a:latin typeface="DM Sans"/>
              </a:rPr>
              <a:t>Embed every graph node so it's searchable by similarity</a:t>
            </a:r>
          </a:p>
          <a:p>
            <a:pPr marL="1257300" lvl="2" indent="-342900">
              <a:lnSpc>
                <a:spcPts val="3422"/>
              </a:lnSpc>
              <a:buFont typeface="Arial" panose="020B0604020202020204" pitchFamily="34" charset="0"/>
              <a:buChar char="•"/>
            </a:pPr>
            <a:r>
              <a:rPr lang="en-AU" sz="2479" spc="-49" dirty="0">
                <a:solidFill>
                  <a:srgbClr val="FFFFFF"/>
                </a:solidFill>
                <a:latin typeface="DM Sans"/>
              </a:rPr>
              <a:t>Cluster the graph into communities, LLM-summarise each cluster → summaries also stored in the vector store</a:t>
            </a:r>
          </a:p>
          <a:p>
            <a:pPr lvl="1">
              <a:lnSpc>
                <a:spcPts val="3422"/>
              </a:lnSpc>
            </a:pPr>
            <a:br>
              <a:rPr lang="en-AU" sz="2479" spc="-49" dirty="0">
                <a:solidFill>
                  <a:srgbClr val="FFFFFF"/>
                </a:solidFill>
                <a:latin typeface="DM Sans"/>
              </a:rPr>
            </a:b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US" dirty="0"/>
          </a:p>
        </p:txBody>
      </p:sp>
      <p:pic>
        <p:nvPicPr>
          <p:cNvPr id="5" name="Picture 4">
            <a:extLst>
              <a:ext uri="{FF2B5EF4-FFF2-40B4-BE49-F238E27FC236}">
                <a16:creationId xmlns:a16="http://schemas.microsoft.com/office/drawing/2014/main" id="{46333520-E25D-E77C-56A1-1349D708B87F}"/>
              </a:ext>
            </a:extLst>
          </p:cNvPr>
          <p:cNvPicPr>
            <a:picLocks noChangeAspect="1"/>
          </p:cNvPicPr>
          <p:nvPr/>
        </p:nvPicPr>
        <p:blipFill>
          <a:blip r:embed="rId4"/>
          <a:stretch>
            <a:fillRect/>
          </a:stretch>
        </p:blipFill>
        <p:spPr>
          <a:xfrm>
            <a:off x="10656168" y="2510971"/>
            <a:ext cx="4688893" cy="7560840"/>
          </a:xfrm>
          <a:prstGeom prst="rect">
            <a:avLst/>
          </a:prstGeom>
        </p:spPr>
      </p:pic>
    </p:spTree>
    <p:extLst>
      <p:ext uri="{BB962C8B-B14F-4D97-AF65-F5344CB8AC3E}">
        <p14:creationId xmlns:p14="http://schemas.microsoft.com/office/powerpoint/2010/main" val="372281463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AA979F92-104D-06A3-F422-2EB2698E74C7}"/>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D455BCA2-BC10-79AA-8843-A9036FF00DE0}"/>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03033F11-0353-1DD7-BCA4-E0884F5832B9}"/>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F812EB82-F6CE-18CE-01AF-13F6F123B9EB}"/>
              </a:ext>
            </a:extLst>
          </p:cNvPr>
          <p:cNvSpPr txBox="1"/>
          <p:nvPr/>
        </p:nvSpPr>
        <p:spPr>
          <a:xfrm>
            <a:off x="1007096" y="1843516"/>
            <a:ext cx="18025980" cy="1477328"/>
          </a:xfrm>
          <a:prstGeom prst="rect">
            <a:avLst/>
          </a:prstGeom>
        </p:spPr>
        <p:txBody>
          <a:bodyPr wrap="square" lIns="0" tIns="0" rIns="0" bIns="0" rtlCol="0" anchor="t">
            <a:spAutoFit/>
          </a:bodyPr>
          <a:lstStyle/>
          <a:p>
            <a:pPr>
              <a:spcBef>
                <a:spcPct val="0"/>
              </a:spcBef>
              <a:defRPr/>
            </a:pPr>
            <a:r>
              <a:rPr lang="en-AU" sz="4800" dirty="0">
                <a:solidFill>
                  <a:srgbClr val="0CC0DF"/>
                </a:solidFill>
                <a:latin typeface="Now Bold"/>
              </a:rPr>
              <a:t>TOOLS AND TOOL CALLING: Retrieval-Augmented Generation</a:t>
            </a:r>
            <a:endParaRPr lang="en-US" sz="4800" dirty="0">
              <a:solidFill>
                <a:srgbClr val="0CC0DF"/>
              </a:solidFill>
              <a:latin typeface="Now Bold"/>
            </a:endParaRPr>
          </a:p>
        </p:txBody>
      </p:sp>
      <p:sp>
        <p:nvSpPr>
          <p:cNvPr id="4" name="TextBox 10">
            <a:extLst>
              <a:ext uri="{FF2B5EF4-FFF2-40B4-BE49-F238E27FC236}">
                <a16:creationId xmlns:a16="http://schemas.microsoft.com/office/drawing/2014/main" id="{4A60732F-27C0-044F-A303-8A3FD60F3075}"/>
              </a:ext>
            </a:extLst>
          </p:cNvPr>
          <p:cNvSpPr txBox="1"/>
          <p:nvPr/>
        </p:nvSpPr>
        <p:spPr>
          <a:xfrm>
            <a:off x="-1035211" y="2978576"/>
            <a:ext cx="45536881" cy="1725857"/>
          </a:xfrm>
          <a:prstGeom prst="rect">
            <a:avLst/>
          </a:prstGeom>
        </p:spPr>
        <p:txBody>
          <a:bodyPr wrap="square" lIns="0" tIns="0" rIns="0" bIns="0" rtlCol="0" anchor="t">
            <a:spAutoFit/>
          </a:bodyPr>
          <a:lstStyle/>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p:txBody>
      </p:sp>
      <p:sp>
        <p:nvSpPr>
          <p:cNvPr id="7" name="TextBox 6">
            <a:extLst>
              <a:ext uri="{FF2B5EF4-FFF2-40B4-BE49-F238E27FC236}">
                <a16:creationId xmlns:a16="http://schemas.microsoft.com/office/drawing/2014/main" id="{053950EB-2C73-4719-7C8B-98B1E7117C20}"/>
              </a:ext>
            </a:extLst>
          </p:cNvPr>
          <p:cNvSpPr txBox="1"/>
          <p:nvPr/>
        </p:nvSpPr>
        <p:spPr>
          <a:xfrm>
            <a:off x="431032" y="3487316"/>
            <a:ext cx="8553401" cy="7892545"/>
          </a:xfrm>
          <a:prstGeom prst="rect">
            <a:avLst/>
          </a:prstGeom>
          <a:noFill/>
        </p:spPr>
        <p:txBody>
          <a:bodyPr wrap="square" rtlCol="0">
            <a:spAutoFit/>
          </a:bodyPr>
          <a:lstStyle/>
          <a:p>
            <a:pPr marL="800100" lvl="1" indent="-342900">
              <a:lnSpc>
                <a:spcPts val="3422"/>
              </a:lnSpc>
              <a:buFont typeface="Arial" panose="020B0604020202020204" pitchFamily="34" charset="0"/>
              <a:buChar char="•"/>
            </a:pPr>
            <a:r>
              <a:rPr lang="en-AU" sz="2479" spc="-49" dirty="0">
                <a:solidFill>
                  <a:srgbClr val="FFFFFF"/>
                </a:solidFill>
                <a:latin typeface="DM Sans"/>
              </a:rPr>
              <a:t>RAG 3 Query time — two parallel retrieval paths</a:t>
            </a:r>
          </a:p>
          <a:p>
            <a:pPr marL="1257300" lvl="2" indent="-342900">
              <a:lnSpc>
                <a:spcPts val="3422"/>
              </a:lnSpc>
              <a:buFont typeface="Arial" panose="020B0604020202020204" pitchFamily="34" charset="0"/>
              <a:buChar char="•"/>
            </a:pPr>
            <a:r>
              <a:rPr lang="en-AU" sz="2479" spc="-49" dirty="0">
                <a:solidFill>
                  <a:srgbClr val="FFFFFF"/>
                </a:solidFill>
                <a:latin typeface="DM Sans"/>
              </a:rPr>
              <a:t>Vector path → finds chunks and community summaries similar to the query</a:t>
            </a:r>
          </a:p>
          <a:p>
            <a:pPr marL="1257300" lvl="2" indent="-342900">
              <a:lnSpc>
                <a:spcPts val="3422"/>
              </a:lnSpc>
              <a:buFont typeface="Arial" panose="020B0604020202020204" pitchFamily="34" charset="0"/>
              <a:buChar char="•"/>
            </a:pPr>
            <a:r>
              <a:rPr lang="en-AU" sz="2479" spc="-49" dirty="0">
                <a:solidFill>
                  <a:srgbClr val="FFFFFF"/>
                </a:solidFill>
                <a:latin typeface="DM Sans"/>
              </a:rPr>
              <a:t>Graph path → parses query entities, finds entry nodes, traverses 2–3 hops to collect connected facts and relationship labels</a:t>
            </a:r>
          </a:p>
          <a:p>
            <a:pPr marL="1257300" lvl="2" indent="-342900">
              <a:lnSpc>
                <a:spcPts val="3422"/>
              </a:lnSpc>
              <a:buFont typeface="Arial" panose="020B0604020202020204" pitchFamily="34" charset="0"/>
              <a:buChar char="•"/>
            </a:pPr>
            <a:r>
              <a:rPr lang="en-AU" sz="2479" spc="-49" dirty="0">
                <a:solidFill>
                  <a:srgbClr val="FFFFFF"/>
                </a:solidFill>
                <a:latin typeface="DM Sans"/>
              </a:rPr>
              <a:t>Both paths merge → cross-encoder </a:t>
            </a:r>
            <a:r>
              <a:rPr lang="en-AU" sz="2479" spc="-49" dirty="0" err="1">
                <a:solidFill>
                  <a:srgbClr val="FFFFFF"/>
                </a:solidFill>
                <a:latin typeface="DM Sans"/>
              </a:rPr>
              <a:t>reranker</a:t>
            </a:r>
            <a:r>
              <a:rPr lang="en-AU" sz="2479" spc="-49" dirty="0">
                <a:solidFill>
                  <a:srgbClr val="FFFFFF"/>
                </a:solidFill>
                <a:latin typeface="DM Sans"/>
              </a:rPr>
              <a:t> scores everything → top-N go to the LLM</a:t>
            </a:r>
          </a:p>
          <a:p>
            <a:pPr marL="800100" lvl="1" indent="-342900">
              <a:lnSpc>
                <a:spcPts val="3422"/>
              </a:lnSpc>
              <a:buFont typeface="Arial" panose="020B0604020202020204" pitchFamily="34" charset="0"/>
              <a:buChar char="•"/>
            </a:pPr>
            <a:r>
              <a:rPr lang="en-AU" sz="2479" spc="-49" dirty="0">
                <a:solidFill>
                  <a:srgbClr val="FFFFFF"/>
                </a:solidFill>
                <a:latin typeface="DM Sans"/>
              </a:rPr>
              <a:t>What the LLM actually receives</a:t>
            </a:r>
          </a:p>
          <a:p>
            <a:pPr marL="1257300" lvl="2" indent="-342900">
              <a:lnSpc>
                <a:spcPts val="3422"/>
              </a:lnSpc>
              <a:buFont typeface="Arial" panose="020B0604020202020204" pitchFamily="34" charset="0"/>
              <a:buChar char="•"/>
            </a:pPr>
            <a:r>
              <a:rPr lang="en-AU" sz="2479" spc="-49" dirty="0">
                <a:solidFill>
                  <a:srgbClr val="FFFFFF"/>
                </a:solidFill>
                <a:latin typeface="DM Sans"/>
              </a:rPr>
              <a:t>Raw text passages (from vector path) → the facts</a:t>
            </a:r>
          </a:p>
          <a:p>
            <a:pPr marL="1257300" lvl="2" indent="-342900">
              <a:lnSpc>
                <a:spcPts val="3422"/>
              </a:lnSpc>
              <a:buFont typeface="Arial" panose="020B0604020202020204" pitchFamily="34" charset="0"/>
              <a:buChar char="•"/>
            </a:pPr>
            <a:r>
              <a:rPr lang="en-AU" sz="2479" spc="-49" dirty="0">
                <a:solidFill>
                  <a:srgbClr val="FFFFFF"/>
                </a:solidFill>
                <a:latin typeface="DM Sans"/>
              </a:rPr>
              <a:t>Graph triples and traversal paths (from graph path) → the narrative connecting those facts</a:t>
            </a:r>
          </a:p>
          <a:p>
            <a:pPr marL="1257300" lvl="2" indent="-342900">
              <a:lnSpc>
                <a:spcPts val="3422"/>
              </a:lnSpc>
              <a:buFont typeface="Arial" panose="020B0604020202020204" pitchFamily="34" charset="0"/>
              <a:buChar char="•"/>
            </a:pPr>
            <a:r>
              <a:rPr lang="en-AU" sz="2479" spc="-49" dirty="0">
                <a:solidFill>
                  <a:srgbClr val="FFFFFF"/>
                </a:solidFill>
                <a:latin typeface="DM Sans"/>
              </a:rPr>
              <a:t>Community summaries → pre-synthesised big-picture context</a:t>
            </a:r>
            <a:br>
              <a:rPr lang="en-AU" sz="2479" spc="-49" dirty="0">
                <a:solidFill>
                  <a:srgbClr val="FFFFFF"/>
                </a:solidFill>
                <a:latin typeface="DM Sans"/>
              </a:rPr>
            </a:br>
            <a:endParaRPr lang="en-AU" sz="2479" spc="-49" dirty="0">
              <a:solidFill>
                <a:srgbClr val="FFFFFF"/>
              </a:solidFill>
              <a:latin typeface="DM Sans"/>
            </a:endParaRPr>
          </a:p>
          <a:p>
            <a:pPr lvl="1">
              <a:lnSpc>
                <a:spcPts val="3422"/>
              </a:lnSpc>
            </a:pPr>
            <a:br>
              <a:rPr lang="en-AU" sz="2479" spc="-49" dirty="0">
                <a:solidFill>
                  <a:srgbClr val="FFFFFF"/>
                </a:solidFill>
                <a:latin typeface="DM Sans"/>
              </a:rPr>
            </a:b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US" dirty="0"/>
          </a:p>
        </p:txBody>
      </p:sp>
      <p:pic>
        <p:nvPicPr>
          <p:cNvPr id="5" name="Picture 4">
            <a:extLst>
              <a:ext uri="{FF2B5EF4-FFF2-40B4-BE49-F238E27FC236}">
                <a16:creationId xmlns:a16="http://schemas.microsoft.com/office/drawing/2014/main" id="{6D0F6A60-6FD5-EAD6-E91D-75C2B79EB821}"/>
              </a:ext>
            </a:extLst>
          </p:cNvPr>
          <p:cNvPicPr>
            <a:picLocks noChangeAspect="1"/>
          </p:cNvPicPr>
          <p:nvPr/>
        </p:nvPicPr>
        <p:blipFill>
          <a:blip r:embed="rId4"/>
          <a:stretch>
            <a:fillRect/>
          </a:stretch>
        </p:blipFill>
        <p:spPr>
          <a:xfrm>
            <a:off x="11952312" y="2407196"/>
            <a:ext cx="4817585" cy="7768356"/>
          </a:xfrm>
          <a:prstGeom prst="rect">
            <a:avLst/>
          </a:prstGeom>
        </p:spPr>
      </p:pic>
    </p:spTree>
    <p:extLst>
      <p:ext uri="{BB962C8B-B14F-4D97-AF65-F5344CB8AC3E}">
        <p14:creationId xmlns:p14="http://schemas.microsoft.com/office/powerpoint/2010/main" val="331608632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5C29464E-4E06-B206-5A5E-9DC130E77A6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10511E6-174A-DD00-0088-70C2DD133690}"/>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1FD96397-52DB-CE22-ECC8-D78755071456}"/>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C8C23FA2-50B1-4459-6E07-9253F95C4FDB}"/>
              </a:ext>
            </a:extLst>
          </p:cNvPr>
          <p:cNvSpPr txBox="1"/>
          <p:nvPr/>
        </p:nvSpPr>
        <p:spPr>
          <a:xfrm>
            <a:off x="1007096" y="1843516"/>
            <a:ext cx="18025980" cy="1477328"/>
          </a:xfrm>
          <a:prstGeom prst="rect">
            <a:avLst/>
          </a:prstGeom>
        </p:spPr>
        <p:txBody>
          <a:bodyPr wrap="square" lIns="0" tIns="0" rIns="0" bIns="0" rtlCol="0" anchor="t">
            <a:spAutoFit/>
          </a:bodyPr>
          <a:lstStyle/>
          <a:p>
            <a:pPr>
              <a:spcBef>
                <a:spcPct val="0"/>
              </a:spcBef>
              <a:defRPr/>
            </a:pPr>
            <a:r>
              <a:rPr lang="en-AU" sz="4800" dirty="0">
                <a:solidFill>
                  <a:srgbClr val="0CC0DF"/>
                </a:solidFill>
                <a:latin typeface="Now Bold"/>
              </a:rPr>
              <a:t>TOOLS AND TOOL CALLING: Retrieval-Augmented Generation</a:t>
            </a:r>
            <a:endParaRPr lang="en-US" sz="4800" dirty="0">
              <a:solidFill>
                <a:srgbClr val="0CC0DF"/>
              </a:solidFill>
              <a:latin typeface="Now Bold"/>
            </a:endParaRPr>
          </a:p>
        </p:txBody>
      </p:sp>
      <p:sp>
        <p:nvSpPr>
          <p:cNvPr id="4" name="TextBox 10">
            <a:extLst>
              <a:ext uri="{FF2B5EF4-FFF2-40B4-BE49-F238E27FC236}">
                <a16:creationId xmlns:a16="http://schemas.microsoft.com/office/drawing/2014/main" id="{3620F2B5-9CD8-3B05-C732-6FE00A3765B6}"/>
              </a:ext>
            </a:extLst>
          </p:cNvPr>
          <p:cNvSpPr txBox="1"/>
          <p:nvPr/>
        </p:nvSpPr>
        <p:spPr>
          <a:xfrm>
            <a:off x="-1035211" y="2978576"/>
            <a:ext cx="45536881" cy="1725857"/>
          </a:xfrm>
          <a:prstGeom prst="rect">
            <a:avLst/>
          </a:prstGeom>
        </p:spPr>
        <p:txBody>
          <a:bodyPr wrap="square" lIns="0" tIns="0" rIns="0" bIns="0" rtlCol="0" anchor="t">
            <a:spAutoFit/>
          </a:bodyPr>
          <a:lstStyle/>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p:txBody>
      </p:sp>
      <p:sp>
        <p:nvSpPr>
          <p:cNvPr id="7" name="TextBox 6">
            <a:extLst>
              <a:ext uri="{FF2B5EF4-FFF2-40B4-BE49-F238E27FC236}">
                <a16:creationId xmlns:a16="http://schemas.microsoft.com/office/drawing/2014/main" id="{E54EE675-9D85-C345-57F7-1759BCB47111}"/>
              </a:ext>
            </a:extLst>
          </p:cNvPr>
          <p:cNvSpPr txBox="1"/>
          <p:nvPr/>
        </p:nvSpPr>
        <p:spPr>
          <a:xfrm>
            <a:off x="431032" y="3487316"/>
            <a:ext cx="8553401" cy="4840428"/>
          </a:xfrm>
          <a:prstGeom prst="rect">
            <a:avLst/>
          </a:prstGeom>
          <a:noFill/>
        </p:spPr>
        <p:txBody>
          <a:bodyPr wrap="square" rtlCol="0">
            <a:spAutoFit/>
          </a:bodyPr>
          <a:lstStyle/>
          <a:p>
            <a:pPr marL="800100" lvl="1" indent="-342900">
              <a:lnSpc>
                <a:spcPts val="3422"/>
              </a:lnSpc>
              <a:buFont typeface="Arial" panose="020B0604020202020204" pitchFamily="34" charset="0"/>
              <a:buChar char="•"/>
            </a:pPr>
            <a:r>
              <a:rPr lang="en-AU" sz="2479" spc="-49" dirty="0">
                <a:solidFill>
                  <a:srgbClr val="FFFFFF"/>
                </a:solidFill>
                <a:latin typeface="DM Sans"/>
              </a:rPr>
              <a:t>RAG 3 Indexing — building the system</a:t>
            </a:r>
          </a:p>
          <a:p>
            <a:pPr marL="800100" lvl="1" indent="-342900">
              <a:lnSpc>
                <a:spcPts val="3422"/>
              </a:lnSpc>
              <a:buFont typeface="Arial" panose="020B0604020202020204" pitchFamily="34" charset="0"/>
              <a:buChar char="•"/>
            </a:pPr>
            <a:r>
              <a:rPr lang="en-AU" sz="2479" spc="-49" dirty="0">
                <a:solidFill>
                  <a:srgbClr val="FFFFFF"/>
                </a:solidFill>
                <a:latin typeface="DM Sans"/>
              </a:rPr>
              <a:t>When to use it</a:t>
            </a:r>
          </a:p>
          <a:p>
            <a:pPr marL="1257300" lvl="2" indent="-342900">
              <a:lnSpc>
                <a:spcPts val="3422"/>
              </a:lnSpc>
              <a:buFont typeface="Arial" panose="020B0604020202020204" pitchFamily="34" charset="0"/>
              <a:buChar char="•"/>
            </a:pPr>
            <a:r>
              <a:rPr lang="en-AU" sz="2479" spc="-49" dirty="0">
                <a:solidFill>
                  <a:srgbClr val="FFFFFF"/>
                </a:solidFill>
                <a:latin typeface="DM Sans"/>
              </a:rPr>
              <a:t>Questions that span multiple documents or require multi-hop reasoning</a:t>
            </a:r>
          </a:p>
          <a:p>
            <a:pPr marL="1257300" lvl="2" indent="-342900">
              <a:lnSpc>
                <a:spcPts val="3422"/>
              </a:lnSpc>
              <a:buFont typeface="Arial" panose="020B0604020202020204" pitchFamily="34" charset="0"/>
              <a:buChar char="•"/>
            </a:pPr>
            <a:r>
              <a:rPr lang="en-AU" sz="2479" spc="-49" dirty="0">
                <a:solidFill>
                  <a:srgbClr val="FFFFFF"/>
                </a:solidFill>
                <a:latin typeface="DM Sans"/>
              </a:rPr>
              <a:t>Complex domains with rich entity relationships (research, legal, medical)</a:t>
            </a:r>
          </a:p>
          <a:p>
            <a:pPr marL="1257300" lvl="2" indent="-342900">
              <a:lnSpc>
                <a:spcPts val="3422"/>
              </a:lnSpc>
              <a:buFont typeface="Arial" panose="020B0604020202020204" pitchFamily="34" charset="0"/>
              <a:buChar char="•"/>
            </a:pPr>
            <a:r>
              <a:rPr lang="en-AU" sz="2479" spc="-49" dirty="0">
                <a:solidFill>
                  <a:srgbClr val="FFFFFF"/>
                </a:solidFill>
                <a:latin typeface="DM Sans"/>
              </a:rPr>
              <a:t>When RAG 1 &amp; 2 are visibly failing on "overview" or "how does X relate to Y" questions</a:t>
            </a:r>
          </a:p>
          <a:p>
            <a:pPr lvl="2">
              <a:lnSpc>
                <a:spcPts val="3422"/>
              </a:lnSpc>
            </a:pPr>
            <a:br>
              <a:rPr lang="en-AU" sz="2479" spc="-49" dirty="0">
                <a:solidFill>
                  <a:srgbClr val="FFFFFF"/>
                </a:solidFill>
                <a:latin typeface="DM Sans"/>
              </a:rPr>
            </a:b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US" dirty="0"/>
          </a:p>
        </p:txBody>
      </p:sp>
      <p:pic>
        <p:nvPicPr>
          <p:cNvPr id="5" name="Picture 4">
            <a:extLst>
              <a:ext uri="{FF2B5EF4-FFF2-40B4-BE49-F238E27FC236}">
                <a16:creationId xmlns:a16="http://schemas.microsoft.com/office/drawing/2014/main" id="{CEF6F45C-1734-5112-9EF5-96C6948F0843}"/>
              </a:ext>
            </a:extLst>
          </p:cNvPr>
          <p:cNvPicPr>
            <a:picLocks noChangeAspect="1"/>
          </p:cNvPicPr>
          <p:nvPr/>
        </p:nvPicPr>
        <p:blipFill>
          <a:blip r:embed="rId4"/>
          <a:stretch>
            <a:fillRect/>
          </a:stretch>
        </p:blipFill>
        <p:spPr>
          <a:xfrm>
            <a:off x="10872192" y="2296704"/>
            <a:ext cx="4817585" cy="7768356"/>
          </a:xfrm>
          <a:prstGeom prst="rect">
            <a:avLst/>
          </a:prstGeom>
        </p:spPr>
      </p:pic>
    </p:spTree>
    <p:extLst>
      <p:ext uri="{BB962C8B-B14F-4D97-AF65-F5344CB8AC3E}">
        <p14:creationId xmlns:p14="http://schemas.microsoft.com/office/powerpoint/2010/main" val="336147410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15C4A47E-8026-21D4-A472-605EBE38ECCE}"/>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FE93A8E1-B617-9449-D958-455CC023C678}"/>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8019A529-0189-49E6-547B-CE8506EFB6FB}"/>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1AED62AE-6749-1F27-B125-86BDB5739169}"/>
              </a:ext>
            </a:extLst>
          </p:cNvPr>
          <p:cNvSpPr txBox="1"/>
          <p:nvPr/>
        </p:nvSpPr>
        <p:spPr>
          <a:xfrm>
            <a:off x="1007096" y="1843516"/>
            <a:ext cx="18025980" cy="738664"/>
          </a:xfrm>
          <a:prstGeom prst="rect">
            <a:avLst/>
          </a:prstGeom>
        </p:spPr>
        <p:txBody>
          <a:bodyPr wrap="square" lIns="0" tIns="0" rIns="0" bIns="0" rtlCol="0" anchor="t">
            <a:spAutoFit/>
          </a:bodyPr>
          <a:lstStyle/>
          <a:p>
            <a:pPr>
              <a:spcBef>
                <a:spcPct val="0"/>
              </a:spcBef>
              <a:defRPr/>
            </a:pPr>
            <a:r>
              <a:rPr lang="en-AU" sz="4800" dirty="0">
                <a:solidFill>
                  <a:srgbClr val="0CC0DF"/>
                </a:solidFill>
                <a:latin typeface="Now Bold"/>
              </a:rPr>
              <a:t>TOOLS AND TOOL CALLING: DYNAMIC TOOL CALING </a:t>
            </a:r>
            <a:endParaRPr lang="en-US" sz="4800" dirty="0">
              <a:solidFill>
                <a:srgbClr val="0CC0DF"/>
              </a:solidFill>
              <a:latin typeface="Now Bold"/>
            </a:endParaRPr>
          </a:p>
        </p:txBody>
      </p:sp>
      <p:sp>
        <p:nvSpPr>
          <p:cNvPr id="4" name="TextBox 10">
            <a:extLst>
              <a:ext uri="{FF2B5EF4-FFF2-40B4-BE49-F238E27FC236}">
                <a16:creationId xmlns:a16="http://schemas.microsoft.com/office/drawing/2014/main" id="{22967DC9-8BF5-8421-9E8B-C3E320CB407E}"/>
              </a:ext>
            </a:extLst>
          </p:cNvPr>
          <p:cNvSpPr txBox="1"/>
          <p:nvPr/>
        </p:nvSpPr>
        <p:spPr>
          <a:xfrm>
            <a:off x="-1035211" y="2978576"/>
            <a:ext cx="45536881" cy="1725857"/>
          </a:xfrm>
          <a:prstGeom prst="rect">
            <a:avLst/>
          </a:prstGeom>
        </p:spPr>
        <p:txBody>
          <a:bodyPr wrap="square" lIns="0" tIns="0" rIns="0" bIns="0" rtlCol="0" anchor="t">
            <a:spAutoFit/>
          </a:bodyPr>
          <a:lstStyle/>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p:txBody>
      </p:sp>
      <p:sp>
        <p:nvSpPr>
          <p:cNvPr id="7" name="TextBox 6">
            <a:extLst>
              <a:ext uri="{FF2B5EF4-FFF2-40B4-BE49-F238E27FC236}">
                <a16:creationId xmlns:a16="http://schemas.microsoft.com/office/drawing/2014/main" id="{1648F7B4-3B7D-BFE6-F2ED-AFBC3E62569F}"/>
              </a:ext>
            </a:extLst>
          </p:cNvPr>
          <p:cNvSpPr txBox="1"/>
          <p:nvPr/>
        </p:nvSpPr>
        <p:spPr>
          <a:xfrm>
            <a:off x="599112" y="2944346"/>
            <a:ext cx="13801472" cy="7456528"/>
          </a:xfrm>
          <a:prstGeom prst="rect">
            <a:avLst/>
          </a:prstGeom>
          <a:noFill/>
        </p:spPr>
        <p:txBody>
          <a:bodyPr wrap="square" rtlCol="0">
            <a:spAutoFit/>
          </a:bodyPr>
          <a:lstStyle/>
          <a:p>
            <a:pPr lvl="1">
              <a:lnSpc>
                <a:spcPts val="3422"/>
              </a:lnSpc>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r>
              <a:rPr lang="en-AU" sz="2479" spc="-49" dirty="0">
                <a:solidFill>
                  <a:srgbClr val="FFFFFF"/>
                </a:solidFill>
                <a:latin typeface="DM Sans"/>
              </a:rPr>
              <a:t>The Problem: Static Tool Definitions</a:t>
            </a:r>
          </a:p>
          <a:p>
            <a:pPr marL="1257300" lvl="2" indent="-342900">
              <a:lnSpc>
                <a:spcPts val="3422"/>
              </a:lnSpc>
              <a:buFont typeface="Arial" panose="020B0604020202020204" pitchFamily="34" charset="0"/>
              <a:buChar char="•"/>
            </a:pPr>
            <a:r>
              <a:rPr lang="en-AU" sz="2479" spc="-49" dirty="0">
                <a:solidFill>
                  <a:srgbClr val="FFFFFF"/>
                </a:solidFill>
                <a:latin typeface="DM Sans"/>
              </a:rPr>
              <a:t>Standard approach: define every tool upfront in the system prompt</a:t>
            </a:r>
          </a:p>
          <a:p>
            <a:pPr marL="1257300" lvl="2" indent="-342900">
              <a:lnSpc>
                <a:spcPts val="3422"/>
              </a:lnSpc>
              <a:buFont typeface="Arial" panose="020B0604020202020204" pitchFamily="34" charset="0"/>
              <a:buChar char="•"/>
            </a:pPr>
            <a:r>
              <a:rPr lang="en-AU" sz="2479" spc="-49" dirty="0">
                <a:solidFill>
                  <a:srgbClr val="FFFFFF"/>
                </a:solidFill>
                <a:latin typeface="DM Sans"/>
              </a:rPr>
              <a:t>Works fine for 5–6 tools</a:t>
            </a:r>
          </a:p>
          <a:p>
            <a:pPr marL="1257300" lvl="2" indent="-342900">
              <a:lnSpc>
                <a:spcPts val="3422"/>
              </a:lnSpc>
              <a:buFont typeface="Arial" panose="020B0604020202020204" pitchFamily="34" charset="0"/>
              <a:buChar char="•"/>
            </a:pPr>
            <a:r>
              <a:rPr lang="en-AU" sz="2479" spc="-49" dirty="0">
                <a:solidFill>
                  <a:srgbClr val="FFFFFF"/>
                </a:solidFill>
                <a:latin typeface="DM Sans"/>
              </a:rPr>
              <a:t>Breaks down as toolsets grow</a:t>
            </a:r>
          </a:p>
          <a:p>
            <a:pPr marL="1257300" lvl="2" indent="-342900">
              <a:lnSpc>
                <a:spcPts val="3422"/>
              </a:lnSpc>
              <a:buFont typeface="Arial" panose="020B0604020202020204" pitchFamily="34" charset="0"/>
              <a:buChar char="•"/>
            </a:pPr>
            <a:r>
              <a:rPr lang="en-AU" sz="2479" spc="-49" dirty="0">
                <a:solidFill>
                  <a:srgbClr val="FFFFFF"/>
                </a:solidFill>
                <a:latin typeface="DM Sans"/>
              </a:rPr>
              <a:t>Three failure modes: context saturation, degraded accuracy, compounding costs</a:t>
            </a:r>
          </a:p>
          <a:p>
            <a:pPr marL="800100" lvl="1" indent="-342900">
              <a:lnSpc>
                <a:spcPts val="3422"/>
              </a:lnSpc>
              <a:buFont typeface="Arial" panose="020B0604020202020204" pitchFamily="34" charset="0"/>
              <a:buChar char="•"/>
            </a:pPr>
            <a:r>
              <a:rPr lang="en-AU" sz="2479" spc="-49" dirty="0">
                <a:solidFill>
                  <a:srgbClr val="FFFFFF"/>
                </a:solidFill>
                <a:latin typeface="DM Sans"/>
              </a:rPr>
              <a:t>Context Window Saturation</a:t>
            </a:r>
          </a:p>
          <a:p>
            <a:pPr marL="1257300" lvl="2" indent="-342900">
              <a:lnSpc>
                <a:spcPts val="3422"/>
              </a:lnSpc>
              <a:buFont typeface="Arial" panose="020B0604020202020204" pitchFamily="34" charset="0"/>
              <a:buChar char="•"/>
            </a:pPr>
            <a:r>
              <a:rPr lang="en-AU" sz="2479" spc="-49" dirty="0">
                <a:solidFill>
                  <a:srgbClr val="FFFFFF"/>
                </a:solidFill>
                <a:latin typeface="DM Sans"/>
              </a:rPr>
              <a:t>A typical 5-server MCP setup consumes ~55,000 tokens before conversation starts</a:t>
            </a:r>
          </a:p>
          <a:p>
            <a:pPr marL="1257300" lvl="2" indent="-342900">
              <a:lnSpc>
                <a:spcPts val="3422"/>
              </a:lnSpc>
              <a:buFont typeface="Arial" panose="020B0604020202020204" pitchFamily="34" charset="0"/>
              <a:buChar char="•"/>
            </a:pPr>
            <a:r>
              <a:rPr lang="en-AU" sz="2479" spc="-49" dirty="0">
                <a:solidFill>
                  <a:srgbClr val="FFFFFF"/>
                </a:solidFill>
                <a:latin typeface="DM Sans"/>
              </a:rPr>
              <a:t>Adding one server (e.g. Jira at ~17,000 tokens) can push overhead past 100,000</a:t>
            </a:r>
          </a:p>
          <a:p>
            <a:pPr marL="1257300" lvl="2" indent="-342900">
              <a:lnSpc>
                <a:spcPts val="3422"/>
              </a:lnSpc>
              <a:buFont typeface="Arial" panose="020B0604020202020204" pitchFamily="34" charset="0"/>
              <a:buChar char="•"/>
            </a:pPr>
            <a:r>
              <a:rPr lang="en-AU" sz="2479" spc="-49" dirty="0">
                <a:solidFill>
                  <a:srgbClr val="FFFFFF"/>
                </a:solidFill>
                <a:latin typeface="DM Sans"/>
              </a:rPr>
              <a:t>Anthropic internally observed 134,000 tokens consumed — half the context window — before the user typed a word</a:t>
            </a:r>
          </a:p>
          <a:p>
            <a:pPr marL="1257300" lvl="2" indent="-342900">
              <a:lnSpc>
                <a:spcPts val="3422"/>
              </a:lnSpc>
              <a:buFont typeface="Arial" panose="020B0604020202020204" pitchFamily="34" charset="0"/>
              <a:buChar char="•"/>
            </a:pPr>
            <a:r>
              <a:rPr lang="en-AU" sz="2479" spc="-49" dirty="0">
                <a:solidFill>
                  <a:srgbClr val="FFFFFF"/>
                </a:solidFill>
                <a:latin typeface="DM Sans"/>
              </a:rPr>
              <a:t>GitHub's MCP server alone (91 tools) uses ~25% of the context window</a:t>
            </a: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lvl="2">
              <a:lnSpc>
                <a:spcPts val="3422"/>
              </a:lnSpc>
            </a:pPr>
            <a:br>
              <a:rPr lang="en-AU" sz="2479" spc="-49" dirty="0">
                <a:solidFill>
                  <a:srgbClr val="FFFFFF"/>
                </a:solidFill>
                <a:latin typeface="DM Sans"/>
              </a:rPr>
            </a:b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US" dirty="0"/>
          </a:p>
        </p:txBody>
      </p:sp>
    </p:spTree>
    <p:extLst>
      <p:ext uri="{BB962C8B-B14F-4D97-AF65-F5344CB8AC3E}">
        <p14:creationId xmlns:p14="http://schemas.microsoft.com/office/powerpoint/2010/main" val="258010139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3C50AF9D-AA4F-FA1B-386D-95FA15101CC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D469DD35-F282-E4F2-4AAF-95245CE0136F}"/>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C24CAE50-739D-C89A-A1BE-6FAD3D26B84A}"/>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732CF5F9-7DC2-DB98-31CE-47CEEAFC36D2}"/>
              </a:ext>
            </a:extLst>
          </p:cNvPr>
          <p:cNvSpPr txBox="1"/>
          <p:nvPr/>
        </p:nvSpPr>
        <p:spPr>
          <a:xfrm>
            <a:off x="1007096" y="1843516"/>
            <a:ext cx="18025980" cy="738664"/>
          </a:xfrm>
          <a:prstGeom prst="rect">
            <a:avLst/>
          </a:prstGeom>
        </p:spPr>
        <p:txBody>
          <a:bodyPr wrap="square" lIns="0" tIns="0" rIns="0" bIns="0" rtlCol="0" anchor="t">
            <a:spAutoFit/>
          </a:bodyPr>
          <a:lstStyle/>
          <a:p>
            <a:pPr>
              <a:spcBef>
                <a:spcPct val="0"/>
              </a:spcBef>
              <a:defRPr/>
            </a:pPr>
            <a:r>
              <a:rPr lang="en-AU" sz="4800" dirty="0">
                <a:solidFill>
                  <a:srgbClr val="0CC0DF"/>
                </a:solidFill>
                <a:latin typeface="Now Bold"/>
              </a:rPr>
              <a:t>TOOLS AND TOOL CALLING: DYNAMIC TOOL CALING </a:t>
            </a:r>
            <a:endParaRPr lang="en-US" sz="4800" dirty="0">
              <a:solidFill>
                <a:srgbClr val="0CC0DF"/>
              </a:solidFill>
              <a:latin typeface="Now Bold"/>
            </a:endParaRPr>
          </a:p>
        </p:txBody>
      </p:sp>
      <p:sp>
        <p:nvSpPr>
          <p:cNvPr id="4" name="TextBox 10">
            <a:extLst>
              <a:ext uri="{FF2B5EF4-FFF2-40B4-BE49-F238E27FC236}">
                <a16:creationId xmlns:a16="http://schemas.microsoft.com/office/drawing/2014/main" id="{BFC20A1A-653B-9EA3-2E92-10BEC473DDF0}"/>
              </a:ext>
            </a:extLst>
          </p:cNvPr>
          <p:cNvSpPr txBox="1"/>
          <p:nvPr/>
        </p:nvSpPr>
        <p:spPr>
          <a:xfrm>
            <a:off x="-1035211" y="2978576"/>
            <a:ext cx="45536881" cy="1725857"/>
          </a:xfrm>
          <a:prstGeom prst="rect">
            <a:avLst/>
          </a:prstGeom>
        </p:spPr>
        <p:txBody>
          <a:bodyPr wrap="square" lIns="0" tIns="0" rIns="0" bIns="0" rtlCol="0" anchor="t">
            <a:spAutoFit/>
          </a:bodyPr>
          <a:lstStyle/>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p:txBody>
      </p:sp>
      <p:sp>
        <p:nvSpPr>
          <p:cNvPr id="7" name="TextBox 6">
            <a:extLst>
              <a:ext uri="{FF2B5EF4-FFF2-40B4-BE49-F238E27FC236}">
                <a16:creationId xmlns:a16="http://schemas.microsoft.com/office/drawing/2014/main" id="{EBABD240-6F93-618E-535D-90B72FA7926E}"/>
              </a:ext>
            </a:extLst>
          </p:cNvPr>
          <p:cNvSpPr txBox="1"/>
          <p:nvPr/>
        </p:nvSpPr>
        <p:spPr>
          <a:xfrm>
            <a:off x="599112" y="2944346"/>
            <a:ext cx="13801472" cy="5712461"/>
          </a:xfrm>
          <a:prstGeom prst="rect">
            <a:avLst/>
          </a:prstGeom>
          <a:noFill/>
        </p:spPr>
        <p:txBody>
          <a:bodyPr wrap="square" rtlCol="0">
            <a:spAutoFit/>
          </a:bodyPr>
          <a:lstStyle/>
          <a:p>
            <a:pPr marL="1257300" lvl="2" indent="-342900">
              <a:lnSpc>
                <a:spcPts val="3422"/>
              </a:lnSpc>
              <a:buFont typeface="Arial" panose="020B0604020202020204" pitchFamily="34" charset="0"/>
              <a:buChar char="•"/>
            </a:pPr>
            <a:r>
              <a:rPr lang="en-AU" sz="2479" spc="-49" dirty="0">
                <a:solidFill>
                  <a:srgbClr val="FFFFFF"/>
                </a:solidFill>
                <a:latin typeface="DM Sans"/>
              </a:rPr>
              <a:t>Degraded Accuracy &amp; Rising Costs</a:t>
            </a:r>
          </a:p>
          <a:p>
            <a:pPr marL="1714500" lvl="3" indent="-342900">
              <a:lnSpc>
                <a:spcPts val="3422"/>
              </a:lnSpc>
              <a:buFont typeface="Arial" panose="020B0604020202020204" pitchFamily="34" charset="0"/>
              <a:buChar char="•"/>
            </a:pPr>
            <a:r>
              <a:rPr lang="en-AU" sz="2479" spc="-49" dirty="0">
                <a:solidFill>
                  <a:srgbClr val="FFFFFF"/>
                </a:solidFill>
                <a:latin typeface="DM Sans"/>
              </a:rPr>
              <a:t>Tool selection accuracy degrades significantly beyond 30–50 tools</a:t>
            </a:r>
          </a:p>
          <a:p>
            <a:pPr marL="1714500" lvl="3" indent="-342900">
              <a:lnSpc>
                <a:spcPts val="3422"/>
              </a:lnSpc>
              <a:buFont typeface="Arial" panose="020B0604020202020204" pitchFamily="34" charset="0"/>
              <a:buChar char="•"/>
            </a:pPr>
            <a:r>
              <a:rPr lang="en-AU" sz="2479" spc="-49" dirty="0">
                <a:solidFill>
                  <a:srgbClr val="FFFFFF"/>
                </a:solidFill>
                <a:latin typeface="DM Sans"/>
              </a:rPr>
              <a:t>Failure modes: wrong tool picked, parameter hallucination, tool interference</a:t>
            </a:r>
          </a:p>
          <a:p>
            <a:pPr marL="1714500" lvl="3" indent="-342900">
              <a:lnSpc>
                <a:spcPts val="3422"/>
              </a:lnSpc>
              <a:buFont typeface="Arial" panose="020B0604020202020204" pitchFamily="34" charset="0"/>
              <a:buChar char="•"/>
            </a:pPr>
            <a:r>
              <a:rPr lang="en-AU" sz="2479" spc="-49" dirty="0">
                <a:solidFill>
                  <a:srgbClr val="FFFFFF"/>
                </a:solidFill>
                <a:latin typeface="DM Sans"/>
              </a:rPr>
              <a:t>With 40+ tools: 68% task completion, 23% hallucination rate</a:t>
            </a:r>
          </a:p>
          <a:p>
            <a:pPr marL="1714500" lvl="3" indent="-342900">
              <a:lnSpc>
                <a:spcPts val="3422"/>
              </a:lnSpc>
              <a:buFont typeface="Arial" panose="020B0604020202020204" pitchFamily="34" charset="0"/>
              <a:buChar char="•"/>
            </a:pPr>
            <a:r>
              <a:rPr lang="en-AU" sz="2479" spc="-49" dirty="0">
                <a:solidFill>
                  <a:srgbClr val="FFFFFF"/>
                </a:solidFill>
                <a:latin typeface="DM Sans"/>
              </a:rPr>
              <a:t>After filtering to relevant tools: 89% completion, 8% hallucination</a:t>
            </a:r>
          </a:p>
          <a:p>
            <a:pPr marL="1714500" lvl="3" indent="-342900">
              <a:lnSpc>
                <a:spcPts val="3422"/>
              </a:lnSpc>
              <a:buFont typeface="Arial" panose="020B0604020202020204" pitchFamily="34" charset="0"/>
              <a:buChar char="•"/>
            </a:pPr>
            <a:r>
              <a:rPr lang="en-AU" sz="2479" spc="-49" dirty="0">
                <a:solidFill>
                  <a:srgbClr val="FFFFFF"/>
                </a:solidFill>
                <a:latin typeface="DM Sans"/>
              </a:rPr>
              <a:t>A 20-turn conversation with 55K tokens of tool overhead reprocesses over 1.1M tokens</a:t>
            </a:r>
          </a:p>
          <a:p>
            <a:pPr marL="1714500" lvl="3" indent="-342900">
              <a:lnSpc>
                <a:spcPts val="3422"/>
              </a:lnSpc>
              <a:buFont typeface="Arial" panose="020B0604020202020204" pitchFamily="34" charset="0"/>
              <a:buChar char="•"/>
            </a:pPr>
            <a:endParaRPr lang="en-AU" sz="2479" spc="-49" dirty="0">
              <a:solidFill>
                <a:srgbClr val="FFFFFF"/>
              </a:solidFill>
              <a:latin typeface="DM Sans"/>
            </a:endParaRPr>
          </a:p>
          <a:p>
            <a:pPr lvl="1">
              <a:lnSpc>
                <a:spcPts val="3422"/>
              </a:lnSpc>
            </a:pPr>
            <a:r>
              <a:rPr lang="en-AU" sz="2479" spc="-49" dirty="0">
                <a:solidFill>
                  <a:srgbClr val="FFFFFF"/>
                </a:solidFill>
                <a:latin typeface="DM Sans"/>
              </a:rPr>
              <a:t> </a:t>
            </a: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lvl="2">
              <a:lnSpc>
                <a:spcPts val="3422"/>
              </a:lnSpc>
            </a:pPr>
            <a:br>
              <a:rPr lang="en-AU" sz="2479" spc="-49" dirty="0">
                <a:solidFill>
                  <a:srgbClr val="FFFFFF"/>
                </a:solidFill>
                <a:latin typeface="DM Sans"/>
              </a:rPr>
            </a:b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US" dirty="0"/>
          </a:p>
        </p:txBody>
      </p:sp>
    </p:spTree>
    <p:extLst>
      <p:ext uri="{BB962C8B-B14F-4D97-AF65-F5344CB8AC3E}">
        <p14:creationId xmlns:p14="http://schemas.microsoft.com/office/powerpoint/2010/main" val="204519612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3977C770-8336-9ECB-95A2-CDD4BF59BB3C}"/>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4030C38-5143-EEDE-851A-7BDB84EB1F28}"/>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24FCD244-6643-08EF-CA72-73AEBC9C1B1C}"/>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5E6725D4-DE6E-36F8-5526-8DB8E545DC08}"/>
              </a:ext>
            </a:extLst>
          </p:cNvPr>
          <p:cNvSpPr txBox="1"/>
          <p:nvPr/>
        </p:nvSpPr>
        <p:spPr>
          <a:xfrm>
            <a:off x="1007096" y="1843516"/>
            <a:ext cx="18025980" cy="738664"/>
          </a:xfrm>
          <a:prstGeom prst="rect">
            <a:avLst/>
          </a:prstGeom>
        </p:spPr>
        <p:txBody>
          <a:bodyPr wrap="square" lIns="0" tIns="0" rIns="0" bIns="0" rtlCol="0" anchor="t">
            <a:spAutoFit/>
          </a:bodyPr>
          <a:lstStyle/>
          <a:p>
            <a:pPr>
              <a:spcBef>
                <a:spcPct val="0"/>
              </a:spcBef>
              <a:defRPr/>
            </a:pPr>
            <a:r>
              <a:rPr lang="en-AU" sz="4800" dirty="0">
                <a:solidFill>
                  <a:srgbClr val="0CC0DF"/>
                </a:solidFill>
                <a:latin typeface="Now Bold"/>
              </a:rPr>
              <a:t>TOOLS AND TOOL CALLING: DYNAMIC TOOL CALING </a:t>
            </a:r>
            <a:endParaRPr lang="en-US" sz="4800" dirty="0">
              <a:solidFill>
                <a:srgbClr val="0CC0DF"/>
              </a:solidFill>
              <a:latin typeface="Now Bold"/>
            </a:endParaRPr>
          </a:p>
        </p:txBody>
      </p:sp>
      <p:sp>
        <p:nvSpPr>
          <p:cNvPr id="4" name="TextBox 10">
            <a:extLst>
              <a:ext uri="{FF2B5EF4-FFF2-40B4-BE49-F238E27FC236}">
                <a16:creationId xmlns:a16="http://schemas.microsoft.com/office/drawing/2014/main" id="{099B7D0E-0DB6-61F0-474A-ACA10ACA500B}"/>
              </a:ext>
            </a:extLst>
          </p:cNvPr>
          <p:cNvSpPr txBox="1"/>
          <p:nvPr/>
        </p:nvSpPr>
        <p:spPr>
          <a:xfrm>
            <a:off x="-1035211" y="2978576"/>
            <a:ext cx="45536881" cy="1725857"/>
          </a:xfrm>
          <a:prstGeom prst="rect">
            <a:avLst/>
          </a:prstGeom>
        </p:spPr>
        <p:txBody>
          <a:bodyPr wrap="square" lIns="0" tIns="0" rIns="0" bIns="0" rtlCol="0" anchor="t">
            <a:spAutoFit/>
          </a:bodyPr>
          <a:lstStyle/>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p:txBody>
      </p:sp>
      <p:sp>
        <p:nvSpPr>
          <p:cNvPr id="7" name="TextBox 6">
            <a:extLst>
              <a:ext uri="{FF2B5EF4-FFF2-40B4-BE49-F238E27FC236}">
                <a16:creationId xmlns:a16="http://schemas.microsoft.com/office/drawing/2014/main" id="{6D9543AF-2F3F-C4D8-9C41-A637BC8632A0}"/>
              </a:ext>
            </a:extLst>
          </p:cNvPr>
          <p:cNvSpPr txBox="1"/>
          <p:nvPr/>
        </p:nvSpPr>
        <p:spPr>
          <a:xfrm>
            <a:off x="599112" y="2944346"/>
            <a:ext cx="13801472" cy="6148478"/>
          </a:xfrm>
          <a:prstGeom prst="rect">
            <a:avLst/>
          </a:prstGeom>
          <a:noFill/>
        </p:spPr>
        <p:txBody>
          <a:bodyPr wrap="square" rtlCol="0">
            <a:spAutoFit/>
          </a:bodyPr>
          <a:lstStyle/>
          <a:p>
            <a:pPr marL="1257300" lvl="2" indent="-342900">
              <a:lnSpc>
                <a:spcPts val="3422"/>
              </a:lnSpc>
              <a:buFont typeface="Arial" panose="020B0604020202020204" pitchFamily="34" charset="0"/>
              <a:buChar char="•"/>
            </a:pPr>
            <a:r>
              <a:rPr lang="en-AU" sz="2800" spc="-49" dirty="0">
                <a:solidFill>
                  <a:srgbClr val="FFFFFF"/>
                </a:solidFill>
                <a:latin typeface="DM Sans"/>
              </a:rPr>
              <a:t>The Solution: Dynamic Tool Loading</a:t>
            </a:r>
          </a:p>
          <a:p>
            <a:pPr lvl="2">
              <a:lnSpc>
                <a:spcPts val="3422"/>
              </a:lnSpc>
            </a:pPr>
            <a:endParaRPr lang="en-AU" sz="2800" spc="-49" dirty="0">
              <a:solidFill>
                <a:srgbClr val="FFFFFF"/>
              </a:solidFill>
              <a:latin typeface="DM Sans"/>
            </a:endParaRPr>
          </a:p>
          <a:p>
            <a:pPr marL="1714500" lvl="3" indent="-342900">
              <a:lnSpc>
                <a:spcPts val="3422"/>
              </a:lnSpc>
              <a:buFont typeface="Arial" panose="020B0604020202020204" pitchFamily="34" charset="0"/>
              <a:buChar char="•"/>
            </a:pPr>
            <a:r>
              <a:rPr lang="en-AU" sz="2800" spc="-49" dirty="0">
                <a:solidFill>
                  <a:srgbClr val="FFFFFF"/>
                </a:solidFill>
                <a:latin typeface="DM Sans"/>
              </a:rPr>
              <a:t>Give the model access to a large tool library</a:t>
            </a:r>
          </a:p>
          <a:p>
            <a:pPr marL="1714500" lvl="3" indent="-342900">
              <a:lnSpc>
                <a:spcPts val="3422"/>
              </a:lnSpc>
              <a:buFont typeface="Arial" panose="020B0604020202020204" pitchFamily="34" charset="0"/>
              <a:buChar char="•"/>
            </a:pPr>
            <a:endParaRPr lang="en-AU" sz="2800" spc="-49" dirty="0">
              <a:solidFill>
                <a:srgbClr val="FFFFFF"/>
              </a:solidFill>
              <a:latin typeface="DM Sans"/>
            </a:endParaRPr>
          </a:p>
          <a:p>
            <a:pPr marL="1714500" lvl="3" indent="-342900">
              <a:lnSpc>
                <a:spcPts val="3422"/>
              </a:lnSpc>
              <a:buFont typeface="Arial" panose="020B0604020202020204" pitchFamily="34" charset="0"/>
              <a:buChar char="•"/>
            </a:pPr>
            <a:r>
              <a:rPr lang="en-AU" sz="2800" spc="-49" dirty="0">
                <a:solidFill>
                  <a:srgbClr val="FFFFFF"/>
                </a:solidFill>
                <a:latin typeface="DM Sans"/>
              </a:rPr>
              <a:t>Inject only the relevant tools into each request</a:t>
            </a:r>
          </a:p>
          <a:p>
            <a:pPr marL="1714500" lvl="3" indent="-342900">
              <a:lnSpc>
                <a:spcPts val="3422"/>
              </a:lnSpc>
              <a:buFont typeface="Arial" panose="020B0604020202020204" pitchFamily="34" charset="0"/>
              <a:buChar char="•"/>
            </a:pPr>
            <a:endParaRPr lang="en-AU" sz="2800" spc="-49" dirty="0">
              <a:solidFill>
                <a:srgbClr val="FFFFFF"/>
              </a:solidFill>
              <a:latin typeface="DM Sans"/>
            </a:endParaRPr>
          </a:p>
          <a:p>
            <a:pPr marL="1714500" lvl="3" indent="-342900">
              <a:lnSpc>
                <a:spcPts val="3422"/>
              </a:lnSpc>
              <a:buFont typeface="Arial" panose="020B0604020202020204" pitchFamily="34" charset="0"/>
              <a:buChar char="•"/>
            </a:pPr>
            <a:r>
              <a:rPr lang="en-AU" sz="2800" spc="-49" dirty="0">
                <a:solidFill>
                  <a:srgbClr val="FFFFFF"/>
                </a:solidFill>
                <a:latin typeface="DM Sans"/>
              </a:rPr>
              <a:t>Also known as "Tool RAG" (by analogy with Retrieval-Augmented Generation)</a:t>
            </a:r>
          </a:p>
          <a:p>
            <a:pPr marL="1714500" lvl="3" indent="-342900">
              <a:lnSpc>
                <a:spcPts val="3422"/>
              </a:lnSpc>
              <a:buFont typeface="Arial" panose="020B0604020202020204" pitchFamily="34" charset="0"/>
              <a:buChar char="•"/>
            </a:pPr>
            <a:endParaRPr lang="en-AU" sz="2800" spc="-49" dirty="0">
              <a:solidFill>
                <a:srgbClr val="FFFFFF"/>
              </a:solidFill>
              <a:latin typeface="DM Sans"/>
            </a:endParaRPr>
          </a:p>
          <a:p>
            <a:pPr marL="1714500" lvl="3" indent="-342900">
              <a:lnSpc>
                <a:spcPts val="3422"/>
              </a:lnSpc>
              <a:buFont typeface="Arial" panose="020B0604020202020204" pitchFamily="34" charset="0"/>
              <a:buChar char="•"/>
            </a:pPr>
            <a:r>
              <a:rPr lang="en-AU" sz="2800" spc="-49" dirty="0">
                <a:solidFill>
                  <a:srgbClr val="FFFFFF"/>
                </a:solidFill>
                <a:latin typeface="DM Sans"/>
              </a:rPr>
              <a:t>Core idea: decouple what the agent can do from how it decides what to do</a:t>
            </a: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lvl="2">
              <a:lnSpc>
                <a:spcPts val="3422"/>
              </a:lnSpc>
            </a:pPr>
            <a:br>
              <a:rPr lang="en-AU" sz="2479" spc="-49" dirty="0">
                <a:solidFill>
                  <a:srgbClr val="FFFFFF"/>
                </a:solidFill>
                <a:latin typeface="DM Sans"/>
              </a:rPr>
            </a:b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US" dirty="0"/>
          </a:p>
        </p:txBody>
      </p:sp>
    </p:spTree>
    <p:extLst>
      <p:ext uri="{BB962C8B-B14F-4D97-AF65-F5344CB8AC3E}">
        <p14:creationId xmlns:p14="http://schemas.microsoft.com/office/powerpoint/2010/main" val="411601319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6A25FDFA-FC27-7D14-C612-2F3451E35EF3}"/>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87B9286F-956A-BBF7-E9B8-5841AD046F02}"/>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7EF7D01D-742C-8C55-2DBF-40706F62476B}"/>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0AFCD462-570A-A338-2136-55294A2D4273}"/>
              </a:ext>
            </a:extLst>
          </p:cNvPr>
          <p:cNvSpPr txBox="1"/>
          <p:nvPr/>
        </p:nvSpPr>
        <p:spPr>
          <a:xfrm>
            <a:off x="1007096" y="1843516"/>
            <a:ext cx="18025980" cy="738664"/>
          </a:xfrm>
          <a:prstGeom prst="rect">
            <a:avLst/>
          </a:prstGeom>
        </p:spPr>
        <p:txBody>
          <a:bodyPr wrap="square" lIns="0" tIns="0" rIns="0" bIns="0" rtlCol="0" anchor="t">
            <a:spAutoFit/>
          </a:bodyPr>
          <a:lstStyle/>
          <a:p>
            <a:pPr>
              <a:spcBef>
                <a:spcPct val="0"/>
              </a:spcBef>
              <a:defRPr/>
            </a:pPr>
            <a:r>
              <a:rPr lang="en-AU" sz="4800" dirty="0">
                <a:solidFill>
                  <a:srgbClr val="0CC0DF"/>
                </a:solidFill>
                <a:latin typeface="Now Bold"/>
              </a:rPr>
              <a:t>TOOLS AND TOOL CALLING: DYNAMIC TOOL CALING </a:t>
            </a:r>
            <a:endParaRPr lang="en-US" sz="4800" dirty="0">
              <a:solidFill>
                <a:srgbClr val="0CC0DF"/>
              </a:solidFill>
              <a:latin typeface="Now Bold"/>
            </a:endParaRPr>
          </a:p>
        </p:txBody>
      </p:sp>
      <p:sp>
        <p:nvSpPr>
          <p:cNvPr id="4" name="TextBox 10">
            <a:extLst>
              <a:ext uri="{FF2B5EF4-FFF2-40B4-BE49-F238E27FC236}">
                <a16:creationId xmlns:a16="http://schemas.microsoft.com/office/drawing/2014/main" id="{6EFF4190-DE95-4040-37A5-216ADFD39BC2}"/>
              </a:ext>
            </a:extLst>
          </p:cNvPr>
          <p:cNvSpPr txBox="1"/>
          <p:nvPr/>
        </p:nvSpPr>
        <p:spPr>
          <a:xfrm>
            <a:off x="-901715" y="2944346"/>
            <a:ext cx="45536881" cy="1725857"/>
          </a:xfrm>
          <a:prstGeom prst="rect">
            <a:avLst/>
          </a:prstGeom>
        </p:spPr>
        <p:txBody>
          <a:bodyPr wrap="square" lIns="0" tIns="0" rIns="0" bIns="0" rtlCol="0" anchor="t">
            <a:spAutoFit/>
          </a:bodyPr>
          <a:lstStyle/>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p:txBody>
      </p:sp>
      <p:sp>
        <p:nvSpPr>
          <p:cNvPr id="7" name="TextBox 6">
            <a:extLst>
              <a:ext uri="{FF2B5EF4-FFF2-40B4-BE49-F238E27FC236}">
                <a16:creationId xmlns:a16="http://schemas.microsoft.com/office/drawing/2014/main" id="{53BC077D-9430-306D-2314-0FE8BE8892E3}"/>
              </a:ext>
            </a:extLst>
          </p:cNvPr>
          <p:cNvSpPr txBox="1"/>
          <p:nvPr/>
        </p:nvSpPr>
        <p:spPr>
          <a:xfrm>
            <a:off x="599112" y="2944346"/>
            <a:ext cx="13801472" cy="6202980"/>
          </a:xfrm>
          <a:prstGeom prst="rect">
            <a:avLst/>
          </a:prstGeom>
          <a:noFill/>
        </p:spPr>
        <p:txBody>
          <a:bodyPr wrap="square" rtlCol="0">
            <a:spAutoFit/>
          </a:bodyPr>
          <a:lstStyle/>
          <a:p>
            <a:pPr marL="342900" indent="-342900">
              <a:buFont typeface="Arial" panose="020B0604020202020204" pitchFamily="34" charset="0"/>
              <a:buChar char="•"/>
            </a:pPr>
            <a:r>
              <a:rPr lang="en-AU" sz="2479" spc="-49" dirty="0">
                <a:solidFill>
                  <a:srgbClr val="FFFFFF"/>
                </a:solidFill>
                <a:latin typeface="DM Sans"/>
              </a:rPr>
              <a:t>Two sides of dynamic tool loading</a:t>
            </a:r>
          </a:p>
          <a:p>
            <a:pPr marL="800100" lvl="1" indent="-342900">
              <a:buFont typeface="Arial" panose="020B0604020202020204" pitchFamily="34" charset="0"/>
              <a:buChar char="•"/>
            </a:pPr>
            <a:r>
              <a:rPr lang="en-AU" sz="2479" spc="-49" dirty="0">
                <a:solidFill>
                  <a:srgbClr val="FFFFFF"/>
                </a:solidFill>
                <a:latin typeface="DM Sans"/>
              </a:rPr>
              <a:t>Part 1 — Dynamic registration </a:t>
            </a:r>
          </a:p>
          <a:p>
            <a:pPr marL="1257300" lvl="2" indent="-342900">
              <a:buFont typeface="Arial" panose="020B0604020202020204" pitchFamily="34" charset="0"/>
              <a:buChar char="•"/>
            </a:pPr>
            <a:r>
              <a:rPr lang="en-AU" sz="2479" spc="-49" dirty="0">
                <a:solidFill>
                  <a:srgbClr val="FFFFFF"/>
                </a:solidFill>
                <a:latin typeface="DM Sans"/>
              </a:rPr>
              <a:t>Tools are registered automatically via decorators + inspect</a:t>
            </a:r>
          </a:p>
          <a:p>
            <a:pPr marL="1257300" lvl="2" indent="-342900">
              <a:buFont typeface="Arial" panose="020B0604020202020204" pitchFamily="34" charset="0"/>
              <a:buChar char="•"/>
            </a:pPr>
            <a:r>
              <a:rPr lang="en-AU" sz="2479" spc="-49" dirty="0">
                <a:solidFill>
                  <a:srgbClr val="FFFFFF"/>
                </a:solidFill>
                <a:latin typeface="DM Sans"/>
              </a:rPr>
              <a:t>No hand-written schemas, no manual config files</a:t>
            </a:r>
          </a:p>
          <a:p>
            <a:pPr marL="1257300" lvl="2" indent="-342900">
              <a:buFont typeface="Arial" panose="020B0604020202020204" pitchFamily="34" charset="0"/>
              <a:buChar char="•"/>
            </a:pPr>
            <a:r>
              <a:rPr lang="en-AU" sz="2479" spc="-49" dirty="0">
                <a:solidFill>
                  <a:srgbClr val="FFFFFF"/>
                </a:solidFill>
                <a:latin typeface="DM Sans"/>
              </a:rPr>
              <a:t>Adding a tool = writing a function and dropping it in the tools directory</a:t>
            </a:r>
          </a:p>
          <a:p>
            <a:pPr marL="1257300" lvl="2" indent="-342900">
              <a:buFont typeface="Arial" panose="020B0604020202020204" pitchFamily="34" charset="0"/>
              <a:buChar char="•"/>
            </a:pPr>
            <a:r>
              <a:rPr lang="en-AU" sz="2479" spc="-49" dirty="0">
                <a:solidFill>
                  <a:srgbClr val="FFFFFF"/>
                </a:solidFill>
                <a:latin typeface="DM Sans"/>
              </a:rPr>
              <a:t>The registry re-indexes and the new tool is immediately discoverable</a:t>
            </a:r>
          </a:p>
          <a:p>
            <a:pPr marL="800100" lvl="1" indent="-342900">
              <a:buFont typeface="Arial" panose="020B0604020202020204" pitchFamily="34" charset="0"/>
              <a:buChar char="•"/>
            </a:pPr>
            <a:r>
              <a:rPr lang="en-AU" sz="2479" spc="-49" dirty="0">
                <a:solidFill>
                  <a:srgbClr val="FFFFFF"/>
                </a:solidFill>
                <a:latin typeface="DM Sans"/>
              </a:rPr>
              <a:t>Part 2 — Dynamic retrieval </a:t>
            </a:r>
          </a:p>
          <a:p>
            <a:pPr marL="1257300" lvl="2" indent="-342900">
              <a:buFont typeface="Arial" panose="020B0604020202020204" pitchFamily="34" charset="0"/>
              <a:buChar char="•"/>
            </a:pPr>
            <a:r>
              <a:rPr lang="en-AU" sz="2479" spc="-49" dirty="0">
                <a:solidFill>
                  <a:srgbClr val="FFFFFF"/>
                </a:solidFill>
                <a:latin typeface="DM Sans"/>
              </a:rPr>
              <a:t>When a query arrives, only relevant tools are fetched from the registry</a:t>
            </a:r>
          </a:p>
          <a:p>
            <a:pPr marL="1257300" lvl="2" indent="-342900">
              <a:buFont typeface="Arial" panose="020B0604020202020204" pitchFamily="34" charset="0"/>
              <a:buChar char="•"/>
            </a:pPr>
            <a:r>
              <a:rPr lang="en-AU" sz="2479" spc="-49" dirty="0">
                <a:solidFill>
                  <a:srgbClr val="FFFFFF"/>
                </a:solidFill>
                <a:latin typeface="DM Sans"/>
              </a:rPr>
              <a:t>The retriever scores every tool against the query (BM25, embeddings, or hybrid)</a:t>
            </a:r>
          </a:p>
          <a:p>
            <a:pPr marL="1257300" lvl="2" indent="-342900">
              <a:buFont typeface="Arial" panose="020B0604020202020204" pitchFamily="34" charset="0"/>
              <a:buChar char="•"/>
            </a:pPr>
            <a:r>
              <a:rPr lang="en-AU" sz="2479" spc="-49" dirty="0">
                <a:solidFill>
                  <a:srgbClr val="FFFFFF"/>
                </a:solidFill>
                <a:latin typeface="DM Sans"/>
              </a:rPr>
              <a:t>Top 3–5 matches are injected into the prompt — the rest stay hidden</a:t>
            </a:r>
          </a:p>
          <a:p>
            <a:pPr marL="1257300" lvl="2" indent="-342900">
              <a:buFont typeface="Arial" panose="020B0604020202020204" pitchFamily="34" charset="0"/>
              <a:buChar char="•"/>
            </a:pPr>
            <a:r>
              <a:rPr lang="en-AU" sz="2479" spc="-49" dirty="0">
                <a:solidFill>
                  <a:srgbClr val="FFFFFF"/>
                </a:solidFill>
                <a:latin typeface="DM Sans"/>
              </a:rPr>
              <a:t>The LLM works with a clean, focused context every time</a:t>
            </a:r>
          </a:p>
          <a:p>
            <a:pPr marL="800100" lvl="1" indent="-342900">
              <a:buFont typeface="Arial" panose="020B0604020202020204" pitchFamily="34" charset="0"/>
              <a:buChar char="•"/>
            </a:pPr>
            <a:r>
              <a:rPr lang="en-AU" sz="2479" spc="-49" dirty="0">
                <a:solidFill>
                  <a:srgbClr val="FFFFFF"/>
                </a:solidFill>
                <a:latin typeface="DM Sans"/>
              </a:rPr>
              <a:t>One side solves the developer experience (fast tool creation)</a:t>
            </a:r>
          </a:p>
          <a:p>
            <a:pPr marL="800100" lvl="1" indent="-342900">
              <a:buFont typeface="Arial" panose="020B0604020202020204" pitchFamily="34" charset="0"/>
              <a:buChar char="•"/>
            </a:pPr>
            <a:r>
              <a:rPr lang="en-AU" sz="2479" spc="-49" dirty="0">
                <a:solidFill>
                  <a:srgbClr val="FFFFFF"/>
                </a:solidFill>
                <a:latin typeface="DM Sans"/>
              </a:rPr>
              <a:t>The other solves the model experience (accurate tool selection)</a:t>
            </a:r>
          </a:p>
          <a:p>
            <a:pPr lvl="1"/>
            <a:br>
              <a:rPr lang="en-AU" sz="2479" spc="-49" dirty="0">
                <a:solidFill>
                  <a:srgbClr val="FFFFFF"/>
                </a:solidFill>
                <a:latin typeface="DM Sans"/>
              </a:rPr>
            </a:b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US" dirty="0"/>
          </a:p>
        </p:txBody>
      </p:sp>
    </p:spTree>
    <p:extLst>
      <p:ext uri="{BB962C8B-B14F-4D97-AF65-F5344CB8AC3E}">
        <p14:creationId xmlns:p14="http://schemas.microsoft.com/office/powerpoint/2010/main" val="324489020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40579355-7820-54B7-DB6A-458DCA4657FC}"/>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2E49ABD-9BBD-C282-E930-19700F79D718}"/>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93AF748F-6FD6-F7D1-C19E-58CE105F73E7}"/>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80BDBD3C-CCEC-BB9A-580C-E636F1EAC55B}"/>
              </a:ext>
            </a:extLst>
          </p:cNvPr>
          <p:cNvSpPr txBox="1"/>
          <p:nvPr/>
        </p:nvSpPr>
        <p:spPr>
          <a:xfrm>
            <a:off x="1007096" y="1843516"/>
            <a:ext cx="18025980" cy="738664"/>
          </a:xfrm>
          <a:prstGeom prst="rect">
            <a:avLst/>
          </a:prstGeom>
        </p:spPr>
        <p:txBody>
          <a:bodyPr wrap="square" lIns="0" tIns="0" rIns="0" bIns="0" rtlCol="0" anchor="t">
            <a:spAutoFit/>
          </a:bodyPr>
          <a:lstStyle/>
          <a:p>
            <a:pPr>
              <a:spcBef>
                <a:spcPct val="0"/>
              </a:spcBef>
              <a:defRPr/>
            </a:pPr>
            <a:r>
              <a:rPr lang="en-AU" sz="4800" dirty="0">
                <a:solidFill>
                  <a:srgbClr val="0CC0DF"/>
                </a:solidFill>
                <a:latin typeface="Now Bold"/>
              </a:rPr>
              <a:t>TOOLS AND TOOL CALLING: DYNAMIC TOOL CALING </a:t>
            </a:r>
            <a:endParaRPr lang="en-US" sz="4800" dirty="0">
              <a:solidFill>
                <a:srgbClr val="0CC0DF"/>
              </a:solidFill>
              <a:latin typeface="Now Bold"/>
            </a:endParaRPr>
          </a:p>
        </p:txBody>
      </p:sp>
      <p:sp>
        <p:nvSpPr>
          <p:cNvPr id="4" name="TextBox 10">
            <a:extLst>
              <a:ext uri="{FF2B5EF4-FFF2-40B4-BE49-F238E27FC236}">
                <a16:creationId xmlns:a16="http://schemas.microsoft.com/office/drawing/2014/main" id="{0C124AB6-EA40-BB5D-2E35-DBD2B6932203}"/>
              </a:ext>
            </a:extLst>
          </p:cNvPr>
          <p:cNvSpPr txBox="1"/>
          <p:nvPr/>
        </p:nvSpPr>
        <p:spPr>
          <a:xfrm>
            <a:off x="-1035211" y="2978576"/>
            <a:ext cx="45536881" cy="1725857"/>
          </a:xfrm>
          <a:prstGeom prst="rect">
            <a:avLst/>
          </a:prstGeom>
        </p:spPr>
        <p:txBody>
          <a:bodyPr wrap="square" lIns="0" tIns="0" rIns="0" bIns="0" rtlCol="0" anchor="t">
            <a:spAutoFit/>
          </a:bodyPr>
          <a:lstStyle/>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p:txBody>
      </p:sp>
      <p:sp>
        <p:nvSpPr>
          <p:cNvPr id="7" name="TextBox 6">
            <a:extLst>
              <a:ext uri="{FF2B5EF4-FFF2-40B4-BE49-F238E27FC236}">
                <a16:creationId xmlns:a16="http://schemas.microsoft.com/office/drawing/2014/main" id="{A12F6465-9C5C-EE30-0991-D13AAEEB2968}"/>
              </a:ext>
            </a:extLst>
          </p:cNvPr>
          <p:cNvSpPr txBox="1"/>
          <p:nvPr/>
        </p:nvSpPr>
        <p:spPr>
          <a:xfrm>
            <a:off x="599112" y="2944346"/>
            <a:ext cx="13801472" cy="3532377"/>
          </a:xfrm>
          <a:prstGeom prst="rect">
            <a:avLst/>
          </a:prstGeom>
          <a:noFill/>
        </p:spPr>
        <p:txBody>
          <a:bodyPr wrap="square" rtlCol="0">
            <a:spAutoFit/>
          </a:bodyPr>
          <a:lstStyle/>
          <a:p>
            <a:pPr marL="1257300" lvl="2" indent="-342900">
              <a:lnSpc>
                <a:spcPts val="3422"/>
              </a:lnSpc>
              <a:buFont typeface="Arial" panose="020B0604020202020204" pitchFamily="34" charset="0"/>
              <a:buChar char="•"/>
            </a:pPr>
            <a:r>
              <a:rPr lang="en-AU" sz="2479" spc="-49" dirty="0">
                <a:solidFill>
                  <a:srgbClr val="FFFFFF"/>
                </a:solidFill>
                <a:latin typeface="DM Sans"/>
              </a:rPr>
              <a:t>Three-Component Architecture</a:t>
            </a: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1714500" lvl="3" indent="-342900">
              <a:lnSpc>
                <a:spcPts val="3422"/>
              </a:lnSpc>
              <a:buFont typeface="Arial" panose="020B0604020202020204" pitchFamily="34" charset="0"/>
              <a:buChar char="•"/>
            </a:pPr>
            <a:r>
              <a:rPr lang="en-AU" sz="2479" spc="-49" dirty="0">
                <a:solidFill>
                  <a:srgbClr val="FFFFFF"/>
                </a:solidFill>
                <a:latin typeface="DM Sans"/>
              </a:rPr>
              <a:t>Registry — Central catalogue of all tools (source code as single source of truth)</a:t>
            </a:r>
          </a:p>
          <a:p>
            <a:pPr marL="1714500" lvl="3" indent="-342900">
              <a:lnSpc>
                <a:spcPts val="3422"/>
              </a:lnSpc>
              <a:buFont typeface="Arial" panose="020B0604020202020204" pitchFamily="34" charset="0"/>
              <a:buChar char="•"/>
            </a:pPr>
            <a:endParaRPr lang="en-AU" sz="2479" spc="-49" dirty="0">
              <a:solidFill>
                <a:srgbClr val="FFFFFF"/>
              </a:solidFill>
              <a:latin typeface="DM Sans"/>
            </a:endParaRPr>
          </a:p>
          <a:p>
            <a:pPr marL="1714500" lvl="3" indent="-342900">
              <a:lnSpc>
                <a:spcPts val="3422"/>
              </a:lnSpc>
              <a:buFont typeface="Arial" panose="020B0604020202020204" pitchFamily="34" charset="0"/>
              <a:buChar char="•"/>
            </a:pPr>
            <a:r>
              <a:rPr lang="en-AU" sz="2479" spc="-49" dirty="0">
                <a:solidFill>
                  <a:srgbClr val="FFFFFF"/>
                </a:solidFill>
                <a:latin typeface="DM Sans"/>
              </a:rPr>
              <a:t>Retriever — Searches the registry per query, returns only relevant tools</a:t>
            </a:r>
          </a:p>
          <a:p>
            <a:pPr marL="1714500" lvl="3" indent="-342900">
              <a:lnSpc>
                <a:spcPts val="3422"/>
              </a:lnSpc>
              <a:buFont typeface="Arial" panose="020B0604020202020204" pitchFamily="34" charset="0"/>
              <a:buChar char="•"/>
            </a:pPr>
            <a:endParaRPr lang="en-AU" sz="2479" spc="-49" dirty="0">
              <a:solidFill>
                <a:srgbClr val="FFFFFF"/>
              </a:solidFill>
              <a:latin typeface="DM Sans"/>
            </a:endParaRPr>
          </a:p>
          <a:p>
            <a:pPr marL="1714500" lvl="3" indent="-342900">
              <a:lnSpc>
                <a:spcPts val="3422"/>
              </a:lnSpc>
              <a:buFont typeface="Arial" panose="020B0604020202020204" pitchFamily="34" charset="0"/>
              <a:buChar char="•"/>
            </a:pPr>
            <a:r>
              <a:rPr lang="en-AU" sz="2479" spc="-49" dirty="0">
                <a:solidFill>
                  <a:srgbClr val="FFFFFF"/>
                </a:solidFill>
                <a:latin typeface="DM Sans"/>
              </a:rPr>
              <a:t>Injector — Converts selected tools into JSON schemas for the API call</a:t>
            </a:r>
          </a:p>
          <a:p>
            <a:pPr marL="800100" lvl="1" indent="-342900">
              <a:lnSpc>
                <a:spcPts val="3422"/>
              </a:lnSpc>
              <a:buFont typeface="Arial" panose="020B0604020202020204" pitchFamily="34" charset="0"/>
              <a:buChar char="•"/>
            </a:pPr>
            <a:endParaRPr lang="en-US" dirty="0"/>
          </a:p>
        </p:txBody>
      </p:sp>
    </p:spTree>
    <p:extLst>
      <p:ext uri="{BB962C8B-B14F-4D97-AF65-F5344CB8AC3E}">
        <p14:creationId xmlns:p14="http://schemas.microsoft.com/office/powerpoint/2010/main" val="186008674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54496C1C-F59B-D607-1B9F-A04888DFDF6D}"/>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E29FB957-FEF7-3FF6-D19B-A507E3D3DA7E}"/>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40D06C5D-EC8C-9FE2-EBB0-ACE3778202A1}"/>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BACFA0FA-1294-41DE-B8DD-72F1BE472F9C}"/>
              </a:ext>
            </a:extLst>
          </p:cNvPr>
          <p:cNvSpPr txBox="1"/>
          <p:nvPr/>
        </p:nvSpPr>
        <p:spPr>
          <a:xfrm>
            <a:off x="1007096" y="1843516"/>
            <a:ext cx="18025980" cy="738664"/>
          </a:xfrm>
          <a:prstGeom prst="rect">
            <a:avLst/>
          </a:prstGeom>
        </p:spPr>
        <p:txBody>
          <a:bodyPr wrap="square" lIns="0" tIns="0" rIns="0" bIns="0" rtlCol="0" anchor="t">
            <a:spAutoFit/>
          </a:bodyPr>
          <a:lstStyle/>
          <a:p>
            <a:pPr>
              <a:spcBef>
                <a:spcPct val="0"/>
              </a:spcBef>
              <a:defRPr/>
            </a:pPr>
            <a:r>
              <a:rPr lang="en-AU" sz="4800" dirty="0">
                <a:solidFill>
                  <a:srgbClr val="0CC0DF"/>
                </a:solidFill>
                <a:latin typeface="Now Bold"/>
              </a:rPr>
              <a:t>TOOLS AND TOOL CALLING: DYNAMIC TOOL CALING </a:t>
            </a:r>
            <a:endParaRPr lang="en-US" sz="4800" dirty="0">
              <a:solidFill>
                <a:srgbClr val="0CC0DF"/>
              </a:solidFill>
              <a:latin typeface="Now Bold"/>
            </a:endParaRPr>
          </a:p>
        </p:txBody>
      </p:sp>
      <p:sp>
        <p:nvSpPr>
          <p:cNvPr id="4" name="TextBox 10">
            <a:extLst>
              <a:ext uri="{FF2B5EF4-FFF2-40B4-BE49-F238E27FC236}">
                <a16:creationId xmlns:a16="http://schemas.microsoft.com/office/drawing/2014/main" id="{2B73884B-7D2C-08B4-1431-05CEA1A6F767}"/>
              </a:ext>
            </a:extLst>
          </p:cNvPr>
          <p:cNvSpPr txBox="1"/>
          <p:nvPr/>
        </p:nvSpPr>
        <p:spPr>
          <a:xfrm>
            <a:off x="-1035211" y="2978576"/>
            <a:ext cx="45536881" cy="1725857"/>
          </a:xfrm>
          <a:prstGeom prst="rect">
            <a:avLst/>
          </a:prstGeom>
        </p:spPr>
        <p:txBody>
          <a:bodyPr wrap="square" lIns="0" tIns="0" rIns="0" bIns="0" rtlCol="0" anchor="t">
            <a:spAutoFit/>
          </a:bodyPr>
          <a:lstStyle/>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p:txBody>
      </p:sp>
      <p:sp>
        <p:nvSpPr>
          <p:cNvPr id="7" name="TextBox 6">
            <a:extLst>
              <a:ext uri="{FF2B5EF4-FFF2-40B4-BE49-F238E27FC236}">
                <a16:creationId xmlns:a16="http://schemas.microsoft.com/office/drawing/2014/main" id="{3A66D30C-7308-3049-4382-9CA1E1CC820D}"/>
              </a:ext>
            </a:extLst>
          </p:cNvPr>
          <p:cNvSpPr txBox="1"/>
          <p:nvPr/>
        </p:nvSpPr>
        <p:spPr>
          <a:xfrm>
            <a:off x="599112" y="2944346"/>
            <a:ext cx="13801472" cy="5330947"/>
          </a:xfrm>
          <a:prstGeom prst="rect">
            <a:avLst/>
          </a:prstGeom>
          <a:noFill/>
        </p:spPr>
        <p:txBody>
          <a:bodyPr wrap="square" rtlCol="0">
            <a:spAutoFit/>
          </a:bodyPr>
          <a:lstStyle/>
          <a:p>
            <a:pPr>
              <a:buFont typeface="Arial" panose="020B0604020202020204" pitchFamily="34" charset="0"/>
              <a:buChar char="•"/>
            </a:pPr>
            <a:r>
              <a:rPr lang="en-AU" sz="2479" spc="-49" dirty="0">
                <a:solidFill>
                  <a:srgbClr val="FFFFFF"/>
                </a:solidFill>
                <a:latin typeface="DM Sans"/>
              </a:rPr>
              <a:t> Flow</a:t>
            </a:r>
          </a:p>
          <a:p>
            <a:pPr lvl="1">
              <a:buFont typeface="Arial" panose="020B0604020202020204" pitchFamily="34" charset="0"/>
              <a:buChar char="•"/>
            </a:pPr>
            <a:r>
              <a:rPr lang="en-AU" sz="2479" spc="-49" dirty="0">
                <a:solidFill>
                  <a:srgbClr val="FFFFFF"/>
                </a:solidFill>
                <a:latin typeface="DM Sans"/>
              </a:rPr>
              <a:t>User Query → "Will I need an umbrella in Melbourne?"</a:t>
            </a:r>
          </a:p>
          <a:p>
            <a:pPr lvl="1">
              <a:buFont typeface="Arial" panose="020B0604020202020204" pitchFamily="34" charset="0"/>
              <a:buChar char="•"/>
            </a:pPr>
            <a:r>
              <a:rPr lang="en-AU" sz="2479" spc="-49" dirty="0">
                <a:solidFill>
                  <a:srgbClr val="FFFFFF"/>
                </a:solidFill>
                <a:latin typeface="DM Sans"/>
              </a:rPr>
              <a:t>Retriever → Searches tool docstrings via BM25 / embeddings → returns top 2–3 matches</a:t>
            </a:r>
          </a:p>
          <a:p>
            <a:pPr lvl="1">
              <a:buFont typeface="Arial" panose="020B0604020202020204" pitchFamily="34" charset="0"/>
              <a:buChar char="•"/>
            </a:pPr>
            <a:r>
              <a:rPr lang="en-AU" sz="2479" spc="-49" dirty="0">
                <a:solidFill>
                  <a:srgbClr val="FFFFFF"/>
                </a:solidFill>
                <a:latin typeface="DM Sans"/>
              </a:rPr>
              <a:t>Injector → Converts matched functions into JSON tool schemas</a:t>
            </a:r>
          </a:p>
          <a:p>
            <a:pPr lvl="1">
              <a:buFont typeface="Arial" panose="020B0604020202020204" pitchFamily="34" charset="0"/>
              <a:buChar char="•"/>
            </a:pPr>
            <a:r>
              <a:rPr lang="en-AU" sz="2479" spc="-49" dirty="0">
                <a:solidFill>
                  <a:srgbClr val="FFFFFF"/>
                </a:solidFill>
                <a:latin typeface="DM Sans"/>
              </a:rPr>
              <a:t>LLM API Call → System prompt + user message + only the 2–3 relevant tool definitions</a:t>
            </a:r>
          </a:p>
          <a:p>
            <a:pPr lvl="1">
              <a:buFont typeface="Arial" panose="020B0604020202020204" pitchFamily="34" charset="0"/>
              <a:buChar char="•"/>
            </a:pPr>
            <a:r>
              <a:rPr lang="en-AU" sz="2479" spc="-49" dirty="0">
                <a:solidFill>
                  <a:srgbClr val="FFFFFF"/>
                </a:solidFill>
                <a:latin typeface="DM Sans"/>
              </a:rPr>
              <a:t>Model Response → Selects and calls the right tool, returns answer</a:t>
            </a:r>
          </a:p>
          <a:p>
            <a:pPr lvl="2">
              <a:buFont typeface="Arial" panose="020B0604020202020204" pitchFamily="34" charset="0"/>
              <a:buChar char="•"/>
            </a:pPr>
            <a:endParaRPr lang="en-AU" sz="2479" spc="-49" dirty="0">
              <a:solidFill>
                <a:srgbClr val="FFFFFF"/>
              </a:solidFill>
              <a:latin typeface="DM Sans"/>
            </a:endParaRPr>
          </a:p>
          <a:p>
            <a:pPr marL="2171700" lvl="4" indent="-342900">
              <a:lnSpc>
                <a:spcPts val="3422"/>
              </a:lnSpc>
              <a:buFont typeface="Arial" panose="020B0604020202020204" pitchFamily="34" charset="0"/>
              <a:buChar char="•"/>
            </a:pPr>
            <a:endParaRPr lang="en-AU" sz="2479" spc="-49" dirty="0">
              <a:solidFill>
                <a:srgbClr val="FFFFFF"/>
              </a:solidFill>
              <a:latin typeface="DM Sans"/>
            </a:endParaRPr>
          </a:p>
          <a:p>
            <a:pPr lvl="2">
              <a:lnSpc>
                <a:spcPts val="3422"/>
              </a:lnSpc>
            </a:pPr>
            <a:r>
              <a:rPr lang="en-AU" sz="2479" spc="-49" dirty="0">
                <a:solidFill>
                  <a:srgbClr val="FFFFFF"/>
                </a:solidFill>
                <a:latin typeface="DM Sans"/>
              </a:rPr>
              <a:t> </a:t>
            </a: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lvl="2">
              <a:lnSpc>
                <a:spcPts val="3422"/>
              </a:lnSpc>
            </a:pPr>
            <a:br>
              <a:rPr lang="en-AU" sz="2479" spc="-49" dirty="0">
                <a:solidFill>
                  <a:srgbClr val="FFFFFF"/>
                </a:solidFill>
                <a:latin typeface="DM Sans"/>
              </a:rPr>
            </a:b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US" dirty="0"/>
          </a:p>
        </p:txBody>
      </p:sp>
    </p:spTree>
    <p:extLst>
      <p:ext uri="{BB962C8B-B14F-4D97-AF65-F5344CB8AC3E}">
        <p14:creationId xmlns:p14="http://schemas.microsoft.com/office/powerpoint/2010/main" val="232528749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7E523657-7D8F-20DB-8046-9EB04CE267AD}"/>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24198C58-2246-BC80-355F-00E55FA1943A}"/>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90084310-80BE-B815-14E4-DE2B073B3393}"/>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42B9D729-1C1F-9F90-F285-5367C1ED9DBD}"/>
              </a:ext>
            </a:extLst>
          </p:cNvPr>
          <p:cNvSpPr txBox="1"/>
          <p:nvPr/>
        </p:nvSpPr>
        <p:spPr>
          <a:xfrm>
            <a:off x="1007096" y="1843516"/>
            <a:ext cx="18025980" cy="738664"/>
          </a:xfrm>
          <a:prstGeom prst="rect">
            <a:avLst/>
          </a:prstGeom>
        </p:spPr>
        <p:txBody>
          <a:bodyPr wrap="square" lIns="0" tIns="0" rIns="0" bIns="0" rtlCol="0" anchor="t">
            <a:spAutoFit/>
          </a:bodyPr>
          <a:lstStyle/>
          <a:p>
            <a:pPr>
              <a:spcBef>
                <a:spcPct val="0"/>
              </a:spcBef>
              <a:defRPr/>
            </a:pPr>
            <a:r>
              <a:rPr lang="en-AU" sz="4800" dirty="0">
                <a:solidFill>
                  <a:srgbClr val="0CC0DF"/>
                </a:solidFill>
                <a:latin typeface="Now Bold"/>
              </a:rPr>
              <a:t>TOOLS AND TOOL CALLING: DYNAMIC TOOL CALING </a:t>
            </a:r>
            <a:endParaRPr lang="en-US" sz="4800" dirty="0">
              <a:solidFill>
                <a:srgbClr val="0CC0DF"/>
              </a:solidFill>
              <a:latin typeface="Now Bold"/>
            </a:endParaRPr>
          </a:p>
        </p:txBody>
      </p:sp>
      <p:sp>
        <p:nvSpPr>
          <p:cNvPr id="4" name="TextBox 10">
            <a:extLst>
              <a:ext uri="{FF2B5EF4-FFF2-40B4-BE49-F238E27FC236}">
                <a16:creationId xmlns:a16="http://schemas.microsoft.com/office/drawing/2014/main" id="{88A7C79E-9F7B-25C0-151D-931CE5C80442}"/>
              </a:ext>
            </a:extLst>
          </p:cNvPr>
          <p:cNvSpPr txBox="1"/>
          <p:nvPr/>
        </p:nvSpPr>
        <p:spPr>
          <a:xfrm>
            <a:off x="-1035211" y="2978576"/>
            <a:ext cx="45536881" cy="1725857"/>
          </a:xfrm>
          <a:prstGeom prst="rect">
            <a:avLst/>
          </a:prstGeom>
        </p:spPr>
        <p:txBody>
          <a:bodyPr wrap="square" lIns="0" tIns="0" rIns="0" bIns="0" rtlCol="0" anchor="t">
            <a:spAutoFit/>
          </a:bodyPr>
          <a:lstStyle/>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p:txBody>
      </p:sp>
      <p:sp>
        <p:nvSpPr>
          <p:cNvPr id="7" name="TextBox 6">
            <a:extLst>
              <a:ext uri="{FF2B5EF4-FFF2-40B4-BE49-F238E27FC236}">
                <a16:creationId xmlns:a16="http://schemas.microsoft.com/office/drawing/2014/main" id="{2D13B06D-9ED9-40BF-B3DC-0B3973FE9CC2}"/>
              </a:ext>
            </a:extLst>
          </p:cNvPr>
          <p:cNvSpPr txBox="1"/>
          <p:nvPr/>
        </p:nvSpPr>
        <p:spPr>
          <a:xfrm>
            <a:off x="599112" y="2944346"/>
            <a:ext cx="13801472" cy="7620035"/>
          </a:xfrm>
          <a:prstGeom prst="rect">
            <a:avLst/>
          </a:prstGeom>
          <a:noFill/>
        </p:spPr>
        <p:txBody>
          <a:bodyPr wrap="square" rtlCol="0">
            <a:spAutoFit/>
          </a:bodyPr>
          <a:lstStyle/>
          <a:p>
            <a:pPr lvl="1">
              <a:buFont typeface="Arial" panose="020B0604020202020204" pitchFamily="34" charset="0"/>
              <a:buChar char="•"/>
            </a:pPr>
            <a:r>
              <a:rPr lang="en-AU" sz="2479" spc="-49" dirty="0">
                <a:solidFill>
                  <a:srgbClr val="FFFFFF"/>
                </a:solidFill>
                <a:latin typeface="DM Sans"/>
              </a:rPr>
              <a:t>Retrieval Methods Compared</a:t>
            </a:r>
          </a:p>
          <a:p>
            <a:pPr lvl="2">
              <a:buFont typeface="Arial" panose="020B0604020202020204" pitchFamily="34" charset="0"/>
              <a:buChar char="•"/>
            </a:pPr>
            <a:r>
              <a:rPr lang="en-AU" sz="2479" spc="-49" dirty="0">
                <a:solidFill>
                  <a:srgbClr val="FFFFFF"/>
                </a:solidFill>
                <a:latin typeface="DM Sans"/>
              </a:rPr>
              <a:t>BM25 (keyword) — 91.6% recall, &lt;5ms, CPU only, no training needed</a:t>
            </a:r>
          </a:p>
          <a:p>
            <a:pPr lvl="2">
              <a:buFont typeface="Arial" panose="020B0604020202020204" pitchFamily="34" charset="0"/>
              <a:buChar char="•"/>
            </a:pPr>
            <a:r>
              <a:rPr lang="en-AU" sz="2479" spc="-49" dirty="0">
                <a:solidFill>
                  <a:srgbClr val="FFFFFF"/>
                </a:solidFill>
                <a:latin typeface="DM Sans"/>
              </a:rPr>
              <a:t>Vector (embedding) — 96.8% recall, 10–50ms, handles synonyms &amp; paraphrases</a:t>
            </a:r>
          </a:p>
          <a:p>
            <a:pPr lvl="2">
              <a:buFont typeface="Arial" panose="020B0604020202020204" pitchFamily="34" charset="0"/>
              <a:buChar char="•"/>
            </a:pPr>
            <a:r>
              <a:rPr lang="en-AU" sz="2479" spc="-49" dirty="0">
                <a:solidFill>
                  <a:srgbClr val="FFFFFF"/>
                </a:solidFill>
                <a:latin typeface="DM Sans"/>
              </a:rPr>
              <a:t>Hybrid (BM25 + vector) — ~97–99% recall, 15–60ms, best overall accuracy</a:t>
            </a:r>
          </a:p>
          <a:p>
            <a:pPr lvl="2">
              <a:buFont typeface="Arial" panose="020B0604020202020204" pitchFamily="34" charset="0"/>
              <a:buChar char="•"/>
            </a:pPr>
            <a:r>
              <a:rPr lang="en-AU" sz="2479" spc="-49" dirty="0">
                <a:solidFill>
                  <a:srgbClr val="FFFFFF"/>
                </a:solidFill>
                <a:latin typeface="DM Sans"/>
              </a:rPr>
              <a:t>Production implementations return 3–5 tools from catalogues of up to 10,000</a:t>
            </a:r>
          </a:p>
          <a:p>
            <a:pPr lvl="2">
              <a:buFont typeface="Arial" panose="020B0604020202020204" pitchFamily="34" charset="0"/>
              <a:buChar char="•"/>
            </a:pPr>
            <a:endParaRPr lang="en-AU" sz="2479" spc="-49" dirty="0">
              <a:solidFill>
                <a:srgbClr val="FFFFFF"/>
              </a:solidFill>
              <a:latin typeface="DM Sans"/>
            </a:endParaRPr>
          </a:p>
          <a:p>
            <a:pPr lvl="1">
              <a:buFont typeface="Arial" panose="020B0604020202020204" pitchFamily="34" charset="0"/>
              <a:buChar char="•"/>
            </a:pPr>
            <a:r>
              <a:rPr lang="en-AU" sz="2479" spc="-49" dirty="0">
                <a:solidFill>
                  <a:srgbClr val="FFFFFF"/>
                </a:solidFill>
                <a:latin typeface="DM Sans"/>
              </a:rPr>
              <a:t>Results: Static vs. Dynamic</a:t>
            </a:r>
          </a:p>
          <a:p>
            <a:pPr lvl="2">
              <a:buFont typeface="Arial" panose="020B0604020202020204" pitchFamily="34" charset="0"/>
              <a:buChar char="•"/>
            </a:pPr>
            <a:r>
              <a:rPr lang="en-AU" sz="2479" spc="-49" dirty="0">
                <a:solidFill>
                  <a:srgbClr val="FFFFFF"/>
                </a:solidFill>
                <a:latin typeface="DM Sans"/>
              </a:rPr>
              <a:t>Token overhead: ~55,000 → ~3,000 (85% reduction)</a:t>
            </a:r>
          </a:p>
          <a:p>
            <a:pPr lvl="2">
              <a:buFont typeface="Arial" panose="020B0604020202020204" pitchFamily="34" charset="0"/>
              <a:buChar char="•"/>
            </a:pPr>
            <a:r>
              <a:rPr lang="en-AU" sz="2479" spc="-49" dirty="0">
                <a:solidFill>
                  <a:srgbClr val="FFFFFF"/>
                </a:solidFill>
                <a:latin typeface="DM Sans"/>
              </a:rPr>
              <a:t>Opus 4 accuracy: 49% → 74%</a:t>
            </a:r>
          </a:p>
          <a:p>
            <a:pPr lvl="2">
              <a:buFont typeface="Arial" panose="020B0604020202020204" pitchFamily="34" charset="0"/>
              <a:buChar char="•"/>
            </a:pPr>
            <a:r>
              <a:rPr lang="en-AU" sz="2479" spc="-49" dirty="0">
                <a:solidFill>
                  <a:srgbClr val="FFFFFF"/>
                </a:solidFill>
                <a:latin typeface="DM Sans"/>
              </a:rPr>
              <a:t>Opus 4.5 accuracy: 79.5% → 88.1%</a:t>
            </a:r>
          </a:p>
          <a:p>
            <a:pPr lvl="2">
              <a:buFont typeface="Arial" panose="020B0604020202020204" pitchFamily="34" charset="0"/>
              <a:buChar char="•"/>
            </a:pPr>
            <a:r>
              <a:rPr lang="en-AU" sz="2479" spc="-49" dirty="0">
                <a:solidFill>
                  <a:srgbClr val="FFFFFF"/>
                </a:solidFill>
                <a:latin typeface="DM Sans"/>
              </a:rPr>
              <a:t>Task completion: 68% → 89%</a:t>
            </a:r>
          </a:p>
          <a:p>
            <a:pPr lvl="2">
              <a:buFont typeface="Arial" panose="020B0604020202020204" pitchFamily="34" charset="0"/>
              <a:buChar char="•"/>
            </a:pPr>
            <a:r>
              <a:rPr lang="en-AU" sz="2479" spc="-49" dirty="0">
                <a:solidFill>
                  <a:srgbClr val="FFFFFF"/>
                </a:solidFill>
                <a:latin typeface="DM Sans"/>
              </a:rPr>
              <a:t>Hallucination rate: 23% → 8%</a:t>
            </a:r>
          </a:p>
          <a:p>
            <a:pPr lvl="2">
              <a:buFont typeface="Arial" panose="020B0604020202020204" pitchFamily="34" charset="0"/>
              <a:buChar char="•"/>
            </a:pPr>
            <a:r>
              <a:rPr lang="en-AU" sz="2479" spc="-49" dirty="0">
                <a:solidFill>
                  <a:srgbClr val="FFFFFF"/>
                </a:solidFill>
                <a:latin typeface="DM Sans"/>
              </a:rPr>
              <a:t>Practical tool limit: 5–10 → hundreds to thousands</a:t>
            </a:r>
          </a:p>
          <a:p>
            <a:pPr marL="2171700" lvl="4" indent="-342900">
              <a:lnSpc>
                <a:spcPts val="3422"/>
              </a:lnSpc>
              <a:buFont typeface="Arial" panose="020B0604020202020204" pitchFamily="34" charset="0"/>
              <a:buChar char="•"/>
            </a:pPr>
            <a:endParaRPr lang="en-AU" sz="2479" spc="-49" dirty="0">
              <a:solidFill>
                <a:srgbClr val="FFFFFF"/>
              </a:solidFill>
              <a:latin typeface="DM Sans"/>
            </a:endParaRPr>
          </a:p>
          <a:p>
            <a:pPr lvl="2">
              <a:lnSpc>
                <a:spcPts val="3422"/>
              </a:lnSpc>
            </a:pPr>
            <a:r>
              <a:rPr lang="en-AU" sz="2479" spc="-49" dirty="0">
                <a:solidFill>
                  <a:srgbClr val="FFFFFF"/>
                </a:solidFill>
                <a:latin typeface="DM Sans"/>
              </a:rPr>
              <a:t> </a:t>
            </a: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lvl="2">
              <a:lnSpc>
                <a:spcPts val="3422"/>
              </a:lnSpc>
            </a:pPr>
            <a:br>
              <a:rPr lang="en-AU" sz="2479" spc="-49" dirty="0">
                <a:solidFill>
                  <a:srgbClr val="FFFFFF"/>
                </a:solidFill>
                <a:latin typeface="DM Sans"/>
              </a:rPr>
            </a:b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US" dirty="0"/>
          </a:p>
        </p:txBody>
      </p:sp>
    </p:spTree>
    <p:extLst>
      <p:ext uri="{BB962C8B-B14F-4D97-AF65-F5344CB8AC3E}">
        <p14:creationId xmlns:p14="http://schemas.microsoft.com/office/powerpoint/2010/main" val="89506183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26FF6804-681E-33AA-24D6-05A69274B91E}"/>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E9C288BE-9AB0-E89D-34CD-BDC019E728EC}"/>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7C189298-568D-6F07-D93B-5011298EFB66}"/>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74AB7CC9-617A-7386-9D39-5D977C3FE4FB}"/>
              </a:ext>
            </a:extLst>
          </p:cNvPr>
          <p:cNvSpPr txBox="1"/>
          <p:nvPr/>
        </p:nvSpPr>
        <p:spPr>
          <a:xfrm>
            <a:off x="1007096" y="1843516"/>
            <a:ext cx="18025980" cy="738664"/>
          </a:xfrm>
          <a:prstGeom prst="rect">
            <a:avLst/>
          </a:prstGeom>
        </p:spPr>
        <p:txBody>
          <a:bodyPr wrap="square" lIns="0" tIns="0" rIns="0" bIns="0" rtlCol="0" anchor="t">
            <a:spAutoFit/>
          </a:bodyPr>
          <a:lstStyle/>
          <a:p>
            <a:pPr>
              <a:spcBef>
                <a:spcPct val="0"/>
              </a:spcBef>
              <a:defRPr/>
            </a:pPr>
            <a:r>
              <a:rPr lang="en-AU" sz="4800" dirty="0">
                <a:solidFill>
                  <a:srgbClr val="0CC0DF"/>
                </a:solidFill>
                <a:latin typeface="Now Bold"/>
              </a:rPr>
              <a:t>TOOLS AND TOOL CALLING: DYNAMIC TOOL CALING </a:t>
            </a:r>
            <a:endParaRPr lang="en-US" sz="4800" dirty="0">
              <a:solidFill>
                <a:srgbClr val="0CC0DF"/>
              </a:solidFill>
              <a:latin typeface="Now Bold"/>
            </a:endParaRPr>
          </a:p>
        </p:txBody>
      </p:sp>
      <p:sp>
        <p:nvSpPr>
          <p:cNvPr id="4" name="TextBox 10">
            <a:extLst>
              <a:ext uri="{FF2B5EF4-FFF2-40B4-BE49-F238E27FC236}">
                <a16:creationId xmlns:a16="http://schemas.microsoft.com/office/drawing/2014/main" id="{8B8DB4D6-3800-A576-0463-32F38943E360}"/>
              </a:ext>
            </a:extLst>
          </p:cNvPr>
          <p:cNvSpPr txBox="1"/>
          <p:nvPr/>
        </p:nvSpPr>
        <p:spPr>
          <a:xfrm>
            <a:off x="-1035211" y="2978576"/>
            <a:ext cx="45536881" cy="1725857"/>
          </a:xfrm>
          <a:prstGeom prst="rect">
            <a:avLst/>
          </a:prstGeom>
        </p:spPr>
        <p:txBody>
          <a:bodyPr wrap="square" lIns="0" tIns="0" rIns="0" bIns="0" rtlCol="0" anchor="t">
            <a:spAutoFit/>
          </a:bodyPr>
          <a:lstStyle/>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p:txBody>
      </p:sp>
      <p:sp>
        <p:nvSpPr>
          <p:cNvPr id="7" name="TextBox 6">
            <a:extLst>
              <a:ext uri="{FF2B5EF4-FFF2-40B4-BE49-F238E27FC236}">
                <a16:creationId xmlns:a16="http://schemas.microsoft.com/office/drawing/2014/main" id="{97084879-E91E-A8BA-BB98-97BCAF2FE5AD}"/>
              </a:ext>
            </a:extLst>
          </p:cNvPr>
          <p:cNvSpPr txBox="1"/>
          <p:nvPr/>
        </p:nvSpPr>
        <p:spPr>
          <a:xfrm>
            <a:off x="599112" y="2944346"/>
            <a:ext cx="13801472" cy="3423373"/>
          </a:xfrm>
          <a:prstGeom prst="rect">
            <a:avLst/>
          </a:prstGeom>
          <a:noFill/>
        </p:spPr>
        <p:txBody>
          <a:bodyPr wrap="square" rtlCol="0">
            <a:spAutoFit/>
          </a:bodyPr>
          <a:lstStyle/>
          <a:p>
            <a:pPr>
              <a:buFont typeface="Arial" panose="020B0604020202020204" pitchFamily="34" charset="0"/>
              <a:buChar char="•"/>
            </a:pPr>
            <a:r>
              <a:rPr lang="en-AU" sz="2479" spc="-49" dirty="0">
                <a:solidFill>
                  <a:srgbClr val="FFFFFF"/>
                </a:solidFill>
                <a:latin typeface="DM Sans"/>
              </a:rPr>
              <a:t> </a:t>
            </a:r>
          </a:p>
          <a:p>
            <a:pPr lvl="2">
              <a:buFont typeface="Arial" panose="020B0604020202020204" pitchFamily="34" charset="0"/>
              <a:buChar char="•"/>
            </a:pPr>
            <a:endParaRPr lang="en-AU" sz="2479" spc="-49" dirty="0">
              <a:solidFill>
                <a:srgbClr val="FFFFFF"/>
              </a:solidFill>
              <a:latin typeface="DM Sans"/>
            </a:endParaRPr>
          </a:p>
          <a:p>
            <a:pPr marL="2171700" lvl="4" indent="-342900">
              <a:lnSpc>
                <a:spcPts val="3422"/>
              </a:lnSpc>
              <a:buFont typeface="Arial" panose="020B0604020202020204" pitchFamily="34" charset="0"/>
              <a:buChar char="•"/>
            </a:pPr>
            <a:endParaRPr lang="en-AU" sz="2479" spc="-49" dirty="0">
              <a:solidFill>
                <a:srgbClr val="FFFFFF"/>
              </a:solidFill>
              <a:latin typeface="DM Sans"/>
            </a:endParaRPr>
          </a:p>
          <a:p>
            <a:pPr lvl="2">
              <a:lnSpc>
                <a:spcPts val="3422"/>
              </a:lnSpc>
            </a:pPr>
            <a:r>
              <a:rPr lang="en-AU" sz="2479" spc="-49" dirty="0">
                <a:solidFill>
                  <a:srgbClr val="FFFFFF"/>
                </a:solidFill>
                <a:latin typeface="DM Sans"/>
              </a:rPr>
              <a:t> </a:t>
            </a: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lvl="2">
              <a:lnSpc>
                <a:spcPts val="3422"/>
              </a:lnSpc>
            </a:pPr>
            <a:br>
              <a:rPr lang="en-AU" sz="2479" spc="-49" dirty="0">
                <a:solidFill>
                  <a:srgbClr val="FFFFFF"/>
                </a:solidFill>
                <a:latin typeface="DM Sans"/>
              </a:rPr>
            </a:b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US" dirty="0"/>
          </a:p>
        </p:txBody>
      </p:sp>
      <p:pic>
        <p:nvPicPr>
          <p:cNvPr id="3" name="Picture 2">
            <a:extLst>
              <a:ext uri="{FF2B5EF4-FFF2-40B4-BE49-F238E27FC236}">
                <a16:creationId xmlns:a16="http://schemas.microsoft.com/office/drawing/2014/main" id="{E69F0BB0-FEDA-F1AF-1028-4ACD12E26436}"/>
              </a:ext>
            </a:extLst>
          </p:cNvPr>
          <p:cNvPicPr>
            <a:picLocks noChangeAspect="1"/>
          </p:cNvPicPr>
          <p:nvPr/>
        </p:nvPicPr>
        <p:blipFill>
          <a:blip r:embed="rId4"/>
          <a:stretch>
            <a:fillRect/>
          </a:stretch>
        </p:blipFill>
        <p:spPr>
          <a:xfrm>
            <a:off x="4319464" y="2995277"/>
            <a:ext cx="7772400" cy="5710554"/>
          </a:xfrm>
          <a:prstGeom prst="rect">
            <a:avLst/>
          </a:prstGeom>
        </p:spPr>
      </p:pic>
    </p:spTree>
    <p:extLst>
      <p:ext uri="{BB962C8B-B14F-4D97-AF65-F5344CB8AC3E}">
        <p14:creationId xmlns:p14="http://schemas.microsoft.com/office/powerpoint/2010/main" val="136184255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F17939F7-3760-5358-E504-2D20572B6519}"/>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0A2DE0C8-2E50-C879-478E-A602B20D35F7}"/>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970C3F98-574B-8BB0-5982-670BCED2BC03}"/>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BD4F4906-D5DF-0433-A44D-751BBC7DE0BE}"/>
              </a:ext>
            </a:extLst>
          </p:cNvPr>
          <p:cNvSpPr txBox="1"/>
          <p:nvPr/>
        </p:nvSpPr>
        <p:spPr>
          <a:xfrm>
            <a:off x="1007096" y="1843516"/>
            <a:ext cx="18025980" cy="738664"/>
          </a:xfrm>
          <a:prstGeom prst="rect">
            <a:avLst/>
          </a:prstGeom>
        </p:spPr>
        <p:txBody>
          <a:bodyPr wrap="square" lIns="0" tIns="0" rIns="0" bIns="0" rtlCol="0" anchor="t">
            <a:spAutoFit/>
          </a:bodyPr>
          <a:lstStyle/>
          <a:p>
            <a:pPr>
              <a:spcBef>
                <a:spcPct val="0"/>
              </a:spcBef>
              <a:defRPr/>
            </a:pPr>
            <a:r>
              <a:rPr lang="en-AU" sz="4800" dirty="0">
                <a:solidFill>
                  <a:srgbClr val="0CC0DF"/>
                </a:solidFill>
                <a:latin typeface="Now Bold"/>
              </a:rPr>
              <a:t>TOOLS AND TOOL CALLING: DYNAMIC TOOL CALING </a:t>
            </a:r>
            <a:endParaRPr lang="en-US" sz="4800" dirty="0">
              <a:solidFill>
                <a:srgbClr val="0CC0DF"/>
              </a:solidFill>
              <a:latin typeface="Now Bold"/>
            </a:endParaRPr>
          </a:p>
        </p:txBody>
      </p:sp>
      <p:sp>
        <p:nvSpPr>
          <p:cNvPr id="4" name="TextBox 10">
            <a:extLst>
              <a:ext uri="{FF2B5EF4-FFF2-40B4-BE49-F238E27FC236}">
                <a16:creationId xmlns:a16="http://schemas.microsoft.com/office/drawing/2014/main" id="{8F908AF8-F4E9-DB90-0E3D-250B41939B27}"/>
              </a:ext>
            </a:extLst>
          </p:cNvPr>
          <p:cNvSpPr txBox="1"/>
          <p:nvPr/>
        </p:nvSpPr>
        <p:spPr>
          <a:xfrm>
            <a:off x="-1035211" y="2978576"/>
            <a:ext cx="45536881" cy="1725857"/>
          </a:xfrm>
          <a:prstGeom prst="rect">
            <a:avLst/>
          </a:prstGeom>
        </p:spPr>
        <p:txBody>
          <a:bodyPr wrap="square" lIns="0" tIns="0" rIns="0" bIns="0" rtlCol="0" anchor="t">
            <a:spAutoFit/>
          </a:bodyPr>
          <a:lstStyle/>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p:txBody>
      </p:sp>
      <p:sp>
        <p:nvSpPr>
          <p:cNvPr id="7" name="TextBox 6">
            <a:extLst>
              <a:ext uri="{FF2B5EF4-FFF2-40B4-BE49-F238E27FC236}">
                <a16:creationId xmlns:a16="http://schemas.microsoft.com/office/drawing/2014/main" id="{F612F263-ABBB-DCBB-8E76-2D72C77353FD}"/>
              </a:ext>
            </a:extLst>
          </p:cNvPr>
          <p:cNvSpPr txBox="1"/>
          <p:nvPr/>
        </p:nvSpPr>
        <p:spPr>
          <a:xfrm>
            <a:off x="599112" y="2944346"/>
            <a:ext cx="13801472" cy="5439951"/>
          </a:xfrm>
          <a:prstGeom prst="rect">
            <a:avLst/>
          </a:prstGeom>
          <a:noFill/>
        </p:spPr>
        <p:txBody>
          <a:bodyPr wrap="square" rtlCol="0">
            <a:spAutoFit/>
          </a:bodyPr>
          <a:lstStyle/>
          <a:p>
            <a:pPr marL="742950" lvl="1" indent="-285750">
              <a:buFont typeface="Arial" panose="020B0604020202020204" pitchFamily="34" charset="0"/>
              <a:buChar char="•"/>
            </a:pPr>
            <a:r>
              <a:rPr lang="en-AU" sz="2479" spc="-49" dirty="0">
                <a:solidFill>
                  <a:srgbClr val="FFFFFF"/>
                </a:solidFill>
                <a:latin typeface="DM Sans"/>
              </a:rPr>
              <a:t>How Tools Are Registered and Converted</a:t>
            </a:r>
          </a:p>
          <a:p>
            <a:pPr marL="1200150" lvl="2" indent="-285750">
              <a:buFont typeface="Arial" panose="020B0604020202020204" pitchFamily="34" charset="0"/>
              <a:buChar char="•"/>
            </a:pPr>
            <a:r>
              <a:rPr lang="en-AU" sz="2479" spc="-49" dirty="0">
                <a:solidFill>
                  <a:srgbClr val="FFFFFF"/>
                </a:solidFill>
                <a:latin typeface="DM Sans"/>
              </a:rPr>
              <a:t>@tool decorator marks a function as available to the agent</a:t>
            </a:r>
          </a:p>
          <a:p>
            <a:pPr marL="1200150" lvl="2" indent="-285750">
              <a:buFont typeface="Arial" panose="020B0604020202020204" pitchFamily="34" charset="0"/>
              <a:buChar char="•"/>
            </a:pPr>
            <a:r>
              <a:rPr lang="en-AU" sz="2479" spc="-49" dirty="0">
                <a:solidFill>
                  <a:srgbClr val="FFFFFF"/>
                </a:solidFill>
                <a:latin typeface="DM Sans"/>
              </a:rPr>
              <a:t>The inspect module reads each function's signature, type hints, and docstring automatically</a:t>
            </a:r>
          </a:p>
          <a:p>
            <a:pPr marL="1200150" lvl="2" indent="-285750">
              <a:buFont typeface="Arial" panose="020B0604020202020204" pitchFamily="34" charset="0"/>
              <a:buChar char="•"/>
            </a:pPr>
            <a:r>
              <a:rPr lang="en-AU" sz="2479" spc="-49" dirty="0">
                <a:solidFill>
                  <a:srgbClr val="FFFFFF"/>
                </a:solidFill>
                <a:latin typeface="DM Sans"/>
              </a:rPr>
              <a:t>Docstrings serve double duty: guide the retriever on when to match, and tell the LLM how to use the tool</a:t>
            </a:r>
          </a:p>
          <a:p>
            <a:pPr marL="1200150" lvl="2" indent="-285750">
              <a:buFont typeface="Arial" panose="020B0604020202020204" pitchFamily="34" charset="0"/>
              <a:buChar char="•"/>
            </a:pPr>
            <a:r>
              <a:rPr lang="en-AU" sz="2479" spc="-49" dirty="0" err="1">
                <a:solidFill>
                  <a:srgbClr val="FFFFFF"/>
                </a:solidFill>
                <a:latin typeface="DM Sans"/>
              </a:rPr>
              <a:t>inspect.signature</a:t>
            </a:r>
            <a:r>
              <a:rPr lang="en-AU" sz="2479" spc="-49" dirty="0">
                <a:solidFill>
                  <a:srgbClr val="FFFFFF"/>
                </a:solidFill>
                <a:latin typeface="DM Sans"/>
              </a:rPr>
              <a:t>() extracts parameter names, types, and defaults</a:t>
            </a:r>
          </a:p>
          <a:p>
            <a:pPr marL="1200150" lvl="2" indent="-285750">
              <a:buFont typeface="Arial" panose="020B0604020202020204" pitchFamily="34" charset="0"/>
              <a:buChar char="•"/>
            </a:pPr>
            <a:r>
              <a:rPr lang="en-AU" sz="2479" spc="-49" dirty="0">
                <a:solidFill>
                  <a:srgbClr val="FFFFFF"/>
                </a:solidFill>
                <a:latin typeface="DM Sans"/>
              </a:rPr>
              <a:t>Parameters without defaults are marked as required in the schema</a:t>
            </a:r>
          </a:p>
          <a:p>
            <a:pPr marL="1200150" lvl="2" indent="-285750">
              <a:buFont typeface="Arial" panose="020B0604020202020204" pitchFamily="34" charset="0"/>
              <a:buChar char="•"/>
            </a:pPr>
            <a:r>
              <a:rPr lang="en-AU" sz="2479" spc="-49" dirty="0">
                <a:solidFill>
                  <a:srgbClr val="FFFFFF"/>
                </a:solidFill>
                <a:latin typeface="DM Sans"/>
              </a:rPr>
              <a:t>Type hints (str, int, bool, float) map directly to JSON Schema types</a:t>
            </a:r>
          </a:p>
          <a:p>
            <a:pPr marL="1200150" lvl="2" indent="-285750">
              <a:buFont typeface="Arial" panose="020B0604020202020204" pitchFamily="34" charset="0"/>
              <a:buChar char="•"/>
            </a:pPr>
            <a:r>
              <a:rPr lang="en-AU" sz="2479" spc="-49" dirty="0">
                <a:solidFill>
                  <a:srgbClr val="FFFFFF"/>
                </a:solidFill>
                <a:latin typeface="DM Sans"/>
              </a:rPr>
              <a:t>The output is a clean JSON tool definition the LLM API expects — generated, never hand-written</a:t>
            </a:r>
          </a:p>
          <a:p>
            <a:pPr marL="1200150" lvl="2" indent="-285750">
              <a:buFont typeface="Arial" panose="020B0604020202020204" pitchFamily="34" charset="0"/>
              <a:buChar char="•"/>
            </a:pPr>
            <a:r>
              <a:rPr lang="en-AU" sz="2479" spc="-49" dirty="0">
                <a:solidFill>
                  <a:srgbClr val="FFFFFF"/>
                </a:solidFill>
                <a:latin typeface="DM Sans"/>
              </a:rPr>
              <a:t>Source code is the single source of truth: update the function, the schema updates with it</a:t>
            </a:r>
          </a:p>
          <a:p>
            <a:pPr marL="800100" lvl="1" indent="-342900">
              <a:lnSpc>
                <a:spcPts val="3422"/>
              </a:lnSpc>
              <a:buFont typeface="Arial" panose="020B0604020202020204" pitchFamily="34" charset="0"/>
              <a:buChar char="•"/>
            </a:pPr>
            <a:endParaRPr lang="en-US" dirty="0"/>
          </a:p>
        </p:txBody>
      </p:sp>
    </p:spTree>
    <p:extLst>
      <p:ext uri="{BB962C8B-B14F-4D97-AF65-F5344CB8AC3E}">
        <p14:creationId xmlns:p14="http://schemas.microsoft.com/office/powerpoint/2010/main" val="200950821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269EBA2E-4FF6-F11D-D119-04D67D519230}"/>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D614CAB-C8ED-5965-46DD-04091F7C0BF3}"/>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B1AE1AAA-F0D5-74C7-8B78-96A16AA62F05}"/>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CC307D9E-FC39-9C8A-D02A-7846E243AE2F}"/>
              </a:ext>
            </a:extLst>
          </p:cNvPr>
          <p:cNvSpPr txBox="1"/>
          <p:nvPr/>
        </p:nvSpPr>
        <p:spPr>
          <a:xfrm>
            <a:off x="1007096" y="1843516"/>
            <a:ext cx="18025980" cy="738664"/>
          </a:xfrm>
          <a:prstGeom prst="rect">
            <a:avLst/>
          </a:prstGeom>
        </p:spPr>
        <p:txBody>
          <a:bodyPr wrap="square" lIns="0" tIns="0" rIns="0" bIns="0" rtlCol="0" anchor="t">
            <a:spAutoFit/>
          </a:bodyPr>
          <a:lstStyle/>
          <a:p>
            <a:pPr>
              <a:spcBef>
                <a:spcPct val="0"/>
              </a:spcBef>
              <a:defRPr/>
            </a:pPr>
            <a:r>
              <a:rPr lang="en-AU" sz="4800" dirty="0">
                <a:solidFill>
                  <a:srgbClr val="0CC0DF"/>
                </a:solidFill>
                <a:latin typeface="Now Bold"/>
              </a:rPr>
              <a:t>TOOLS AND TOOL CALLING: DYNAMIC TOOL CALING </a:t>
            </a:r>
            <a:endParaRPr lang="en-US" sz="4800" dirty="0">
              <a:solidFill>
                <a:srgbClr val="0CC0DF"/>
              </a:solidFill>
              <a:latin typeface="Now Bold"/>
            </a:endParaRPr>
          </a:p>
        </p:txBody>
      </p:sp>
      <p:sp>
        <p:nvSpPr>
          <p:cNvPr id="4" name="TextBox 10">
            <a:extLst>
              <a:ext uri="{FF2B5EF4-FFF2-40B4-BE49-F238E27FC236}">
                <a16:creationId xmlns:a16="http://schemas.microsoft.com/office/drawing/2014/main" id="{BC54D5BA-6B34-768D-E738-DD2D8220E2E7}"/>
              </a:ext>
            </a:extLst>
          </p:cNvPr>
          <p:cNvSpPr txBox="1"/>
          <p:nvPr/>
        </p:nvSpPr>
        <p:spPr>
          <a:xfrm>
            <a:off x="-1035211" y="2978576"/>
            <a:ext cx="45536881" cy="1725857"/>
          </a:xfrm>
          <a:prstGeom prst="rect">
            <a:avLst/>
          </a:prstGeom>
        </p:spPr>
        <p:txBody>
          <a:bodyPr wrap="square" lIns="0" tIns="0" rIns="0" bIns="0" rtlCol="0" anchor="t">
            <a:spAutoFit/>
          </a:bodyPr>
          <a:lstStyle/>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p:txBody>
      </p:sp>
      <p:pic>
        <p:nvPicPr>
          <p:cNvPr id="3" name="Picture 2">
            <a:extLst>
              <a:ext uri="{FF2B5EF4-FFF2-40B4-BE49-F238E27FC236}">
                <a16:creationId xmlns:a16="http://schemas.microsoft.com/office/drawing/2014/main" id="{4CEB7E1C-B866-AF72-5E1B-067C2E19A345}"/>
              </a:ext>
            </a:extLst>
          </p:cNvPr>
          <p:cNvPicPr>
            <a:picLocks noChangeAspect="1"/>
          </p:cNvPicPr>
          <p:nvPr/>
        </p:nvPicPr>
        <p:blipFill>
          <a:blip r:embed="rId4"/>
          <a:stretch>
            <a:fillRect/>
          </a:stretch>
        </p:blipFill>
        <p:spPr>
          <a:xfrm>
            <a:off x="3635388" y="2613689"/>
            <a:ext cx="11017224" cy="6809255"/>
          </a:xfrm>
          <a:prstGeom prst="rect">
            <a:avLst/>
          </a:prstGeom>
        </p:spPr>
      </p:pic>
    </p:spTree>
    <p:extLst>
      <p:ext uri="{BB962C8B-B14F-4D97-AF65-F5344CB8AC3E}">
        <p14:creationId xmlns:p14="http://schemas.microsoft.com/office/powerpoint/2010/main" val="173266642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073254D6-4850-590B-6484-61F06C8FC52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7D3C536-2B13-FBDF-6A17-E46E3704E3DE}"/>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650008C6-280E-57DE-9FEB-E7427D73DC29}"/>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1EE71232-17CF-2DC8-09AD-F6B77731C5E5}"/>
              </a:ext>
            </a:extLst>
          </p:cNvPr>
          <p:cNvSpPr txBox="1"/>
          <p:nvPr/>
        </p:nvSpPr>
        <p:spPr>
          <a:xfrm>
            <a:off x="1007096" y="1843516"/>
            <a:ext cx="18025980" cy="738664"/>
          </a:xfrm>
          <a:prstGeom prst="rect">
            <a:avLst/>
          </a:prstGeom>
        </p:spPr>
        <p:txBody>
          <a:bodyPr wrap="square" lIns="0" tIns="0" rIns="0" bIns="0" rtlCol="0" anchor="t">
            <a:spAutoFit/>
          </a:bodyPr>
          <a:lstStyle/>
          <a:p>
            <a:pPr>
              <a:spcBef>
                <a:spcPct val="0"/>
              </a:spcBef>
              <a:defRPr/>
            </a:pPr>
            <a:r>
              <a:rPr lang="en-AU" sz="4800" dirty="0">
                <a:solidFill>
                  <a:srgbClr val="0CC0DF"/>
                </a:solidFill>
                <a:latin typeface="Now Bold"/>
              </a:rPr>
              <a:t>TOOLS AND TOOL CALLING: DYNAMIC TOOL CALING </a:t>
            </a:r>
            <a:endParaRPr lang="en-US" sz="4800" dirty="0">
              <a:solidFill>
                <a:srgbClr val="0CC0DF"/>
              </a:solidFill>
              <a:latin typeface="Now Bold"/>
            </a:endParaRPr>
          </a:p>
        </p:txBody>
      </p:sp>
      <p:sp>
        <p:nvSpPr>
          <p:cNvPr id="4" name="TextBox 10">
            <a:extLst>
              <a:ext uri="{FF2B5EF4-FFF2-40B4-BE49-F238E27FC236}">
                <a16:creationId xmlns:a16="http://schemas.microsoft.com/office/drawing/2014/main" id="{802AEAC4-674E-E9D3-592D-9D64E19D8419}"/>
              </a:ext>
            </a:extLst>
          </p:cNvPr>
          <p:cNvSpPr txBox="1"/>
          <p:nvPr/>
        </p:nvSpPr>
        <p:spPr>
          <a:xfrm>
            <a:off x="-1035211" y="2978576"/>
            <a:ext cx="45536881" cy="1725857"/>
          </a:xfrm>
          <a:prstGeom prst="rect">
            <a:avLst/>
          </a:prstGeom>
        </p:spPr>
        <p:txBody>
          <a:bodyPr wrap="square" lIns="0" tIns="0" rIns="0" bIns="0" rtlCol="0" anchor="t">
            <a:spAutoFit/>
          </a:bodyPr>
          <a:lstStyle/>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p:txBody>
      </p:sp>
      <p:pic>
        <p:nvPicPr>
          <p:cNvPr id="5" name="Picture 4">
            <a:extLst>
              <a:ext uri="{FF2B5EF4-FFF2-40B4-BE49-F238E27FC236}">
                <a16:creationId xmlns:a16="http://schemas.microsoft.com/office/drawing/2014/main" id="{E0A43A47-ADAA-3395-D92F-1B25D8D5543C}"/>
              </a:ext>
            </a:extLst>
          </p:cNvPr>
          <p:cNvPicPr>
            <a:picLocks noChangeAspect="1"/>
          </p:cNvPicPr>
          <p:nvPr/>
        </p:nvPicPr>
        <p:blipFill>
          <a:blip r:embed="rId4"/>
          <a:stretch>
            <a:fillRect/>
          </a:stretch>
        </p:blipFill>
        <p:spPr>
          <a:xfrm>
            <a:off x="359024" y="1910515"/>
            <a:ext cx="7772400" cy="8636000"/>
          </a:xfrm>
          <a:prstGeom prst="rect">
            <a:avLst/>
          </a:prstGeom>
        </p:spPr>
      </p:pic>
      <p:pic>
        <p:nvPicPr>
          <p:cNvPr id="7" name="Picture 6">
            <a:extLst>
              <a:ext uri="{FF2B5EF4-FFF2-40B4-BE49-F238E27FC236}">
                <a16:creationId xmlns:a16="http://schemas.microsoft.com/office/drawing/2014/main" id="{0FFD574C-F2D0-44F0-12BC-B4580CACC15D}"/>
              </a:ext>
            </a:extLst>
          </p:cNvPr>
          <p:cNvPicPr>
            <a:picLocks noChangeAspect="1"/>
          </p:cNvPicPr>
          <p:nvPr/>
        </p:nvPicPr>
        <p:blipFill>
          <a:blip r:embed="rId5"/>
          <a:stretch>
            <a:fillRect/>
          </a:stretch>
        </p:blipFill>
        <p:spPr>
          <a:xfrm>
            <a:off x="9501985" y="2128740"/>
            <a:ext cx="7772400" cy="8019404"/>
          </a:xfrm>
          <a:prstGeom prst="rect">
            <a:avLst/>
          </a:prstGeom>
        </p:spPr>
      </p:pic>
      <p:cxnSp>
        <p:nvCxnSpPr>
          <p:cNvPr id="10" name="Straight Arrow Connector 9">
            <a:extLst>
              <a:ext uri="{FF2B5EF4-FFF2-40B4-BE49-F238E27FC236}">
                <a16:creationId xmlns:a16="http://schemas.microsoft.com/office/drawing/2014/main" id="{9A2F0A4B-F96C-AD3C-4237-F73D1166EEEB}"/>
              </a:ext>
            </a:extLst>
          </p:cNvPr>
          <p:cNvCxnSpPr/>
          <p:nvPr/>
        </p:nvCxnSpPr>
        <p:spPr>
          <a:xfrm>
            <a:off x="7463212" y="6018568"/>
            <a:ext cx="2816755" cy="0"/>
          </a:xfrm>
          <a:prstGeom prst="straightConnector1">
            <a:avLst/>
          </a:prstGeom>
          <a:ln w="60325" cap="flat" cmpd="sng" algn="ctr">
            <a:solidFill>
              <a:schemeClr val="accent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122370826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E7101328-8F1A-CC3F-473E-2DBCF0031449}"/>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F2F75797-EFC7-72AF-5427-E1E2F5B0C51F}"/>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2"/>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Freeform 6">
            <a:extLst>
              <a:ext uri="{FF2B5EF4-FFF2-40B4-BE49-F238E27FC236}">
                <a16:creationId xmlns:a16="http://schemas.microsoft.com/office/drawing/2014/main" id="{3E964C00-B776-4C56-AE0C-10935F5BA501}"/>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2"/>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sp>
        <p:nvSpPr>
          <p:cNvPr id="12" name="Title 1">
            <a:extLst>
              <a:ext uri="{FF2B5EF4-FFF2-40B4-BE49-F238E27FC236}">
                <a16:creationId xmlns:a16="http://schemas.microsoft.com/office/drawing/2014/main" id="{9B6941AB-6596-3798-48A1-AF50AFF8DDD2}"/>
              </a:ext>
            </a:extLst>
          </p:cNvPr>
          <p:cNvSpPr txBox="1">
            <a:spLocks/>
          </p:cNvSpPr>
          <p:nvPr/>
        </p:nvSpPr>
        <p:spPr>
          <a:xfrm>
            <a:off x="2362201" y="4095749"/>
            <a:ext cx="14658974" cy="1500188"/>
          </a:xfrm>
          <a:prstGeom prst="rect">
            <a:avLst/>
          </a:prstGeom>
        </p:spPr>
        <p:txBody>
          <a:bodyP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lang="en-AU" sz="6600" dirty="0">
                <a:solidFill>
                  <a:srgbClr val="0CC0DF"/>
                </a:solidFill>
                <a:latin typeface="Now Bold"/>
              </a:rPr>
              <a:t>LARGE LANGUAGE MODEL </a:t>
            </a:r>
            <a:endParaRPr kumimoji="0" lang="en-US" sz="6600" b="0" i="0" u="none" strike="noStrike" kern="1200" cap="none" spc="0" normalizeH="0" baseline="0" noProof="0" dirty="0">
              <a:ln>
                <a:noFill/>
              </a:ln>
              <a:solidFill>
                <a:srgbClr val="0CC0DF"/>
              </a:solidFill>
              <a:effectLst/>
              <a:uLnTx/>
              <a:uFillTx/>
              <a:latin typeface="Now Bold"/>
              <a:ea typeface="+mj-ea"/>
              <a:cs typeface="+mj-cs"/>
            </a:endParaRPr>
          </a:p>
        </p:txBody>
      </p:sp>
    </p:spTree>
    <p:extLst>
      <p:ext uri="{BB962C8B-B14F-4D97-AF65-F5344CB8AC3E}">
        <p14:creationId xmlns:p14="http://schemas.microsoft.com/office/powerpoint/2010/main" val="271348577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1545FDC7-4128-CBD2-5EC1-3C4627C32F48}"/>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3B458C11-5BD1-1FFC-C594-C4934D2BCA1B}"/>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2"/>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F9048DEB-F4ED-023B-9823-87FDA0F33A45}"/>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2"/>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0512C465-70D6-0E04-7CDA-F9D82BC072E9}"/>
              </a:ext>
            </a:extLst>
          </p:cNvPr>
          <p:cNvSpPr txBox="1"/>
          <p:nvPr/>
        </p:nvSpPr>
        <p:spPr>
          <a:xfrm>
            <a:off x="1559180" y="2129797"/>
            <a:ext cx="14497588" cy="1912703"/>
          </a:xfrm>
          <a:prstGeom prst="rect">
            <a:avLst/>
          </a:prstGeom>
        </p:spPr>
        <p:txBody>
          <a:bodyPr wrap="square" lIns="0" tIns="0" rIns="0" bIns="0" rtlCol="0" anchor="t">
            <a:spAutoFit/>
          </a:bodyPr>
          <a:lstStyle/>
          <a:p>
            <a:pPr>
              <a:lnSpc>
                <a:spcPts val="7711"/>
              </a:lnSpc>
              <a:spcBef>
                <a:spcPct val="0"/>
              </a:spcBef>
            </a:pPr>
            <a:r>
              <a:rPr lang="en-AU" sz="4800" dirty="0">
                <a:solidFill>
                  <a:srgbClr val="0CC0DF"/>
                </a:solidFill>
                <a:latin typeface="Now Bold"/>
              </a:rPr>
              <a:t>LARGE LANGUAGE MODEL </a:t>
            </a:r>
            <a:endParaRPr lang="en-US" sz="4800" dirty="0">
              <a:solidFill>
                <a:srgbClr val="0CC0DF"/>
              </a:solidFill>
              <a:latin typeface="Now Bold"/>
            </a:endParaRPr>
          </a:p>
          <a:p>
            <a:pPr marL="0" lvl="0" indent="0">
              <a:lnSpc>
                <a:spcPts val="7711"/>
              </a:lnSpc>
              <a:spcBef>
                <a:spcPct val="0"/>
              </a:spcBef>
            </a:pPr>
            <a:endParaRPr lang="en-US" sz="4800" dirty="0">
              <a:solidFill>
                <a:srgbClr val="0CC0DF"/>
              </a:solidFill>
              <a:latin typeface="Now Bold"/>
            </a:endParaRPr>
          </a:p>
        </p:txBody>
      </p:sp>
      <p:sp>
        <p:nvSpPr>
          <p:cNvPr id="10" name="TextBox 10">
            <a:extLst>
              <a:ext uri="{FF2B5EF4-FFF2-40B4-BE49-F238E27FC236}">
                <a16:creationId xmlns:a16="http://schemas.microsoft.com/office/drawing/2014/main" id="{F1AEEF8C-EEA7-3533-42FE-5C329941AD24}"/>
              </a:ext>
            </a:extLst>
          </p:cNvPr>
          <p:cNvSpPr txBox="1"/>
          <p:nvPr/>
        </p:nvSpPr>
        <p:spPr>
          <a:xfrm>
            <a:off x="1871192" y="3775348"/>
            <a:ext cx="9889076" cy="3460306"/>
          </a:xfrm>
          <a:prstGeom prst="rect">
            <a:avLst/>
          </a:prstGeom>
        </p:spPr>
        <p:txBody>
          <a:bodyPr wrap="square" lIns="0" tIns="0" rIns="0" bIns="0" rtlCol="0" anchor="t">
            <a:spAutoFit/>
          </a:bodyPr>
          <a:lstStyle/>
          <a:p>
            <a:pPr marL="342900" indent="-342900">
              <a:lnSpc>
                <a:spcPts val="3422"/>
              </a:lnSpc>
              <a:buFont typeface="Arial" panose="020B0604020202020204" pitchFamily="34" charset="0"/>
              <a:buChar char="•"/>
            </a:pPr>
            <a:r>
              <a:rPr lang="en-US" sz="2479" spc="-49" dirty="0">
                <a:solidFill>
                  <a:srgbClr val="FFFFFF"/>
                </a:solidFill>
                <a:latin typeface="DM Sans"/>
              </a:rPr>
              <a:t> LLM is the component that:</a:t>
            </a:r>
          </a:p>
          <a:p>
            <a:pPr marL="800100" lvl="1" indent="-342900">
              <a:lnSpc>
                <a:spcPts val="3422"/>
              </a:lnSpc>
              <a:buFont typeface="Arial" panose="020B0604020202020204" pitchFamily="34" charset="0"/>
              <a:buChar char="•"/>
            </a:pPr>
            <a:r>
              <a:rPr lang="en-US" sz="2479" spc="-49" dirty="0">
                <a:solidFill>
                  <a:srgbClr val="FFFFFF"/>
                </a:solidFill>
                <a:latin typeface="DM Sans"/>
              </a:rPr>
              <a:t>Reasons over context</a:t>
            </a:r>
          </a:p>
          <a:p>
            <a:pPr marL="800100" lvl="1" indent="-342900">
              <a:lnSpc>
                <a:spcPts val="3422"/>
              </a:lnSpc>
              <a:buFont typeface="Arial" panose="020B0604020202020204" pitchFamily="34" charset="0"/>
              <a:buChar char="•"/>
            </a:pPr>
            <a:r>
              <a:rPr lang="en-US" sz="2479" spc="-49" dirty="0">
                <a:solidFill>
                  <a:srgbClr val="FFFFFF"/>
                </a:solidFill>
                <a:latin typeface="DM Sans"/>
              </a:rPr>
              <a:t>Decides next action</a:t>
            </a:r>
          </a:p>
          <a:p>
            <a:pPr marL="800100" lvl="1" indent="-342900">
              <a:lnSpc>
                <a:spcPts val="3422"/>
              </a:lnSpc>
              <a:buFont typeface="Arial" panose="020B0604020202020204" pitchFamily="34" charset="0"/>
              <a:buChar char="•"/>
            </a:pPr>
            <a:r>
              <a:rPr lang="en-US" sz="2479" spc="-49" dirty="0">
                <a:solidFill>
                  <a:srgbClr val="FFFFFF"/>
                </a:solidFill>
                <a:latin typeface="DM Sans"/>
              </a:rPr>
              <a:t>Generates text or structured outputs</a:t>
            </a:r>
          </a:p>
          <a:p>
            <a:pPr marL="800100" lvl="1" indent="-342900">
              <a:lnSpc>
                <a:spcPts val="3422"/>
              </a:lnSpc>
              <a:buFont typeface="Arial" panose="020B0604020202020204" pitchFamily="34" charset="0"/>
              <a:buChar char="•"/>
            </a:pPr>
            <a:r>
              <a:rPr lang="en-US" sz="2479" spc="-49" dirty="0">
                <a:solidFill>
                  <a:srgbClr val="FFFFFF"/>
                </a:solidFill>
                <a:latin typeface="DM Sans"/>
              </a:rPr>
              <a:t>Uses tools through the runtime</a:t>
            </a:r>
          </a:p>
          <a:p>
            <a:pPr marL="342900"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a:lnSpc>
                <a:spcPts val="3284"/>
              </a:lnSpc>
            </a:pPr>
            <a:endParaRPr lang="en-US" sz="2479" spc="-49" dirty="0">
              <a:solidFill>
                <a:srgbClr val="FFFFFF"/>
              </a:solidFill>
              <a:latin typeface="DM Sans"/>
            </a:endParaRPr>
          </a:p>
        </p:txBody>
      </p:sp>
    </p:spTree>
    <p:extLst>
      <p:ext uri="{BB962C8B-B14F-4D97-AF65-F5344CB8AC3E}">
        <p14:creationId xmlns:p14="http://schemas.microsoft.com/office/powerpoint/2010/main" val="427244100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9CDEB06A-FBFA-EFB9-5595-57DDEAB1EC37}"/>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45634D7-01CC-EC59-D9E3-B8344ED8A65D}"/>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2"/>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7501B247-0C0B-46E4-9BA1-E5529A2F1CDE}"/>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2"/>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70D4CB18-A146-3A25-9923-340FF9A5714D}"/>
              </a:ext>
            </a:extLst>
          </p:cNvPr>
          <p:cNvSpPr txBox="1"/>
          <p:nvPr/>
        </p:nvSpPr>
        <p:spPr>
          <a:xfrm>
            <a:off x="1559180" y="2129797"/>
            <a:ext cx="14497588" cy="1912703"/>
          </a:xfrm>
          <a:prstGeom prst="rect">
            <a:avLst/>
          </a:prstGeom>
        </p:spPr>
        <p:txBody>
          <a:bodyPr wrap="square" lIns="0" tIns="0" rIns="0" bIns="0" rtlCol="0" anchor="t">
            <a:spAutoFit/>
          </a:bodyPr>
          <a:lstStyle/>
          <a:p>
            <a:pPr>
              <a:lnSpc>
                <a:spcPts val="7711"/>
              </a:lnSpc>
              <a:spcBef>
                <a:spcPct val="0"/>
              </a:spcBef>
            </a:pPr>
            <a:r>
              <a:rPr lang="en-AU" sz="4800" dirty="0">
                <a:solidFill>
                  <a:srgbClr val="0CC0DF"/>
                </a:solidFill>
                <a:latin typeface="Now Bold"/>
              </a:rPr>
              <a:t>LARGE LANGUAGE MODEL: MODEL SELECTION </a:t>
            </a:r>
            <a:endParaRPr lang="en-US" sz="4800" dirty="0">
              <a:solidFill>
                <a:srgbClr val="0CC0DF"/>
              </a:solidFill>
              <a:latin typeface="Now Bold"/>
            </a:endParaRPr>
          </a:p>
          <a:p>
            <a:pPr marL="0" lvl="0" indent="0">
              <a:lnSpc>
                <a:spcPts val="7711"/>
              </a:lnSpc>
              <a:spcBef>
                <a:spcPct val="0"/>
              </a:spcBef>
            </a:pPr>
            <a:endParaRPr lang="en-US" sz="4800" dirty="0">
              <a:solidFill>
                <a:srgbClr val="0CC0DF"/>
              </a:solidFill>
              <a:latin typeface="Now Bold"/>
            </a:endParaRPr>
          </a:p>
        </p:txBody>
      </p:sp>
      <p:sp>
        <p:nvSpPr>
          <p:cNvPr id="10" name="TextBox 10">
            <a:extLst>
              <a:ext uri="{FF2B5EF4-FFF2-40B4-BE49-F238E27FC236}">
                <a16:creationId xmlns:a16="http://schemas.microsoft.com/office/drawing/2014/main" id="{052A73EC-D672-89A2-AD28-949B32145DCD}"/>
              </a:ext>
            </a:extLst>
          </p:cNvPr>
          <p:cNvSpPr txBox="1"/>
          <p:nvPr/>
        </p:nvSpPr>
        <p:spPr>
          <a:xfrm>
            <a:off x="1560922" y="3388846"/>
            <a:ext cx="9889076" cy="4768357"/>
          </a:xfrm>
          <a:prstGeom prst="rect">
            <a:avLst/>
          </a:prstGeom>
        </p:spPr>
        <p:txBody>
          <a:bodyPr wrap="square" lIns="0" tIns="0" rIns="0" bIns="0" rtlCol="0" anchor="t">
            <a:spAutoFit/>
          </a:bodyPr>
          <a:lstStyle/>
          <a:p>
            <a:pPr marL="800100" lvl="1" indent="-342900">
              <a:lnSpc>
                <a:spcPts val="3422"/>
              </a:lnSpc>
              <a:buFont typeface="Arial" panose="020B0604020202020204" pitchFamily="34" charset="0"/>
              <a:buChar char="•"/>
            </a:pPr>
            <a:r>
              <a:rPr lang="en-AU" sz="2479" spc="-49" dirty="0">
                <a:solidFill>
                  <a:srgbClr val="FFFFFF"/>
                </a:solidFill>
                <a:latin typeface="DM Sans"/>
              </a:rPr>
              <a:t>How do we choose the right model for an agentic system?</a:t>
            </a:r>
          </a:p>
          <a:p>
            <a:pPr marL="1257300" lvl="2" indent="-342900">
              <a:lnSpc>
                <a:spcPts val="3422"/>
              </a:lnSpc>
              <a:buFont typeface="Arial" panose="020B0604020202020204" pitchFamily="34" charset="0"/>
              <a:buChar char="•"/>
            </a:pPr>
            <a:r>
              <a:rPr lang="en-US" sz="2479" spc="-49" dirty="0">
                <a:solidFill>
                  <a:srgbClr val="FFFFFF"/>
                </a:solidFill>
                <a:latin typeface="DM Sans"/>
              </a:rPr>
              <a:t>Reasoning capability</a:t>
            </a:r>
          </a:p>
          <a:p>
            <a:pPr marL="1257300" lvl="2" indent="-342900">
              <a:lnSpc>
                <a:spcPts val="3422"/>
              </a:lnSpc>
              <a:buFont typeface="Arial" panose="020B0604020202020204" pitchFamily="34" charset="0"/>
              <a:buChar char="•"/>
            </a:pPr>
            <a:r>
              <a:rPr lang="en-US" sz="2479" spc="-49" dirty="0">
                <a:solidFill>
                  <a:srgbClr val="FFFFFF"/>
                </a:solidFill>
                <a:latin typeface="DM Sans"/>
              </a:rPr>
              <a:t>Tool-calling reliability</a:t>
            </a:r>
          </a:p>
          <a:p>
            <a:pPr marL="1257300" lvl="2" indent="-342900">
              <a:lnSpc>
                <a:spcPts val="3422"/>
              </a:lnSpc>
              <a:buFont typeface="Arial" panose="020B0604020202020204" pitchFamily="34" charset="0"/>
              <a:buChar char="•"/>
            </a:pPr>
            <a:r>
              <a:rPr lang="en-US" sz="2479" spc="-49" dirty="0">
                <a:solidFill>
                  <a:srgbClr val="FFFFFF"/>
                </a:solidFill>
                <a:latin typeface="DM Sans"/>
              </a:rPr>
              <a:t>Instruction following</a:t>
            </a:r>
          </a:p>
          <a:p>
            <a:pPr marL="1257300" lvl="2" indent="-342900">
              <a:lnSpc>
                <a:spcPts val="3422"/>
              </a:lnSpc>
              <a:buFont typeface="Arial" panose="020B0604020202020204" pitchFamily="34" charset="0"/>
              <a:buChar char="•"/>
            </a:pPr>
            <a:r>
              <a:rPr lang="en-US" sz="2479" spc="-49" dirty="0">
                <a:solidFill>
                  <a:srgbClr val="FFFFFF"/>
                </a:solidFill>
                <a:latin typeface="DM Sans"/>
              </a:rPr>
              <a:t>Structured output reliability</a:t>
            </a:r>
          </a:p>
          <a:p>
            <a:pPr marL="1257300" lvl="2" indent="-342900">
              <a:lnSpc>
                <a:spcPts val="3422"/>
              </a:lnSpc>
              <a:buFont typeface="Arial" panose="020B0604020202020204" pitchFamily="34" charset="0"/>
              <a:buChar char="•"/>
            </a:pPr>
            <a:r>
              <a:rPr lang="en-US" sz="2479" spc="-49" dirty="0">
                <a:solidFill>
                  <a:srgbClr val="FFFFFF"/>
                </a:solidFill>
                <a:latin typeface="DM Sans"/>
              </a:rPr>
              <a:t>Context window needs</a:t>
            </a:r>
          </a:p>
          <a:p>
            <a:pPr marL="1257300" lvl="2" indent="-342900">
              <a:lnSpc>
                <a:spcPts val="3422"/>
              </a:lnSpc>
              <a:buFont typeface="Arial" panose="020B0604020202020204" pitchFamily="34" charset="0"/>
              <a:buChar char="•"/>
            </a:pPr>
            <a:r>
              <a:rPr lang="en-US" sz="2479" spc="-49" dirty="0">
                <a:solidFill>
                  <a:srgbClr val="FFFFFF"/>
                </a:solidFill>
                <a:latin typeface="DM Sans"/>
              </a:rPr>
              <a:t>Latency</a:t>
            </a:r>
          </a:p>
          <a:p>
            <a:pPr marL="1257300" lvl="2" indent="-342900">
              <a:lnSpc>
                <a:spcPts val="3422"/>
              </a:lnSpc>
              <a:buFont typeface="Arial" panose="020B0604020202020204" pitchFamily="34" charset="0"/>
              <a:buChar char="•"/>
            </a:pPr>
            <a:r>
              <a:rPr lang="en-US" sz="2479" spc="-49" dirty="0">
                <a:solidFill>
                  <a:srgbClr val="FFFFFF"/>
                </a:solidFill>
                <a:latin typeface="DM Sans"/>
              </a:rPr>
              <a:t>Cost</a:t>
            </a:r>
          </a:p>
          <a:p>
            <a:pPr marL="1257300" lvl="2" indent="-342900">
              <a:lnSpc>
                <a:spcPts val="3422"/>
              </a:lnSpc>
              <a:buFont typeface="Arial" panose="020B0604020202020204" pitchFamily="34" charset="0"/>
              <a:buChar char="•"/>
            </a:pPr>
            <a:r>
              <a:rPr lang="en-US" sz="2479" spc="-49" dirty="0">
                <a:solidFill>
                  <a:srgbClr val="FFFFFF"/>
                </a:solidFill>
                <a:latin typeface="DM Sans"/>
              </a:rPr>
              <a:t>Multimodal support</a:t>
            </a:r>
          </a:p>
          <a:p>
            <a:pPr marL="1257300" lvl="2" indent="-342900">
              <a:lnSpc>
                <a:spcPts val="3422"/>
              </a:lnSpc>
              <a:buFont typeface="Arial" panose="020B0604020202020204" pitchFamily="34" charset="0"/>
              <a:buChar char="•"/>
            </a:pPr>
            <a:r>
              <a:rPr lang="en-US" sz="2479" spc="-49" dirty="0">
                <a:solidFill>
                  <a:srgbClr val="FFFFFF"/>
                </a:solidFill>
                <a:latin typeface="DM Sans"/>
              </a:rPr>
              <a:t>Coding ability</a:t>
            </a:r>
          </a:p>
          <a:p>
            <a:pPr>
              <a:lnSpc>
                <a:spcPts val="3284"/>
              </a:lnSpc>
            </a:pPr>
            <a:endParaRPr lang="en-US" sz="2479" spc="-49" dirty="0">
              <a:solidFill>
                <a:srgbClr val="FFFFFF"/>
              </a:solidFill>
              <a:latin typeface="DM Sans"/>
            </a:endParaRPr>
          </a:p>
        </p:txBody>
      </p:sp>
    </p:spTree>
    <p:extLst>
      <p:ext uri="{BB962C8B-B14F-4D97-AF65-F5344CB8AC3E}">
        <p14:creationId xmlns:p14="http://schemas.microsoft.com/office/powerpoint/2010/main" val="170513502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52990F82-FD94-DF72-824E-4F9338BDF60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40F6BA50-77DD-814B-895C-1D9BB47C425D}"/>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B94D280F-9560-C672-E405-7B53B12B8132}"/>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A0C53FD3-3775-8DE7-2C2E-400B5FE5791F}"/>
              </a:ext>
            </a:extLst>
          </p:cNvPr>
          <p:cNvSpPr txBox="1"/>
          <p:nvPr/>
        </p:nvSpPr>
        <p:spPr>
          <a:xfrm>
            <a:off x="1559180" y="2129797"/>
            <a:ext cx="14497588" cy="1912703"/>
          </a:xfrm>
          <a:prstGeom prst="rect">
            <a:avLst/>
          </a:prstGeom>
        </p:spPr>
        <p:txBody>
          <a:bodyPr wrap="square" lIns="0" tIns="0" rIns="0" bIns="0" rtlCol="0" anchor="t">
            <a:spAutoFit/>
          </a:bodyPr>
          <a:lstStyle/>
          <a:p>
            <a:pPr>
              <a:lnSpc>
                <a:spcPts val="7711"/>
              </a:lnSpc>
              <a:spcBef>
                <a:spcPct val="0"/>
              </a:spcBef>
            </a:pPr>
            <a:r>
              <a:rPr lang="en-AU" sz="4800" dirty="0">
                <a:solidFill>
                  <a:srgbClr val="0CC0DF"/>
                </a:solidFill>
                <a:latin typeface="Now Bold"/>
              </a:rPr>
              <a:t>LARGE LANGUAGE MODEL: MODEL SELECTION </a:t>
            </a:r>
            <a:endParaRPr lang="en-US" sz="4800" dirty="0">
              <a:solidFill>
                <a:srgbClr val="0CC0DF"/>
              </a:solidFill>
              <a:latin typeface="Now Bold"/>
            </a:endParaRPr>
          </a:p>
          <a:p>
            <a:pPr marL="0" lvl="0" indent="0">
              <a:lnSpc>
                <a:spcPts val="7711"/>
              </a:lnSpc>
              <a:spcBef>
                <a:spcPct val="0"/>
              </a:spcBef>
            </a:pPr>
            <a:endParaRPr lang="en-US" sz="4800" dirty="0">
              <a:solidFill>
                <a:srgbClr val="0CC0DF"/>
              </a:solidFill>
              <a:latin typeface="Now Bold"/>
            </a:endParaRPr>
          </a:p>
        </p:txBody>
      </p:sp>
      <p:sp>
        <p:nvSpPr>
          <p:cNvPr id="10" name="TextBox 10">
            <a:extLst>
              <a:ext uri="{FF2B5EF4-FFF2-40B4-BE49-F238E27FC236}">
                <a16:creationId xmlns:a16="http://schemas.microsoft.com/office/drawing/2014/main" id="{19BCB8A2-A1CE-1864-8AB6-D353B6D8DABB}"/>
              </a:ext>
            </a:extLst>
          </p:cNvPr>
          <p:cNvSpPr txBox="1"/>
          <p:nvPr/>
        </p:nvSpPr>
        <p:spPr>
          <a:xfrm>
            <a:off x="2219182" y="3271292"/>
            <a:ext cx="14629674" cy="9128525"/>
          </a:xfrm>
          <a:prstGeom prst="rect">
            <a:avLst/>
          </a:prstGeom>
        </p:spPr>
        <p:txBody>
          <a:bodyPr wrap="square" lIns="0" tIns="0" rIns="0" bIns="0" rtlCol="0" anchor="t">
            <a:spAutoFit/>
          </a:bodyPr>
          <a:lstStyle/>
          <a:p>
            <a:pPr marL="800100" lvl="1" indent="-342900">
              <a:lnSpc>
                <a:spcPts val="3422"/>
              </a:lnSpc>
              <a:buFont typeface="Arial" panose="020B0604020202020204" pitchFamily="34" charset="0"/>
              <a:buChar char="•"/>
            </a:pPr>
            <a:r>
              <a:rPr lang="en-AU" sz="2479" spc="-49" dirty="0">
                <a:solidFill>
                  <a:srgbClr val="FFFFFF"/>
                </a:solidFill>
                <a:latin typeface="DM Sans"/>
              </a:rPr>
              <a:t>Many open weight and closed models are available</a:t>
            </a:r>
          </a:p>
          <a:p>
            <a:pPr marL="800100" lvl="1" indent="-342900">
              <a:lnSpc>
                <a:spcPts val="3422"/>
              </a:lnSpc>
              <a:buFont typeface="Arial" panose="020B0604020202020204" pitchFamily="34" charset="0"/>
              <a:buChar char="•"/>
            </a:pPr>
            <a:r>
              <a:rPr lang="en-AU" sz="2479" spc="-49" dirty="0">
                <a:solidFill>
                  <a:srgbClr val="FFFFFF"/>
                </a:solidFill>
                <a:latin typeface="DM Sans"/>
              </a:rPr>
              <a:t>Closed models:</a:t>
            </a:r>
          </a:p>
          <a:p>
            <a:pPr marL="1257300" lvl="2" indent="-342900">
              <a:lnSpc>
                <a:spcPts val="3422"/>
              </a:lnSpc>
              <a:buFont typeface="Arial" panose="020B0604020202020204" pitchFamily="34" charset="0"/>
              <a:buChar char="•"/>
            </a:pPr>
            <a:r>
              <a:rPr lang="en-AU" sz="2479" spc="-49" dirty="0">
                <a:solidFill>
                  <a:srgbClr val="FFFFFF"/>
                </a:solidFill>
                <a:latin typeface="DM Sans"/>
              </a:rPr>
              <a:t>Usually accessed through provider API:</a:t>
            </a:r>
          </a:p>
          <a:p>
            <a:pPr marL="1714500" lvl="3" indent="-342900">
              <a:lnSpc>
                <a:spcPts val="3422"/>
              </a:lnSpc>
              <a:buFont typeface="Arial" panose="020B0604020202020204" pitchFamily="34" charset="0"/>
              <a:buChar char="•"/>
            </a:pPr>
            <a:r>
              <a:rPr lang="en-AU" sz="2479" spc="-49" dirty="0">
                <a:solidFill>
                  <a:srgbClr val="FFFFFF"/>
                </a:solidFill>
                <a:latin typeface="DM Sans"/>
              </a:rPr>
              <a:t>OpenAI, Anthropic, Google</a:t>
            </a:r>
          </a:p>
          <a:p>
            <a:pPr marL="800100" lvl="1" indent="-342900">
              <a:lnSpc>
                <a:spcPts val="3422"/>
              </a:lnSpc>
              <a:buFont typeface="Arial" panose="020B0604020202020204" pitchFamily="34" charset="0"/>
              <a:buChar char="•"/>
            </a:pPr>
            <a:r>
              <a:rPr lang="en-AU" sz="2479" spc="-49" dirty="0">
                <a:solidFill>
                  <a:srgbClr val="FFFFFF"/>
                </a:solidFill>
                <a:latin typeface="DM Sans"/>
              </a:rPr>
              <a:t>Good </a:t>
            </a:r>
          </a:p>
          <a:p>
            <a:pPr marL="1257300" lvl="2" indent="-342900">
              <a:lnSpc>
                <a:spcPts val="3422"/>
              </a:lnSpc>
              <a:buFont typeface="Arial" panose="020B0604020202020204" pitchFamily="34" charset="0"/>
              <a:buChar char="•"/>
            </a:pPr>
            <a:r>
              <a:rPr lang="en-AU" sz="2479" spc="-49" dirty="0">
                <a:solidFill>
                  <a:srgbClr val="FFFFFF"/>
                </a:solidFill>
                <a:latin typeface="DM Sans"/>
              </a:rPr>
              <a:t>They are easier to use.</a:t>
            </a:r>
          </a:p>
          <a:p>
            <a:pPr marL="1257300" lvl="2" indent="-342900">
              <a:lnSpc>
                <a:spcPts val="3422"/>
              </a:lnSpc>
              <a:buFont typeface="Arial" panose="020B0604020202020204" pitchFamily="34" charset="0"/>
              <a:buChar char="•"/>
            </a:pPr>
            <a:r>
              <a:rPr lang="en-AU" sz="2479" spc="-49" dirty="0">
                <a:solidFill>
                  <a:srgbClr val="FFFFFF"/>
                </a:solidFill>
                <a:latin typeface="DM Sans"/>
              </a:rPr>
              <a:t>Often have stronger managed tooling, and reduce infrastructure burden. </a:t>
            </a:r>
          </a:p>
          <a:p>
            <a:pPr marL="1257300" lvl="2" indent="-342900">
              <a:lnSpc>
                <a:spcPts val="3422"/>
              </a:lnSpc>
              <a:buFont typeface="Arial" panose="020B0604020202020204" pitchFamily="34" charset="0"/>
              <a:buChar char="•"/>
            </a:pPr>
            <a:r>
              <a:rPr lang="en-AU" sz="2479" spc="-49" dirty="0">
                <a:solidFill>
                  <a:srgbClr val="FFFFFF"/>
                </a:solidFill>
                <a:latin typeface="DM Sans"/>
              </a:rPr>
              <a:t>Current hosted model platforms expose capabilities like built-in tools, structured outputs, streaming, and managed APIs directly.</a:t>
            </a:r>
          </a:p>
          <a:p>
            <a:pPr marL="1257300" lvl="2" indent="-342900">
              <a:lnSpc>
                <a:spcPts val="3422"/>
              </a:lnSpc>
              <a:buFont typeface="Arial" panose="020B0604020202020204" pitchFamily="34" charset="0"/>
              <a:buChar char="•"/>
            </a:pPr>
            <a:r>
              <a:rPr lang="en-AU" sz="2479" spc="-49" dirty="0">
                <a:solidFill>
                  <a:srgbClr val="FFFFFF"/>
                </a:solidFill>
                <a:latin typeface="DM Sans"/>
              </a:rPr>
              <a:t>More intelligent.</a:t>
            </a:r>
          </a:p>
          <a:p>
            <a:pPr marL="800100" lvl="1" indent="-342900">
              <a:lnSpc>
                <a:spcPts val="3422"/>
              </a:lnSpc>
              <a:buFont typeface="Arial" panose="020B0604020202020204" pitchFamily="34" charset="0"/>
              <a:buChar char="•"/>
            </a:pPr>
            <a:r>
              <a:rPr lang="en-AU" sz="2479" spc="-49" dirty="0">
                <a:solidFill>
                  <a:srgbClr val="FFFFFF"/>
                </a:solidFill>
                <a:latin typeface="DM Sans"/>
              </a:rPr>
              <a:t>Bad</a:t>
            </a:r>
          </a:p>
          <a:p>
            <a:pPr marL="1257300" lvl="2" indent="-342900">
              <a:lnSpc>
                <a:spcPts val="3422"/>
              </a:lnSpc>
              <a:buFont typeface="Arial" panose="020B0604020202020204" pitchFamily="34" charset="0"/>
              <a:buChar char="•"/>
            </a:pPr>
            <a:r>
              <a:rPr lang="en-AU" sz="2479" spc="-49" dirty="0">
                <a:solidFill>
                  <a:srgbClr val="FFFFFF"/>
                </a:solidFill>
                <a:latin typeface="DM Sans"/>
              </a:rPr>
              <a:t>API Cost </a:t>
            </a:r>
          </a:p>
          <a:p>
            <a:pPr marL="1257300" lvl="2" indent="-342900">
              <a:lnSpc>
                <a:spcPts val="3422"/>
              </a:lnSpc>
              <a:buFont typeface="Arial" panose="020B0604020202020204" pitchFamily="34" charset="0"/>
              <a:buChar char="•"/>
            </a:pPr>
            <a:r>
              <a:rPr lang="en-AU" sz="2479" spc="-49" dirty="0">
                <a:solidFill>
                  <a:srgbClr val="FFFFFF"/>
                </a:solidFill>
                <a:latin typeface="DM Sans"/>
              </a:rPr>
              <a:t>Less control on the model.</a:t>
            </a:r>
          </a:p>
          <a:p>
            <a:pPr marL="1257300" lvl="2" indent="-342900">
              <a:lnSpc>
                <a:spcPts val="3422"/>
              </a:lnSpc>
              <a:buFont typeface="Arial" panose="020B0604020202020204" pitchFamily="34" charset="0"/>
              <a:buChar char="•"/>
            </a:pPr>
            <a:r>
              <a:rPr lang="en-AU" sz="2479" spc="-49" dirty="0">
                <a:solidFill>
                  <a:srgbClr val="FFFFFF"/>
                </a:solidFill>
                <a:latin typeface="DM Sans"/>
              </a:rPr>
              <a:t>Less privacy </a:t>
            </a:r>
          </a:p>
          <a:p>
            <a:pPr marL="1257300" lvl="2" indent="-342900">
              <a:lnSpc>
                <a:spcPts val="3422"/>
              </a:lnSpc>
              <a:buFont typeface="Arial" panose="020B0604020202020204" pitchFamily="34" charset="0"/>
              <a:buChar char="•"/>
            </a:pPr>
            <a:r>
              <a:rPr lang="en-AU" sz="2479" spc="-49" dirty="0">
                <a:solidFill>
                  <a:srgbClr val="FFFFFF"/>
                </a:solidFill>
                <a:latin typeface="DM Sans"/>
              </a:rPr>
              <a:t>Dependence on the provider</a:t>
            </a: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1257300" lvl="2"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a:lnSpc>
                <a:spcPts val="3284"/>
              </a:lnSpc>
            </a:pPr>
            <a:endParaRPr lang="en-US" sz="2479" spc="-49" dirty="0">
              <a:solidFill>
                <a:srgbClr val="FFFFFF"/>
              </a:solidFill>
              <a:latin typeface="DM Sans"/>
            </a:endParaRPr>
          </a:p>
        </p:txBody>
      </p:sp>
    </p:spTree>
    <p:extLst>
      <p:ext uri="{BB962C8B-B14F-4D97-AF65-F5344CB8AC3E}">
        <p14:creationId xmlns:p14="http://schemas.microsoft.com/office/powerpoint/2010/main" val="15109696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2D1735C4-6B3E-81F5-3BBF-17CCFEB20A8F}"/>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3FF55E75-DFDD-5D89-C039-004AB6931B50}"/>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2"/>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9BA3CF48-79BA-999D-0142-F5DDB9A10A2F}"/>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2"/>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66254101-3DD6-B31F-10C9-92A27776C5AE}"/>
              </a:ext>
            </a:extLst>
          </p:cNvPr>
          <p:cNvSpPr txBox="1"/>
          <p:nvPr/>
        </p:nvSpPr>
        <p:spPr>
          <a:xfrm>
            <a:off x="1559180" y="2129797"/>
            <a:ext cx="14497588" cy="1912703"/>
          </a:xfrm>
          <a:prstGeom prst="rect">
            <a:avLst/>
          </a:prstGeom>
        </p:spPr>
        <p:txBody>
          <a:bodyPr wrap="square" lIns="0" tIns="0" rIns="0" bIns="0" rtlCol="0" anchor="t">
            <a:spAutoFit/>
          </a:bodyPr>
          <a:lstStyle/>
          <a:p>
            <a:pPr>
              <a:lnSpc>
                <a:spcPts val="7711"/>
              </a:lnSpc>
              <a:spcBef>
                <a:spcPct val="0"/>
              </a:spcBef>
            </a:pPr>
            <a:r>
              <a:rPr lang="en-AU" sz="4800" dirty="0">
                <a:solidFill>
                  <a:srgbClr val="0CC0DF"/>
                </a:solidFill>
                <a:latin typeface="Now Bold"/>
              </a:rPr>
              <a:t>LARGE LANGUAGE MODEL: MODEL SELECTION </a:t>
            </a:r>
            <a:endParaRPr lang="en-US" sz="4800" dirty="0">
              <a:solidFill>
                <a:srgbClr val="0CC0DF"/>
              </a:solidFill>
              <a:latin typeface="Now Bold"/>
            </a:endParaRPr>
          </a:p>
          <a:p>
            <a:pPr marL="0" lvl="0" indent="0">
              <a:lnSpc>
                <a:spcPts val="7711"/>
              </a:lnSpc>
              <a:spcBef>
                <a:spcPct val="0"/>
              </a:spcBef>
            </a:pPr>
            <a:endParaRPr lang="en-US" sz="4800" dirty="0">
              <a:solidFill>
                <a:srgbClr val="0CC0DF"/>
              </a:solidFill>
              <a:latin typeface="Now Bold"/>
            </a:endParaRPr>
          </a:p>
        </p:txBody>
      </p:sp>
      <p:sp>
        <p:nvSpPr>
          <p:cNvPr id="10" name="TextBox 10">
            <a:extLst>
              <a:ext uri="{FF2B5EF4-FFF2-40B4-BE49-F238E27FC236}">
                <a16:creationId xmlns:a16="http://schemas.microsoft.com/office/drawing/2014/main" id="{12788805-9F51-2E13-79EF-BA88BF5CEDB9}"/>
              </a:ext>
            </a:extLst>
          </p:cNvPr>
          <p:cNvSpPr txBox="1"/>
          <p:nvPr/>
        </p:nvSpPr>
        <p:spPr>
          <a:xfrm>
            <a:off x="1277457" y="3271292"/>
            <a:ext cx="15142855" cy="6076407"/>
          </a:xfrm>
          <a:prstGeom prst="rect">
            <a:avLst/>
          </a:prstGeom>
        </p:spPr>
        <p:txBody>
          <a:bodyPr wrap="square" lIns="0" tIns="0" rIns="0" bIns="0" rtlCol="0" anchor="t">
            <a:spAutoFit/>
          </a:bodyPr>
          <a:lstStyle/>
          <a:p>
            <a:pPr marL="800100" lvl="1" indent="-342900">
              <a:lnSpc>
                <a:spcPts val="3422"/>
              </a:lnSpc>
              <a:buFont typeface="Arial" panose="020B0604020202020204" pitchFamily="34" charset="0"/>
              <a:buChar char="•"/>
            </a:pPr>
            <a:r>
              <a:rPr lang="en-AU" sz="2479" spc="-49" dirty="0">
                <a:solidFill>
                  <a:srgbClr val="FFFFFF"/>
                </a:solidFill>
                <a:latin typeface="DM Sans"/>
              </a:rPr>
              <a:t> Open-weight models</a:t>
            </a:r>
          </a:p>
          <a:p>
            <a:pPr marL="1257300" lvl="2" indent="-342900">
              <a:lnSpc>
                <a:spcPts val="3422"/>
              </a:lnSpc>
              <a:buFont typeface="Arial" panose="020B0604020202020204" pitchFamily="34" charset="0"/>
              <a:buChar char="•"/>
            </a:pPr>
            <a:r>
              <a:rPr lang="en-AU" sz="2479" spc="-49" dirty="0">
                <a:solidFill>
                  <a:srgbClr val="FFFFFF"/>
                </a:solidFill>
                <a:latin typeface="DM Sans"/>
              </a:rPr>
              <a:t>These models give you more control over deployment and may be self-hosted, fine-tuned, and can be integrated into your own infrastructure. </a:t>
            </a:r>
          </a:p>
          <a:p>
            <a:pPr marL="1257300" lvl="2" indent="-342900">
              <a:lnSpc>
                <a:spcPts val="3422"/>
              </a:lnSpc>
              <a:buFont typeface="Arial" panose="020B0604020202020204" pitchFamily="34" charset="0"/>
              <a:buChar char="•"/>
            </a:pPr>
            <a:r>
              <a:rPr lang="en-AU" sz="2479" spc="-49" dirty="0">
                <a:solidFill>
                  <a:srgbClr val="FFFFFF"/>
                </a:solidFill>
                <a:latin typeface="DM Sans"/>
              </a:rPr>
              <a:t>Good</a:t>
            </a:r>
          </a:p>
          <a:p>
            <a:pPr marL="1714500" lvl="3" indent="-342900">
              <a:lnSpc>
                <a:spcPts val="3422"/>
              </a:lnSpc>
              <a:buFont typeface="Arial" panose="020B0604020202020204" pitchFamily="34" charset="0"/>
              <a:buChar char="•"/>
            </a:pPr>
            <a:r>
              <a:rPr lang="en-AU" sz="2479" spc="-49" dirty="0">
                <a:solidFill>
                  <a:srgbClr val="FFFFFF"/>
                </a:solidFill>
                <a:latin typeface="DM Sans"/>
              </a:rPr>
              <a:t>Free</a:t>
            </a:r>
          </a:p>
          <a:p>
            <a:pPr marL="1714500" lvl="3" indent="-342900">
              <a:lnSpc>
                <a:spcPts val="3422"/>
              </a:lnSpc>
              <a:buFont typeface="Arial" panose="020B0604020202020204" pitchFamily="34" charset="0"/>
              <a:buChar char="•"/>
            </a:pPr>
            <a:r>
              <a:rPr lang="en-AU" sz="2479" spc="-49" dirty="0">
                <a:solidFill>
                  <a:srgbClr val="FFFFFF"/>
                </a:solidFill>
                <a:latin typeface="DM Sans"/>
              </a:rPr>
              <a:t>Private</a:t>
            </a:r>
          </a:p>
          <a:p>
            <a:pPr marL="1714500" lvl="3" indent="-342900">
              <a:lnSpc>
                <a:spcPts val="3422"/>
              </a:lnSpc>
              <a:buFont typeface="Arial" panose="020B0604020202020204" pitchFamily="34" charset="0"/>
              <a:buChar char="•"/>
            </a:pPr>
            <a:r>
              <a:rPr lang="en-AU" sz="2479" spc="-49" dirty="0">
                <a:solidFill>
                  <a:srgbClr val="FFFFFF"/>
                </a:solidFill>
                <a:latin typeface="DM Sans"/>
              </a:rPr>
              <a:t>Better control </a:t>
            </a:r>
          </a:p>
          <a:p>
            <a:pPr marL="1257300" lvl="2" indent="-342900">
              <a:lnSpc>
                <a:spcPts val="3422"/>
              </a:lnSpc>
              <a:buFont typeface="Arial" panose="020B0604020202020204" pitchFamily="34" charset="0"/>
              <a:buChar char="•"/>
            </a:pPr>
            <a:r>
              <a:rPr lang="en-AU" sz="2479" spc="-49" dirty="0">
                <a:solidFill>
                  <a:srgbClr val="FFFFFF"/>
                </a:solidFill>
                <a:latin typeface="DM Sans"/>
              </a:rPr>
              <a:t>Bad</a:t>
            </a:r>
          </a:p>
          <a:p>
            <a:pPr marL="1714500" lvl="3" indent="-342900">
              <a:lnSpc>
                <a:spcPts val="3422"/>
              </a:lnSpc>
              <a:buFont typeface="Arial" panose="020B0604020202020204" pitchFamily="34" charset="0"/>
              <a:buChar char="•"/>
            </a:pPr>
            <a:r>
              <a:rPr lang="en-AU" sz="2479" spc="-49" dirty="0">
                <a:solidFill>
                  <a:srgbClr val="FFFFFF"/>
                </a:solidFill>
                <a:latin typeface="DM Sans"/>
              </a:rPr>
              <a:t>Harder to setup </a:t>
            </a:r>
          </a:p>
          <a:p>
            <a:pPr marL="1714500" lvl="3" indent="-342900">
              <a:lnSpc>
                <a:spcPts val="3422"/>
              </a:lnSpc>
              <a:buFont typeface="Arial" panose="020B0604020202020204" pitchFamily="34" charset="0"/>
              <a:buChar char="•"/>
            </a:pPr>
            <a:r>
              <a:rPr lang="en-AU" sz="2479" spc="-49" dirty="0">
                <a:solidFill>
                  <a:srgbClr val="FFFFFF"/>
                </a:solidFill>
                <a:latin typeface="DM Sans"/>
              </a:rPr>
              <a:t>Can be computationally demanding</a:t>
            </a:r>
          </a:p>
          <a:p>
            <a:pPr marL="1714500" lvl="3" indent="-342900">
              <a:lnSpc>
                <a:spcPts val="3422"/>
              </a:lnSpc>
              <a:buFont typeface="Arial" panose="020B0604020202020204" pitchFamily="34" charset="0"/>
              <a:buChar char="•"/>
            </a:pPr>
            <a:r>
              <a:rPr lang="en-AU" sz="2479" spc="-49" dirty="0">
                <a:solidFill>
                  <a:srgbClr val="FFFFFF"/>
                </a:solidFill>
                <a:latin typeface="DM Sans"/>
              </a:rPr>
              <a:t>Can be Less intelligent than SOTA models</a:t>
            </a:r>
          </a:p>
          <a:p>
            <a:pPr marL="1257300" lvl="2"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a:lnSpc>
                <a:spcPts val="3284"/>
              </a:lnSpc>
            </a:pPr>
            <a:endParaRPr lang="en-US" sz="2479" spc="-49" dirty="0">
              <a:solidFill>
                <a:srgbClr val="FFFFFF"/>
              </a:solidFill>
              <a:latin typeface="DM Sans"/>
            </a:endParaRPr>
          </a:p>
        </p:txBody>
      </p:sp>
    </p:spTree>
    <p:extLst>
      <p:ext uri="{BB962C8B-B14F-4D97-AF65-F5344CB8AC3E}">
        <p14:creationId xmlns:p14="http://schemas.microsoft.com/office/powerpoint/2010/main" val="353763302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EA8F96AE-D66F-3DF9-9E09-CE8BE56B1FAB}"/>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9C5AE896-E886-8C26-54FB-92AB49A2C987}"/>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0B3F9A87-5208-E48A-9526-9F2E80C4585F}"/>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59BE30CD-1C33-107C-5D55-124BDE826EF7}"/>
              </a:ext>
            </a:extLst>
          </p:cNvPr>
          <p:cNvSpPr txBox="1"/>
          <p:nvPr/>
        </p:nvSpPr>
        <p:spPr>
          <a:xfrm>
            <a:off x="1598849" y="1656384"/>
            <a:ext cx="14497588" cy="1912703"/>
          </a:xfrm>
          <a:prstGeom prst="rect">
            <a:avLst/>
          </a:prstGeom>
        </p:spPr>
        <p:txBody>
          <a:bodyPr wrap="square" lIns="0" tIns="0" rIns="0" bIns="0" rtlCol="0" anchor="t">
            <a:spAutoFit/>
          </a:bodyPr>
          <a:lstStyle/>
          <a:p>
            <a:pPr>
              <a:lnSpc>
                <a:spcPts val="7711"/>
              </a:lnSpc>
              <a:spcBef>
                <a:spcPct val="0"/>
              </a:spcBef>
            </a:pPr>
            <a:r>
              <a:rPr lang="en-AU" sz="4800" dirty="0">
                <a:solidFill>
                  <a:srgbClr val="0CC0DF"/>
                </a:solidFill>
                <a:latin typeface="Now Bold"/>
              </a:rPr>
              <a:t>LARGE LANGUAGE MODEL: MODEL SIZE</a:t>
            </a:r>
            <a:endParaRPr lang="en-US" sz="4800" dirty="0">
              <a:solidFill>
                <a:srgbClr val="0CC0DF"/>
              </a:solidFill>
              <a:latin typeface="Now Bold"/>
            </a:endParaRPr>
          </a:p>
          <a:p>
            <a:pPr marL="0" lvl="0" indent="0">
              <a:lnSpc>
                <a:spcPts val="7711"/>
              </a:lnSpc>
              <a:spcBef>
                <a:spcPct val="0"/>
              </a:spcBef>
            </a:pPr>
            <a:endParaRPr lang="en-US" sz="4800" dirty="0">
              <a:solidFill>
                <a:srgbClr val="0CC0DF"/>
              </a:solidFill>
              <a:latin typeface="Now Bold"/>
            </a:endParaRPr>
          </a:p>
        </p:txBody>
      </p:sp>
      <p:sp>
        <p:nvSpPr>
          <p:cNvPr id="10" name="TextBox 10">
            <a:extLst>
              <a:ext uri="{FF2B5EF4-FFF2-40B4-BE49-F238E27FC236}">
                <a16:creationId xmlns:a16="http://schemas.microsoft.com/office/drawing/2014/main" id="{8557B408-F4B5-7A2C-1730-062A738D2549}"/>
              </a:ext>
            </a:extLst>
          </p:cNvPr>
          <p:cNvSpPr txBox="1"/>
          <p:nvPr/>
        </p:nvSpPr>
        <p:spPr>
          <a:xfrm>
            <a:off x="1276216" y="2612735"/>
            <a:ext cx="15142855" cy="7820474"/>
          </a:xfrm>
          <a:prstGeom prst="rect">
            <a:avLst/>
          </a:prstGeom>
        </p:spPr>
        <p:txBody>
          <a:bodyPr wrap="square" lIns="0" tIns="0" rIns="0" bIns="0" rtlCol="0" anchor="t">
            <a:spAutoFit/>
          </a:bodyPr>
          <a:lstStyle/>
          <a:p>
            <a:pPr marL="800100" lvl="1" indent="-342900">
              <a:lnSpc>
                <a:spcPts val="3422"/>
              </a:lnSpc>
              <a:buFont typeface="Arial" panose="020B0604020202020204" pitchFamily="34" charset="0"/>
              <a:buChar char="•"/>
            </a:pPr>
            <a:r>
              <a:rPr lang="en-AU" sz="2800" dirty="0">
                <a:solidFill>
                  <a:schemeClr val="bg1"/>
                </a:solidFill>
              </a:rPr>
              <a:t>A </a:t>
            </a:r>
            <a:r>
              <a:rPr lang="en-AU" sz="2800" b="1" dirty="0">
                <a:solidFill>
                  <a:schemeClr val="bg1"/>
                </a:solidFill>
              </a:rPr>
              <a:t>parameter</a:t>
            </a:r>
            <a:r>
              <a:rPr lang="en-AU" sz="2800" dirty="0">
                <a:solidFill>
                  <a:schemeClr val="bg1"/>
                </a:solidFill>
              </a:rPr>
              <a:t> is a learned numerical value inside the model. During training, the model adjusts billions of these values to capture patterns in language and other data.</a:t>
            </a:r>
            <a:endParaRPr lang="en-AU" sz="2800" spc="-49" dirty="0">
              <a:solidFill>
                <a:schemeClr val="bg1"/>
              </a:solidFill>
              <a:latin typeface="DM Sans"/>
            </a:endParaRPr>
          </a:p>
          <a:p>
            <a:pPr marL="1257300" lvl="2" indent="-342900">
              <a:lnSpc>
                <a:spcPts val="3422"/>
              </a:lnSpc>
              <a:buFont typeface="Arial" panose="020B0604020202020204" pitchFamily="34" charset="0"/>
              <a:buChar char="•"/>
            </a:pPr>
            <a:r>
              <a:rPr lang="en-AU" sz="2800" spc="-49" dirty="0">
                <a:solidFill>
                  <a:schemeClr val="bg1"/>
                </a:solidFill>
                <a:latin typeface="DM Sans"/>
              </a:rPr>
              <a:t>7B model </a:t>
            </a:r>
          </a:p>
          <a:p>
            <a:pPr marL="1257300" lvl="2" indent="-342900">
              <a:lnSpc>
                <a:spcPts val="3422"/>
              </a:lnSpc>
              <a:buFont typeface="Arial" panose="020B0604020202020204" pitchFamily="34" charset="0"/>
              <a:buChar char="•"/>
            </a:pPr>
            <a:r>
              <a:rPr lang="en-AU" sz="2800" spc="-49" dirty="0">
                <a:solidFill>
                  <a:schemeClr val="bg1"/>
                </a:solidFill>
                <a:latin typeface="DM Sans"/>
              </a:rPr>
              <a:t>20B model </a:t>
            </a:r>
          </a:p>
          <a:p>
            <a:pPr marL="1257300" lvl="2" indent="-342900">
              <a:lnSpc>
                <a:spcPts val="3422"/>
              </a:lnSpc>
              <a:buFont typeface="Arial" panose="020B0604020202020204" pitchFamily="34" charset="0"/>
              <a:buChar char="•"/>
            </a:pPr>
            <a:r>
              <a:rPr lang="en-AU" sz="2800" spc="-49" dirty="0">
                <a:solidFill>
                  <a:schemeClr val="bg1"/>
                </a:solidFill>
                <a:latin typeface="DM Sans"/>
              </a:rPr>
              <a:t>70B model </a:t>
            </a:r>
          </a:p>
          <a:p>
            <a:pPr marL="1257300" lvl="2" indent="-342900">
              <a:lnSpc>
                <a:spcPts val="3422"/>
              </a:lnSpc>
              <a:buFont typeface="Arial" panose="020B0604020202020204" pitchFamily="34" charset="0"/>
              <a:buChar char="•"/>
            </a:pPr>
            <a:r>
              <a:rPr lang="en-AU" sz="2800" spc="-49" dirty="0">
                <a:solidFill>
                  <a:schemeClr val="bg1"/>
                </a:solidFill>
                <a:latin typeface="DM Sans"/>
              </a:rPr>
              <a:t>120B model</a:t>
            </a:r>
            <a:endParaRPr lang="en-US" sz="2479" spc="-49" dirty="0">
              <a:solidFill>
                <a:schemeClr val="bg1"/>
              </a:solidFill>
              <a:latin typeface="DM Sans"/>
            </a:endParaRPr>
          </a:p>
          <a:p>
            <a:pPr marL="800100" lvl="1" indent="-342900">
              <a:lnSpc>
                <a:spcPts val="3422"/>
              </a:lnSpc>
              <a:buFont typeface="Arial" panose="020B0604020202020204" pitchFamily="34" charset="0"/>
              <a:buChar char="•"/>
            </a:pPr>
            <a:r>
              <a:rPr lang="en-US" sz="2479" spc="-49" dirty="0">
                <a:solidFill>
                  <a:srgbClr val="FFFFFF"/>
                </a:solidFill>
                <a:latin typeface="DM Sans"/>
              </a:rPr>
              <a:t>They usually mean roughly:</a:t>
            </a:r>
          </a:p>
          <a:p>
            <a:pPr marL="1257300" lvl="2" indent="-342900">
              <a:lnSpc>
                <a:spcPts val="3422"/>
              </a:lnSpc>
              <a:buFont typeface="Arial" panose="020B0604020202020204" pitchFamily="34" charset="0"/>
              <a:buChar char="•"/>
            </a:pPr>
            <a:r>
              <a:rPr lang="en-US" sz="2479" spc="-49" dirty="0">
                <a:solidFill>
                  <a:srgbClr val="FFFFFF"/>
                </a:solidFill>
                <a:latin typeface="DM Sans"/>
              </a:rPr>
              <a:t>7 billion parameters</a:t>
            </a:r>
          </a:p>
          <a:p>
            <a:pPr marL="1257300" lvl="2" indent="-342900">
              <a:lnSpc>
                <a:spcPts val="3422"/>
              </a:lnSpc>
              <a:buFont typeface="Arial" panose="020B0604020202020204" pitchFamily="34" charset="0"/>
              <a:buChar char="•"/>
            </a:pPr>
            <a:r>
              <a:rPr lang="en-US" sz="2479" spc="-49" dirty="0">
                <a:solidFill>
                  <a:srgbClr val="FFFFFF"/>
                </a:solidFill>
                <a:latin typeface="DM Sans"/>
              </a:rPr>
              <a:t>20 billion parameters</a:t>
            </a:r>
          </a:p>
          <a:p>
            <a:pPr marL="1257300" lvl="2" indent="-342900">
              <a:lnSpc>
                <a:spcPts val="3422"/>
              </a:lnSpc>
              <a:buFont typeface="Arial" panose="020B0604020202020204" pitchFamily="34" charset="0"/>
              <a:buChar char="•"/>
            </a:pPr>
            <a:r>
              <a:rPr lang="en-US" sz="2479" spc="-49" dirty="0">
                <a:solidFill>
                  <a:srgbClr val="FFFFFF"/>
                </a:solidFill>
                <a:latin typeface="DM Sans"/>
              </a:rPr>
              <a:t>70 billion parameters</a:t>
            </a:r>
          </a:p>
          <a:p>
            <a:pPr marL="800100" lvl="1" indent="-342900">
              <a:lnSpc>
                <a:spcPts val="3422"/>
              </a:lnSpc>
              <a:buFont typeface="Arial" panose="020B0604020202020204" pitchFamily="34" charset="0"/>
              <a:buChar char="•"/>
            </a:pPr>
            <a:r>
              <a:rPr lang="en-US" sz="2479" spc="-49" dirty="0">
                <a:solidFill>
                  <a:srgbClr val="FFFFFF"/>
                </a:solidFill>
                <a:latin typeface="DM Sans"/>
              </a:rPr>
              <a:t>Size usually means parameter count</a:t>
            </a:r>
          </a:p>
          <a:p>
            <a:pPr marL="1257300" lvl="2" indent="-342900">
              <a:lnSpc>
                <a:spcPts val="3422"/>
              </a:lnSpc>
              <a:buFont typeface="Arial" panose="020B0604020202020204" pitchFamily="34" charset="0"/>
              <a:buChar char="•"/>
            </a:pPr>
            <a:r>
              <a:rPr lang="en-US" sz="2479" spc="-49" dirty="0">
                <a:solidFill>
                  <a:srgbClr val="FFFFFF"/>
                </a:solidFill>
                <a:latin typeface="DM Sans"/>
              </a:rPr>
              <a:t>more parameters often means more capacity (not always) </a:t>
            </a:r>
          </a:p>
          <a:p>
            <a:pPr marL="1257300" lvl="2" indent="-342900">
              <a:lnSpc>
                <a:spcPts val="3422"/>
              </a:lnSpc>
              <a:buFont typeface="Arial" panose="020B0604020202020204" pitchFamily="34" charset="0"/>
              <a:buChar char="•"/>
            </a:pPr>
            <a:r>
              <a:rPr lang="en-US" sz="2479" spc="-49" dirty="0">
                <a:solidFill>
                  <a:srgbClr val="FFFFFF"/>
                </a:solidFill>
                <a:latin typeface="DM Sans"/>
              </a:rPr>
              <a:t>larger models cost more to run</a:t>
            </a:r>
          </a:p>
          <a:p>
            <a:pPr marL="1257300" lvl="2" indent="-342900">
              <a:lnSpc>
                <a:spcPts val="3422"/>
              </a:lnSpc>
              <a:buFont typeface="Arial" panose="020B0604020202020204" pitchFamily="34" charset="0"/>
              <a:buChar char="•"/>
            </a:pPr>
            <a:r>
              <a:rPr lang="en-US" sz="2479" spc="-49" dirty="0">
                <a:solidFill>
                  <a:srgbClr val="FFFFFF"/>
                </a:solidFill>
                <a:latin typeface="DM Sans"/>
              </a:rPr>
              <a:t>larger models need more memory</a:t>
            </a:r>
          </a:p>
          <a:p>
            <a:pPr marL="1257300" lvl="2" indent="-342900">
              <a:lnSpc>
                <a:spcPts val="3422"/>
              </a:lnSpc>
              <a:buFont typeface="Arial" panose="020B0604020202020204" pitchFamily="34" charset="0"/>
              <a:buChar char="•"/>
            </a:pPr>
            <a:r>
              <a:rPr lang="en-US" sz="2479" spc="-49" dirty="0">
                <a:solidFill>
                  <a:srgbClr val="FFFFFF"/>
                </a:solidFill>
                <a:latin typeface="DM Sans"/>
              </a:rPr>
              <a:t>model size is only one decision factor</a:t>
            </a:r>
          </a:p>
          <a:p>
            <a:pPr marL="1257300" lvl="2"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a:lnSpc>
                <a:spcPts val="3284"/>
              </a:lnSpc>
            </a:pPr>
            <a:endParaRPr lang="en-US" sz="2479" spc="-49" dirty="0">
              <a:solidFill>
                <a:srgbClr val="FFFFFF"/>
              </a:solidFill>
              <a:latin typeface="DM Sans"/>
            </a:endParaRPr>
          </a:p>
        </p:txBody>
      </p:sp>
    </p:spTree>
    <p:extLst>
      <p:ext uri="{BB962C8B-B14F-4D97-AF65-F5344CB8AC3E}">
        <p14:creationId xmlns:p14="http://schemas.microsoft.com/office/powerpoint/2010/main" val="351284922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0F772990-D65B-391D-717B-1922EA5A0ED0}"/>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9BE5A4A5-BD57-0178-17E3-98F3FB9363BC}"/>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09217430-99BC-AC59-DAE2-DFD4DF329991}"/>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30FED30D-257C-3B5A-F5EB-D600DDECBDCB}"/>
              </a:ext>
            </a:extLst>
          </p:cNvPr>
          <p:cNvSpPr txBox="1"/>
          <p:nvPr/>
        </p:nvSpPr>
        <p:spPr>
          <a:xfrm>
            <a:off x="1559180" y="2129797"/>
            <a:ext cx="14497588" cy="1912703"/>
          </a:xfrm>
          <a:prstGeom prst="rect">
            <a:avLst/>
          </a:prstGeom>
        </p:spPr>
        <p:txBody>
          <a:bodyPr wrap="square" lIns="0" tIns="0" rIns="0" bIns="0" rtlCol="0" anchor="t">
            <a:spAutoFit/>
          </a:bodyPr>
          <a:lstStyle/>
          <a:p>
            <a:pPr>
              <a:lnSpc>
                <a:spcPts val="7711"/>
              </a:lnSpc>
              <a:spcBef>
                <a:spcPct val="0"/>
              </a:spcBef>
            </a:pPr>
            <a:r>
              <a:rPr lang="en-AU" sz="4800" dirty="0">
                <a:solidFill>
                  <a:srgbClr val="0CC0DF"/>
                </a:solidFill>
                <a:latin typeface="Now Bold"/>
              </a:rPr>
              <a:t>LARGE LANGUAGE MODEL: QUANTIZATION</a:t>
            </a:r>
            <a:endParaRPr lang="en-US" sz="4800" dirty="0">
              <a:solidFill>
                <a:srgbClr val="0CC0DF"/>
              </a:solidFill>
              <a:latin typeface="Now Bold"/>
            </a:endParaRPr>
          </a:p>
          <a:p>
            <a:pPr marL="0" lvl="0" indent="0">
              <a:lnSpc>
                <a:spcPts val="7711"/>
              </a:lnSpc>
              <a:spcBef>
                <a:spcPct val="0"/>
              </a:spcBef>
            </a:pPr>
            <a:endParaRPr lang="en-US" sz="4800" dirty="0">
              <a:solidFill>
                <a:srgbClr val="0CC0DF"/>
              </a:solidFill>
              <a:latin typeface="Now Bold"/>
            </a:endParaRPr>
          </a:p>
        </p:txBody>
      </p:sp>
      <p:sp>
        <p:nvSpPr>
          <p:cNvPr id="10" name="TextBox 10">
            <a:extLst>
              <a:ext uri="{FF2B5EF4-FFF2-40B4-BE49-F238E27FC236}">
                <a16:creationId xmlns:a16="http://schemas.microsoft.com/office/drawing/2014/main" id="{6566BBF0-386B-7C80-F7A6-4AC1F11A8C90}"/>
              </a:ext>
            </a:extLst>
          </p:cNvPr>
          <p:cNvSpPr txBox="1"/>
          <p:nvPr/>
        </p:nvSpPr>
        <p:spPr>
          <a:xfrm>
            <a:off x="1276216" y="3199284"/>
            <a:ext cx="15142855" cy="4768357"/>
          </a:xfrm>
          <a:prstGeom prst="rect">
            <a:avLst/>
          </a:prstGeom>
        </p:spPr>
        <p:txBody>
          <a:bodyPr wrap="square" lIns="0" tIns="0" rIns="0" bIns="0" rtlCol="0" anchor="t">
            <a:spAutoFit/>
          </a:bodyPr>
          <a:lstStyle/>
          <a:p>
            <a:pPr marL="800100" lvl="1" indent="-342900">
              <a:lnSpc>
                <a:spcPts val="3422"/>
              </a:lnSpc>
              <a:buFont typeface="Arial" panose="020B0604020202020204" pitchFamily="34" charset="0"/>
              <a:buChar char="•"/>
            </a:pPr>
            <a:r>
              <a:rPr lang="en-AU" sz="2800" dirty="0">
                <a:solidFill>
                  <a:schemeClr val="bg1"/>
                </a:solidFill>
              </a:rPr>
              <a:t>Quantization is the process of storing and sometimes computing model values using lower numerical precision, so the model uses less memory and can often run faster.</a:t>
            </a:r>
          </a:p>
          <a:p>
            <a:pPr marL="800100" lvl="1" indent="-342900">
              <a:lnSpc>
                <a:spcPts val="3422"/>
              </a:lnSpc>
              <a:buFont typeface="Arial" panose="020B0604020202020204" pitchFamily="34" charset="0"/>
              <a:buChar char="•"/>
            </a:pPr>
            <a:endParaRPr lang="en-AU" sz="2800" spc="-49" dirty="0">
              <a:solidFill>
                <a:schemeClr val="bg1"/>
              </a:solidFill>
              <a:latin typeface="DM Sans"/>
            </a:endParaRPr>
          </a:p>
          <a:p>
            <a:pPr marL="800100" lvl="1" indent="-342900">
              <a:lnSpc>
                <a:spcPts val="3422"/>
              </a:lnSpc>
              <a:buFont typeface="Arial" panose="020B0604020202020204" pitchFamily="34" charset="0"/>
              <a:buChar char="•"/>
            </a:pPr>
            <a:r>
              <a:rPr lang="en-US" sz="2479" spc="-49" dirty="0">
                <a:solidFill>
                  <a:srgbClr val="FFFFFF"/>
                </a:solidFill>
                <a:latin typeface="DM Sans"/>
              </a:rPr>
              <a:t>Hugging Face defines quantization as lowering memory and computational costs by representing weights and activations with lower-precision data types such as 8-bit integers, instead of higher-precision formats like fp32, while trying to preserve as much accuracy as possible.</a:t>
            </a:r>
          </a:p>
          <a:p>
            <a:pPr marL="800100" lvl="1" indent="-342900">
              <a:lnSpc>
                <a:spcPts val="3422"/>
              </a:lnSpc>
              <a:buFont typeface="Arial" panose="020B0604020202020204" pitchFamily="34" charset="0"/>
              <a:buChar cha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pPr>
            <a:r>
              <a:rPr lang="en-US" sz="2479" spc="-49" dirty="0">
                <a:solidFill>
                  <a:srgbClr val="FFFFFF"/>
                </a:solidFill>
                <a:latin typeface="DM Sans"/>
              </a:rPr>
              <a:t>Quantization shrinks the model’s numerical representation.</a:t>
            </a:r>
          </a:p>
          <a:p>
            <a:pPr marL="1257300" lvl="2" indent="-342900">
              <a:lnSpc>
                <a:spcPts val="3422"/>
              </a:lnSpc>
              <a:buFont typeface="Arial" panose="020B0604020202020204" pitchFamily="34" charset="0"/>
              <a:buChar char="•"/>
            </a:pPr>
            <a:r>
              <a:rPr lang="en-US" sz="2479" spc="-49" dirty="0">
                <a:solidFill>
                  <a:srgbClr val="FFFFFF"/>
                </a:solidFill>
                <a:latin typeface="DM Sans"/>
              </a:rPr>
              <a:t>The goal is to make large models easier to load and run on limited hardware.</a:t>
            </a:r>
          </a:p>
          <a:p>
            <a:pPr marL="1257300" lvl="2" indent="-342900">
              <a:lnSpc>
                <a:spcPts val="3422"/>
              </a:lnSpc>
              <a:buFont typeface="Arial" panose="020B0604020202020204" pitchFamily="34" charset="0"/>
              <a:buChar char="•"/>
            </a:pPr>
            <a:endParaRPr lang="en-US" sz="2479" spc="-49" dirty="0">
              <a:solidFill>
                <a:srgbClr val="FFFFFF"/>
              </a:solidFill>
              <a:latin typeface="DM Sans"/>
            </a:endParaRPr>
          </a:p>
          <a:p>
            <a:pPr>
              <a:lnSpc>
                <a:spcPts val="3284"/>
              </a:lnSpc>
            </a:pPr>
            <a:endParaRPr lang="en-US" sz="2479" spc="-49" dirty="0">
              <a:solidFill>
                <a:srgbClr val="FFFFFF"/>
              </a:solidFill>
              <a:latin typeface="DM Sans"/>
            </a:endParaRPr>
          </a:p>
        </p:txBody>
      </p:sp>
    </p:spTree>
    <p:extLst>
      <p:ext uri="{BB962C8B-B14F-4D97-AF65-F5344CB8AC3E}">
        <p14:creationId xmlns:p14="http://schemas.microsoft.com/office/powerpoint/2010/main" val="169004610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758FF536-4C3C-E7B6-0790-37044D947AA8}"/>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8361E622-EA44-B50C-8454-1AB169870D17}"/>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68E4AC86-6193-8FE4-B22A-8A28D6155D65}"/>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8349F603-0D29-F7F3-4B4A-6AA5D15406A7}"/>
              </a:ext>
            </a:extLst>
          </p:cNvPr>
          <p:cNvSpPr txBox="1"/>
          <p:nvPr/>
        </p:nvSpPr>
        <p:spPr>
          <a:xfrm>
            <a:off x="1559180" y="2083877"/>
            <a:ext cx="14497588" cy="1912703"/>
          </a:xfrm>
          <a:prstGeom prst="rect">
            <a:avLst/>
          </a:prstGeom>
        </p:spPr>
        <p:txBody>
          <a:bodyPr wrap="square" lIns="0" tIns="0" rIns="0" bIns="0" rtlCol="0" anchor="t">
            <a:spAutoFit/>
          </a:bodyPr>
          <a:lstStyle/>
          <a:p>
            <a:pPr>
              <a:lnSpc>
                <a:spcPts val="7711"/>
              </a:lnSpc>
              <a:spcBef>
                <a:spcPct val="0"/>
              </a:spcBef>
            </a:pPr>
            <a:r>
              <a:rPr lang="en-AU" sz="4800" dirty="0">
                <a:solidFill>
                  <a:srgbClr val="0CC0DF"/>
                </a:solidFill>
                <a:latin typeface="Now Bold"/>
              </a:rPr>
              <a:t>LARGE LANGUAGE MODEL: QUANTIZATION</a:t>
            </a:r>
            <a:endParaRPr lang="en-US" sz="4800" dirty="0">
              <a:solidFill>
                <a:srgbClr val="0CC0DF"/>
              </a:solidFill>
              <a:latin typeface="Now Bold"/>
            </a:endParaRPr>
          </a:p>
          <a:p>
            <a:pPr marL="0" lvl="0" indent="0">
              <a:lnSpc>
                <a:spcPts val="7711"/>
              </a:lnSpc>
              <a:spcBef>
                <a:spcPct val="0"/>
              </a:spcBef>
            </a:pPr>
            <a:endParaRPr lang="en-US" sz="4800" dirty="0">
              <a:solidFill>
                <a:srgbClr val="0CC0DF"/>
              </a:solidFill>
              <a:latin typeface="Now Bold"/>
            </a:endParaRPr>
          </a:p>
        </p:txBody>
      </p:sp>
      <p:sp>
        <p:nvSpPr>
          <p:cNvPr id="10" name="TextBox 10">
            <a:extLst>
              <a:ext uri="{FF2B5EF4-FFF2-40B4-BE49-F238E27FC236}">
                <a16:creationId xmlns:a16="http://schemas.microsoft.com/office/drawing/2014/main" id="{A47B7591-D967-6F47-EFBF-CB914AF596B0}"/>
              </a:ext>
            </a:extLst>
          </p:cNvPr>
          <p:cNvSpPr txBox="1"/>
          <p:nvPr/>
        </p:nvSpPr>
        <p:spPr>
          <a:xfrm>
            <a:off x="1276216" y="3040228"/>
            <a:ext cx="15142855" cy="7820474"/>
          </a:xfrm>
          <a:prstGeom prst="rect">
            <a:avLst/>
          </a:prstGeom>
        </p:spPr>
        <p:txBody>
          <a:bodyPr wrap="square" lIns="0" tIns="0" rIns="0" bIns="0" rtlCol="0" anchor="t">
            <a:spAutoFit/>
          </a:bodyPr>
          <a:lstStyle/>
          <a:p>
            <a:pPr marL="800100" lvl="1" indent="-342900">
              <a:lnSpc>
                <a:spcPts val="3422"/>
              </a:lnSpc>
              <a:buFont typeface="Arial" panose="020B0604020202020204" pitchFamily="34" charset="0"/>
              <a:buChar char="•"/>
            </a:pPr>
            <a:r>
              <a:rPr lang="en-US" sz="2479" spc="-49" dirty="0">
                <a:solidFill>
                  <a:srgbClr val="FFFFFF"/>
                </a:solidFill>
                <a:latin typeface="DM Sans"/>
              </a:rPr>
              <a:t>Why does quantization matter?</a:t>
            </a:r>
          </a:p>
          <a:p>
            <a:pPr marL="1257300" lvl="2" indent="-342900">
              <a:lnSpc>
                <a:spcPts val="3422"/>
              </a:lnSpc>
              <a:buFont typeface="Arial" panose="020B0604020202020204" pitchFamily="34" charset="0"/>
              <a:buChar char="•"/>
            </a:pPr>
            <a:r>
              <a:rPr lang="en-US" sz="2479" spc="-49" dirty="0">
                <a:solidFill>
                  <a:srgbClr val="FFFFFF"/>
                </a:solidFill>
                <a:latin typeface="DM Sans"/>
              </a:rPr>
              <a:t>Suppose a model has billions of parameters. Each parameter must be stored as a number. If each number is stored with high precision, the model consumes a lot of memory. If those same numbers are stored with fewer bits, the model becomes much smaller in memory. </a:t>
            </a:r>
          </a:p>
          <a:p>
            <a:pPr marL="1257300" lvl="2" indent="-342900">
              <a:lnSpc>
                <a:spcPts val="3422"/>
              </a:lnSpc>
              <a:buFont typeface="Arial" panose="020B0604020202020204" pitchFamily="34" charset="0"/>
              <a:buChar char="•"/>
            </a:pPr>
            <a:endParaRPr lang="en-US" sz="2479" spc="-49" dirty="0">
              <a:solidFill>
                <a:srgbClr val="FFFFFF"/>
              </a:solidFill>
              <a:latin typeface="DM Sans"/>
            </a:endParaRPr>
          </a:p>
          <a:p>
            <a:pPr marL="1257300" lvl="2" indent="-342900">
              <a:lnSpc>
                <a:spcPts val="3422"/>
              </a:lnSpc>
              <a:buFont typeface="Arial" panose="020B0604020202020204" pitchFamily="34" charset="0"/>
              <a:buChar char="•"/>
            </a:pPr>
            <a:r>
              <a:rPr lang="en-US" sz="2479" spc="-49" dirty="0">
                <a:solidFill>
                  <a:srgbClr val="FFFFFF"/>
                </a:solidFill>
                <a:latin typeface="DM Sans"/>
              </a:rPr>
              <a:t>Quantization enables loading larger models that otherwise would not fit in memory.</a:t>
            </a:r>
          </a:p>
          <a:p>
            <a:pPr marL="1257300" lvl="2" indent="-342900">
              <a:lnSpc>
                <a:spcPts val="3422"/>
              </a:lnSpc>
              <a:buFont typeface="Arial" panose="020B0604020202020204" pitchFamily="34" charset="0"/>
              <a:buChar char="•"/>
            </a:pPr>
            <a:endParaRPr lang="en-US" sz="2479" spc="-49" dirty="0">
              <a:solidFill>
                <a:srgbClr val="FFFFFF"/>
              </a:solidFill>
              <a:latin typeface="DM Sans"/>
            </a:endParaRPr>
          </a:p>
          <a:p>
            <a:pPr marL="914400" lvl="1" indent="-457200">
              <a:lnSpc>
                <a:spcPts val="3422"/>
              </a:lnSpc>
              <a:buFont typeface="Arial" panose="020B0604020202020204" pitchFamily="34" charset="0"/>
              <a:buChar char="•"/>
            </a:pPr>
            <a:r>
              <a:rPr lang="en-AU" sz="2800" dirty="0">
                <a:solidFill>
                  <a:schemeClr val="bg1"/>
                </a:solidFill>
              </a:rPr>
              <a:t>Before quantization, model weights are commonly stored in formats like:</a:t>
            </a:r>
          </a:p>
          <a:p>
            <a:pPr lvl="3">
              <a:lnSpc>
                <a:spcPts val="3422"/>
              </a:lnSpc>
            </a:pPr>
            <a:r>
              <a:rPr lang="en-AU" sz="2800" b="1" u="sng" dirty="0">
                <a:solidFill>
                  <a:schemeClr val="bg1"/>
                </a:solidFill>
              </a:rPr>
              <a:t>fp32</a:t>
            </a:r>
            <a:r>
              <a:rPr lang="en-AU" sz="2800" dirty="0">
                <a:solidFill>
                  <a:schemeClr val="bg1"/>
                </a:solidFill>
              </a:rPr>
              <a:t>: 32-bit floating point</a:t>
            </a:r>
          </a:p>
          <a:p>
            <a:pPr lvl="3">
              <a:lnSpc>
                <a:spcPts val="3422"/>
              </a:lnSpc>
            </a:pPr>
            <a:r>
              <a:rPr lang="en-AU" sz="2800" b="1" u="sng" dirty="0">
                <a:solidFill>
                  <a:schemeClr val="bg1"/>
                </a:solidFill>
              </a:rPr>
              <a:t>fp16</a:t>
            </a:r>
            <a:r>
              <a:rPr lang="en-AU" sz="2800" dirty="0">
                <a:solidFill>
                  <a:schemeClr val="bg1"/>
                </a:solidFill>
              </a:rPr>
              <a:t>: 16-bit floating point -&gt; the precision that is sometimes used for deployment</a:t>
            </a:r>
          </a:p>
          <a:p>
            <a:pPr lvl="3">
              <a:lnSpc>
                <a:spcPts val="3422"/>
              </a:lnSpc>
            </a:pPr>
            <a:r>
              <a:rPr lang="en-AU" sz="2800" b="1" u="sng" dirty="0">
                <a:solidFill>
                  <a:schemeClr val="bg1"/>
                </a:solidFill>
              </a:rPr>
              <a:t>bf16</a:t>
            </a:r>
            <a:r>
              <a:rPr lang="en-AU" sz="2800" dirty="0">
                <a:solidFill>
                  <a:schemeClr val="bg1"/>
                </a:solidFill>
              </a:rPr>
              <a:t>: 16-bit floating point -&gt; precision used for training </a:t>
            </a:r>
          </a:p>
          <a:p>
            <a:pPr marL="914400" lvl="1" indent="-457200">
              <a:lnSpc>
                <a:spcPts val="3422"/>
              </a:lnSpc>
              <a:buFont typeface="Arial" panose="020B0604020202020204" pitchFamily="34" charset="0"/>
              <a:buChar char="•"/>
            </a:pPr>
            <a:r>
              <a:rPr lang="en-AU" sz="2800" dirty="0">
                <a:solidFill>
                  <a:schemeClr val="bg1"/>
                </a:solidFill>
              </a:rPr>
              <a:t>Quantized formats often go lower, such as:</a:t>
            </a:r>
          </a:p>
          <a:p>
            <a:pPr lvl="3">
              <a:lnSpc>
                <a:spcPts val="3422"/>
              </a:lnSpc>
            </a:pPr>
            <a:r>
              <a:rPr lang="en-AU" sz="2800" b="1" u="sng" dirty="0">
                <a:solidFill>
                  <a:schemeClr val="bg1"/>
                </a:solidFill>
              </a:rPr>
              <a:t>int8</a:t>
            </a:r>
            <a:r>
              <a:rPr lang="en-AU" sz="2800" dirty="0">
                <a:solidFill>
                  <a:schemeClr val="bg1"/>
                </a:solidFill>
              </a:rPr>
              <a:t>: 8-bit integers</a:t>
            </a:r>
          </a:p>
          <a:p>
            <a:pPr lvl="3">
              <a:lnSpc>
                <a:spcPts val="3422"/>
              </a:lnSpc>
            </a:pPr>
            <a:r>
              <a:rPr lang="en-AU" sz="2800" b="1" u="sng" dirty="0">
                <a:solidFill>
                  <a:schemeClr val="bg1"/>
                </a:solidFill>
              </a:rPr>
              <a:t>int4</a:t>
            </a:r>
            <a:r>
              <a:rPr lang="en-AU" sz="2800" dirty="0">
                <a:solidFill>
                  <a:schemeClr val="bg1"/>
                </a:solidFill>
              </a:rPr>
              <a:t>: 4-bit representations</a:t>
            </a:r>
          </a:p>
          <a:p>
            <a:pPr lvl="3">
              <a:lnSpc>
                <a:spcPts val="3422"/>
              </a:lnSpc>
            </a:pPr>
            <a:endParaRPr lang="en-AU" sz="2800" dirty="0">
              <a:solidFill>
                <a:schemeClr val="bg1"/>
              </a:solidFill>
            </a:endParaRPr>
          </a:p>
          <a:p>
            <a:pPr lvl="2">
              <a:lnSpc>
                <a:spcPts val="3422"/>
              </a:lnSpc>
            </a:pPr>
            <a:endParaRPr lang="en-AU" sz="2800" dirty="0">
              <a:solidFill>
                <a:schemeClr val="bg1"/>
              </a:solidFill>
            </a:endParaRPr>
          </a:p>
          <a:p>
            <a:pPr lvl="1">
              <a:lnSpc>
                <a:spcPts val="3422"/>
              </a:lnSpc>
            </a:pPr>
            <a:endParaRPr lang="en-AU" sz="2800" dirty="0">
              <a:solidFill>
                <a:schemeClr val="bg1"/>
              </a:solidFill>
            </a:endParaRPr>
          </a:p>
          <a:p>
            <a:pPr>
              <a:lnSpc>
                <a:spcPts val="3284"/>
              </a:lnSpc>
            </a:pPr>
            <a:endParaRPr lang="en-US" sz="2479" spc="-49" dirty="0">
              <a:solidFill>
                <a:srgbClr val="FFFFFF"/>
              </a:solidFill>
              <a:latin typeface="DM Sans"/>
            </a:endParaRPr>
          </a:p>
        </p:txBody>
      </p:sp>
    </p:spTree>
    <p:extLst>
      <p:ext uri="{BB962C8B-B14F-4D97-AF65-F5344CB8AC3E}">
        <p14:creationId xmlns:p14="http://schemas.microsoft.com/office/powerpoint/2010/main" val="342052397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1DEE7BB0-7326-7389-B1B6-E424D7FFFE4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775F68B-47A0-01B3-49C8-1770683C2575}"/>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86BCF950-0F4A-3856-FC48-6D309212A519}"/>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DD44CA37-0CD9-5D82-513B-6A58EBF9D040}"/>
              </a:ext>
            </a:extLst>
          </p:cNvPr>
          <p:cNvSpPr txBox="1"/>
          <p:nvPr/>
        </p:nvSpPr>
        <p:spPr>
          <a:xfrm>
            <a:off x="1559180" y="2129797"/>
            <a:ext cx="14497588" cy="2900153"/>
          </a:xfrm>
          <a:prstGeom prst="rect">
            <a:avLst/>
          </a:prstGeom>
        </p:spPr>
        <p:txBody>
          <a:bodyPr wrap="square" lIns="0" tIns="0" rIns="0" bIns="0" rtlCol="0" anchor="t">
            <a:spAutoFit/>
          </a:bodyPr>
          <a:lstStyle/>
          <a:p>
            <a:pPr>
              <a:lnSpc>
                <a:spcPts val="7711"/>
              </a:lnSpc>
              <a:spcBef>
                <a:spcPct val="0"/>
              </a:spcBef>
            </a:pPr>
            <a:r>
              <a:rPr lang="en-AU" sz="4800" dirty="0">
                <a:solidFill>
                  <a:srgbClr val="0CC0DF"/>
                </a:solidFill>
                <a:latin typeface="Now Bold"/>
              </a:rPr>
              <a:t>LARGE LANGUAGE MODEL: QUANTIZATION</a:t>
            </a:r>
            <a:endParaRPr lang="en-US" sz="4800" dirty="0">
              <a:solidFill>
                <a:srgbClr val="0CC0DF"/>
              </a:solidFill>
              <a:latin typeface="Now Bold"/>
            </a:endParaRPr>
          </a:p>
          <a:p>
            <a:pPr marL="0" lvl="0" indent="0">
              <a:lnSpc>
                <a:spcPts val="7711"/>
              </a:lnSpc>
              <a:spcBef>
                <a:spcPct val="0"/>
              </a:spcBef>
            </a:pPr>
            <a:endParaRPr lang="en-US" sz="4800" dirty="0">
              <a:solidFill>
                <a:srgbClr val="0CC0DF"/>
              </a:solidFill>
              <a:latin typeface="Now Bold"/>
            </a:endParaRPr>
          </a:p>
          <a:p>
            <a:pPr marL="0" lvl="0" indent="0">
              <a:lnSpc>
                <a:spcPts val="7711"/>
              </a:lnSpc>
              <a:spcBef>
                <a:spcPct val="0"/>
              </a:spcBef>
            </a:pPr>
            <a:r>
              <a:rPr lang="en-US" sz="4800" dirty="0">
                <a:solidFill>
                  <a:srgbClr val="0CC0DF"/>
                </a:solidFill>
                <a:latin typeface="Now Bold"/>
              </a:rPr>
              <a:t>	</a:t>
            </a:r>
          </a:p>
        </p:txBody>
      </p:sp>
      <p:sp>
        <p:nvSpPr>
          <p:cNvPr id="10" name="TextBox 10">
            <a:extLst>
              <a:ext uri="{FF2B5EF4-FFF2-40B4-BE49-F238E27FC236}">
                <a16:creationId xmlns:a16="http://schemas.microsoft.com/office/drawing/2014/main" id="{DDE5788A-0C50-F122-334F-BBD1EFD7E215}"/>
              </a:ext>
            </a:extLst>
          </p:cNvPr>
          <p:cNvSpPr txBox="1"/>
          <p:nvPr/>
        </p:nvSpPr>
        <p:spPr>
          <a:xfrm>
            <a:off x="1126168" y="3199284"/>
            <a:ext cx="17135099" cy="6016775"/>
          </a:xfrm>
          <a:prstGeom prst="rect">
            <a:avLst/>
          </a:prstGeom>
        </p:spPr>
        <p:txBody>
          <a:bodyPr wrap="square" lIns="0" tIns="0" rIns="0" bIns="0" rtlCol="0" anchor="t">
            <a:spAutoFit/>
          </a:bodyPr>
          <a:lstStyle/>
          <a:p>
            <a:pPr marL="800100" lvl="1" indent="-342900">
              <a:lnSpc>
                <a:spcPts val="3422"/>
              </a:lnSpc>
              <a:buFont typeface="Arial" panose="020B0604020202020204" pitchFamily="34" charset="0"/>
              <a:buChar char="•"/>
            </a:pPr>
            <a:r>
              <a:rPr lang="en-AU" sz="2479" spc="-49" dirty="0">
                <a:solidFill>
                  <a:srgbClr val="FFFFFF"/>
                </a:solidFill>
                <a:latin typeface="DM Sans"/>
              </a:rPr>
              <a:t>What is being quantized?</a:t>
            </a:r>
          </a:p>
          <a:p>
            <a:pPr marL="1257300" lvl="2" indent="-342900">
              <a:lnSpc>
                <a:spcPts val="3422"/>
              </a:lnSpc>
              <a:buFont typeface="Arial" panose="020B0604020202020204" pitchFamily="34" charset="0"/>
              <a:buChar char="•"/>
            </a:pPr>
            <a:r>
              <a:rPr lang="en-AU" sz="2479" spc="-49" dirty="0">
                <a:solidFill>
                  <a:srgbClr val="FFFFFF"/>
                </a:solidFill>
                <a:latin typeface="DM Sans"/>
              </a:rPr>
              <a:t>Model’s weights</a:t>
            </a:r>
          </a:p>
          <a:p>
            <a:pPr marL="1257300" lvl="2" indent="-342900">
              <a:lnSpc>
                <a:spcPts val="3422"/>
              </a:lnSpc>
              <a:buFont typeface="Arial" panose="020B0604020202020204" pitchFamily="34" charset="0"/>
              <a:buChar char="•"/>
            </a:pPr>
            <a:r>
              <a:rPr lang="en-AU" sz="2479" spc="-49" dirty="0">
                <a:solidFill>
                  <a:srgbClr val="FFFFFF"/>
                </a:solidFill>
                <a:latin typeface="DM Sans"/>
              </a:rPr>
              <a:t>The benefit is lower memory use and often faster inference.</a:t>
            </a:r>
          </a:p>
          <a:p>
            <a:pPr marL="1257300" lvl="2" indent="-342900">
              <a:lnSpc>
                <a:spcPts val="3422"/>
              </a:lnSpc>
              <a:buFont typeface="Arial" panose="020B0604020202020204" pitchFamily="34" charset="0"/>
              <a:buChar char="•"/>
            </a:pPr>
            <a:r>
              <a:rPr lang="en-AU" sz="2479" spc="-49" dirty="0">
                <a:solidFill>
                  <a:srgbClr val="FFFFFF"/>
                </a:solidFill>
                <a:latin typeface="DM Sans"/>
              </a:rPr>
              <a:t>The cost is that some information is lost because numbers are represented less precisely. Quantization can introduce some accuracy loss.</a:t>
            </a: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914400" lvl="1" indent="-457200">
              <a:lnSpc>
                <a:spcPts val="3422"/>
              </a:lnSpc>
              <a:buFont typeface="Arial" panose="020B0604020202020204" pitchFamily="34" charset="0"/>
              <a:buChar char="•"/>
            </a:pPr>
            <a:r>
              <a:rPr lang="en-AU" sz="2800" dirty="0">
                <a:solidFill>
                  <a:schemeClr val="bg1"/>
                </a:solidFill>
              </a:rPr>
              <a:t>More quantization → smaller and faster</a:t>
            </a:r>
          </a:p>
          <a:p>
            <a:pPr marL="914400" lvl="1" indent="-457200">
              <a:lnSpc>
                <a:spcPts val="3422"/>
              </a:lnSpc>
              <a:buFont typeface="Arial" panose="020B0604020202020204" pitchFamily="34" charset="0"/>
              <a:buChar char="•"/>
            </a:pPr>
            <a:r>
              <a:rPr lang="en-AU" sz="2800" dirty="0">
                <a:solidFill>
                  <a:schemeClr val="bg1"/>
                </a:solidFill>
              </a:rPr>
              <a:t>Less quantization → larger and often more accurate</a:t>
            </a:r>
          </a:p>
          <a:p>
            <a:pPr marL="914400" lvl="1" indent="-457200">
              <a:lnSpc>
                <a:spcPts val="3422"/>
              </a:lnSpc>
              <a:buFont typeface="Arial" panose="020B0604020202020204" pitchFamily="34" charset="0"/>
              <a:buChar char="•"/>
            </a:pPr>
            <a:r>
              <a:rPr lang="en-AU" sz="2800" dirty="0">
                <a:solidFill>
                  <a:schemeClr val="bg1"/>
                </a:solidFill>
              </a:rPr>
              <a:t>a 7B model is still a 7B model</a:t>
            </a:r>
          </a:p>
          <a:p>
            <a:pPr marL="1371600" lvl="2" indent="-457200">
              <a:lnSpc>
                <a:spcPts val="3422"/>
              </a:lnSpc>
              <a:buFont typeface="Arial" panose="020B0604020202020204" pitchFamily="34" charset="0"/>
              <a:buChar char="•"/>
            </a:pPr>
            <a:r>
              <a:rPr lang="en-AU" sz="2800" dirty="0">
                <a:solidFill>
                  <a:schemeClr val="bg1"/>
                </a:solidFill>
              </a:rPr>
              <a:t>The actual file size and RAM/VRAM requirement can differ depending on whether it is fp16, int8, 4-bit, GGUF, and so on</a:t>
            </a:r>
          </a:p>
          <a:p>
            <a:pPr lvl="1">
              <a:lnSpc>
                <a:spcPts val="3422"/>
              </a:lnSpc>
            </a:pPr>
            <a:endParaRPr lang="en-AU" sz="2800" dirty="0">
              <a:solidFill>
                <a:schemeClr val="bg1"/>
              </a:solidFill>
            </a:endParaRPr>
          </a:p>
          <a:p>
            <a:pPr>
              <a:lnSpc>
                <a:spcPts val="3284"/>
              </a:lnSpc>
            </a:pPr>
            <a:endParaRPr lang="en-US" sz="1200" spc="-49" dirty="0">
              <a:solidFill>
                <a:srgbClr val="FFFFFF"/>
              </a:solidFill>
              <a:latin typeface="DM Sans"/>
            </a:endParaRPr>
          </a:p>
          <a:p>
            <a:pPr>
              <a:lnSpc>
                <a:spcPts val="3284"/>
              </a:lnSpc>
            </a:pPr>
            <a:r>
              <a:rPr lang="en-US" sz="2000" spc="-49" dirty="0">
                <a:solidFill>
                  <a:srgbClr val="FFFFFF"/>
                </a:solidFill>
                <a:latin typeface="DM Sans"/>
              </a:rPr>
              <a:t>	*</a:t>
            </a:r>
            <a:r>
              <a:rPr lang="en-US" sz="2000" b="1" u="sng" spc="-49" dirty="0">
                <a:solidFill>
                  <a:srgbClr val="FFFFFF"/>
                </a:solidFill>
                <a:latin typeface="DM Sans"/>
              </a:rPr>
              <a:t>GGUF</a:t>
            </a:r>
            <a:r>
              <a:rPr lang="en-US" sz="2000" spc="-49" dirty="0">
                <a:solidFill>
                  <a:srgbClr val="FFFFFF"/>
                </a:solidFill>
                <a:latin typeface="DM Sans"/>
              </a:rPr>
              <a:t>, which stands for </a:t>
            </a:r>
            <a:r>
              <a:rPr lang="en-US" sz="2000" b="1" u="sng" spc="-49" dirty="0">
                <a:solidFill>
                  <a:srgbClr val="FFFFFF"/>
                </a:solidFill>
                <a:latin typeface="DM Sans"/>
              </a:rPr>
              <a:t>GPT-Generated Unified Format</a:t>
            </a:r>
            <a:r>
              <a:rPr lang="en-US" sz="2000" spc="-49" dirty="0">
                <a:solidFill>
                  <a:srgbClr val="FFFFFF"/>
                </a:solidFill>
                <a:latin typeface="DM Sans"/>
              </a:rPr>
              <a:t>, is a modern file format created to store and run LLMs efficiently, </a:t>
            </a:r>
          </a:p>
        </p:txBody>
      </p:sp>
    </p:spTree>
    <p:extLst>
      <p:ext uri="{BB962C8B-B14F-4D97-AF65-F5344CB8AC3E}">
        <p14:creationId xmlns:p14="http://schemas.microsoft.com/office/powerpoint/2010/main" val="300870150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A973CFCC-49D9-6B6B-1CF4-1D83BDAD8F0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E1F9B8E6-E8F9-0F51-DDB7-A2E9D766F2E8}"/>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3429D58E-9662-26FB-1797-4CCBE13F01AB}"/>
              </a:ext>
            </a:extLst>
          </p:cNvPr>
          <p:cNvSpPr/>
          <p:nvPr/>
        </p:nvSpPr>
        <p:spPr>
          <a:xfrm>
            <a:off x="-793104" y="8477685"/>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B309ADD2-DD57-94BF-F5AA-0C98B4A71496}"/>
              </a:ext>
            </a:extLst>
          </p:cNvPr>
          <p:cNvSpPr txBox="1"/>
          <p:nvPr/>
        </p:nvSpPr>
        <p:spPr>
          <a:xfrm>
            <a:off x="1559180" y="2129797"/>
            <a:ext cx="14497588" cy="2900153"/>
          </a:xfrm>
          <a:prstGeom prst="rect">
            <a:avLst/>
          </a:prstGeom>
        </p:spPr>
        <p:txBody>
          <a:bodyPr wrap="square" lIns="0" tIns="0" rIns="0" bIns="0" rtlCol="0" anchor="t">
            <a:spAutoFit/>
          </a:bodyPr>
          <a:lstStyle/>
          <a:p>
            <a:pPr>
              <a:lnSpc>
                <a:spcPts val="7711"/>
              </a:lnSpc>
              <a:spcBef>
                <a:spcPct val="0"/>
              </a:spcBef>
            </a:pPr>
            <a:r>
              <a:rPr lang="en-AU" sz="4800" dirty="0">
                <a:solidFill>
                  <a:srgbClr val="0CC0DF"/>
                </a:solidFill>
                <a:latin typeface="Now Bold"/>
              </a:rPr>
              <a:t>LARGE LANGUAGE MODEL: LOCAL MODELS</a:t>
            </a:r>
            <a:endParaRPr lang="en-US" sz="4800" dirty="0">
              <a:solidFill>
                <a:srgbClr val="0CC0DF"/>
              </a:solidFill>
              <a:latin typeface="Now Bold"/>
            </a:endParaRPr>
          </a:p>
          <a:p>
            <a:pPr marL="0" lvl="0" indent="0">
              <a:lnSpc>
                <a:spcPts val="7711"/>
              </a:lnSpc>
              <a:spcBef>
                <a:spcPct val="0"/>
              </a:spcBef>
            </a:pPr>
            <a:endParaRPr lang="en-US" sz="4800" dirty="0">
              <a:solidFill>
                <a:srgbClr val="0CC0DF"/>
              </a:solidFill>
              <a:latin typeface="Now Bold"/>
            </a:endParaRPr>
          </a:p>
          <a:p>
            <a:pPr marL="0" lvl="0" indent="0">
              <a:lnSpc>
                <a:spcPts val="7711"/>
              </a:lnSpc>
              <a:spcBef>
                <a:spcPct val="0"/>
              </a:spcBef>
            </a:pPr>
            <a:r>
              <a:rPr lang="en-US" sz="4800" dirty="0">
                <a:solidFill>
                  <a:srgbClr val="0CC0DF"/>
                </a:solidFill>
                <a:latin typeface="Now Bold"/>
              </a:rPr>
              <a:t>	</a:t>
            </a:r>
          </a:p>
        </p:txBody>
      </p:sp>
      <p:sp>
        <p:nvSpPr>
          <p:cNvPr id="10" name="TextBox 10">
            <a:extLst>
              <a:ext uri="{FF2B5EF4-FFF2-40B4-BE49-F238E27FC236}">
                <a16:creationId xmlns:a16="http://schemas.microsoft.com/office/drawing/2014/main" id="{3BA7539F-6550-0BCF-F33B-416CA3DBDEC6}"/>
              </a:ext>
            </a:extLst>
          </p:cNvPr>
          <p:cNvSpPr txBox="1"/>
          <p:nvPr/>
        </p:nvSpPr>
        <p:spPr>
          <a:xfrm>
            <a:off x="647056" y="3199284"/>
            <a:ext cx="15142855" cy="8910516"/>
          </a:xfrm>
          <a:prstGeom prst="rect">
            <a:avLst/>
          </a:prstGeom>
        </p:spPr>
        <p:txBody>
          <a:bodyPr wrap="square" lIns="0" tIns="0" rIns="0" bIns="0" rtlCol="0" anchor="t">
            <a:spAutoFit/>
          </a:bodyPr>
          <a:lstStyle/>
          <a:p>
            <a:pPr marL="1257300" lvl="2" indent="-342900">
              <a:lnSpc>
                <a:spcPts val="3422"/>
              </a:lnSpc>
              <a:buFont typeface="Arial" panose="020B0604020202020204" pitchFamily="34" charset="0"/>
              <a:buChar char="•"/>
            </a:pPr>
            <a:r>
              <a:rPr lang="en-AU" sz="2479" spc="-49" dirty="0">
                <a:solidFill>
                  <a:srgbClr val="FFFFFF"/>
                </a:solidFill>
                <a:latin typeface="DM Sans"/>
              </a:rPr>
              <a:t>For downloading open weight resources, NLP algos and opensource ML systems, Hugging face is a great place to start:</a:t>
            </a:r>
          </a:p>
          <a:p>
            <a:pPr marL="2171700" lvl="4" indent="-342900">
              <a:lnSpc>
                <a:spcPts val="3422"/>
              </a:lnSpc>
              <a:buFont typeface="Arial" panose="020B0604020202020204" pitchFamily="34" charset="0"/>
              <a:buChar char="•"/>
            </a:pPr>
            <a:r>
              <a:rPr lang="en-AU" sz="2479" spc="-49" dirty="0">
                <a:solidFill>
                  <a:srgbClr val="FFFFFF"/>
                </a:solidFill>
                <a:latin typeface="DM Sans"/>
              </a:rPr>
              <a:t>Great community support</a:t>
            </a:r>
          </a:p>
          <a:p>
            <a:pPr marL="2171700" lvl="4" indent="-342900">
              <a:lnSpc>
                <a:spcPts val="3422"/>
              </a:lnSpc>
              <a:buFont typeface="Arial" panose="020B0604020202020204" pitchFamily="34" charset="0"/>
              <a:buChar char="•"/>
            </a:pPr>
            <a:r>
              <a:rPr lang="en-AU" sz="2479" spc="-49" dirty="0">
                <a:solidFill>
                  <a:srgbClr val="FFFFFF"/>
                </a:solidFill>
                <a:latin typeface="DM Sans"/>
              </a:rPr>
              <a:t>Many LLMs models and their community forks can be found there: derestricted models, etc.</a:t>
            </a:r>
          </a:p>
          <a:p>
            <a:pPr marL="1257300" lvl="2" indent="-342900">
              <a:buFont typeface="Arial" panose="020B0604020202020204" pitchFamily="34" charset="0"/>
              <a:buChar char="•"/>
            </a:pPr>
            <a:r>
              <a:rPr lang="en-AU" sz="2479" spc="-49" dirty="0" err="1">
                <a:solidFill>
                  <a:srgbClr val="FFFFFF"/>
                </a:solidFill>
                <a:latin typeface="DM Sans"/>
              </a:rPr>
              <a:t>Ollama</a:t>
            </a:r>
            <a:endParaRPr lang="en-AU" sz="2479" spc="-49" dirty="0">
              <a:solidFill>
                <a:srgbClr val="FFFFFF"/>
              </a:solidFill>
              <a:latin typeface="DM Sans"/>
            </a:endParaRPr>
          </a:p>
          <a:p>
            <a:pPr marL="1714500" lvl="3" indent="-342900">
              <a:buFont typeface="Arial" panose="020B0604020202020204" pitchFamily="34" charset="0"/>
              <a:buChar char="•"/>
            </a:pPr>
            <a:r>
              <a:rPr lang="en-AU" sz="2479" spc="-49" dirty="0">
                <a:solidFill>
                  <a:srgbClr val="FFFFFF"/>
                </a:solidFill>
                <a:latin typeface="DM Sans"/>
              </a:rPr>
              <a:t>Simplest setup experience </a:t>
            </a:r>
          </a:p>
          <a:p>
            <a:pPr marL="2171700" lvl="4" indent="-342900">
              <a:buFont typeface="Arial" panose="020B0604020202020204" pitchFamily="34" charset="0"/>
              <a:buChar char="•"/>
            </a:pPr>
            <a:r>
              <a:rPr lang="en-AU" sz="2479" spc="-49" dirty="0">
                <a:solidFill>
                  <a:srgbClr val="FFFFFF"/>
                </a:solidFill>
                <a:latin typeface="DM Sans"/>
              </a:rPr>
              <a:t>get running in minutes with a single command</a:t>
            </a:r>
          </a:p>
          <a:p>
            <a:pPr marL="1714500" lvl="3" indent="-342900">
              <a:buFont typeface="Arial" panose="020B0604020202020204" pitchFamily="34" charset="0"/>
              <a:buChar char="•"/>
            </a:pPr>
            <a:r>
              <a:rPr lang="en-AU" sz="2479" spc="-49" dirty="0">
                <a:solidFill>
                  <a:srgbClr val="FFFFFF"/>
                </a:solidFill>
                <a:latin typeface="DM Sans"/>
              </a:rPr>
              <a:t>Strong and active community with good documentation and plugin support</a:t>
            </a:r>
          </a:p>
          <a:p>
            <a:pPr marL="1714500" lvl="3" indent="-342900">
              <a:buFont typeface="Arial" panose="020B0604020202020204" pitchFamily="34" charset="0"/>
              <a:buChar char="•"/>
            </a:pPr>
            <a:r>
              <a:rPr lang="en-AU" sz="2479" spc="-49" dirty="0">
                <a:solidFill>
                  <a:srgbClr val="FFFFFF"/>
                </a:solidFill>
                <a:latin typeface="DM Sans"/>
              </a:rPr>
              <a:t>Supports both local and cloud inference, with a freemium model for cloud use</a:t>
            </a:r>
          </a:p>
          <a:p>
            <a:pPr marL="1257300" lvl="2" indent="-342900">
              <a:buFont typeface="Arial" panose="020B0604020202020204" pitchFamily="34" charset="0"/>
              <a:buChar char="•"/>
            </a:pPr>
            <a:r>
              <a:rPr lang="en-AU" sz="2479" spc="-49" dirty="0">
                <a:solidFill>
                  <a:srgbClr val="FFFFFF"/>
                </a:solidFill>
                <a:latin typeface="DM Sans"/>
              </a:rPr>
              <a:t>LM Studio</a:t>
            </a:r>
          </a:p>
          <a:p>
            <a:pPr marL="1714500" lvl="3" indent="-342900">
              <a:buFont typeface="Arial" panose="020B0604020202020204" pitchFamily="34" charset="0"/>
              <a:buChar char="•"/>
            </a:pPr>
            <a:r>
              <a:rPr lang="en-AU" sz="2479" spc="-49" dirty="0">
                <a:solidFill>
                  <a:srgbClr val="FFFFFF"/>
                </a:solidFill>
                <a:latin typeface="DM Sans"/>
              </a:rPr>
              <a:t>Fine-grained model control via a polished GUI </a:t>
            </a:r>
          </a:p>
          <a:p>
            <a:pPr marL="2171700" lvl="4" indent="-342900">
              <a:buFont typeface="Arial" panose="020B0604020202020204" pitchFamily="34" charset="0"/>
              <a:buChar char="•"/>
            </a:pPr>
            <a:r>
              <a:rPr lang="en-AU" sz="2479" spc="-49" dirty="0">
                <a:solidFill>
                  <a:srgbClr val="FFFFFF"/>
                </a:solidFill>
                <a:latin typeface="DM Sans"/>
              </a:rPr>
              <a:t>adjust parameters without touching config files</a:t>
            </a:r>
          </a:p>
          <a:p>
            <a:pPr marL="1714500" lvl="3" indent="-342900">
              <a:buFont typeface="Arial" panose="020B0604020202020204" pitchFamily="34" charset="0"/>
              <a:buChar char="•"/>
            </a:pPr>
            <a:r>
              <a:rPr lang="en-AU" sz="2479" spc="-49" dirty="0">
                <a:solidFill>
                  <a:srgbClr val="FFFFFF"/>
                </a:solidFill>
                <a:latin typeface="DM Sans"/>
              </a:rPr>
              <a:t>Broader model library with direct access to Hugging Face models</a:t>
            </a:r>
          </a:p>
          <a:p>
            <a:pPr marL="1714500" lvl="3" indent="-342900">
              <a:buFont typeface="Arial" panose="020B0604020202020204" pitchFamily="34" charset="0"/>
              <a:buChar char="•"/>
            </a:pPr>
            <a:r>
              <a:rPr lang="en-AU" sz="2479" spc="-49" dirty="0">
                <a:solidFill>
                  <a:srgbClr val="FFFFFF"/>
                </a:solidFill>
                <a:latin typeface="DM Sans"/>
              </a:rPr>
              <a:t>Superior GPU/CPU offloading optimization, resulting in noticeably faster inference than </a:t>
            </a:r>
            <a:r>
              <a:rPr lang="en-AU" sz="2479" spc="-49" dirty="0" err="1">
                <a:solidFill>
                  <a:srgbClr val="FFFFFF"/>
                </a:solidFill>
                <a:latin typeface="DM Sans"/>
              </a:rPr>
              <a:t>Ollama</a:t>
            </a:r>
            <a:r>
              <a:rPr lang="en-AU" sz="2479" spc="-49" dirty="0">
                <a:solidFill>
                  <a:srgbClr val="FFFFFF"/>
                </a:solidFill>
                <a:latin typeface="DM Sans"/>
              </a:rPr>
              <a:t> on the same hardware</a:t>
            </a:r>
          </a:p>
          <a:p>
            <a:pPr lvl="3"/>
            <a:endParaRPr lang="en-AU" sz="2479" spc="-49" dirty="0">
              <a:solidFill>
                <a:srgbClr val="FFFFFF"/>
              </a:solidFill>
              <a:latin typeface="DM Sans"/>
            </a:endParaRPr>
          </a:p>
          <a:p>
            <a:pPr marL="2628900" lvl="5" indent="-342900">
              <a:lnSpc>
                <a:spcPts val="3422"/>
              </a:lnSpc>
              <a:buFont typeface="Arial" panose="020B0604020202020204" pitchFamily="34" charset="0"/>
              <a:buChar char="•"/>
            </a:pPr>
            <a:endParaRPr lang="en-AU" sz="2479" spc="-49" dirty="0">
              <a:solidFill>
                <a:srgbClr val="FFFFFF"/>
              </a:solidFill>
              <a:latin typeface="DM Sans"/>
            </a:endParaRPr>
          </a:p>
          <a:p>
            <a:pPr marL="2171700" lvl="4" indent="-342900">
              <a:lnSpc>
                <a:spcPts val="3422"/>
              </a:lnSpc>
              <a:buFont typeface="Arial" panose="020B0604020202020204" pitchFamily="34" charset="0"/>
              <a:buChar char="•"/>
            </a:pPr>
            <a:endParaRPr lang="en-AU" sz="2479" spc="-49" dirty="0">
              <a:solidFill>
                <a:srgbClr val="FFFFFF"/>
              </a:solidFill>
              <a:latin typeface="DM Sans"/>
            </a:endParaRPr>
          </a:p>
          <a:p>
            <a:pPr lvl="1">
              <a:lnSpc>
                <a:spcPts val="3422"/>
              </a:lnSpc>
            </a:pPr>
            <a:endParaRPr lang="en-AU" sz="2479" spc="-49" dirty="0">
              <a:solidFill>
                <a:srgbClr val="FFFFFF"/>
              </a:solidFill>
              <a:latin typeface="DM Sans"/>
            </a:endParaRPr>
          </a:p>
          <a:p>
            <a:pPr marL="1257300" lvl="2" indent="-342900">
              <a:lnSpc>
                <a:spcPts val="3422"/>
              </a:lnSpc>
              <a:buFont typeface="Arial" panose="020B0604020202020204" pitchFamily="34" charset="0"/>
              <a:buChar char="•"/>
            </a:pPr>
            <a:endParaRPr lang="en-AU" sz="2800" dirty="0">
              <a:solidFill>
                <a:schemeClr val="bg1"/>
              </a:solidFill>
            </a:endParaRPr>
          </a:p>
          <a:p>
            <a:pPr lvl="1">
              <a:lnSpc>
                <a:spcPts val="3422"/>
              </a:lnSpc>
            </a:pPr>
            <a:endParaRPr lang="en-AU" sz="2800" dirty="0">
              <a:solidFill>
                <a:schemeClr val="bg1"/>
              </a:solidFill>
            </a:endParaRPr>
          </a:p>
          <a:p>
            <a:pPr>
              <a:lnSpc>
                <a:spcPts val="3284"/>
              </a:lnSpc>
            </a:pPr>
            <a:endParaRPr lang="en-US" sz="2479" spc="-49" dirty="0">
              <a:solidFill>
                <a:srgbClr val="FFFFFF"/>
              </a:solidFill>
              <a:latin typeface="DM Sans"/>
            </a:endParaRPr>
          </a:p>
        </p:txBody>
      </p:sp>
    </p:spTree>
    <p:extLst>
      <p:ext uri="{BB962C8B-B14F-4D97-AF65-F5344CB8AC3E}">
        <p14:creationId xmlns:p14="http://schemas.microsoft.com/office/powerpoint/2010/main" val="14660395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861EE334-D67B-3E1F-2DEF-C1F1AB690177}"/>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955F9B5D-9E82-20A0-C624-D341C1D2CEB4}"/>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5F29276D-937A-ACB1-5BC4-23ED92D5E8E5}"/>
              </a:ext>
            </a:extLst>
          </p:cNvPr>
          <p:cNvSpPr/>
          <p:nvPr/>
        </p:nvSpPr>
        <p:spPr>
          <a:xfrm>
            <a:off x="-793104" y="8477685"/>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62AE59ED-E026-7F5D-DE53-B1F48334CD78}"/>
              </a:ext>
            </a:extLst>
          </p:cNvPr>
          <p:cNvSpPr txBox="1"/>
          <p:nvPr/>
        </p:nvSpPr>
        <p:spPr>
          <a:xfrm>
            <a:off x="1586183" y="1687116"/>
            <a:ext cx="14497588" cy="2900153"/>
          </a:xfrm>
          <a:prstGeom prst="rect">
            <a:avLst/>
          </a:prstGeom>
        </p:spPr>
        <p:txBody>
          <a:bodyPr wrap="square" lIns="0" tIns="0" rIns="0" bIns="0" rtlCol="0" anchor="t">
            <a:spAutoFit/>
          </a:bodyPr>
          <a:lstStyle/>
          <a:p>
            <a:pPr>
              <a:lnSpc>
                <a:spcPts val="7711"/>
              </a:lnSpc>
              <a:spcBef>
                <a:spcPct val="0"/>
              </a:spcBef>
            </a:pPr>
            <a:r>
              <a:rPr lang="en-AU" sz="4800" dirty="0">
                <a:solidFill>
                  <a:srgbClr val="0CC0DF"/>
                </a:solidFill>
                <a:latin typeface="Now Bold"/>
              </a:rPr>
              <a:t>LARGE LANGUAGE MODEL: LOCAL MODELS</a:t>
            </a:r>
            <a:endParaRPr lang="en-US" sz="4800" dirty="0">
              <a:solidFill>
                <a:srgbClr val="0CC0DF"/>
              </a:solidFill>
              <a:latin typeface="Now Bold"/>
            </a:endParaRPr>
          </a:p>
          <a:p>
            <a:pPr marL="0" lvl="0" indent="0">
              <a:lnSpc>
                <a:spcPts val="7711"/>
              </a:lnSpc>
              <a:spcBef>
                <a:spcPct val="0"/>
              </a:spcBef>
            </a:pPr>
            <a:endParaRPr lang="en-US" sz="4800" dirty="0">
              <a:solidFill>
                <a:srgbClr val="0CC0DF"/>
              </a:solidFill>
              <a:latin typeface="Now Bold"/>
            </a:endParaRPr>
          </a:p>
          <a:p>
            <a:pPr marL="0" lvl="0" indent="0">
              <a:lnSpc>
                <a:spcPts val="7711"/>
              </a:lnSpc>
              <a:spcBef>
                <a:spcPct val="0"/>
              </a:spcBef>
            </a:pPr>
            <a:r>
              <a:rPr lang="en-US" sz="4800" dirty="0">
                <a:solidFill>
                  <a:srgbClr val="0CC0DF"/>
                </a:solidFill>
                <a:latin typeface="Now Bold"/>
              </a:rPr>
              <a:t>	</a:t>
            </a:r>
          </a:p>
        </p:txBody>
      </p:sp>
      <p:sp>
        <p:nvSpPr>
          <p:cNvPr id="10" name="TextBox 10">
            <a:extLst>
              <a:ext uri="{FF2B5EF4-FFF2-40B4-BE49-F238E27FC236}">
                <a16:creationId xmlns:a16="http://schemas.microsoft.com/office/drawing/2014/main" id="{D1BB8E95-B4AF-4E0A-E24F-88612CD1844C}"/>
              </a:ext>
            </a:extLst>
          </p:cNvPr>
          <p:cNvSpPr txBox="1"/>
          <p:nvPr/>
        </p:nvSpPr>
        <p:spPr>
          <a:xfrm>
            <a:off x="1407446" y="2407196"/>
            <a:ext cx="15142855" cy="8856014"/>
          </a:xfrm>
          <a:prstGeom prst="rect">
            <a:avLst/>
          </a:prstGeom>
        </p:spPr>
        <p:txBody>
          <a:bodyPr wrap="square" lIns="0" tIns="0" rIns="0" bIns="0" rtlCol="0" anchor="t">
            <a:spAutoFit/>
          </a:bodyPr>
          <a:lstStyle/>
          <a:p>
            <a:pPr lvl="3">
              <a:lnSpc>
                <a:spcPts val="3422"/>
              </a:lnSpc>
            </a:pPr>
            <a:endParaRPr lang="en-AU" sz="2479" spc="-49" dirty="0">
              <a:solidFill>
                <a:srgbClr val="FFFFFF"/>
              </a:solidFill>
              <a:latin typeface="DM Sans"/>
            </a:endParaRPr>
          </a:p>
          <a:p>
            <a:pPr marL="800100" lvl="1" indent="-342900">
              <a:buFont typeface="Arial" panose="020B0604020202020204" pitchFamily="34" charset="0"/>
              <a:buChar char="•"/>
            </a:pPr>
            <a:r>
              <a:rPr lang="en-AU" sz="2479" spc="-49" dirty="0" err="1">
                <a:solidFill>
                  <a:srgbClr val="FFFFFF"/>
                </a:solidFill>
                <a:latin typeface="DM Sans"/>
              </a:rPr>
              <a:t>vLLM</a:t>
            </a:r>
            <a:endParaRPr lang="en-AU" sz="2479" spc="-49" dirty="0">
              <a:solidFill>
                <a:srgbClr val="FFFFFF"/>
              </a:solidFill>
              <a:latin typeface="DM Sans"/>
            </a:endParaRPr>
          </a:p>
          <a:p>
            <a:pPr marL="1257300" lvl="2" indent="-342900">
              <a:buFont typeface="Arial" panose="020B0604020202020204" pitchFamily="34" charset="0"/>
              <a:buChar char="•"/>
            </a:pPr>
            <a:r>
              <a:rPr lang="en-AU" sz="2479" spc="-49" dirty="0">
                <a:solidFill>
                  <a:srgbClr val="FFFFFF"/>
                </a:solidFill>
                <a:latin typeface="DM Sans"/>
              </a:rPr>
              <a:t>Purpose-built for high-throughput, production-grade serving — not just local experimentation</a:t>
            </a:r>
          </a:p>
          <a:p>
            <a:pPr marL="1257300" lvl="2" indent="-342900">
              <a:buFont typeface="Arial" panose="020B0604020202020204" pitchFamily="34" charset="0"/>
              <a:buChar char="•"/>
            </a:pPr>
            <a:r>
              <a:rPr lang="en-AU" sz="2479" spc="-49" dirty="0">
                <a:solidFill>
                  <a:srgbClr val="FFFFFF"/>
                </a:solidFill>
                <a:latin typeface="DM Sans"/>
              </a:rPr>
              <a:t>Uses </a:t>
            </a:r>
            <a:r>
              <a:rPr lang="en-AU" sz="2479" spc="-49" dirty="0" err="1">
                <a:solidFill>
                  <a:srgbClr val="FFFFFF"/>
                </a:solidFill>
                <a:latin typeface="DM Sans"/>
              </a:rPr>
              <a:t>PagedAttention</a:t>
            </a:r>
            <a:r>
              <a:rPr lang="en-AU" sz="2479" spc="-49" dirty="0">
                <a:solidFill>
                  <a:srgbClr val="FFFFFF"/>
                </a:solidFill>
                <a:latin typeface="DM Sans"/>
              </a:rPr>
              <a:t> and continuous batching to dramatically maximize GPU memory efficiency</a:t>
            </a:r>
          </a:p>
          <a:p>
            <a:pPr marL="1257300" lvl="2" indent="-342900">
              <a:buFont typeface="Arial" panose="020B0604020202020204" pitchFamily="34" charset="0"/>
              <a:buChar char="•"/>
            </a:pPr>
            <a:r>
              <a:rPr lang="en-AU" sz="2479" spc="-49" dirty="0">
                <a:solidFill>
                  <a:srgbClr val="FFFFFF"/>
                </a:solidFill>
                <a:latin typeface="DM Sans"/>
              </a:rPr>
              <a:t>Supports multi-GPU and multi-node distributed inference out of the box</a:t>
            </a:r>
          </a:p>
          <a:p>
            <a:pPr marL="1257300" lvl="2" indent="-342900">
              <a:buFont typeface="Arial" panose="020B0604020202020204" pitchFamily="34" charset="0"/>
              <a:buChar char="•"/>
            </a:pPr>
            <a:r>
              <a:rPr lang="en-AU" sz="2479" spc="-49" dirty="0">
                <a:solidFill>
                  <a:srgbClr val="FFFFFF"/>
                </a:solidFill>
                <a:latin typeface="DM Sans"/>
              </a:rPr>
              <a:t>Exposes an OpenAI-compatible REST API, making it drop-in ready for existing toolchains</a:t>
            </a:r>
          </a:p>
          <a:p>
            <a:pPr lvl="5">
              <a:lnSpc>
                <a:spcPts val="3422"/>
              </a:lnSpc>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r>
              <a:rPr lang="en-AU" sz="2479" spc="-49" dirty="0" err="1">
                <a:solidFill>
                  <a:srgbClr val="FFFFFF"/>
                </a:solidFill>
                <a:latin typeface="DM Sans"/>
              </a:rPr>
              <a:t>llama.cpp</a:t>
            </a:r>
            <a:endParaRPr lang="en-AU" sz="2479" spc="-49" dirty="0">
              <a:solidFill>
                <a:srgbClr val="FFFFFF"/>
              </a:solidFill>
              <a:latin typeface="DM Sans"/>
            </a:endParaRPr>
          </a:p>
          <a:p>
            <a:pPr marL="1257300" lvl="2" indent="-342900">
              <a:lnSpc>
                <a:spcPts val="3422"/>
              </a:lnSpc>
              <a:buFont typeface="Arial" panose="020B0604020202020204" pitchFamily="34" charset="0"/>
              <a:buChar char="•"/>
            </a:pPr>
            <a:r>
              <a:rPr lang="en-AU" sz="2479" spc="-49" dirty="0">
                <a:solidFill>
                  <a:srgbClr val="FFFFFF"/>
                </a:solidFill>
                <a:latin typeface="DM Sans"/>
              </a:rPr>
              <a:t>Designed for running LLMs on consumer hardware </a:t>
            </a:r>
          </a:p>
          <a:p>
            <a:pPr marL="1714500" lvl="3" indent="-342900">
              <a:lnSpc>
                <a:spcPts val="3422"/>
              </a:lnSpc>
              <a:buFont typeface="Arial" panose="020B0604020202020204" pitchFamily="34" charset="0"/>
              <a:buChar char="•"/>
            </a:pPr>
            <a:r>
              <a:rPr lang="en-AU" sz="2479" spc="-49" dirty="0">
                <a:solidFill>
                  <a:srgbClr val="FFFFFF"/>
                </a:solidFill>
                <a:latin typeface="DM Sans"/>
              </a:rPr>
              <a:t> CPUs, laptops, and edge devices with little to no GPU required</a:t>
            </a:r>
          </a:p>
          <a:p>
            <a:pPr marL="1257300" lvl="2" indent="-342900">
              <a:lnSpc>
                <a:spcPts val="3422"/>
              </a:lnSpc>
              <a:buFont typeface="Arial" panose="020B0604020202020204" pitchFamily="34" charset="0"/>
              <a:buChar char="•"/>
            </a:pPr>
            <a:r>
              <a:rPr lang="en-AU" sz="2479" spc="-49" dirty="0">
                <a:solidFill>
                  <a:srgbClr val="FFFFFF"/>
                </a:solidFill>
                <a:latin typeface="DM Sans"/>
              </a:rPr>
              <a:t>Uses aggressive quantization (2-bit to 8-bit) to compress model weights, slashing memory requirements while preserving most of the model's quality</a:t>
            </a:r>
          </a:p>
          <a:p>
            <a:pPr marL="1257300" lvl="2" indent="-342900">
              <a:lnSpc>
                <a:spcPts val="3422"/>
              </a:lnSpc>
              <a:buFont typeface="Arial" panose="020B0604020202020204" pitchFamily="34" charset="0"/>
              <a:buChar char="•"/>
            </a:pPr>
            <a:r>
              <a:rPr lang="en-AU" sz="2479" spc="-49" dirty="0">
                <a:solidFill>
                  <a:srgbClr val="FFFFFF"/>
                </a:solidFill>
                <a:latin typeface="DM Sans"/>
              </a:rPr>
              <a:t>Written in pure C/C++ with zero dependencies, making it extremely portable across Windows, macOS and Linux </a:t>
            </a:r>
          </a:p>
          <a:p>
            <a:pPr marL="1257300" lvl="2" indent="-342900">
              <a:lnSpc>
                <a:spcPts val="3422"/>
              </a:lnSpc>
              <a:buFont typeface="Arial" panose="020B0604020202020204" pitchFamily="34" charset="0"/>
              <a:buChar char="•"/>
            </a:pPr>
            <a:r>
              <a:rPr lang="en-AU" sz="2479" spc="-49" dirty="0">
                <a:solidFill>
                  <a:srgbClr val="FFFFFF"/>
                </a:solidFill>
                <a:latin typeface="DM Sans"/>
              </a:rPr>
              <a:t>Powers most local AI tools (</a:t>
            </a:r>
            <a:r>
              <a:rPr lang="en-AU" sz="2479" spc="-49" dirty="0" err="1">
                <a:solidFill>
                  <a:srgbClr val="FFFFFF"/>
                </a:solidFill>
                <a:latin typeface="DM Sans"/>
              </a:rPr>
              <a:t>Ollama</a:t>
            </a:r>
            <a:r>
              <a:rPr lang="en-AU" sz="2479" spc="-49" dirty="0">
                <a:solidFill>
                  <a:srgbClr val="FFFFFF"/>
                </a:solidFill>
                <a:latin typeface="DM Sans"/>
              </a:rPr>
              <a:t>, LM Studio, Jan) under the hood </a:t>
            </a:r>
          </a:p>
          <a:p>
            <a:pPr marL="1714500" lvl="3" indent="-342900">
              <a:lnSpc>
                <a:spcPts val="3422"/>
              </a:lnSpc>
              <a:buFont typeface="Arial" panose="020B0604020202020204" pitchFamily="34" charset="0"/>
              <a:buChar char="•"/>
            </a:pPr>
            <a:r>
              <a:rPr lang="en-AU" sz="2479" spc="-49" dirty="0">
                <a:solidFill>
                  <a:srgbClr val="FFFFFF"/>
                </a:solidFill>
                <a:latin typeface="DM Sans"/>
              </a:rPr>
              <a:t> it is effectively the inference engine of the local-AI ecosystem</a:t>
            </a:r>
          </a:p>
          <a:p>
            <a:pPr marL="1714500" lvl="3" indent="-342900">
              <a:lnSpc>
                <a:spcPts val="3422"/>
              </a:lnSpc>
              <a:buFont typeface="Arial" panose="020B0604020202020204" pitchFamily="34" charset="0"/>
              <a:buChar char="•"/>
            </a:pPr>
            <a:endParaRPr lang="en-AU" sz="2479" spc="-49" dirty="0">
              <a:solidFill>
                <a:srgbClr val="FFFFFF"/>
              </a:solidFill>
              <a:latin typeface="DM Sans"/>
            </a:endParaRPr>
          </a:p>
          <a:p>
            <a:pPr lvl="1">
              <a:lnSpc>
                <a:spcPts val="3422"/>
              </a:lnSpc>
            </a:pPr>
            <a:endParaRPr lang="en-AU" sz="2479" spc="-49" dirty="0">
              <a:solidFill>
                <a:srgbClr val="FFFFFF"/>
              </a:solidFill>
              <a:latin typeface="DM Sans"/>
            </a:endParaRPr>
          </a:p>
          <a:p>
            <a:pPr marL="1257300" lvl="2" indent="-342900">
              <a:lnSpc>
                <a:spcPts val="3422"/>
              </a:lnSpc>
              <a:buFont typeface="Arial" panose="020B0604020202020204" pitchFamily="34" charset="0"/>
              <a:buChar char="•"/>
            </a:pPr>
            <a:endParaRPr lang="en-AU" sz="2800" dirty="0">
              <a:solidFill>
                <a:schemeClr val="bg1"/>
              </a:solidFill>
            </a:endParaRPr>
          </a:p>
          <a:p>
            <a:pPr lvl="1">
              <a:lnSpc>
                <a:spcPts val="3422"/>
              </a:lnSpc>
            </a:pPr>
            <a:endParaRPr lang="en-AU" sz="2800" dirty="0">
              <a:solidFill>
                <a:schemeClr val="bg1"/>
              </a:solidFill>
            </a:endParaRPr>
          </a:p>
          <a:p>
            <a:pPr>
              <a:lnSpc>
                <a:spcPts val="3284"/>
              </a:lnSpc>
            </a:pPr>
            <a:endParaRPr lang="en-US" sz="2479" spc="-49" dirty="0">
              <a:solidFill>
                <a:srgbClr val="FFFFFF"/>
              </a:solidFill>
              <a:latin typeface="DM Sans"/>
            </a:endParaRPr>
          </a:p>
        </p:txBody>
      </p:sp>
    </p:spTree>
    <p:extLst>
      <p:ext uri="{BB962C8B-B14F-4D97-AF65-F5344CB8AC3E}">
        <p14:creationId xmlns:p14="http://schemas.microsoft.com/office/powerpoint/2010/main" val="263966250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11B1EDDB-6FD9-66D3-D110-B467B44EE7C4}"/>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927EEA82-A768-4E5F-435E-0C7ED7700FC0}"/>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38E28D13-5BF7-CC13-DB10-BE30365C4326}"/>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3C1F526E-18C1-D622-3630-89DBAC2A40B9}"/>
              </a:ext>
            </a:extLst>
          </p:cNvPr>
          <p:cNvSpPr txBox="1"/>
          <p:nvPr/>
        </p:nvSpPr>
        <p:spPr>
          <a:xfrm>
            <a:off x="1559180" y="2129797"/>
            <a:ext cx="14497588" cy="2900153"/>
          </a:xfrm>
          <a:prstGeom prst="rect">
            <a:avLst/>
          </a:prstGeom>
        </p:spPr>
        <p:txBody>
          <a:bodyPr wrap="square" lIns="0" tIns="0" rIns="0" bIns="0" rtlCol="0" anchor="t">
            <a:spAutoFit/>
          </a:bodyPr>
          <a:lstStyle/>
          <a:p>
            <a:pPr>
              <a:lnSpc>
                <a:spcPts val="7711"/>
              </a:lnSpc>
              <a:spcBef>
                <a:spcPct val="0"/>
              </a:spcBef>
            </a:pPr>
            <a:r>
              <a:rPr lang="en-AU" sz="4800" dirty="0">
                <a:solidFill>
                  <a:srgbClr val="0CC0DF"/>
                </a:solidFill>
                <a:latin typeface="Now Bold"/>
              </a:rPr>
              <a:t>LARGE LANGUAGE MODEL: JSON</a:t>
            </a:r>
            <a:endParaRPr lang="en-US" sz="4800" dirty="0">
              <a:solidFill>
                <a:srgbClr val="0CC0DF"/>
              </a:solidFill>
              <a:latin typeface="Now Bold"/>
            </a:endParaRPr>
          </a:p>
          <a:p>
            <a:pPr marL="0" lvl="0" indent="0">
              <a:lnSpc>
                <a:spcPts val="7711"/>
              </a:lnSpc>
              <a:spcBef>
                <a:spcPct val="0"/>
              </a:spcBef>
            </a:pPr>
            <a:r>
              <a:rPr lang="en-US" sz="4800" dirty="0">
                <a:solidFill>
                  <a:srgbClr val="0CC0DF"/>
                </a:solidFill>
                <a:latin typeface="Now Bold"/>
              </a:rPr>
              <a:t> </a:t>
            </a:r>
          </a:p>
          <a:p>
            <a:pPr marL="0" lvl="0" indent="0">
              <a:lnSpc>
                <a:spcPts val="7711"/>
              </a:lnSpc>
              <a:spcBef>
                <a:spcPct val="0"/>
              </a:spcBef>
            </a:pPr>
            <a:r>
              <a:rPr lang="en-US" sz="4800" dirty="0">
                <a:solidFill>
                  <a:srgbClr val="0CC0DF"/>
                </a:solidFill>
                <a:latin typeface="Now Bold"/>
              </a:rPr>
              <a:t>	</a:t>
            </a:r>
          </a:p>
        </p:txBody>
      </p:sp>
      <p:sp>
        <p:nvSpPr>
          <p:cNvPr id="10" name="TextBox 10">
            <a:extLst>
              <a:ext uri="{FF2B5EF4-FFF2-40B4-BE49-F238E27FC236}">
                <a16:creationId xmlns:a16="http://schemas.microsoft.com/office/drawing/2014/main" id="{544E26A5-6A15-6865-F4B9-9EEDCA26B308}"/>
              </a:ext>
            </a:extLst>
          </p:cNvPr>
          <p:cNvSpPr txBox="1"/>
          <p:nvPr/>
        </p:nvSpPr>
        <p:spPr>
          <a:xfrm>
            <a:off x="1585965" y="3271292"/>
            <a:ext cx="15142855" cy="3024289"/>
          </a:xfrm>
          <a:prstGeom prst="rect">
            <a:avLst/>
          </a:prstGeom>
        </p:spPr>
        <p:txBody>
          <a:bodyPr wrap="square" lIns="0" tIns="0" rIns="0" bIns="0" rtlCol="0" anchor="t">
            <a:spAutoFit/>
          </a:bodyPr>
          <a:lstStyle/>
          <a:p>
            <a:pPr lvl="1">
              <a:lnSpc>
                <a:spcPts val="3422"/>
              </a:lnSpc>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r>
              <a:rPr lang="en-AU" sz="2479" spc="-49" dirty="0">
                <a:solidFill>
                  <a:srgbClr val="FFFFFF"/>
                </a:solidFill>
                <a:latin typeface="DM Sans"/>
              </a:rPr>
              <a:t>JSON stands for JavaScript Object Notation. It is a plain text format for storing and exchanging structured data.</a:t>
            </a:r>
          </a:p>
          <a:p>
            <a:pPr marL="800100" lvl="1" indent="-342900">
              <a:lnSpc>
                <a:spcPts val="3422"/>
              </a:lnSpc>
              <a:buFont typeface="Arial" panose="020B0604020202020204" pitchFamily="34" charset="0"/>
              <a:buChar char="•"/>
            </a:pPr>
            <a:r>
              <a:rPr lang="en-AU" sz="2479" spc="-49" dirty="0">
                <a:solidFill>
                  <a:srgbClr val="FFFFFF"/>
                </a:solidFill>
                <a:latin typeface="DM Sans"/>
              </a:rPr>
              <a:t>JSON is just a standardized way to organize and transport data so that different systems can understand each other.</a:t>
            </a: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a:lnSpc>
                <a:spcPts val="3284"/>
              </a:lnSpc>
            </a:pPr>
            <a:endParaRPr lang="en-US" sz="2479" spc="-49" dirty="0">
              <a:solidFill>
                <a:srgbClr val="FFFFFF"/>
              </a:solidFill>
              <a:latin typeface="DM Sans"/>
            </a:endParaRPr>
          </a:p>
        </p:txBody>
      </p:sp>
      <p:pic>
        <p:nvPicPr>
          <p:cNvPr id="7" name="Picture 6">
            <a:extLst>
              <a:ext uri="{FF2B5EF4-FFF2-40B4-BE49-F238E27FC236}">
                <a16:creationId xmlns:a16="http://schemas.microsoft.com/office/drawing/2014/main" id="{097F73F8-3F5A-CDF3-6CAE-A04A7D177A82}"/>
              </a:ext>
            </a:extLst>
          </p:cNvPr>
          <p:cNvPicPr>
            <a:picLocks noChangeAspect="1"/>
          </p:cNvPicPr>
          <p:nvPr/>
        </p:nvPicPr>
        <p:blipFill>
          <a:blip r:embed="rId4"/>
          <a:stretch>
            <a:fillRect/>
          </a:stretch>
        </p:blipFill>
        <p:spPr>
          <a:xfrm>
            <a:off x="5597606" y="5863580"/>
            <a:ext cx="7092788" cy="3720095"/>
          </a:xfrm>
          <a:prstGeom prst="rect">
            <a:avLst/>
          </a:prstGeom>
        </p:spPr>
      </p:pic>
    </p:spTree>
    <p:extLst>
      <p:ext uri="{BB962C8B-B14F-4D97-AF65-F5344CB8AC3E}">
        <p14:creationId xmlns:p14="http://schemas.microsoft.com/office/powerpoint/2010/main" val="273270377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B2FFBA4E-1004-6A02-8E03-7E029960F23E}"/>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49CFEAE5-089D-8F30-49D4-4B7317FDD4B9}"/>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34B7FFCE-631F-583D-DF0A-DD091E0D471C}"/>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710EDCA1-B430-DC92-0D7A-8F6702E872D7}"/>
              </a:ext>
            </a:extLst>
          </p:cNvPr>
          <p:cNvSpPr txBox="1"/>
          <p:nvPr/>
        </p:nvSpPr>
        <p:spPr>
          <a:xfrm>
            <a:off x="1559180" y="2129797"/>
            <a:ext cx="14497588" cy="2900153"/>
          </a:xfrm>
          <a:prstGeom prst="rect">
            <a:avLst/>
          </a:prstGeom>
        </p:spPr>
        <p:txBody>
          <a:bodyPr wrap="square" lIns="0" tIns="0" rIns="0" bIns="0" rtlCol="0" anchor="t">
            <a:spAutoFit/>
          </a:bodyPr>
          <a:lstStyle/>
          <a:p>
            <a:pPr>
              <a:lnSpc>
                <a:spcPts val="7711"/>
              </a:lnSpc>
              <a:spcBef>
                <a:spcPct val="0"/>
              </a:spcBef>
            </a:pPr>
            <a:r>
              <a:rPr lang="en-AU" sz="4800" dirty="0">
                <a:solidFill>
                  <a:srgbClr val="0CC0DF"/>
                </a:solidFill>
                <a:latin typeface="Now Bold"/>
              </a:rPr>
              <a:t>LARGE LANGUAGE MODEL: JSON</a:t>
            </a:r>
            <a:endParaRPr lang="en-US" sz="4800" dirty="0">
              <a:solidFill>
                <a:srgbClr val="0CC0DF"/>
              </a:solidFill>
              <a:latin typeface="Now Bold"/>
            </a:endParaRPr>
          </a:p>
          <a:p>
            <a:pPr marL="0" lvl="0" indent="0">
              <a:lnSpc>
                <a:spcPts val="7711"/>
              </a:lnSpc>
              <a:spcBef>
                <a:spcPct val="0"/>
              </a:spcBef>
            </a:pPr>
            <a:r>
              <a:rPr lang="en-US" sz="4800" dirty="0">
                <a:solidFill>
                  <a:srgbClr val="0CC0DF"/>
                </a:solidFill>
                <a:latin typeface="Now Bold"/>
              </a:rPr>
              <a:t> </a:t>
            </a:r>
          </a:p>
          <a:p>
            <a:pPr marL="0" lvl="0" indent="0">
              <a:lnSpc>
                <a:spcPts val="7711"/>
              </a:lnSpc>
              <a:spcBef>
                <a:spcPct val="0"/>
              </a:spcBef>
            </a:pPr>
            <a:r>
              <a:rPr lang="en-US" sz="4800" dirty="0">
                <a:solidFill>
                  <a:srgbClr val="0CC0DF"/>
                </a:solidFill>
                <a:latin typeface="Now Bold"/>
              </a:rPr>
              <a:t>	</a:t>
            </a:r>
          </a:p>
        </p:txBody>
      </p:sp>
      <p:sp>
        <p:nvSpPr>
          <p:cNvPr id="10" name="TextBox 10">
            <a:extLst>
              <a:ext uri="{FF2B5EF4-FFF2-40B4-BE49-F238E27FC236}">
                <a16:creationId xmlns:a16="http://schemas.microsoft.com/office/drawing/2014/main" id="{BF0A9527-27BC-E350-9A53-40BAA787108A}"/>
              </a:ext>
            </a:extLst>
          </p:cNvPr>
          <p:cNvSpPr txBox="1"/>
          <p:nvPr/>
        </p:nvSpPr>
        <p:spPr>
          <a:xfrm>
            <a:off x="1585965" y="3447679"/>
            <a:ext cx="15142855" cy="7820474"/>
          </a:xfrm>
          <a:prstGeom prst="rect">
            <a:avLst/>
          </a:prstGeom>
        </p:spPr>
        <p:txBody>
          <a:bodyPr wrap="square" lIns="0" tIns="0" rIns="0" bIns="0" rtlCol="0" anchor="t">
            <a:spAutoFit/>
          </a:bodyPr>
          <a:lstStyle/>
          <a:p>
            <a:pPr marL="800100" lvl="1" indent="-342900">
              <a:lnSpc>
                <a:spcPts val="3422"/>
              </a:lnSpc>
              <a:buFont typeface="Arial" panose="020B0604020202020204" pitchFamily="34" charset="0"/>
              <a:buChar char="•"/>
            </a:pPr>
            <a:r>
              <a:rPr lang="en-AU" sz="2479" spc="-49" dirty="0">
                <a:solidFill>
                  <a:srgbClr val="FFFFFF"/>
                </a:solidFill>
                <a:latin typeface="DM Sans"/>
              </a:rPr>
              <a:t>Where JSON is Used in Agentic Systems</a:t>
            </a:r>
          </a:p>
          <a:p>
            <a:pPr marL="1257300" lvl="2" indent="-342900">
              <a:lnSpc>
                <a:spcPts val="3422"/>
              </a:lnSpc>
              <a:buFont typeface="Arial" panose="020B0604020202020204" pitchFamily="34" charset="0"/>
              <a:buChar char="•"/>
            </a:pPr>
            <a:r>
              <a:rPr lang="en-AU" sz="2479" spc="-49" dirty="0">
                <a:solidFill>
                  <a:srgbClr val="FFFFFF"/>
                </a:solidFill>
                <a:latin typeface="DM Sans"/>
              </a:rPr>
              <a:t>Tool arguments:  passing inputs to tools the agent calls</a:t>
            </a:r>
          </a:p>
          <a:p>
            <a:pPr marL="1257300" lvl="2" indent="-342900">
              <a:lnSpc>
                <a:spcPts val="3422"/>
              </a:lnSpc>
              <a:buFont typeface="Arial" panose="020B0604020202020204" pitchFamily="34" charset="0"/>
              <a:buChar char="•"/>
            </a:pPr>
            <a:r>
              <a:rPr lang="en-AU" sz="2479" spc="-49" dirty="0">
                <a:solidFill>
                  <a:srgbClr val="FFFFFF"/>
                </a:solidFill>
                <a:latin typeface="DM Sans"/>
              </a:rPr>
              <a:t>Structured outputs: ensuring the model returns data in a predictable format</a:t>
            </a:r>
          </a:p>
          <a:p>
            <a:pPr marL="1257300" lvl="2" indent="-342900">
              <a:lnSpc>
                <a:spcPts val="3422"/>
              </a:lnSpc>
              <a:buFont typeface="Arial" panose="020B0604020202020204" pitchFamily="34" charset="0"/>
              <a:buChar char="•"/>
            </a:pPr>
            <a:r>
              <a:rPr lang="en-AU" sz="2479" spc="-49" dirty="0">
                <a:solidFill>
                  <a:srgbClr val="FFFFFF"/>
                </a:solidFill>
                <a:latin typeface="DM Sans"/>
              </a:rPr>
              <a:t>Configuration: defining system settings and parameters</a:t>
            </a:r>
          </a:p>
          <a:p>
            <a:pPr marL="1257300" lvl="2" indent="-342900">
              <a:lnSpc>
                <a:spcPts val="3422"/>
              </a:lnSpc>
              <a:buFont typeface="Arial" panose="020B0604020202020204" pitchFamily="34" charset="0"/>
              <a:buChar char="•"/>
            </a:pPr>
            <a:r>
              <a:rPr lang="en-AU" sz="2479" spc="-49" dirty="0">
                <a:solidFill>
                  <a:srgbClr val="FFFFFF"/>
                </a:solidFill>
                <a:latin typeface="DM Sans"/>
              </a:rPr>
              <a:t>API payloads: packaging data sent to and received from external services</a:t>
            </a:r>
          </a:p>
          <a:p>
            <a:pPr marL="1257300" lvl="2" indent="-342900">
              <a:lnSpc>
                <a:spcPts val="3422"/>
              </a:lnSpc>
              <a:buFont typeface="Arial" panose="020B0604020202020204" pitchFamily="34" charset="0"/>
              <a:buChar char="•"/>
            </a:pPr>
            <a:r>
              <a:rPr lang="en-AU" sz="2479" spc="-49" dirty="0">
                <a:solidFill>
                  <a:srgbClr val="FFFFFF"/>
                </a:solidFill>
                <a:latin typeface="DM Sans"/>
              </a:rPr>
              <a:t>Workflow state: tracking what has happened and what comes next</a:t>
            </a:r>
          </a:p>
          <a:p>
            <a:pPr marL="1257300" lvl="2" indent="-342900">
              <a:lnSpc>
                <a:spcPts val="3422"/>
              </a:lnSpc>
              <a:buFont typeface="Arial" panose="020B0604020202020204" pitchFamily="34" charset="0"/>
              <a:buChar char="•"/>
            </a:pPr>
            <a:r>
              <a:rPr lang="en-AU" sz="2479" spc="-49" dirty="0">
                <a:solidFill>
                  <a:srgbClr val="FFFFFF"/>
                </a:solidFill>
                <a:latin typeface="DM Sans"/>
              </a:rPr>
              <a:t>Message exchange: standardizing communication between components</a:t>
            </a:r>
          </a:p>
          <a:p>
            <a:pPr lvl="1">
              <a:lnSpc>
                <a:spcPts val="3422"/>
              </a:lnSpc>
            </a:pPr>
            <a:br>
              <a:rPr lang="en-AU" sz="2479" spc="-49" dirty="0">
                <a:solidFill>
                  <a:srgbClr val="FFFFFF"/>
                </a:solidFill>
                <a:latin typeface="DM Sans"/>
              </a:rPr>
            </a:b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r>
              <a:rPr lang="en-AU" sz="2479" spc="-49" dirty="0">
                <a:solidFill>
                  <a:srgbClr val="FFFFFF"/>
                </a:solidFill>
                <a:latin typeface="DM Sans"/>
              </a:rPr>
              <a:t>Why JSON Matters for Agents</a:t>
            </a:r>
          </a:p>
          <a:p>
            <a:pPr marL="1257300" lvl="2" indent="-342900">
              <a:lnSpc>
                <a:spcPts val="3422"/>
              </a:lnSpc>
              <a:buFont typeface="Arial" panose="020B0604020202020204" pitchFamily="34" charset="0"/>
              <a:buChar char="•"/>
            </a:pPr>
            <a:r>
              <a:rPr lang="en-AU" sz="2479" spc="-49" dirty="0">
                <a:solidFill>
                  <a:srgbClr val="FFFFFF"/>
                </a:solidFill>
                <a:latin typeface="DM Sans"/>
              </a:rPr>
              <a:t>Outputs can be validated: bad or malformed data gets caught before it causes issues</a:t>
            </a:r>
          </a:p>
          <a:p>
            <a:pPr marL="1257300" lvl="2" indent="-342900">
              <a:lnSpc>
                <a:spcPts val="3422"/>
              </a:lnSpc>
              <a:buFont typeface="Arial" panose="020B0604020202020204" pitchFamily="34" charset="0"/>
              <a:buChar char="•"/>
            </a:pPr>
            <a:r>
              <a:rPr lang="en-AU" sz="2479" spc="-49" dirty="0">
                <a:solidFill>
                  <a:srgbClr val="FFFFFF"/>
                </a:solidFill>
                <a:latin typeface="DM Sans"/>
              </a:rPr>
              <a:t>Applications can read exact fields : no guessing or parsing free-form text</a:t>
            </a:r>
          </a:p>
          <a:p>
            <a:pPr marL="1257300" lvl="2" indent="-342900">
              <a:lnSpc>
                <a:spcPts val="3422"/>
              </a:lnSpc>
              <a:buFont typeface="Arial" panose="020B0604020202020204" pitchFamily="34" charset="0"/>
              <a:buChar char="•"/>
            </a:pPr>
            <a:r>
              <a:rPr lang="en-AU" sz="2479" spc="-49" dirty="0">
                <a:solidFill>
                  <a:srgbClr val="FFFFFF"/>
                </a:solidFill>
                <a:latin typeface="DM Sans"/>
              </a:rPr>
              <a:t>Tools can be called safely and predictably: the agent knows exactly what to pass and what to expect back</a:t>
            </a: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1714500" lvl="3"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a:lnSpc>
                <a:spcPts val="3284"/>
              </a:lnSpc>
            </a:pPr>
            <a:endParaRPr lang="en-US" sz="2479" spc="-49" dirty="0">
              <a:solidFill>
                <a:srgbClr val="FFFFFF"/>
              </a:solidFill>
              <a:latin typeface="DM Sans"/>
            </a:endParaRPr>
          </a:p>
        </p:txBody>
      </p:sp>
    </p:spTree>
    <p:extLst>
      <p:ext uri="{BB962C8B-B14F-4D97-AF65-F5344CB8AC3E}">
        <p14:creationId xmlns:p14="http://schemas.microsoft.com/office/powerpoint/2010/main" val="130869181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642D819B-32CB-051B-89B9-6D6AF36B38A7}"/>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17C46DB-7A9D-9DD8-3011-4DEBF53E25E0}"/>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9C50D7E6-BAE5-AE7E-E95D-F48E44A3B5D2}"/>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93B996C1-1DBB-4029-1A92-8E353D3C596A}"/>
              </a:ext>
            </a:extLst>
          </p:cNvPr>
          <p:cNvSpPr txBox="1"/>
          <p:nvPr/>
        </p:nvSpPr>
        <p:spPr>
          <a:xfrm>
            <a:off x="1616234" y="1562526"/>
            <a:ext cx="14497588" cy="2900153"/>
          </a:xfrm>
          <a:prstGeom prst="rect">
            <a:avLst/>
          </a:prstGeom>
        </p:spPr>
        <p:txBody>
          <a:bodyPr wrap="square" lIns="0" tIns="0" rIns="0" bIns="0" rtlCol="0" anchor="t">
            <a:spAutoFit/>
          </a:bodyPr>
          <a:lstStyle/>
          <a:p>
            <a:pPr>
              <a:lnSpc>
                <a:spcPts val="7711"/>
              </a:lnSpc>
              <a:spcBef>
                <a:spcPct val="0"/>
              </a:spcBef>
            </a:pPr>
            <a:r>
              <a:rPr lang="en-AU" sz="4800" dirty="0">
                <a:solidFill>
                  <a:srgbClr val="0CC0DF"/>
                </a:solidFill>
                <a:latin typeface="Now Bold"/>
              </a:rPr>
              <a:t>LARGE LANGUAGE MODEL: JSON</a:t>
            </a:r>
            <a:endParaRPr lang="en-US" sz="4800" dirty="0">
              <a:solidFill>
                <a:srgbClr val="0CC0DF"/>
              </a:solidFill>
              <a:latin typeface="Now Bold"/>
            </a:endParaRPr>
          </a:p>
          <a:p>
            <a:pPr marL="0" lvl="0" indent="0">
              <a:lnSpc>
                <a:spcPts val="7711"/>
              </a:lnSpc>
              <a:spcBef>
                <a:spcPct val="0"/>
              </a:spcBef>
            </a:pPr>
            <a:r>
              <a:rPr lang="en-US" sz="4800" dirty="0">
                <a:solidFill>
                  <a:srgbClr val="0CC0DF"/>
                </a:solidFill>
                <a:latin typeface="Now Bold"/>
              </a:rPr>
              <a:t> </a:t>
            </a:r>
          </a:p>
          <a:p>
            <a:pPr marL="0" lvl="0" indent="0">
              <a:lnSpc>
                <a:spcPts val="7711"/>
              </a:lnSpc>
              <a:spcBef>
                <a:spcPct val="0"/>
              </a:spcBef>
            </a:pPr>
            <a:r>
              <a:rPr lang="en-US" sz="4800" dirty="0">
                <a:solidFill>
                  <a:srgbClr val="0CC0DF"/>
                </a:solidFill>
                <a:latin typeface="Now Bold"/>
              </a:rPr>
              <a:t>	</a:t>
            </a:r>
          </a:p>
        </p:txBody>
      </p:sp>
      <p:sp>
        <p:nvSpPr>
          <p:cNvPr id="10" name="TextBox 10">
            <a:extLst>
              <a:ext uri="{FF2B5EF4-FFF2-40B4-BE49-F238E27FC236}">
                <a16:creationId xmlns:a16="http://schemas.microsoft.com/office/drawing/2014/main" id="{AF5CF41A-AEB1-4C05-3960-9200BC47CB57}"/>
              </a:ext>
            </a:extLst>
          </p:cNvPr>
          <p:cNvSpPr txBox="1"/>
          <p:nvPr/>
        </p:nvSpPr>
        <p:spPr>
          <a:xfrm>
            <a:off x="1572572" y="2695228"/>
            <a:ext cx="15142855" cy="8256491"/>
          </a:xfrm>
          <a:prstGeom prst="rect">
            <a:avLst/>
          </a:prstGeom>
        </p:spPr>
        <p:txBody>
          <a:bodyPr wrap="square" lIns="0" tIns="0" rIns="0" bIns="0" rtlCol="0" anchor="t">
            <a:spAutoFit/>
          </a:bodyPr>
          <a:lstStyle/>
          <a:p>
            <a:pPr marL="800100" lvl="1" indent="-342900">
              <a:lnSpc>
                <a:spcPts val="3422"/>
              </a:lnSpc>
              <a:buFont typeface="Arial" panose="020B0604020202020204" pitchFamily="34" charset="0"/>
              <a:buChar char="•"/>
            </a:pPr>
            <a:r>
              <a:rPr lang="en-AU" sz="2479" spc="-49" dirty="0">
                <a:solidFill>
                  <a:srgbClr val="FFFFFF"/>
                </a:solidFill>
                <a:latin typeface="DM Sans"/>
              </a:rPr>
              <a:t>LLM initially doesn’t know how to generate reliable tool since it doesn’t know the JSON schema required for tool calling. We need to explain: </a:t>
            </a:r>
          </a:p>
          <a:p>
            <a:pPr marL="1257300" lvl="2" indent="-342900">
              <a:lnSpc>
                <a:spcPts val="3422"/>
              </a:lnSpc>
              <a:buFont typeface="Arial" panose="020B0604020202020204" pitchFamily="34" charset="0"/>
              <a:buChar char="•"/>
            </a:pPr>
            <a:r>
              <a:rPr lang="en-AU" sz="2479" spc="-49" dirty="0">
                <a:solidFill>
                  <a:srgbClr val="FFFFFF"/>
                </a:solidFill>
                <a:latin typeface="DM Sans"/>
              </a:rPr>
              <a:t>what tools are available</a:t>
            </a:r>
          </a:p>
          <a:p>
            <a:pPr marL="1257300" lvl="2" indent="-342900">
              <a:lnSpc>
                <a:spcPts val="3422"/>
              </a:lnSpc>
              <a:buFont typeface="Arial" panose="020B0604020202020204" pitchFamily="34" charset="0"/>
              <a:buChar char="•"/>
            </a:pPr>
            <a:r>
              <a:rPr lang="en-AU" sz="2479" spc="-49" dirty="0">
                <a:solidFill>
                  <a:srgbClr val="FFFFFF"/>
                </a:solidFill>
                <a:latin typeface="DM Sans"/>
              </a:rPr>
              <a:t>when to call them</a:t>
            </a:r>
          </a:p>
          <a:p>
            <a:pPr marL="1257300" lvl="2" indent="-342900">
              <a:lnSpc>
                <a:spcPts val="3422"/>
              </a:lnSpc>
              <a:buFont typeface="Arial" panose="020B0604020202020204" pitchFamily="34" charset="0"/>
              <a:buChar char="•"/>
            </a:pPr>
            <a:r>
              <a:rPr lang="en-AU" sz="2479" spc="-49" dirty="0">
                <a:solidFill>
                  <a:srgbClr val="FFFFFF"/>
                </a:solidFill>
                <a:latin typeface="DM Sans"/>
              </a:rPr>
              <a:t>how to call them </a:t>
            </a:r>
          </a:p>
          <a:p>
            <a:pPr marL="800100" lvl="1" indent="-342900">
              <a:lnSpc>
                <a:spcPts val="3422"/>
              </a:lnSpc>
              <a:buFont typeface="Arial" panose="020B0604020202020204" pitchFamily="34" charset="0"/>
              <a:buChar char="•"/>
            </a:pPr>
            <a:r>
              <a:rPr lang="en-AU" sz="2479" b="1" u="sng" spc="-49" dirty="0">
                <a:solidFill>
                  <a:srgbClr val="FFFFFF"/>
                </a:solidFill>
                <a:latin typeface="DM Sans"/>
              </a:rPr>
              <a:t>Tool Schemas as Contracts</a:t>
            </a:r>
          </a:p>
          <a:p>
            <a:pPr marL="1257300" lvl="2" indent="-342900">
              <a:lnSpc>
                <a:spcPts val="3422"/>
              </a:lnSpc>
              <a:buFont typeface="Arial" panose="020B0604020202020204" pitchFamily="34" charset="0"/>
              <a:buChar char="•"/>
            </a:pPr>
            <a:r>
              <a:rPr lang="en-AU" sz="2479" spc="-49" dirty="0">
                <a:solidFill>
                  <a:srgbClr val="FFFFFF"/>
                </a:solidFill>
                <a:latin typeface="DM Sans"/>
              </a:rPr>
              <a:t>A tool schema is a formal contract between the agent and the outside world </a:t>
            </a:r>
          </a:p>
          <a:p>
            <a:pPr marL="1714500" lvl="3" indent="-342900">
              <a:lnSpc>
                <a:spcPts val="3422"/>
              </a:lnSpc>
              <a:buFont typeface="Arial" panose="020B0604020202020204" pitchFamily="34" charset="0"/>
              <a:buChar char="•"/>
            </a:pPr>
            <a:r>
              <a:rPr lang="en-AU" sz="2479" spc="-49" dirty="0">
                <a:solidFill>
                  <a:srgbClr val="FFFFFF"/>
                </a:solidFill>
                <a:latin typeface="DM Sans"/>
              </a:rPr>
              <a:t>it specifies what the agent must provide and what it will receive back</a:t>
            </a:r>
          </a:p>
          <a:p>
            <a:pPr marL="1257300" lvl="2" indent="-342900">
              <a:lnSpc>
                <a:spcPts val="3422"/>
              </a:lnSpc>
              <a:buFont typeface="Arial" panose="020B0604020202020204" pitchFamily="34" charset="0"/>
              <a:buChar char="•"/>
            </a:pPr>
            <a:r>
              <a:rPr lang="en-AU" sz="2479" spc="-49" dirty="0">
                <a:solidFill>
                  <a:srgbClr val="FFFFFF"/>
                </a:solidFill>
                <a:latin typeface="DM Sans"/>
              </a:rPr>
              <a:t>Defined in JSON Schema: </a:t>
            </a:r>
          </a:p>
          <a:p>
            <a:pPr marL="1714500" lvl="3" indent="-342900">
              <a:lnSpc>
                <a:spcPts val="3422"/>
              </a:lnSpc>
              <a:buFont typeface="Arial" panose="020B0604020202020204" pitchFamily="34" charset="0"/>
              <a:buChar char="•"/>
            </a:pPr>
            <a:r>
              <a:rPr lang="en-AU" sz="2479" spc="-49" dirty="0">
                <a:solidFill>
                  <a:srgbClr val="FFFFFF"/>
                </a:solidFill>
                <a:latin typeface="DM Sans"/>
              </a:rPr>
              <a:t>Field names, </a:t>
            </a:r>
          </a:p>
          <a:p>
            <a:pPr marL="1714500" lvl="3" indent="-342900">
              <a:lnSpc>
                <a:spcPts val="3422"/>
              </a:lnSpc>
              <a:buFont typeface="Arial" panose="020B0604020202020204" pitchFamily="34" charset="0"/>
              <a:buChar char="•"/>
            </a:pPr>
            <a:r>
              <a:rPr lang="en-AU" sz="2479" spc="-49" dirty="0">
                <a:solidFill>
                  <a:srgbClr val="FFFFFF"/>
                </a:solidFill>
                <a:latin typeface="DM Sans"/>
              </a:rPr>
              <a:t>Data types,</a:t>
            </a:r>
          </a:p>
          <a:p>
            <a:pPr marL="1714500" lvl="3" indent="-342900">
              <a:lnSpc>
                <a:spcPts val="3422"/>
              </a:lnSpc>
              <a:buFont typeface="Arial" panose="020B0604020202020204" pitchFamily="34" charset="0"/>
              <a:buChar char="•"/>
            </a:pPr>
            <a:r>
              <a:rPr lang="en-AU" sz="2479" spc="-49" dirty="0">
                <a:solidFill>
                  <a:srgbClr val="FFFFFF"/>
                </a:solidFill>
                <a:latin typeface="DM Sans"/>
              </a:rPr>
              <a:t>Required fields</a:t>
            </a:r>
          </a:p>
          <a:p>
            <a:pPr marL="1714500" lvl="3" indent="-342900">
              <a:lnSpc>
                <a:spcPts val="3422"/>
              </a:lnSpc>
              <a:buFont typeface="Arial" panose="020B0604020202020204" pitchFamily="34" charset="0"/>
              <a:buChar char="•"/>
            </a:pPr>
            <a:r>
              <a:rPr lang="en-AU" sz="2479" spc="-49" dirty="0">
                <a:solidFill>
                  <a:srgbClr val="FFFFFF"/>
                </a:solidFill>
                <a:latin typeface="DM Sans"/>
              </a:rPr>
              <a:t>Acceptable value ranges</a:t>
            </a:r>
          </a:p>
          <a:p>
            <a:pPr marL="1257300" lvl="2" indent="-342900">
              <a:lnSpc>
                <a:spcPts val="3422"/>
              </a:lnSpc>
              <a:buFont typeface="Arial" panose="020B0604020202020204" pitchFamily="34" charset="0"/>
              <a:buChar char="•"/>
            </a:pPr>
            <a:r>
              <a:rPr lang="en-AU" sz="2479" spc="-49" dirty="0">
                <a:solidFill>
                  <a:srgbClr val="FFFFFF"/>
                </a:solidFill>
                <a:latin typeface="DM Sans"/>
              </a:rPr>
              <a:t>The LLM reads the schema at inference time and uses it to construct a valid call  </a:t>
            </a:r>
          </a:p>
          <a:p>
            <a:pPr lvl="2">
              <a:lnSpc>
                <a:spcPts val="3422"/>
              </a:lnSpc>
            </a:pPr>
            <a:endParaRPr lang="en-AU" sz="2479" spc="-49" dirty="0">
              <a:solidFill>
                <a:srgbClr val="FFFFFF"/>
              </a:solidFill>
              <a:latin typeface="DM Sans"/>
            </a:endParaRPr>
          </a:p>
          <a:p>
            <a:pPr marL="1257300" lvl="2" indent="-342900">
              <a:lnSpc>
                <a:spcPts val="3422"/>
              </a:lnSpc>
              <a:buFont typeface="Arial" panose="020B0604020202020204" pitchFamily="34" charset="0"/>
              <a:buChar char="•"/>
            </a:pPr>
            <a:endParaRPr lang="en-AU" sz="2479" spc="-49" dirty="0">
              <a:solidFill>
                <a:srgbClr val="FFFFFF"/>
              </a:solidFill>
              <a:latin typeface="DM Sans"/>
            </a:endParaRPr>
          </a:p>
          <a:p>
            <a:pPr marL="1714500" lvl="3"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a:lnSpc>
                <a:spcPts val="3284"/>
              </a:lnSpc>
            </a:pPr>
            <a:endParaRPr lang="en-US" sz="2479" spc="-49" dirty="0">
              <a:solidFill>
                <a:srgbClr val="FFFFFF"/>
              </a:solidFill>
              <a:latin typeface="DM Sans"/>
            </a:endParaRPr>
          </a:p>
        </p:txBody>
      </p:sp>
    </p:spTree>
    <p:extLst>
      <p:ext uri="{BB962C8B-B14F-4D97-AF65-F5344CB8AC3E}">
        <p14:creationId xmlns:p14="http://schemas.microsoft.com/office/powerpoint/2010/main" val="168008240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87C0841D-8DE8-8095-4C6E-C04F6B7B44B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ED0570B9-9E18-E427-93E6-19B75DD591A4}"/>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9DED38F3-927B-3551-06A5-3ABFD9BA86A3}"/>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990752E4-709B-8297-7EB9-874799E134E7}"/>
              </a:ext>
            </a:extLst>
          </p:cNvPr>
          <p:cNvSpPr txBox="1"/>
          <p:nvPr/>
        </p:nvSpPr>
        <p:spPr>
          <a:xfrm>
            <a:off x="1616234" y="1562526"/>
            <a:ext cx="14497588" cy="2900153"/>
          </a:xfrm>
          <a:prstGeom prst="rect">
            <a:avLst/>
          </a:prstGeom>
        </p:spPr>
        <p:txBody>
          <a:bodyPr wrap="square" lIns="0" tIns="0" rIns="0" bIns="0" rtlCol="0" anchor="t">
            <a:spAutoFit/>
          </a:bodyPr>
          <a:lstStyle/>
          <a:p>
            <a:pPr>
              <a:lnSpc>
                <a:spcPts val="7711"/>
              </a:lnSpc>
              <a:spcBef>
                <a:spcPct val="0"/>
              </a:spcBef>
            </a:pPr>
            <a:r>
              <a:rPr lang="en-AU" sz="4800" dirty="0">
                <a:solidFill>
                  <a:srgbClr val="0CC0DF"/>
                </a:solidFill>
                <a:latin typeface="Now Bold"/>
              </a:rPr>
              <a:t>LARGE LANGUAGE MODEL: JSON</a:t>
            </a:r>
            <a:endParaRPr lang="en-US" sz="4800" dirty="0">
              <a:solidFill>
                <a:srgbClr val="0CC0DF"/>
              </a:solidFill>
              <a:latin typeface="Now Bold"/>
            </a:endParaRPr>
          </a:p>
          <a:p>
            <a:pPr marL="0" lvl="0" indent="0">
              <a:lnSpc>
                <a:spcPts val="7711"/>
              </a:lnSpc>
              <a:spcBef>
                <a:spcPct val="0"/>
              </a:spcBef>
            </a:pPr>
            <a:r>
              <a:rPr lang="en-US" sz="4800" dirty="0">
                <a:solidFill>
                  <a:srgbClr val="0CC0DF"/>
                </a:solidFill>
                <a:latin typeface="Now Bold"/>
              </a:rPr>
              <a:t> </a:t>
            </a:r>
          </a:p>
          <a:p>
            <a:pPr marL="0" lvl="0" indent="0">
              <a:lnSpc>
                <a:spcPts val="7711"/>
              </a:lnSpc>
              <a:spcBef>
                <a:spcPct val="0"/>
              </a:spcBef>
            </a:pPr>
            <a:r>
              <a:rPr lang="en-US" sz="4800" dirty="0">
                <a:solidFill>
                  <a:srgbClr val="0CC0DF"/>
                </a:solidFill>
                <a:latin typeface="Now Bold"/>
              </a:rPr>
              <a:t>	</a:t>
            </a:r>
          </a:p>
        </p:txBody>
      </p:sp>
      <p:sp>
        <p:nvSpPr>
          <p:cNvPr id="10" name="TextBox 10">
            <a:extLst>
              <a:ext uri="{FF2B5EF4-FFF2-40B4-BE49-F238E27FC236}">
                <a16:creationId xmlns:a16="http://schemas.microsoft.com/office/drawing/2014/main" id="{929446CB-9C95-1EB1-54C3-335D1D214E5F}"/>
              </a:ext>
            </a:extLst>
          </p:cNvPr>
          <p:cNvSpPr txBox="1"/>
          <p:nvPr/>
        </p:nvSpPr>
        <p:spPr>
          <a:xfrm>
            <a:off x="1572572" y="2695228"/>
            <a:ext cx="15142855" cy="6076407"/>
          </a:xfrm>
          <a:prstGeom prst="rect">
            <a:avLst/>
          </a:prstGeom>
        </p:spPr>
        <p:txBody>
          <a:bodyPr wrap="square" lIns="0" tIns="0" rIns="0" bIns="0" rtlCol="0" anchor="t">
            <a:spAutoFit/>
          </a:bodyPr>
          <a:lstStyle/>
          <a:p>
            <a:pPr marL="800100" lvl="1" indent="-342900">
              <a:lnSpc>
                <a:spcPts val="3422"/>
              </a:lnSpc>
              <a:buFont typeface="Arial" panose="020B0604020202020204" pitchFamily="34" charset="0"/>
              <a:buChar char="•"/>
            </a:pPr>
            <a:r>
              <a:rPr lang="en-AU" sz="2479" spc="-49" dirty="0">
                <a:solidFill>
                  <a:srgbClr val="FFFFFF"/>
                </a:solidFill>
                <a:latin typeface="DM Sans"/>
              </a:rPr>
              <a:t>Memory and State via JSON</a:t>
            </a:r>
          </a:p>
          <a:p>
            <a:pPr marL="1257300" lvl="2" indent="-342900">
              <a:lnSpc>
                <a:spcPts val="3422"/>
              </a:lnSpc>
              <a:buFont typeface="Arial" panose="020B0604020202020204" pitchFamily="34" charset="0"/>
              <a:buChar char="•"/>
            </a:pPr>
            <a:r>
              <a:rPr lang="en-AU" sz="2479" spc="-49" dirty="0">
                <a:solidFill>
                  <a:srgbClr val="FFFFFF"/>
                </a:solidFill>
                <a:latin typeface="DM Sans"/>
              </a:rPr>
              <a:t>Agents are stateless by default</a:t>
            </a:r>
          </a:p>
          <a:p>
            <a:pPr marL="1714500" lvl="3" indent="-342900">
              <a:lnSpc>
                <a:spcPts val="3422"/>
              </a:lnSpc>
              <a:buFont typeface="Arial" panose="020B0604020202020204" pitchFamily="34" charset="0"/>
              <a:buChar char="•"/>
            </a:pPr>
            <a:r>
              <a:rPr lang="en-AU" sz="2479" spc="-49" dirty="0">
                <a:solidFill>
                  <a:srgbClr val="FFFFFF"/>
                </a:solidFill>
                <a:latin typeface="DM Sans"/>
              </a:rPr>
              <a:t>Each LLM call has no memory of previous calls unless state is explicitly passed in</a:t>
            </a:r>
          </a:p>
          <a:p>
            <a:pPr marL="1257300" lvl="2" indent="-342900">
              <a:lnSpc>
                <a:spcPts val="3422"/>
              </a:lnSpc>
              <a:buFont typeface="Arial" panose="020B0604020202020204" pitchFamily="34" charset="0"/>
              <a:buChar char="•"/>
            </a:pPr>
            <a:r>
              <a:rPr lang="en-AU" sz="2479" spc="-49" dirty="0">
                <a:solidFill>
                  <a:srgbClr val="FFFFFF"/>
                </a:solidFill>
                <a:latin typeface="DM Sans"/>
              </a:rPr>
              <a:t>Workflow state is serialised as JSON and injected into each prompt</a:t>
            </a:r>
          </a:p>
          <a:p>
            <a:pPr marL="1714500" lvl="3" indent="-342900">
              <a:lnSpc>
                <a:spcPts val="3422"/>
              </a:lnSpc>
              <a:buFont typeface="Arial" panose="020B0604020202020204" pitchFamily="34" charset="0"/>
              <a:buChar char="•"/>
            </a:pPr>
            <a:r>
              <a:rPr lang="en-AU" sz="2479" spc="-49" dirty="0">
                <a:solidFill>
                  <a:srgbClr val="FFFFFF"/>
                </a:solidFill>
                <a:latin typeface="DM Sans"/>
              </a:rPr>
              <a:t>What steps have run, what results were returned, what the current goal is</a:t>
            </a:r>
          </a:p>
          <a:p>
            <a:pPr marL="1257300" lvl="2" indent="-342900">
              <a:lnSpc>
                <a:spcPts val="3422"/>
              </a:lnSpc>
              <a:buFont typeface="Arial" panose="020B0604020202020204" pitchFamily="34" charset="0"/>
              <a:buChar char="•"/>
            </a:pPr>
            <a:r>
              <a:rPr lang="en-AU" sz="2479" spc="-49" dirty="0">
                <a:solidFill>
                  <a:srgbClr val="FFFFFF"/>
                </a:solidFill>
                <a:latin typeface="DM Sans"/>
              </a:rPr>
              <a:t>Short-term memory: the running conversation and tool result history, kept in the context window</a:t>
            </a:r>
          </a:p>
          <a:p>
            <a:pPr marL="1257300" lvl="2" indent="-342900">
              <a:lnSpc>
                <a:spcPts val="3422"/>
              </a:lnSpc>
              <a:buFont typeface="Arial" panose="020B0604020202020204" pitchFamily="34" charset="0"/>
              <a:buChar char="•"/>
            </a:pPr>
            <a:r>
              <a:rPr lang="en-AU" sz="2479" spc="-49" dirty="0">
                <a:solidFill>
                  <a:srgbClr val="FFFFFF"/>
                </a:solidFill>
                <a:latin typeface="DM Sans"/>
              </a:rPr>
              <a:t>Long-term memory: facts and past interactions stored in a vector database or key-value store, retrieved by similarity at query time</a:t>
            </a:r>
          </a:p>
          <a:p>
            <a:pPr marL="1257300" lvl="2" indent="-342900">
              <a:lnSpc>
                <a:spcPts val="3422"/>
              </a:lnSpc>
              <a:buFont typeface="Arial" panose="020B0604020202020204" pitchFamily="34" charset="0"/>
              <a:buChar char="•"/>
            </a:pPr>
            <a:r>
              <a:rPr lang="en-AU" sz="2479" spc="-49" dirty="0">
                <a:solidFill>
                  <a:srgbClr val="FFFFFF"/>
                </a:solidFill>
                <a:latin typeface="DM Sans"/>
              </a:rPr>
              <a:t>Checkpointing state as JSON also makes agent workflows resumable after failures </a:t>
            </a:r>
          </a:p>
          <a:p>
            <a:pPr marL="1714500" lvl="3" indent="-342900">
              <a:lnSpc>
                <a:spcPts val="3422"/>
              </a:lnSpc>
              <a:buFont typeface="Arial" panose="020B0604020202020204" pitchFamily="34" charset="0"/>
              <a:buChar char="•"/>
            </a:pPr>
            <a:r>
              <a:rPr lang="en-AU" sz="2479" spc="-49" dirty="0">
                <a:solidFill>
                  <a:srgbClr val="FFFFFF"/>
                </a:solidFill>
                <a:latin typeface="DM Sans"/>
              </a:rPr>
              <a:t> the agent can re-read its last state and continue</a:t>
            </a:r>
          </a:p>
          <a:p>
            <a:pPr marL="1714500" lvl="3" indent="-342900">
              <a:lnSpc>
                <a:spcPts val="3422"/>
              </a:lnSpc>
              <a:buFont typeface="Arial" panose="020B0604020202020204" pitchFamily="34" charset="0"/>
              <a:buChar char="•"/>
            </a:pPr>
            <a:endParaRPr lang="en-AU" sz="2479" spc="-49" dirty="0">
              <a:solidFill>
                <a:srgbClr val="FFFFFF"/>
              </a:solidFill>
              <a:latin typeface="DM Sans"/>
            </a:endParaRPr>
          </a:p>
          <a:p>
            <a:pPr marL="1714500" lvl="3"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a:lnSpc>
                <a:spcPts val="3284"/>
              </a:lnSpc>
            </a:pPr>
            <a:endParaRPr lang="en-US" sz="2479" spc="-49" dirty="0">
              <a:solidFill>
                <a:srgbClr val="FFFFFF"/>
              </a:solidFill>
              <a:latin typeface="DM Sans"/>
            </a:endParaRPr>
          </a:p>
        </p:txBody>
      </p:sp>
    </p:spTree>
    <p:extLst>
      <p:ext uri="{BB962C8B-B14F-4D97-AF65-F5344CB8AC3E}">
        <p14:creationId xmlns:p14="http://schemas.microsoft.com/office/powerpoint/2010/main" val="283208795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A585354A-9EB0-EB11-BE66-AEC793DD09F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D7F609BE-8DF9-7FC0-B2FA-7D3E1595D1E8}"/>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73924F6B-2CA5-DCC3-B65A-E5B4CDDE2B4E}"/>
              </a:ext>
            </a:extLst>
          </p:cNvPr>
          <p:cNvSpPr/>
          <p:nvPr/>
        </p:nvSpPr>
        <p:spPr>
          <a:xfrm>
            <a:off x="-721096" y="8383860"/>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8F42E0D6-6CAA-76B3-D641-A3D953EE608F}"/>
              </a:ext>
            </a:extLst>
          </p:cNvPr>
          <p:cNvSpPr txBox="1"/>
          <p:nvPr/>
        </p:nvSpPr>
        <p:spPr>
          <a:xfrm>
            <a:off x="1559180" y="2129797"/>
            <a:ext cx="14497588" cy="2900153"/>
          </a:xfrm>
          <a:prstGeom prst="rect">
            <a:avLst/>
          </a:prstGeom>
        </p:spPr>
        <p:txBody>
          <a:bodyPr wrap="square" lIns="0" tIns="0" rIns="0" bIns="0" rtlCol="0" anchor="t">
            <a:spAutoFit/>
          </a:bodyPr>
          <a:lstStyle/>
          <a:p>
            <a:pPr>
              <a:lnSpc>
                <a:spcPts val="7711"/>
              </a:lnSpc>
              <a:spcBef>
                <a:spcPct val="0"/>
              </a:spcBef>
            </a:pPr>
            <a:r>
              <a:rPr lang="en-AU" sz="4800" dirty="0">
                <a:solidFill>
                  <a:srgbClr val="0CC0DF"/>
                </a:solidFill>
                <a:latin typeface="Now Bold"/>
              </a:rPr>
              <a:t>LARGE LANGUAGE MODEL: JSON</a:t>
            </a:r>
            <a:endParaRPr lang="en-US" sz="4800" dirty="0">
              <a:solidFill>
                <a:srgbClr val="0CC0DF"/>
              </a:solidFill>
              <a:latin typeface="Now Bold"/>
            </a:endParaRPr>
          </a:p>
          <a:p>
            <a:pPr marL="0" lvl="0" indent="0">
              <a:lnSpc>
                <a:spcPts val="7711"/>
              </a:lnSpc>
              <a:spcBef>
                <a:spcPct val="0"/>
              </a:spcBef>
            </a:pPr>
            <a:r>
              <a:rPr lang="en-US" sz="4800" dirty="0">
                <a:solidFill>
                  <a:srgbClr val="0CC0DF"/>
                </a:solidFill>
                <a:latin typeface="Now Bold"/>
              </a:rPr>
              <a:t> </a:t>
            </a:r>
          </a:p>
          <a:p>
            <a:pPr marL="0" lvl="0" indent="0">
              <a:lnSpc>
                <a:spcPts val="7711"/>
              </a:lnSpc>
              <a:spcBef>
                <a:spcPct val="0"/>
              </a:spcBef>
            </a:pPr>
            <a:r>
              <a:rPr lang="en-US" sz="4800" dirty="0">
                <a:solidFill>
                  <a:srgbClr val="0CC0DF"/>
                </a:solidFill>
                <a:latin typeface="Now Bold"/>
              </a:rPr>
              <a:t>	</a:t>
            </a:r>
          </a:p>
        </p:txBody>
      </p:sp>
      <p:sp>
        <p:nvSpPr>
          <p:cNvPr id="10" name="TextBox 10">
            <a:extLst>
              <a:ext uri="{FF2B5EF4-FFF2-40B4-BE49-F238E27FC236}">
                <a16:creationId xmlns:a16="http://schemas.microsoft.com/office/drawing/2014/main" id="{37CC7AC9-974F-5726-AD44-F9054C34A340}"/>
              </a:ext>
            </a:extLst>
          </p:cNvPr>
          <p:cNvSpPr txBox="1"/>
          <p:nvPr/>
        </p:nvSpPr>
        <p:spPr>
          <a:xfrm>
            <a:off x="1559180" y="3442874"/>
            <a:ext cx="15142855" cy="2152256"/>
          </a:xfrm>
          <a:prstGeom prst="rect">
            <a:avLst/>
          </a:prstGeom>
        </p:spPr>
        <p:txBody>
          <a:bodyPr wrap="square" lIns="0" tIns="0" rIns="0" bIns="0" rtlCol="0" anchor="t">
            <a:spAutoFit/>
          </a:bodyPr>
          <a:lstStyle/>
          <a:p>
            <a:pPr marL="800100" lvl="1" indent="-342900">
              <a:lnSpc>
                <a:spcPts val="3422"/>
              </a:lnSpc>
              <a:buFont typeface="Arial" panose="020B0604020202020204" pitchFamily="34" charset="0"/>
              <a:buChar char="•"/>
            </a:pPr>
            <a:r>
              <a:rPr lang="en-AU" sz="2800" dirty="0">
                <a:solidFill>
                  <a:schemeClr val="bg1"/>
                </a:solidFill>
              </a:rPr>
              <a:t>Example:</a:t>
            </a:r>
          </a:p>
          <a:p>
            <a:pPr marL="1257300" lvl="2" indent="-342900">
              <a:lnSpc>
                <a:spcPts val="3422"/>
              </a:lnSpc>
              <a:buFont typeface="Arial" panose="020B0604020202020204" pitchFamily="34" charset="0"/>
              <a:buChar char="•"/>
            </a:pPr>
            <a:r>
              <a:rPr lang="en-AU" sz="2800" dirty="0">
                <a:solidFill>
                  <a:schemeClr val="bg1"/>
                </a:solidFill>
              </a:rPr>
              <a:t>“Search Brisbane weather and tell me if it is cloudy.”</a:t>
            </a:r>
          </a:p>
          <a:p>
            <a:pPr marL="1714500" lvl="3" indent="-342900">
              <a:lnSpc>
                <a:spcPts val="3422"/>
              </a:lnSpc>
              <a:buFont typeface="Arial" panose="020B0604020202020204" pitchFamily="34" charset="0"/>
              <a:buChar char="•"/>
            </a:pPr>
            <a:endParaRPr lang="en-AU" sz="2479" spc="-49" dirty="0">
              <a:solidFill>
                <a:srgbClr val="FFFFFF"/>
              </a:solidFill>
              <a:latin typeface="DM Sans"/>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a:lnSpc>
                <a:spcPts val="3284"/>
              </a:lnSpc>
            </a:pPr>
            <a:endParaRPr lang="en-US" sz="2479" spc="-49" dirty="0">
              <a:solidFill>
                <a:srgbClr val="FFFFFF"/>
              </a:solidFill>
              <a:latin typeface="DM Sans"/>
            </a:endParaRPr>
          </a:p>
        </p:txBody>
      </p:sp>
      <p:pic>
        <p:nvPicPr>
          <p:cNvPr id="5" name="Picture 4">
            <a:extLst>
              <a:ext uri="{FF2B5EF4-FFF2-40B4-BE49-F238E27FC236}">
                <a16:creationId xmlns:a16="http://schemas.microsoft.com/office/drawing/2014/main" id="{A617DD91-0438-C8D6-E1D1-5077515C3913}"/>
              </a:ext>
            </a:extLst>
          </p:cNvPr>
          <p:cNvPicPr>
            <a:picLocks noChangeAspect="1"/>
          </p:cNvPicPr>
          <p:nvPr/>
        </p:nvPicPr>
        <p:blipFill>
          <a:blip r:embed="rId4"/>
          <a:stretch>
            <a:fillRect/>
          </a:stretch>
        </p:blipFill>
        <p:spPr>
          <a:xfrm>
            <a:off x="3023320" y="4455589"/>
            <a:ext cx="11334031" cy="4023148"/>
          </a:xfrm>
          <a:prstGeom prst="rect">
            <a:avLst/>
          </a:prstGeom>
        </p:spPr>
      </p:pic>
    </p:spTree>
    <p:extLst>
      <p:ext uri="{BB962C8B-B14F-4D97-AF65-F5344CB8AC3E}">
        <p14:creationId xmlns:p14="http://schemas.microsoft.com/office/powerpoint/2010/main" val="158945110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721BF613-EE06-82FB-031B-57B8555256A4}"/>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589E11DB-EE15-655B-0554-55CD61062846}"/>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2"/>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Freeform 6">
            <a:extLst>
              <a:ext uri="{FF2B5EF4-FFF2-40B4-BE49-F238E27FC236}">
                <a16:creationId xmlns:a16="http://schemas.microsoft.com/office/drawing/2014/main" id="{BB416786-8040-DB73-E123-BA3E29618431}"/>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2"/>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sp>
        <p:nvSpPr>
          <p:cNvPr id="12" name="Title 1">
            <a:extLst>
              <a:ext uri="{FF2B5EF4-FFF2-40B4-BE49-F238E27FC236}">
                <a16:creationId xmlns:a16="http://schemas.microsoft.com/office/drawing/2014/main" id="{BAFE2538-70A9-A718-9E8A-EA82A61C6370}"/>
              </a:ext>
            </a:extLst>
          </p:cNvPr>
          <p:cNvSpPr txBox="1">
            <a:spLocks/>
          </p:cNvSpPr>
          <p:nvPr/>
        </p:nvSpPr>
        <p:spPr>
          <a:xfrm>
            <a:off x="2159224" y="4393406"/>
            <a:ext cx="14658974" cy="1500188"/>
          </a:xfrm>
          <a:prstGeom prst="rect">
            <a:avLst/>
          </a:prstGeom>
        </p:spPr>
        <p:txBody>
          <a:bodyP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lang="en-AU" sz="6600" dirty="0">
                <a:solidFill>
                  <a:srgbClr val="0CC0DF"/>
                </a:solidFill>
                <a:latin typeface="Now Bold"/>
              </a:rPr>
              <a:t>WORKFLOW/ORCHESTRATION</a:t>
            </a:r>
            <a:endParaRPr kumimoji="0" lang="en-US" sz="6600" b="0" i="0" u="none" strike="noStrike" kern="1200" cap="none" spc="0" normalizeH="0" baseline="0" noProof="0" dirty="0">
              <a:ln>
                <a:noFill/>
              </a:ln>
              <a:solidFill>
                <a:srgbClr val="0CC0DF"/>
              </a:solidFill>
              <a:effectLst/>
              <a:uLnTx/>
              <a:uFillTx/>
              <a:latin typeface="Now Bold"/>
              <a:ea typeface="+mj-ea"/>
              <a:cs typeface="+mj-cs"/>
            </a:endParaRPr>
          </a:p>
        </p:txBody>
      </p:sp>
    </p:spTree>
    <p:extLst>
      <p:ext uri="{BB962C8B-B14F-4D97-AF65-F5344CB8AC3E}">
        <p14:creationId xmlns:p14="http://schemas.microsoft.com/office/powerpoint/2010/main" val="266633210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10161994-3909-7F07-4CC0-7BE893E1CEC6}"/>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E9BDD8D5-ED30-A741-25B1-F1A33C9B52F2}"/>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457773D0-2D3A-4DB4-A731-370A3D8F5EB6}"/>
              </a:ext>
            </a:extLst>
          </p:cNvPr>
          <p:cNvSpPr/>
          <p:nvPr/>
        </p:nvSpPr>
        <p:spPr>
          <a:xfrm>
            <a:off x="-865112" y="8383860"/>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5451E92F-1BD0-58BF-9426-F559D339A8BE}"/>
              </a:ext>
            </a:extLst>
          </p:cNvPr>
          <p:cNvSpPr txBox="1"/>
          <p:nvPr/>
        </p:nvSpPr>
        <p:spPr>
          <a:xfrm>
            <a:off x="1559180" y="2129797"/>
            <a:ext cx="14497588" cy="2900153"/>
          </a:xfrm>
          <a:prstGeom prst="rect">
            <a:avLst/>
          </a:prstGeom>
        </p:spPr>
        <p:txBody>
          <a:bodyPr wrap="square" lIns="0" tIns="0" rIns="0" bIns="0" rtlCol="0" anchor="t">
            <a:spAutoFit/>
          </a:bodyPr>
          <a:lstStyle/>
          <a:p>
            <a:pPr>
              <a:lnSpc>
                <a:spcPts val="7711"/>
              </a:lnSpc>
              <a:spcBef>
                <a:spcPct val="0"/>
              </a:spcBef>
            </a:pPr>
            <a:r>
              <a:rPr lang="en-AU" sz="4800" dirty="0">
                <a:solidFill>
                  <a:srgbClr val="0CC0DF"/>
                </a:solidFill>
                <a:latin typeface="Now Bold"/>
              </a:rPr>
              <a:t>ORCHESTRATION: WHAT IS IT?</a:t>
            </a:r>
            <a:endParaRPr lang="en-US" sz="4800" dirty="0">
              <a:solidFill>
                <a:srgbClr val="0CC0DF"/>
              </a:solidFill>
              <a:latin typeface="Now Bold"/>
            </a:endParaRPr>
          </a:p>
          <a:p>
            <a:pPr marL="0" lvl="0" indent="0">
              <a:lnSpc>
                <a:spcPts val="7711"/>
              </a:lnSpc>
              <a:spcBef>
                <a:spcPct val="0"/>
              </a:spcBef>
            </a:pPr>
            <a:r>
              <a:rPr lang="en-US" sz="4800" dirty="0">
                <a:solidFill>
                  <a:srgbClr val="0CC0DF"/>
                </a:solidFill>
                <a:latin typeface="Now Bold"/>
              </a:rPr>
              <a:t> </a:t>
            </a:r>
          </a:p>
          <a:p>
            <a:pPr marL="0" lvl="0" indent="0">
              <a:lnSpc>
                <a:spcPts val="7711"/>
              </a:lnSpc>
              <a:spcBef>
                <a:spcPct val="0"/>
              </a:spcBef>
            </a:pPr>
            <a:r>
              <a:rPr lang="en-US" sz="4800" dirty="0">
                <a:solidFill>
                  <a:srgbClr val="0CC0DF"/>
                </a:solidFill>
                <a:latin typeface="Now Bold"/>
              </a:rPr>
              <a:t>	</a:t>
            </a:r>
          </a:p>
        </p:txBody>
      </p:sp>
      <p:sp>
        <p:nvSpPr>
          <p:cNvPr id="10" name="TextBox 10">
            <a:extLst>
              <a:ext uri="{FF2B5EF4-FFF2-40B4-BE49-F238E27FC236}">
                <a16:creationId xmlns:a16="http://schemas.microsoft.com/office/drawing/2014/main" id="{2966ED8A-B36C-BA8D-89B8-1028EC6C1D99}"/>
              </a:ext>
            </a:extLst>
          </p:cNvPr>
          <p:cNvSpPr txBox="1"/>
          <p:nvPr/>
        </p:nvSpPr>
        <p:spPr>
          <a:xfrm>
            <a:off x="1590683" y="4045492"/>
            <a:ext cx="15142855" cy="789703"/>
          </a:xfrm>
          <a:prstGeom prst="rect">
            <a:avLst/>
          </a:prstGeom>
        </p:spPr>
        <p:txBody>
          <a:bodyPr wrap="square" lIns="0" tIns="0" rIns="0" bIns="0" rtlCol="0" anchor="t">
            <a:spAutoFit/>
          </a:bodyPr>
          <a:lstStyle/>
          <a:p>
            <a:pPr lvl="3"/>
            <a:endParaRPr lang="en-AU" sz="2479" spc="-49" dirty="0">
              <a:solidFill>
                <a:srgbClr val="FFFFFF"/>
              </a:solidFill>
              <a:latin typeface="DM Sans"/>
            </a:endParaRPr>
          </a:p>
          <a:p>
            <a:pPr>
              <a:lnSpc>
                <a:spcPts val="3284"/>
              </a:lnSpc>
            </a:pPr>
            <a:endParaRPr lang="en-US" sz="2479" spc="-49" dirty="0">
              <a:solidFill>
                <a:srgbClr val="FFFFFF"/>
              </a:solidFill>
              <a:latin typeface="DM Sans"/>
            </a:endParaRPr>
          </a:p>
        </p:txBody>
      </p:sp>
      <p:sp>
        <p:nvSpPr>
          <p:cNvPr id="3" name="TextBox 10">
            <a:extLst>
              <a:ext uri="{FF2B5EF4-FFF2-40B4-BE49-F238E27FC236}">
                <a16:creationId xmlns:a16="http://schemas.microsoft.com/office/drawing/2014/main" id="{069A07BC-9CF6-D937-9B3A-47E4866D3321}"/>
              </a:ext>
            </a:extLst>
          </p:cNvPr>
          <p:cNvSpPr txBox="1"/>
          <p:nvPr/>
        </p:nvSpPr>
        <p:spPr>
          <a:xfrm>
            <a:off x="1303571" y="3579873"/>
            <a:ext cx="15142855" cy="7384457"/>
          </a:xfrm>
          <a:prstGeom prst="rect">
            <a:avLst/>
          </a:prstGeom>
        </p:spPr>
        <p:txBody>
          <a:bodyPr wrap="square" lIns="0" tIns="0" rIns="0" bIns="0" rtlCol="0" anchor="t">
            <a:spAutoFit/>
          </a:bodyPr>
          <a:lstStyle/>
          <a:p>
            <a:pPr marL="1257300" lvl="2" indent="-342900">
              <a:lnSpc>
                <a:spcPts val="3422"/>
              </a:lnSpc>
              <a:buFont typeface="Arial" panose="020B0604020202020204" pitchFamily="34" charset="0"/>
              <a:buChar char="•"/>
            </a:pPr>
            <a:r>
              <a:rPr lang="en-AU" sz="2479" spc="-49" dirty="0">
                <a:solidFill>
                  <a:schemeClr val="bg1"/>
                </a:solidFill>
                <a:latin typeface="DM Sans"/>
              </a:rPr>
              <a:t>Orchestration is the control logic that coordinates how the components of an agentic system interact over time.</a:t>
            </a:r>
          </a:p>
          <a:p>
            <a:pPr marL="1257300" lvl="2" indent="-342900">
              <a:lnSpc>
                <a:spcPts val="3422"/>
              </a:lnSpc>
              <a:buFont typeface="Arial" panose="020B0604020202020204" pitchFamily="34" charset="0"/>
              <a:buChar char="•"/>
            </a:pPr>
            <a:r>
              <a:rPr lang="en-AU" sz="2479" spc="-49" dirty="0">
                <a:solidFill>
                  <a:schemeClr val="bg1"/>
                </a:solidFill>
                <a:latin typeface="DM Sans"/>
              </a:rPr>
              <a:t>It determines:</a:t>
            </a:r>
          </a:p>
          <a:p>
            <a:pPr marL="1714500" lvl="3" indent="-342900">
              <a:lnSpc>
                <a:spcPts val="3422"/>
              </a:lnSpc>
              <a:buFont typeface="Arial" panose="020B0604020202020204" pitchFamily="34" charset="0"/>
              <a:buChar char="•"/>
            </a:pPr>
            <a:r>
              <a:rPr lang="en-AU" sz="2479" spc="-49" dirty="0">
                <a:solidFill>
                  <a:schemeClr val="bg1"/>
                </a:solidFill>
                <a:latin typeface="DM Sans"/>
              </a:rPr>
              <a:t>what step happens first</a:t>
            </a:r>
          </a:p>
          <a:p>
            <a:pPr marL="1714500" lvl="3" indent="-342900">
              <a:lnSpc>
                <a:spcPts val="3422"/>
              </a:lnSpc>
              <a:buFont typeface="Arial" panose="020B0604020202020204" pitchFamily="34" charset="0"/>
              <a:buChar char="•"/>
            </a:pPr>
            <a:r>
              <a:rPr lang="en-AU" sz="2479" spc="-49" dirty="0">
                <a:solidFill>
                  <a:schemeClr val="bg1"/>
                </a:solidFill>
                <a:latin typeface="DM Sans"/>
              </a:rPr>
              <a:t>what step happens next</a:t>
            </a:r>
          </a:p>
          <a:p>
            <a:pPr marL="1714500" lvl="3" indent="-342900">
              <a:lnSpc>
                <a:spcPts val="3422"/>
              </a:lnSpc>
              <a:buFont typeface="Arial" panose="020B0604020202020204" pitchFamily="34" charset="0"/>
              <a:buChar char="•"/>
            </a:pPr>
            <a:r>
              <a:rPr lang="en-AU" sz="2479" spc="-49" dirty="0">
                <a:solidFill>
                  <a:schemeClr val="bg1"/>
                </a:solidFill>
                <a:latin typeface="DM Sans"/>
              </a:rPr>
              <a:t>when a tool should be called</a:t>
            </a:r>
          </a:p>
          <a:p>
            <a:pPr marL="1714500" lvl="3" indent="-342900">
              <a:lnSpc>
                <a:spcPts val="3422"/>
              </a:lnSpc>
              <a:buFont typeface="Arial" panose="020B0604020202020204" pitchFamily="34" charset="0"/>
              <a:buChar char="•"/>
            </a:pPr>
            <a:r>
              <a:rPr lang="en-AU" sz="2479" spc="-49" dirty="0">
                <a:solidFill>
                  <a:schemeClr val="bg1"/>
                </a:solidFill>
                <a:latin typeface="DM Sans"/>
              </a:rPr>
              <a:t>when retrieval should happen</a:t>
            </a:r>
          </a:p>
          <a:p>
            <a:pPr marL="1714500" lvl="3" indent="-342900">
              <a:lnSpc>
                <a:spcPts val="3422"/>
              </a:lnSpc>
              <a:buFont typeface="Arial" panose="020B0604020202020204" pitchFamily="34" charset="0"/>
              <a:buChar char="•"/>
            </a:pPr>
            <a:r>
              <a:rPr lang="en-AU" sz="2479" spc="-49" dirty="0">
                <a:solidFill>
                  <a:schemeClr val="bg1"/>
                </a:solidFill>
                <a:latin typeface="DM Sans"/>
              </a:rPr>
              <a:t>when another model or agent should be involved</a:t>
            </a:r>
          </a:p>
          <a:p>
            <a:pPr marL="1714500" lvl="3" indent="-342900">
              <a:lnSpc>
                <a:spcPts val="3422"/>
              </a:lnSpc>
              <a:buFont typeface="Arial" panose="020B0604020202020204" pitchFamily="34" charset="0"/>
              <a:buChar char="•"/>
            </a:pPr>
            <a:r>
              <a:rPr lang="en-AU" sz="2479" spc="-49" dirty="0">
                <a:solidFill>
                  <a:schemeClr val="bg1"/>
                </a:solidFill>
                <a:latin typeface="DM Sans"/>
              </a:rPr>
              <a:t>when the system should stop</a:t>
            </a:r>
          </a:p>
          <a:p>
            <a:pPr marL="1714500" lvl="3" indent="-342900">
              <a:lnSpc>
                <a:spcPts val="3422"/>
              </a:lnSpc>
              <a:buFont typeface="Arial" panose="020B0604020202020204" pitchFamily="34" charset="0"/>
              <a:buChar char="•"/>
            </a:pPr>
            <a:endParaRPr lang="en-AU" sz="2479" spc="-49" dirty="0">
              <a:solidFill>
                <a:schemeClr val="bg1"/>
              </a:solidFill>
              <a:latin typeface="DM Sans"/>
            </a:endParaRPr>
          </a:p>
          <a:p>
            <a:pPr marL="1257300" lvl="2" indent="-342900">
              <a:lnSpc>
                <a:spcPts val="3422"/>
              </a:lnSpc>
              <a:buFont typeface="Arial" panose="020B0604020202020204" pitchFamily="34" charset="0"/>
              <a:buChar char="•"/>
            </a:pPr>
            <a:r>
              <a:rPr lang="en-AU" sz="2479" b="1" u="sng" spc="-49" dirty="0">
                <a:solidFill>
                  <a:schemeClr val="bg1"/>
                </a:solidFill>
                <a:latin typeface="DM Sans"/>
              </a:rPr>
              <a:t>It is the logic that coordinates the system</a:t>
            </a:r>
            <a:r>
              <a:rPr lang="en-AU" sz="2479" spc="-49" dirty="0">
                <a:solidFill>
                  <a:schemeClr val="bg1"/>
                </a:solidFill>
                <a:latin typeface="DM Sans"/>
              </a:rPr>
              <a:t>.</a:t>
            </a:r>
          </a:p>
          <a:p>
            <a:pPr lvl="2">
              <a:lnSpc>
                <a:spcPts val="3422"/>
              </a:lnSpc>
            </a:pPr>
            <a:br>
              <a:rPr lang="en-AU" sz="2479" spc="-49" dirty="0">
                <a:solidFill>
                  <a:schemeClr val="bg1"/>
                </a:solidFill>
                <a:latin typeface="DM Sans"/>
              </a:rPr>
            </a:br>
            <a:endParaRPr lang="en-AU" sz="2479" spc="-49" dirty="0">
              <a:solidFill>
                <a:schemeClr val="bg1"/>
              </a:solidFill>
              <a:latin typeface="DM Sans"/>
            </a:endParaRPr>
          </a:p>
          <a:p>
            <a:pPr marL="1714500" lvl="3" indent="-342900">
              <a:lnSpc>
                <a:spcPts val="3422"/>
              </a:lnSpc>
              <a:buFont typeface="Arial" panose="020B0604020202020204" pitchFamily="34" charset="0"/>
              <a:buChar char="•"/>
            </a:pPr>
            <a:endParaRPr lang="en-AU" sz="2479" spc="-49" dirty="0">
              <a:solidFill>
                <a:srgbClr val="FFFFFF"/>
              </a:solidFill>
              <a:latin typeface="DM Sans"/>
            </a:endParaRPr>
          </a:p>
          <a:p>
            <a:pPr lvl="1">
              <a:lnSpc>
                <a:spcPts val="3422"/>
              </a:lnSpc>
            </a:pPr>
            <a:endParaRPr lang="en-AU" sz="2800" dirty="0">
              <a:solidFill>
                <a:schemeClr val="bg1"/>
              </a:solidFill>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a:lnSpc>
                <a:spcPts val="3284"/>
              </a:lnSpc>
            </a:pPr>
            <a:endParaRPr lang="en-US" sz="2479" spc="-49" dirty="0">
              <a:solidFill>
                <a:srgbClr val="FFFFFF"/>
              </a:solidFill>
              <a:latin typeface="DM Sans"/>
            </a:endParaRPr>
          </a:p>
        </p:txBody>
      </p:sp>
    </p:spTree>
    <p:extLst>
      <p:ext uri="{BB962C8B-B14F-4D97-AF65-F5344CB8AC3E}">
        <p14:creationId xmlns:p14="http://schemas.microsoft.com/office/powerpoint/2010/main" val="168022725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65F62BB3-AB35-497C-5AC6-8CEBC8E237FF}"/>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6B23C4F-D6D5-32B7-FFE1-350BE39EB431}"/>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05EC54E6-3EF1-7565-66FF-5A044C5C02B4}"/>
              </a:ext>
            </a:extLst>
          </p:cNvPr>
          <p:cNvSpPr/>
          <p:nvPr/>
        </p:nvSpPr>
        <p:spPr>
          <a:xfrm>
            <a:off x="-721096" y="840063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478B5829-6B82-EC37-229D-823CE58D22B4}"/>
              </a:ext>
            </a:extLst>
          </p:cNvPr>
          <p:cNvSpPr txBox="1"/>
          <p:nvPr/>
        </p:nvSpPr>
        <p:spPr>
          <a:xfrm>
            <a:off x="1559180" y="2129797"/>
            <a:ext cx="14497588" cy="2900153"/>
          </a:xfrm>
          <a:prstGeom prst="rect">
            <a:avLst/>
          </a:prstGeom>
        </p:spPr>
        <p:txBody>
          <a:bodyPr wrap="square" lIns="0" tIns="0" rIns="0" bIns="0" rtlCol="0" anchor="t">
            <a:spAutoFit/>
          </a:bodyPr>
          <a:lstStyle/>
          <a:p>
            <a:pPr>
              <a:lnSpc>
                <a:spcPts val="7711"/>
              </a:lnSpc>
              <a:spcBef>
                <a:spcPct val="0"/>
              </a:spcBef>
            </a:pPr>
            <a:r>
              <a:rPr lang="en-AU" sz="4800" dirty="0">
                <a:solidFill>
                  <a:srgbClr val="0CC0DF"/>
                </a:solidFill>
                <a:latin typeface="Now Bold"/>
              </a:rPr>
              <a:t>ORCHESTRATION:</a:t>
            </a:r>
            <a:r>
              <a:rPr lang="en-AU" sz="4800" spc="-49" dirty="0">
                <a:solidFill>
                  <a:schemeClr val="bg1"/>
                </a:solidFill>
                <a:latin typeface="DM Sans"/>
              </a:rPr>
              <a:t> </a:t>
            </a:r>
            <a:r>
              <a:rPr lang="en-AU" sz="4800" dirty="0">
                <a:solidFill>
                  <a:srgbClr val="0CC0DF"/>
                </a:solidFill>
                <a:latin typeface="Now Bold"/>
              </a:rPr>
              <a:t>WHY IT MATTERS</a:t>
            </a:r>
          </a:p>
          <a:p>
            <a:pPr>
              <a:lnSpc>
                <a:spcPts val="7711"/>
              </a:lnSpc>
              <a:spcBef>
                <a:spcPct val="0"/>
              </a:spcBef>
            </a:pPr>
            <a:endParaRPr lang="en-US" sz="4800" dirty="0">
              <a:solidFill>
                <a:srgbClr val="0CC0DF"/>
              </a:solidFill>
              <a:latin typeface="Now Bold"/>
            </a:endParaRPr>
          </a:p>
          <a:p>
            <a:pPr marL="0" lvl="0" indent="0">
              <a:lnSpc>
                <a:spcPts val="7711"/>
              </a:lnSpc>
              <a:spcBef>
                <a:spcPct val="0"/>
              </a:spcBef>
            </a:pPr>
            <a:r>
              <a:rPr lang="en-US" sz="4800" dirty="0">
                <a:solidFill>
                  <a:srgbClr val="0CC0DF"/>
                </a:solidFill>
                <a:latin typeface="Now Bold"/>
              </a:rPr>
              <a:t>	</a:t>
            </a:r>
          </a:p>
        </p:txBody>
      </p:sp>
      <p:sp>
        <p:nvSpPr>
          <p:cNvPr id="10" name="TextBox 10">
            <a:extLst>
              <a:ext uri="{FF2B5EF4-FFF2-40B4-BE49-F238E27FC236}">
                <a16:creationId xmlns:a16="http://schemas.microsoft.com/office/drawing/2014/main" id="{04BAC59B-5683-9BD8-1641-86F1C068ECCC}"/>
              </a:ext>
            </a:extLst>
          </p:cNvPr>
          <p:cNvSpPr txBox="1"/>
          <p:nvPr/>
        </p:nvSpPr>
        <p:spPr>
          <a:xfrm>
            <a:off x="1590683" y="4045492"/>
            <a:ext cx="15142855" cy="789703"/>
          </a:xfrm>
          <a:prstGeom prst="rect">
            <a:avLst/>
          </a:prstGeom>
        </p:spPr>
        <p:txBody>
          <a:bodyPr wrap="square" lIns="0" tIns="0" rIns="0" bIns="0" rtlCol="0" anchor="t">
            <a:spAutoFit/>
          </a:bodyPr>
          <a:lstStyle/>
          <a:p>
            <a:pPr lvl="3"/>
            <a:endParaRPr lang="en-AU" sz="2479" spc="-49" dirty="0">
              <a:solidFill>
                <a:srgbClr val="FFFFFF"/>
              </a:solidFill>
              <a:latin typeface="DM Sans"/>
            </a:endParaRPr>
          </a:p>
          <a:p>
            <a:pPr>
              <a:lnSpc>
                <a:spcPts val="3284"/>
              </a:lnSpc>
            </a:pPr>
            <a:endParaRPr lang="en-US" sz="2479" spc="-49" dirty="0">
              <a:solidFill>
                <a:srgbClr val="FFFFFF"/>
              </a:solidFill>
              <a:latin typeface="DM Sans"/>
            </a:endParaRPr>
          </a:p>
        </p:txBody>
      </p:sp>
      <p:sp>
        <p:nvSpPr>
          <p:cNvPr id="3" name="TextBox 10">
            <a:extLst>
              <a:ext uri="{FF2B5EF4-FFF2-40B4-BE49-F238E27FC236}">
                <a16:creationId xmlns:a16="http://schemas.microsoft.com/office/drawing/2014/main" id="{3640CF35-D361-CE13-37E6-347286363E7F}"/>
              </a:ext>
            </a:extLst>
          </p:cNvPr>
          <p:cNvSpPr txBox="1"/>
          <p:nvPr/>
        </p:nvSpPr>
        <p:spPr>
          <a:xfrm>
            <a:off x="1590683" y="4045492"/>
            <a:ext cx="15142855" cy="2588273"/>
          </a:xfrm>
          <a:prstGeom prst="rect">
            <a:avLst/>
          </a:prstGeom>
        </p:spPr>
        <p:txBody>
          <a:bodyPr wrap="square" lIns="0" tIns="0" rIns="0" bIns="0" rtlCol="0" anchor="t">
            <a:spAutoFit/>
          </a:bodyPr>
          <a:lstStyle/>
          <a:p>
            <a:pPr lvl="2">
              <a:lnSpc>
                <a:spcPts val="3422"/>
              </a:lnSpc>
            </a:pPr>
            <a:br>
              <a:rPr lang="en-AU" sz="2479" spc="-49" dirty="0">
                <a:solidFill>
                  <a:schemeClr val="bg1"/>
                </a:solidFill>
                <a:latin typeface="DM Sans"/>
              </a:rPr>
            </a:br>
            <a:endParaRPr lang="en-AU" sz="2479" spc="-49" dirty="0">
              <a:solidFill>
                <a:schemeClr val="bg1"/>
              </a:solidFill>
              <a:latin typeface="DM Sans"/>
            </a:endParaRPr>
          </a:p>
          <a:p>
            <a:pPr marL="1714500" lvl="3" indent="-342900">
              <a:lnSpc>
                <a:spcPts val="3422"/>
              </a:lnSpc>
              <a:buFont typeface="Arial" panose="020B0604020202020204" pitchFamily="34" charset="0"/>
              <a:buChar char="•"/>
            </a:pPr>
            <a:endParaRPr lang="en-AU" sz="2479" spc="-49" dirty="0">
              <a:solidFill>
                <a:srgbClr val="FFFFFF"/>
              </a:solidFill>
              <a:latin typeface="DM Sans"/>
            </a:endParaRPr>
          </a:p>
          <a:p>
            <a:pPr lvl="1">
              <a:lnSpc>
                <a:spcPts val="3422"/>
              </a:lnSpc>
            </a:pPr>
            <a:endParaRPr lang="en-AU" sz="2800" dirty="0">
              <a:solidFill>
                <a:schemeClr val="bg1"/>
              </a:solidFill>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a:lnSpc>
                <a:spcPts val="3284"/>
              </a:lnSpc>
            </a:pPr>
            <a:endParaRPr lang="en-US" sz="2479" spc="-49" dirty="0">
              <a:solidFill>
                <a:srgbClr val="FFFFFF"/>
              </a:solidFill>
              <a:latin typeface="DM Sans"/>
            </a:endParaRPr>
          </a:p>
        </p:txBody>
      </p:sp>
      <p:sp>
        <p:nvSpPr>
          <p:cNvPr id="4" name="TextBox 10">
            <a:extLst>
              <a:ext uri="{FF2B5EF4-FFF2-40B4-BE49-F238E27FC236}">
                <a16:creationId xmlns:a16="http://schemas.microsoft.com/office/drawing/2014/main" id="{6D3692F3-4B84-1EAF-975D-045100755785}"/>
              </a:ext>
            </a:extLst>
          </p:cNvPr>
          <p:cNvSpPr txBox="1"/>
          <p:nvPr/>
        </p:nvSpPr>
        <p:spPr>
          <a:xfrm>
            <a:off x="882560" y="3553427"/>
            <a:ext cx="15142855" cy="8256491"/>
          </a:xfrm>
          <a:prstGeom prst="rect">
            <a:avLst/>
          </a:prstGeom>
        </p:spPr>
        <p:txBody>
          <a:bodyPr wrap="square" lIns="0" tIns="0" rIns="0" bIns="0" rtlCol="0" anchor="t">
            <a:spAutoFit/>
          </a:bodyPr>
          <a:lstStyle/>
          <a:p>
            <a:pPr lvl="2">
              <a:lnSpc>
                <a:spcPts val="3422"/>
              </a:lnSpc>
            </a:pPr>
            <a:r>
              <a:rPr lang="en-AU" sz="2479" spc="-49" dirty="0">
                <a:solidFill>
                  <a:schemeClr val="bg1"/>
                </a:solidFill>
                <a:latin typeface="DM Sans"/>
              </a:rPr>
              <a:t> </a:t>
            </a:r>
          </a:p>
          <a:p>
            <a:pPr marL="1714500" lvl="3" indent="-342900">
              <a:lnSpc>
                <a:spcPts val="3422"/>
              </a:lnSpc>
              <a:buFont typeface="Arial" panose="020B0604020202020204" pitchFamily="34" charset="0"/>
              <a:buChar char="•"/>
            </a:pPr>
            <a:r>
              <a:rPr lang="en-AU" sz="2479" spc="-49" dirty="0">
                <a:solidFill>
                  <a:schemeClr val="bg1"/>
                </a:solidFill>
                <a:latin typeface="DM Sans"/>
              </a:rPr>
              <a:t>Without orchestration, you just have separate parts:</a:t>
            </a:r>
          </a:p>
          <a:p>
            <a:pPr marL="2171700" lvl="4" indent="-342900">
              <a:lnSpc>
                <a:spcPts val="3422"/>
              </a:lnSpc>
              <a:buFont typeface="Arial" panose="020B0604020202020204" pitchFamily="34" charset="0"/>
              <a:buChar char="•"/>
            </a:pPr>
            <a:r>
              <a:rPr lang="en-AU" sz="2479" spc="-49" dirty="0">
                <a:solidFill>
                  <a:schemeClr val="bg1"/>
                </a:solidFill>
                <a:latin typeface="DM Sans"/>
              </a:rPr>
              <a:t>LLM</a:t>
            </a:r>
          </a:p>
          <a:p>
            <a:pPr marL="2171700" lvl="4" indent="-342900">
              <a:lnSpc>
                <a:spcPts val="3422"/>
              </a:lnSpc>
              <a:buFont typeface="Arial" panose="020B0604020202020204" pitchFamily="34" charset="0"/>
              <a:buChar char="•"/>
            </a:pPr>
            <a:r>
              <a:rPr lang="en-AU" sz="2479" spc="-49" dirty="0">
                <a:solidFill>
                  <a:schemeClr val="bg1"/>
                </a:solidFill>
                <a:latin typeface="DM Sans"/>
              </a:rPr>
              <a:t>Some tools</a:t>
            </a:r>
          </a:p>
          <a:p>
            <a:pPr marL="2171700" lvl="4" indent="-342900">
              <a:lnSpc>
                <a:spcPts val="3422"/>
              </a:lnSpc>
              <a:buFont typeface="Arial" panose="020B0604020202020204" pitchFamily="34" charset="0"/>
              <a:buChar char="•"/>
            </a:pPr>
            <a:endParaRPr lang="en-AU" sz="2479" spc="-49" dirty="0">
              <a:solidFill>
                <a:schemeClr val="bg1"/>
              </a:solidFill>
              <a:latin typeface="DM Sans"/>
            </a:endParaRPr>
          </a:p>
          <a:p>
            <a:pPr marL="1714500" lvl="3" indent="-342900">
              <a:lnSpc>
                <a:spcPts val="3422"/>
              </a:lnSpc>
              <a:buFont typeface="Arial" panose="020B0604020202020204" pitchFamily="34" charset="0"/>
              <a:buChar char="•"/>
            </a:pPr>
            <a:r>
              <a:rPr lang="en-AU" sz="2479" spc="-49" dirty="0">
                <a:solidFill>
                  <a:schemeClr val="bg1"/>
                </a:solidFill>
                <a:latin typeface="DM Sans"/>
              </a:rPr>
              <a:t>Nothing tells them:</a:t>
            </a:r>
          </a:p>
          <a:p>
            <a:pPr marL="2171700" lvl="4" indent="-342900">
              <a:lnSpc>
                <a:spcPts val="3422"/>
              </a:lnSpc>
              <a:buFont typeface="Arial" panose="020B0604020202020204" pitchFamily="34" charset="0"/>
              <a:buChar char="•"/>
            </a:pPr>
            <a:r>
              <a:rPr lang="en-AU" sz="2479" spc="-49" dirty="0">
                <a:solidFill>
                  <a:schemeClr val="bg1"/>
                </a:solidFill>
                <a:latin typeface="DM Sans"/>
              </a:rPr>
              <a:t>In what order to run</a:t>
            </a:r>
          </a:p>
          <a:p>
            <a:pPr marL="2171700" lvl="4" indent="-342900">
              <a:lnSpc>
                <a:spcPts val="3422"/>
              </a:lnSpc>
              <a:buFont typeface="Arial" panose="020B0604020202020204" pitchFamily="34" charset="0"/>
              <a:buChar char="•"/>
            </a:pPr>
            <a:r>
              <a:rPr lang="en-AU" sz="2479" spc="-49" dirty="0">
                <a:solidFill>
                  <a:schemeClr val="bg1"/>
                </a:solidFill>
                <a:latin typeface="DM Sans"/>
              </a:rPr>
              <a:t>Under what conditions to run</a:t>
            </a:r>
          </a:p>
          <a:p>
            <a:pPr marL="2171700" lvl="4" indent="-342900">
              <a:lnSpc>
                <a:spcPts val="3422"/>
              </a:lnSpc>
              <a:buFont typeface="Arial" panose="020B0604020202020204" pitchFamily="34" charset="0"/>
              <a:buChar char="•"/>
            </a:pPr>
            <a:r>
              <a:rPr lang="en-AU" sz="2479" spc="-49" dirty="0">
                <a:solidFill>
                  <a:schemeClr val="bg1"/>
                </a:solidFill>
                <a:latin typeface="DM Sans"/>
              </a:rPr>
              <a:t>How outputs should move between them</a:t>
            </a:r>
          </a:p>
          <a:p>
            <a:pPr marL="2171700" lvl="4" indent="-342900">
              <a:lnSpc>
                <a:spcPts val="3422"/>
              </a:lnSpc>
              <a:buFont typeface="Arial" panose="020B0604020202020204" pitchFamily="34" charset="0"/>
              <a:buChar char="•"/>
            </a:pPr>
            <a:r>
              <a:rPr lang="en-AU" sz="2479" spc="-49" dirty="0">
                <a:solidFill>
                  <a:schemeClr val="bg1"/>
                </a:solidFill>
                <a:latin typeface="DM Sans"/>
              </a:rPr>
              <a:t>How long the process should continue</a:t>
            </a:r>
          </a:p>
          <a:p>
            <a:pPr marL="2171700" lvl="4" indent="-342900">
              <a:lnSpc>
                <a:spcPts val="3422"/>
              </a:lnSpc>
              <a:buFont typeface="Arial" panose="020B0604020202020204" pitchFamily="34" charset="0"/>
              <a:buChar char="•"/>
            </a:pPr>
            <a:r>
              <a:rPr lang="en-AU" sz="2479" spc="-49" dirty="0">
                <a:solidFill>
                  <a:schemeClr val="bg1"/>
                </a:solidFill>
                <a:latin typeface="DM Sans"/>
              </a:rPr>
              <a:t>What to do if something fails</a:t>
            </a:r>
          </a:p>
          <a:p>
            <a:pPr marL="2171700" lvl="4" indent="-342900">
              <a:lnSpc>
                <a:spcPts val="3422"/>
              </a:lnSpc>
              <a:buFont typeface="Arial" panose="020B0604020202020204" pitchFamily="34" charset="0"/>
              <a:buChar char="•"/>
            </a:pPr>
            <a:endParaRPr lang="en-AU" sz="2479" spc="-49" dirty="0">
              <a:solidFill>
                <a:schemeClr val="bg1"/>
              </a:solidFill>
              <a:latin typeface="DM Sans"/>
            </a:endParaRPr>
          </a:p>
          <a:p>
            <a:pPr marL="2171700" lvl="4" indent="-342900">
              <a:lnSpc>
                <a:spcPts val="3422"/>
              </a:lnSpc>
              <a:buFont typeface="Arial" panose="020B0604020202020204" pitchFamily="34" charset="0"/>
              <a:buChar char="•"/>
            </a:pPr>
            <a:endParaRPr lang="en-AU" sz="2479" spc="-49" dirty="0">
              <a:solidFill>
                <a:schemeClr val="bg1"/>
              </a:solidFill>
              <a:latin typeface="DM Sans"/>
            </a:endParaRPr>
          </a:p>
          <a:p>
            <a:pPr lvl="2">
              <a:lnSpc>
                <a:spcPts val="3422"/>
              </a:lnSpc>
            </a:pPr>
            <a:br>
              <a:rPr lang="en-AU" sz="2479" spc="-49" dirty="0">
                <a:solidFill>
                  <a:schemeClr val="bg1"/>
                </a:solidFill>
                <a:latin typeface="DM Sans"/>
              </a:rPr>
            </a:br>
            <a:endParaRPr lang="en-AU" sz="2479" spc="-49" dirty="0">
              <a:solidFill>
                <a:schemeClr val="bg1"/>
              </a:solidFill>
              <a:latin typeface="DM Sans"/>
            </a:endParaRPr>
          </a:p>
          <a:p>
            <a:pPr marL="1714500" lvl="3" indent="-342900">
              <a:lnSpc>
                <a:spcPts val="3422"/>
              </a:lnSpc>
              <a:buFont typeface="Arial" panose="020B0604020202020204" pitchFamily="34" charset="0"/>
              <a:buChar char="•"/>
            </a:pPr>
            <a:endParaRPr lang="en-AU" sz="2479" spc="-49" dirty="0">
              <a:solidFill>
                <a:srgbClr val="FFFFFF"/>
              </a:solidFill>
              <a:latin typeface="DM Sans"/>
            </a:endParaRPr>
          </a:p>
          <a:p>
            <a:pPr lvl="1">
              <a:lnSpc>
                <a:spcPts val="3422"/>
              </a:lnSpc>
            </a:pPr>
            <a:endParaRPr lang="en-AU" sz="2800" dirty="0">
              <a:solidFill>
                <a:schemeClr val="bg1"/>
              </a:solidFill>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a:lnSpc>
                <a:spcPts val="3284"/>
              </a:lnSpc>
            </a:pPr>
            <a:endParaRPr lang="en-US" sz="2479" spc="-49" dirty="0">
              <a:solidFill>
                <a:srgbClr val="FFFFFF"/>
              </a:solidFill>
              <a:latin typeface="DM Sans"/>
            </a:endParaRPr>
          </a:p>
        </p:txBody>
      </p:sp>
    </p:spTree>
    <p:extLst>
      <p:ext uri="{BB962C8B-B14F-4D97-AF65-F5344CB8AC3E}">
        <p14:creationId xmlns:p14="http://schemas.microsoft.com/office/powerpoint/2010/main" val="198851579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1C9425B4-F43E-F850-1EE3-DD96CE1CA443}"/>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EFB19974-7E0A-3E3C-4B6F-7C5F862035AB}"/>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4B4041F0-71A7-D202-F20A-97731D2C3A21}"/>
              </a:ext>
            </a:extLst>
          </p:cNvPr>
          <p:cNvSpPr/>
          <p:nvPr/>
        </p:nvSpPr>
        <p:spPr>
          <a:xfrm>
            <a:off x="-721096" y="840063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95E1678E-C356-DDD3-CA8E-05949F8DA5D1}"/>
              </a:ext>
            </a:extLst>
          </p:cNvPr>
          <p:cNvSpPr txBox="1"/>
          <p:nvPr/>
        </p:nvSpPr>
        <p:spPr>
          <a:xfrm>
            <a:off x="1546728" y="2064300"/>
            <a:ext cx="14497588" cy="2900153"/>
          </a:xfrm>
          <a:prstGeom prst="rect">
            <a:avLst/>
          </a:prstGeom>
        </p:spPr>
        <p:txBody>
          <a:bodyPr wrap="square" lIns="0" tIns="0" rIns="0" bIns="0" rtlCol="0" anchor="t">
            <a:spAutoFit/>
          </a:bodyPr>
          <a:lstStyle/>
          <a:p>
            <a:pPr>
              <a:lnSpc>
                <a:spcPts val="7711"/>
              </a:lnSpc>
              <a:spcBef>
                <a:spcPct val="0"/>
              </a:spcBef>
            </a:pPr>
            <a:r>
              <a:rPr lang="en-AU" sz="4800" dirty="0">
                <a:solidFill>
                  <a:srgbClr val="0CC0DF"/>
                </a:solidFill>
                <a:latin typeface="Now Bold"/>
              </a:rPr>
              <a:t>ORCHESTRATION:</a:t>
            </a:r>
            <a:r>
              <a:rPr lang="en-AU" sz="4800" spc="-49" dirty="0">
                <a:solidFill>
                  <a:schemeClr val="bg1"/>
                </a:solidFill>
                <a:latin typeface="DM Sans"/>
              </a:rPr>
              <a:t> </a:t>
            </a:r>
            <a:r>
              <a:rPr lang="en-AU" sz="4800" dirty="0">
                <a:solidFill>
                  <a:srgbClr val="0CC0DF"/>
                </a:solidFill>
                <a:latin typeface="Now Bold"/>
              </a:rPr>
              <a:t>WHAT IT CONTROLS</a:t>
            </a:r>
          </a:p>
          <a:p>
            <a:pPr>
              <a:lnSpc>
                <a:spcPts val="7711"/>
              </a:lnSpc>
              <a:spcBef>
                <a:spcPct val="0"/>
              </a:spcBef>
            </a:pPr>
            <a:endParaRPr lang="en-US" sz="4800" dirty="0">
              <a:solidFill>
                <a:srgbClr val="0CC0DF"/>
              </a:solidFill>
              <a:latin typeface="Now Bold"/>
            </a:endParaRPr>
          </a:p>
          <a:p>
            <a:pPr marL="0" lvl="0" indent="0">
              <a:lnSpc>
                <a:spcPts val="7711"/>
              </a:lnSpc>
              <a:spcBef>
                <a:spcPct val="0"/>
              </a:spcBef>
            </a:pPr>
            <a:r>
              <a:rPr lang="en-US" sz="4800" dirty="0">
                <a:solidFill>
                  <a:srgbClr val="0CC0DF"/>
                </a:solidFill>
                <a:latin typeface="Now Bold"/>
              </a:rPr>
              <a:t>	</a:t>
            </a:r>
          </a:p>
        </p:txBody>
      </p:sp>
      <p:sp>
        <p:nvSpPr>
          <p:cNvPr id="10" name="TextBox 10">
            <a:extLst>
              <a:ext uri="{FF2B5EF4-FFF2-40B4-BE49-F238E27FC236}">
                <a16:creationId xmlns:a16="http://schemas.microsoft.com/office/drawing/2014/main" id="{15A62D9F-6891-E58F-DBE4-948A618C263A}"/>
              </a:ext>
            </a:extLst>
          </p:cNvPr>
          <p:cNvSpPr txBox="1"/>
          <p:nvPr/>
        </p:nvSpPr>
        <p:spPr>
          <a:xfrm>
            <a:off x="1590683" y="4045492"/>
            <a:ext cx="15142855" cy="789703"/>
          </a:xfrm>
          <a:prstGeom prst="rect">
            <a:avLst/>
          </a:prstGeom>
        </p:spPr>
        <p:txBody>
          <a:bodyPr wrap="square" lIns="0" tIns="0" rIns="0" bIns="0" rtlCol="0" anchor="t">
            <a:spAutoFit/>
          </a:bodyPr>
          <a:lstStyle/>
          <a:p>
            <a:pPr lvl="3"/>
            <a:endParaRPr lang="en-AU" sz="2479" spc="-49" dirty="0">
              <a:solidFill>
                <a:srgbClr val="FFFFFF"/>
              </a:solidFill>
              <a:latin typeface="DM Sans"/>
            </a:endParaRPr>
          </a:p>
          <a:p>
            <a:pPr>
              <a:lnSpc>
                <a:spcPts val="3284"/>
              </a:lnSpc>
            </a:pPr>
            <a:endParaRPr lang="en-US" sz="2479" spc="-49" dirty="0">
              <a:solidFill>
                <a:srgbClr val="FFFFFF"/>
              </a:solidFill>
              <a:latin typeface="DM Sans"/>
            </a:endParaRPr>
          </a:p>
        </p:txBody>
      </p:sp>
      <p:sp>
        <p:nvSpPr>
          <p:cNvPr id="3" name="TextBox 10">
            <a:extLst>
              <a:ext uri="{FF2B5EF4-FFF2-40B4-BE49-F238E27FC236}">
                <a16:creationId xmlns:a16="http://schemas.microsoft.com/office/drawing/2014/main" id="{14BD63D2-8C9B-19D5-26A2-6BABB539847A}"/>
              </a:ext>
            </a:extLst>
          </p:cNvPr>
          <p:cNvSpPr txBox="1"/>
          <p:nvPr/>
        </p:nvSpPr>
        <p:spPr>
          <a:xfrm>
            <a:off x="1590683" y="4045492"/>
            <a:ext cx="15142855" cy="2588273"/>
          </a:xfrm>
          <a:prstGeom prst="rect">
            <a:avLst/>
          </a:prstGeom>
        </p:spPr>
        <p:txBody>
          <a:bodyPr wrap="square" lIns="0" tIns="0" rIns="0" bIns="0" rtlCol="0" anchor="t">
            <a:spAutoFit/>
          </a:bodyPr>
          <a:lstStyle/>
          <a:p>
            <a:pPr lvl="2">
              <a:lnSpc>
                <a:spcPts val="3422"/>
              </a:lnSpc>
            </a:pPr>
            <a:br>
              <a:rPr lang="en-AU" sz="2479" spc="-49" dirty="0">
                <a:solidFill>
                  <a:schemeClr val="bg1"/>
                </a:solidFill>
                <a:latin typeface="DM Sans"/>
              </a:rPr>
            </a:br>
            <a:endParaRPr lang="en-AU" sz="2479" spc="-49" dirty="0">
              <a:solidFill>
                <a:schemeClr val="bg1"/>
              </a:solidFill>
              <a:latin typeface="DM Sans"/>
            </a:endParaRPr>
          </a:p>
          <a:p>
            <a:pPr marL="1714500" lvl="3" indent="-342900">
              <a:lnSpc>
                <a:spcPts val="3422"/>
              </a:lnSpc>
              <a:buFont typeface="Arial" panose="020B0604020202020204" pitchFamily="34" charset="0"/>
              <a:buChar char="•"/>
            </a:pPr>
            <a:endParaRPr lang="en-AU" sz="2479" spc="-49" dirty="0">
              <a:solidFill>
                <a:srgbClr val="FFFFFF"/>
              </a:solidFill>
              <a:latin typeface="DM Sans"/>
            </a:endParaRPr>
          </a:p>
          <a:p>
            <a:pPr lvl="1">
              <a:lnSpc>
                <a:spcPts val="3422"/>
              </a:lnSpc>
            </a:pPr>
            <a:endParaRPr lang="en-AU" sz="2800" dirty="0">
              <a:solidFill>
                <a:schemeClr val="bg1"/>
              </a:solidFill>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a:lnSpc>
                <a:spcPts val="3284"/>
              </a:lnSpc>
            </a:pPr>
            <a:endParaRPr lang="en-US" sz="2479" spc="-49" dirty="0">
              <a:solidFill>
                <a:srgbClr val="FFFFFF"/>
              </a:solidFill>
              <a:latin typeface="DM Sans"/>
            </a:endParaRPr>
          </a:p>
        </p:txBody>
      </p:sp>
      <p:sp>
        <p:nvSpPr>
          <p:cNvPr id="4" name="TextBox 10">
            <a:extLst>
              <a:ext uri="{FF2B5EF4-FFF2-40B4-BE49-F238E27FC236}">
                <a16:creationId xmlns:a16="http://schemas.microsoft.com/office/drawing/2014/main" id="{A9CAF37D-243A-801F-1D25-6CB18240A239}"/>
              </a:ext>
            </a:extLst>
          </p:cNvPr>
          <p:cNvSpPr txBox="1"/>
          <p:nvPr/>
        </p:nvSpPr>
        <p:spPr>
          <a:xfrm>
            <a:off x="901461" y="2551212"/>
            <a:ext cx="15142855" cy="10872592"/>
          </a:xfrm>
          <a:prstGeom prst="rect">
            <a:avLst/>
          </a:prstGeom>
        </p:spPr>
        <p:txBody>
          <a:bodyPr wrap="square" lIns="0" tIns="0" rIns="0" bIns="0" rtlCol="0" anchor="t">
            <a:spAutoFit/>
          </a:bodyPr>
          <a:lstStyle/>
          <a:p>
            <a:pPr lvl="2">
              <a:lnSpc>
                <a:spcPts val="3422"/>
              </a:lnSpc>
            </a:pPr>
            <a:r>
              <a:rPr lang="en-AU" sz="2479" spc="-49" dirty="0">
                <a:solidFill>
                  <a:schemeClr val="bg1"/>
                </a:solidFill>
                <a:latin typeface="DM Sans"/>
              </a:rPr>
              <a:t> </a:t>
            </a:r>
          </a:p>
          <a:p>
            <a:pPr marL="1714500" lvl="3" indent="-342900">
              <a:lnSpc>
                <a:spcPts val="3422"/>
              </a:lnSpc>
              <a:buFont typeface="Arial" panose="020B0604020202020204" pitchFamily="34" charset="0"/>
              <a:buChar char="•"/>
            </a:pPr>
            <a:r>
              <a:rPr lang="en-AU" sz="2479" spc="-49" dirty="0">
                <a:solidFill>
                  <a:schemeClr val="bg1"/>
                </a:solidFill>
                <a:latin typeface="DM Sans"/>
              </a:rPr>
              <a:t>Task sequencing</a:t>
            </a:r>
          </a:p>
          <a:p>
            <a:pPr marL="2171700" lvl="4" indent="-342900">
              <a:lnSpc>
                <a:spcPts val="3422"/>
              </a:lnSpc>
              <a:buFont typeface="Arial" panose="020B0604020202020204" pitchFamily="34" charset="0"/>
              <a:buChar char="•"/>
            </a:pPr>
            <a:r>
              <a:rPr lang="en-AU" sz="2479" spc="-49" dirty="0">
                <a:solidFill>
                  <a:schemeClr val="bg1"/>
                </a:solidFill>
                <a:latin typeface="DM Sans"/>
              </a:rPr>
              <a:t>Receive user request</a:t>
            </a:r>
          </a:p>
          <a:p>
            <a:pPr marL="2171700" lvl="4" indent="-342900">
              <a:lnSpc>
                <a:spcPts val="3422"/>
              </a:lnSpc>
              <a:buFont typeface="Arial" panose="020B0604020202020204" pitchFamily="34" charset="0"/>
              <a:buChar char="•"/>
            </a:pPr>
            <a:r>
              <a:rPr lang="en-AU" sz="2479" spc="-49" dirty="0">
                <a:solidFill>
                  <a:schemeClr val="bg1"/>
                </a:solidFill>
                <a:latin typeface="DM Sans"/>
              </a:rPr>
              <a:t>Classify the task</a:t>
            </a:r>
          </a:p>
          <a:p>
            <a:pPr marL="2171700" lvl="4" indent="-342900">
              <a:lnSpc>
                <a:spcPts val="3422"/>
              </a:lnSpc>
              <a:buFont typeface="Arial" panose="020B0604020202020204" pitchFamily="34" charset="0"/>
              <a:buChar char="•"/>
            </a:pPr>
            <a:r>
              <a:rPr lang="en-AU" sz="2479" spc="-49" dirty="0">
                <a:solidFill>
                  <a:schemeClr val="bg1"/>
                </a:solidFill>
                <a:latin typeface="DM Sans"/>
              </a:rPr>
              <a:t>Retrieve information if needed</a:t>
            </a:r>
          </a:p>
          <a:p>
            <a:pPr marL="2171700" lvl="4" indent="-342900">
              <a:lnSpc>
                <a:spcPts val="3422"/>
              </a:lnSpc>
              <a:buFont typeface="Arial" panose="020B0604020202020204" pitchFamily="34" charset="0"/>
              <a:buChar char="•"/>
            </a:pPr>
            <a:r>
              <a:rPr lang="en-AU" sz="2479" spc="-49" dirty="0">
                <a:solidFill>
                  <a:schemeClr val="bg1"/>
                </a:solidFill>
                <a:latin typeface="DM Sans"/>
              </a:rPr>
              <a:t>Call the LLM</a:t>
            </a:r>
          </a:p>
          <a:p>
            <a:pPr marL="2171700" lvl="4" indent="-342900">
              <a:lnSpc>
                <a:spcPts val="3422"/>
              </a:lnSpc>
              <a:buFont typeface="Arial" panose="020B0604020202020204" pitchFamily="34" charset="0"/>
              <a:buChar char="•"/>
            </a:pPr>
            <a:r>
              <a:rPr lang="en-AU" sz="2479" spc="-49" dirty="0">
                <a:solidFill>
                  <a:schemeClr val="bg1"/>
                </a:solidFill>
                <a:latin typeface="DM Sans"/>
              </a:rPr>
              <a:t>Call a tool if required</a:t>
            </a:r>
          </a:p>
          <a:p>
            <a:pPr marL="2171700" lvl="4" indent="-342900">
              <a:lnSpc>
                <a:spcPts val="3422"/>
              </a:lnSpc>
              <a:buFont typeface="Arial" panose="020B0604020202020204" pitchFamily="34" charset="0"/>
              <a:buChar char="•"/>
            </a:pPr>
            <a:r>
              <a:rPr lang="en-AU" sz="2479" spc="-49" dirty="0">
                <a:solidFill>
                  <a:schemeClr val="bg1"/>
                </a:solidFill>
                <a:latin typeface="DM Sans"/>
              </a:rPr>
              <a:t>Inspect the result</a:t>
            </a:r>
          </a:p>
          <a:p>
            <a:pPr marL="2171700" lvl="4" indent="-342900">
              <a:lnSpc>
                <a:spcPts val="3422"/>
              </a:lnSpc>
              <a:buFont typeface="Arial" panose="020B0604020202020204" pitchFamily="34" charset="0"/>
              <a:buChar char="•"/>
            </a:pPr>
            <a:r>
              <a:rPr lang="en-AU" sz="2479" spc="-49" dirty="0">
                <a:solidFill>
                  <a:schemeClr val="bg1"/>
                </a:solidFill>
                <a:latin typeface="DM Sans"/>
              </a:rPr>
              <a:t>Continue or stop</a:t>
            </a:r>
          </a:p>
          <a:p>
            <a:pPr marL="2171700" lvl="4" indent="-342900">
              <a:lnSpc>
                <a:spcPts val="3422"/>
              </a:lnSpc>
              <a:buFont typeface="Arial" panose="020B0604020202020204" pitchFamily="34" charset="0"/>
              <a:buChar char="•"/>
            </a:pPr>
            <a:endParaRPr lang="en-AU" sz="2479" spc="-49" dirty="0">
              <a:solidFill>
                <a:schemeClr val="bg1"/>
              </a:solidFill>
              <a:latin typeface="DM Sans"/>
            </a:endParaRPr>
          </a:p>
          <a:p>
            <a:pPr marL="1714500" lvl="3" indent="-342900">
              <a:lnSpc>
                <a:spcPts val="3422"/>
              </a:lnSpc>
              <a:buFont typeface="Arial" panose="020B0604020202020204" pitchFamily="34" charset="0"/>
              <a:buChar char="•"/>
            </a:pPr>
            <a:r>
              <a:rPr lang="en-AU" sz="2479" spc="-49" dirty="0">
                <a:solidFill>
                  <a:schemeClr val="bg1"/>
                </a:solidFill>
                <a:latin typeface="DM Sans"/>
              </a:rPr>
              <a:t>It controls iteration</a:t>
            </a:r>
          </a:p>
          <a:p>
            <a:pPr marL="2171700" lvl="4" indent="-342900">
              <a:lnSpc>
                <a:spcPts val="3422"/>
              </a:lnSpc>
              <a:buFont typeface="Arial" panose="020B0604020202020204" pitchFamily="34" charset="0"/>
              <a:buChar char="•"/>
            </a:pPr>
            <a:r>
              <a:rPr lang="en-AU" sz="2479" spc="-49" dirty="0">
                <a:solidFill>
                  <a:schemeClr val="bg1"/>
                </a:solidFill>
                <a:latin typeface="DM Sans"/>
              </a:rPr>
              <a:t>Example:</a:t>
            </a:r>
          </a:p>
          <a:p>
            <a:pPr marL="2628900" lvl="5" indent="-342900">
              <a:lnSpc>
                <a:spcPts val="3422"/>
              </a:lnSpc>
              <a:buFont typeface="Arial" panose="020B0604020202020204" pitchFamily="34" charset="0"/>
              <a:buChar char="•"/>
            </a:pPr>
            <a:r>
              <a:rPr lang="en-AU" sz="2479" spc="-49" dirty="0">
                <a:solidFill>
                  <a:schemeClr val="bg1"/>
                </a:solidFill>
                <a:latin typeface="DM Sans"/>
              </a:rPr>
              <a:t>Search for sources</a:t>
            </a:r>
          </a:p>
          <a:p>
            <a:pPr marL="2628900" lvl="5" indent="-342900">
              <a:lnSpc>
                <a:spcPts val="3422"/>
              </a:lnSpc>
              <a:buFont typeface="Arial" panose="020B0604020202020204" pitchFamily="34" charset="0"/>
              <a:buChar char="•"/>
            </a:pPr>
            <a:r>
              <a:rPr lang="en-AU" sz="2479" spc="-49" dirty="0">
                <a:solidFill>
                  <a:schemeClr val="bg1"/>
                </a:solidFill>
                <a:latin typeface="DM Sans"/>
              </a:rPr>
              <a:t>Inspect quality of results</a:t>
            </a:r>
          </a:p>
          <a:p>
            <a:pPr marL="2628900" lvl="5" indent="-342900">
              <a:lnSpc>
                <a:spcPts val="3422"/>
              </a:lnSpc>
              <a:buFont typeface="Arial" panose="020B0604020202020204" pitchFamily="34" charset="0"/>
              <a:buChar char="•"/>
            </a:pPr>
            <a:r>
              <a:rPr lang="en-AU" sz="2479" spc="-49" dirty="0">
                <a:solidFill>
                  <a:schemeClr val="bg1"/>
                </a:solidFill>
                <a:latin typeface="DM Sans"/>
              </a:rPr>
              <a:t>If evidence is weak, search again</a:t>
            </a:r>
          </a:p>
          <a:p>
            <a:pPr marL="2628900" lvl="5" indent="-342900">
              <a:lnSpc>
                <a:spcPts val="3422"/>
              </a:lnSpc>
              <a:buFont typeface="Arial" panose="020B0604020202020204" pitchFamily="34" charset="0"/>
              <a:buChar char="•"/>
            </a:pPr>
            <a:r>
              <a:rPr lang="en-AU" sz="2479" spc="-49" dirty="0">
                <a:solidFill>
                  <a:schemeClr val="bg1"/>
                </a:solidFill>
                <a:latin typeface="DM Sans"/>
              </a:rPr>
              <a:t>Then answer</a:t>
            </a:r>
          </a:p>
          <a:p>
            <a:pPr marL="2171700" lvl="4" indent="-342900">
              <a:lnSpc>
                <a:spcPts val="3422"/>
              </a:lnSpc>
              <a:buFont typeface="Arial" panose="020B0604020202020204" pitchFamily="34" charset="0"/>
              <a:buChar char="•"/>
            </a:pPr>
            <a:endParaRPr lang="en-AU" sz="2479" spc="-49" dirty="0">
              <a:solidFill>
                <a:schemeClr val="bg1"/>
              </a:solidFill>
              <a:latin typeface="DM Sans"/>
            </a:endParaRPr>
          </a:p>
          <a:p>
            <a:pPr marL="2171700" lvl="4" indent="-342900">
              <a:lnSpc>
                <a:spcPts val="3422"/>
              </a:lnSpc>
              <a:buFont typeface="Arial" panose="020B0604020202020204" pitchFamily="34" charset="0"/>
              <a:buChar char="•"/>
            </a:pPr>
            <a:endParaRPr lang="en-AU" sz="2479" spc="-49" dirty="0">
              <a:solidFill>
                <a:schemeClr val="bg1"/>
              </a:solidFill>
              <a:latin typeface="DM Sans"/>
            </a:endParaRPr>
          </a:p>
          <a:p>
            <a:pPr marL="2171700" lvl="4" indent="-342900">
              <a:lnSpc>
                <a:spcPts val="3422"/>
              </a:lnSpc>
              <a:buFont typeface="Arial" panose="020B0604020202020204" pitchFamily="34" charset="0"/>
              <a:buChar char="•"/>
            </a:pPr>
            <a:endParaRPr lang="en-AU" sz="2479" spc="-49" dirty="0">
              <a:solidFill>
                <a:schemeClr val="bg1"/>
              </a:solidFill>
              <a:latin typeface="DM Sans"/>
            </a:endParaRPr>
          </a:p>
          <a:p>
            <a:pPr lvl="2">
              <a:lnSpc>
                <a:spcPts val="3422"/>
              </a:lnSpc>
            </a:pPr>
            <a:br>
              <a:rPr lang="en-AU" sz="2479" spc="-49" dirty="0">
                <a:solidFill>
                  <a:schemeClr val="bg1"/>
                </a:solidFill>
                <a:latin typeface="DM Sans"/>
              </a:rPr>
            </a:br>
            <a:endParaRPr lang="en-AU" sz="2479" spc="-49" dirty="0">
              <a:solidFill>
                <a:schemeClr val="bg1"/>
              </a:solidFill>
              <a:latin typeface="DM Sans"/>
            </a:endParaRPr>
          </a:p>
          <a:p>
            <a:pPr marL="1714500" lvl="3" indent="-342900">
              <a:lnSpc>
                <a:spcPts val="3422"/>
              </a:lnSpc>
              <a:buFont typeface="Arial" panose="020B0604020202020204" pitchFamily="34" charset="0"/>
              <a:buChar char="•"/>
            </a:pPr>
            <a:endParaRPr lang="en-AU" sz="2479" spc="-49" dirty="0">
              <a:solidFill>
                <a:srgbClr val="FFFFFF"/>
              </a:solidFill>
              <a:latin typeface="DM Sans"/>
            </a:endParaRPr>
          </a:p>
          <a:p>
            <a:pPr lvl="1">
              <a:lnSpc>
                <a:spcPts val="3422"/>
              </a:lnSpc>
            </a:pPr>
            <a:endParaRPr lang="en-AU" sz="2800" dirty="0">
              <a:solidFill>
                <a:schemeClr val="bg1"/>
              </a:solidFill>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a:lnSpc>
                <a:spcPts val="3284"/>
              </a:lnSpc>
            </a:pPr>
            <a:endParaRPr lang="en-US" sz="2479" spc="-49" dirty="0">
              <a:solidFill>
                <a:srgbClr val="FFFFFF"/>
              </a:solidFill>
              <a:latin typeface="DM Sans"/>
            </a:endParaRPr>
          </a:p>
        </p:txBody>
      </p:sp>
    </p:spTree>
    <p:extLst>
      <p:ext uri="{BB962C8B-B14F-4D97-AF65-F5344CB8AC3E}">
        <p14:creationId xmlns:p14="http://schemas.microsoft.com/office/powerpoint/2010/main" val="141819124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0CDA59E6-C144-D136-2BDE-0BEDF4249AE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9423B1B-1F53-BA2A-A9F7-AF74EEFA05DE}"/>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B5B7FE4D-0783-8F02-6F85-2AF5BDFDFDB7}"/>
              </a:ext>
            </a:extLst>
          </p:cNvPr>
          <p:cNvSpPr/>
          <p:nvPr/>
        </p:nvSpPr>
        <p:spPr>
          <a:xfrm>
            <a:off x="-721096" y="840063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B259D03C-6563-E4E8-F7B7-F9028034D041}"/>
              </a:ext>
            </a:extLst>
          </p:cNvPr>
          <p:cNvSpPr txBox="1"/>
          <p:nvPr/>
        </p:nvSpPr>
        <p:spPr>
          <a:xfrm>
            <a:off x="1554462" y="1789652"/>
            <a:ext cx="14497588" cy="2900153"/>
          </a:xfrm>
          <a:prstGeom prst="rect">
            <a:avLst/>
          </a:prstGeom>
        </p:spPr>
        <p:txBody>
          <a:bodyPr wrap="square" lIns="0" tIns="0" rIns="0" bIns="0" rtlCol="0" anchor="t">
            <a:spAutoFit/>
          </a:bodyPr>
          <a:lstStyle/>
          <a:p>
            <a:pPr>
              <a:lnSpc>
                <a:spcPts val="7711"/>
              </a:lnSpc>
              <a:spcBef>
                <a:spcPct val="0"/>
              </a:spcBef>
            </a:pPr>
            <a:r>
              <a:rPr lang="en-AU" sz="4800" dirty="0">
                <a:solidFill>
                  <a:srgbClr val="0CC0DF"/>
                </a:solidFill>
                <a:latin typeface="Now Bold"/>
              </a:rPr>
              <a:t>ORCHESTRATION:</a:t>
            </a:r>
            <a:r>
              <a:rPr lang="en-AU" sz="4800" spc="-49" dirty="0">
                <a:solidFill>
                  <a:schemeClr val="bg1"/>
                </a:solidFill>
                <a:latin typeface="DM Sans"/>
              </a:rPr>
              <a:t> </a:t>
            </a:r>
            <a:r>
              <a:rPr lang="en-AU" sz="4800" dirty="0">
                <a:solidFill>
                  <a:srgbClr val="0CC0DF"/>
                </a:solidFill>
                <a:latin typeface="Now Bold"/>
              </a:rPr>
              <a:t>WHAT IT CONTROLS</a:t>
            </a:r>
          </a:p>
          <a:p>
            <a:pPr>
              <a:lnSpc>
                <a:spcPts val="7711"/>
              </a:lnSpc>
              <a:spcBef>
                <a:spcPct val="0"/>
              </a:spcBef>
            </a:pPr>
            <a:endParaRPr lang="en-US" sz="4800" dirty="0">
              <a:solidFill>
                <a:srgbClr val="0CC0DF"/>
              </a:solidFill>
              <a:latin typeface="Now Bold"/>
            </a:endParaRPr>
          </a:p>
          <a:p>
            <a:pPr marL="0" lvl="0" indent="0">
              <a:lnSpc>
                <a:spcPts val="7711"/>
              </a:lnSpc>
              <a:spcBef>
                <a:spcPct val="0"/>
              </a:spcBef>
            </a:pPr>
            <a:r>
              <a:rPr lang="en-US" sz="4800" dirty="0">
                <a:solidFill>
                  <a:srgbClr val="0CC0DF"/>
                </a:solidFill>
                <a:latin typeface="Now Bold"/>
              </a:rPr>
              <a:t>	</a:t>
            </a:r>
          </a:p>
        </p:txBody>
      </p:sp>
      <p:sp>
        <p:nvSpPr>
          <p:cNvPr id="10" name="TextBox 10">
            <a:extLst>
              <a:ext uri="{FF2B5EF4-FFF2-40B4-BE49-F238E27FC236}">
                <a16:creationId xmlns:a16="http://schemas.microsoft.com/office/drawing/2014/main" id="{7EF2E425-0B88-9059-0963-7066299577F7}"/>
              </a:ext>
            </a:extLst>
          </p:cNvPr>
          <p:cNvSpPr txBox="1"/>
          <p:nvPr/>
        </p:nvSpPr>
        <p:spPr>
          <a:xfrm>
            <a:off x="1590683" y="4045492"/>
            <a:ext cx="15142855" cy="789703"/>
          </a:xfrm>
          <a:prstGeom prst="rect">
            <a:avLst/>
          </a:prstGeom>
        </p:spPr>
        <p:txBody>
          <a:bodyPr wrap="square" lIns="0" tIns="0" rIns="0" bIns="0" rtlCol="0" anchor="t">
            <a:spAutoFit/>
          </a:bodyPr>
          <a:lstStyle/>
          <a:p>
            <a:pPr lvl="3"/>
            <a:endParaRPr lang="en-AU" sz="2479" spc="-49" dirty="0">
              <a:solidFill>
                <a:srgbClr val="FFFFFF"/>
              </a:solidFill>
              <a:latin typeface="DM Sans"/>
            </a:endParaRPr>
          </a:p>
          <a:p>
            <a:pPr>
              <a:lnSpc>
                <a:spcPts val="3284"/>
              </a:lnSpc>
            </a:pPr>
            <a:endParaRPr lang="en-US" sz="2479" spc="-49" dirty="0">
              <a:solidFill>
                <a:srgbClr val="FFFFFF"/>
              </a:solidFill>
              <a:latin typeface="DM Sans"/>
            </a:endParaRPr>
          </a:p>
        </p:txBody>
      </p:sp>
      <p:sp>
        <p:nvSpPr>
          <p:cNvPr id="3" name="TextBox 10">
            <a:extLst>
              <a:ext uri="{FF2B5EF4-FFF2-40B4-BE49-F238E27FC236}">
                <a16:creationId xmlns:a16="http://schemas.microsoft.com/office/drawing/2014/main" id="{7C9F1A57-8A99-D93F-C597-13A6B5EF3C3F}"/>
              </a:ext>
            </a:extLst>
          </p:cNvPr>
          <p:cNvSpPr txBox="1"/>
          <p:nvPr/>
        </p:nvSpPr>
        <p:spPr>
          <a:xfrm>
            <a:off x="1590683" y="4045492"/>
            <a:ext cx="15142855" cy="2588273"/>
          </a:xfrm>
          <a:prstGeom prst="rect">
            <a:avLst/>
          </a:prstGeom>
        </p:spPr>
        <p:txBody>
          <a:bodyPr wrap="square" lIns="0" tIns="0" rIns="0" bIns="0" rtlCol="0" anchor="t">
            <a:spAutoFit/>
          </a:bodyPr>
          <a:lstStyle/>
          <a:p>
            <a:pPr lvl="2">
              <a:lnSpc>
                <a:spcPts val="3422"/>
              </a:lnSpc>
            </a:pPr>
            <a:br>
              <a:rPr lang="en-AU" sz="2479" spc="-49" dirty="0">
                <a:solidFill>
                  <a:schemeClr val="bg1"/>
                </a:solidFill>
                <a:latin typeface="DM Sans"/>
              </a:rPr>
            </a:br>
            <a:endParaRPr lang="en-AU" sz="2479" spc="-49" dirty="0">
              <a:solidFill>
                <a:schemeClr val="bg1"/>
              </a:solidFill>
              <a:latin typeface="DM Sans"/>
            </a:endParaRPr>
          </a:p>
          <a:p>
            <a:pPr marL="1714500" lvl="3" indent="-342900">
              <a:lnSpc>
                <a:spcPts val="3422"/>
              </a:lnSpc>
              <a:buFont typeface="Arial" panose="020B0604020202020204" pitchFamily="34" charset="0"/>
              <a:buChar char="•"/>
            </a:pPr>
            <a:endParaRPr lang="en-AU" sz="2479" spc="-49" dirty="0">
              <a:solidFill>
                <a:srgbClr val="FFFFFF"/>
              </a:solidFill>
              <a:latin typeface="DM Sans"/>
            </a:endParaRPr>
          </a:p>
          <a:p>
            <a:pPr lvl="1">
              <a:lnSpc>
                <a:spcPts val="3422"/>
              </a:lnSpc>
            </a:pPr>
            <a:endParaRPr lang="en-AU" sz="2800" dirty="0">
              <a:solidFill>
                <a:schemeClr val="bg1"/>
              </a:solidFill>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a:lnSpc>
                <a:spcPts val="3284"/>
              </a:lnSpc>
            </a:pPr>
            <a:endParaRPr lang="en-US" sz="2479" spc="-49" dirty="0">
              <a:solidFill>
                <a:srgbClr val="FFFFFF"/>
              </a:solidFill>
              <a:latin typeface="DM Sans"/>
            </a:endParaRPr>
          </a:p>
        </p:txBody>
      </p:sp>
      <p:sp>
        <p:nvSpPr>
          <p:cNvPr id="4" name="TextBox 10">
            <a:extLst>
              <a:ext uri="{FF2B5EF4-FFF2-40B4-BE49-F238E27FC236}">
                <a16:creationId xmlns:a16="http://schemas.microsoft.com/office/drawing/2014/main" id="{D6246642-3D91-7717-833A-E0AFDE953433}"/>
              </a:ext>
            </a:extLst>
          </p:cNvPr>
          <p:cNvSpPr txBox="1"/>
          <p:nvPr/>
        </p:nvSpPr>
        <p:spPr>
          <a:xfrm>
            <a:off x="865062" y="2466526"/>
            <a:ext cx="15142855" cy="7820474"/>
          </a:xfrm>
          <a:prstGeom prst="rect">
            <a:avLst/>
          </a:prstGeom>
        </p:spPr>
        <p:txBody>
          <a:bodyPr wrap="square" lIns="0" tIns="0" rIns="0" bIns="0" rtlCol="0" anchor="t">
            <a:spAutoFit/>
          </a:bodyPr>
          <a:lstStyle/>
          <a:p>
            <a:pPr lvl="2">
              <a:lnSpc>
                <a:spcPts val="3422"/>
              </a:lnSpc>
            </a:pPr>
            <a:r>
              <a:rPr lang="en-AU" sz="2479" spc="-49" dirty="0">
                <a:solidFill>
                  <a:schemeClr val="bg1"/>
                </a:solidFill>
                <a:latin typeface="DM Sans"/>
              </a:rPr>
              <a:t> </a:t>
            </a:r>
          </a:p>
          <a:p>
            <a:pPr marL="1714500" lvl="3" indent="-342900">
              <a:lnSpc>
                <a:spcPts val="3422"/>
              </a:lnSpc>
              <a:buFont typeface="Arial" panose="020B0604020202020204" pitchFamily="34" charset="0"/>
              <a:buChar char="•"/>
            </a:pPr>
            <a:r>
              <a:rPr lang="en-AU" sz="2479" spc="-49" dirty="0">
                <a:solidFill>
                  <a:schemeClr val="bg1"/>
                </a:solidFill>
                <a:latin typeface="DM Sans"/>
              </a:rPr>
              <a:t>Multi-agent coordination</a:t>
            </a:r>
          </a:p>
          <a:p>
            <a:pPr marL="2171700" lvl="4" indent="-342900">
              <a:lnSpc>
                <a:spcPts val="3422"/>
              </a:lnSpc>
              <a:buFont typeface="Arial" panose="020B0604020202020204" pitchFamily="34" charset="0"/>
              <a:buChar char="•"/>
            </a:pPr>
            <a:r>
              <a:rPr lang="en-AU" sz="2479" spc="-49" dirty="0">
                <a:solidFill>
                  <a:schemeClr val="bg1"/>
                </a:solidFill>
                <a:latin typeface="DM Sans"/>
              </a:rPr>
              <a:t>Example:</a:t>
            </a:r>
          </a:p>
          <a:p>
            <a:pPr marL="2628900" lvl="5" indent="-342900">
              <a:lnSpc>
                <a:spcPts val="3422"/>
              </a:lnSpc>
              <a:buFont typeface="Arial" panose="020B0604020202020204" pitchFamily="34" charset="0"/>
              <a:buChar char="•"/>
            </a:pPr>
            <a:r>
              <a:rPr lang="en-AU" sz="2479" spc="-49" dirty="0">
                <a:solidFill>
                  <a:schemeClr val="bg1"/>
                </a:solidFill>
                <a:latin typeface="DM Sans"/>
              </a:rPr>
              <a:t>planner agent breaks down the task</a:t>
            </a:r>
          </a:p>
          <a:p>
            <a:pPr marL="2628900" lvl="5" indent="-342900">
              <a:lnSpc>
                <a:spcPts val="3422"/>
              </a:lnSpc>
              <a:buFont typeface="Arial" panose="020B0604020202020204" pitchFamily="34" charset="0"/>
              <a:buChar char="•"/>
            </a:pPr>
            <a:r>
              <a:rPr lang="en-AU" sz="2479" spc="-49" dirty="0">
                <a:solidFill>
                  <a:schemeClr val="bg1"/>
                </a:solidFill>
                <a:latin typeface="DM Sans"/>
              </a:rPr>
              <a:t>researcher agent gathers evidence</a:t>
            </a:r>
          </a:p>
          <a:p>
            <a:pPr marL="2628900" lvl="5" indent="-342900">
              <a:lnSpc>
                <a:spcPts val="3422"/>
              </a:lnSpc>
              <a:buFont typeface="Arial" panose="020B0604020202020204" pitchFamily="34" charset="0"/>
              <a:buChar char="•"/>
            </a:pPr>
            <a:r>
              <a:rPr lang="en-AU" sz="2479" spc="-49" dirty="0">
                <a:solidFill>
                  <a:schemeClr val="bg1"/>
                </a:solidFill>
                <a:latin typeface="DM Sans"/>
              </a:rPr>
              <a:t>critic agent checks quality</a:t>
            </a:r>
          </a:p>
          <a:p>
            <a:pPr marL="2628900" lvl="5" indent="-342900">
              <a:lnSpc>
                <a:spcPts val="3422"/>
              </a:lnSpc>
              <a:buFont typeface="Arial" panose="020B0604020202020204" pitchFamily="34" charset="0"/>
              <a:buChar char="•"/>
            </a:pPr>
            <a:r>
              <a:rPr lang="en-AU" sz="2479" spc="-49" dirty="0">
                <a:solidFill>
                  <a:schemeClr val="bg1"/>
                </a:solidFill>
                <a:latin typeface="DM Sans"/>
              </a:rPr>
              <a:t>writer agent produces the final output</a:t>
            </a:r>
          </a:p>
          <a:p>
            <a:pPr marL="2628900" lvl="5" indent="-342900">
              <a:lnSpc>
                <a:spcPts val="3422"/>
              </a:lnSpc>
              <a:buFont typeface="Arial" panose="020B0604020202020204" pitchFamily="34" charset="0"/>
              <a:buChar char="•"/>
            </a:pPr>
            <a:endParaRPr lang="en-AU" sz="2479" spc="-49" dirty="0">
              <a:solidFill>
                <a:schemeClr val="bg1"/>
              </a:solidFill>
              <a:latin typeface="DM Sans"/>
            </a:endParaRPr>
          </a:p>
          <a:p>
            <a:pPr marL="1714500" lvl="3" indent="-342900">
              <a:lnSpc>
                <a:spcPts val="3422"/>
              </a:lnSpc>
              <a:buFont typeface="Arial" panose="020B0604020202020204" pitchFamily="34" charset="0"/>
              <a:buChar char="•"/>
            </a:pPr>
            <a:r>
              <a:rPr lang="en-AU" sz="2479" spc="-49" dirty="0">
                <a:solidFill>
                  <a:srgbClr val="FFFFFF"/>
                </a:solidFill>
                <a:latin typeface="DM Sans"/>
              </a:rPr>
              <a:t>Stopping conditions decides when the system is done.</a:t>
            </a:r>
          </a:p>
          <a:p>
            <a:pPr marL="2171700" lvl="4" indent="-342900">
              <a:lnSpc>
                <a:spcPts val="3422"/>
              </a:lnSpc>
              <a:buFont typeface="Arial" panose="020B0604020202020204" pitchFamily="34" charset="0"/>
              <a:buChar char="•"/>
            </a:pPr>
            <a:r>
              <a:rPr lang="en-AU" sz="2479" spc="-49" dirty="0">
                <a:solidFill>
                  <a:srgbClr val="FFFFFF"/>
                </a:solidFill>
                <a:latin typeface="DM Sans"/>
              </a:rPr>
              <a:t>Example stop rules:</a:t>
            </a:r>
          </a:p>
          <a:p>
            <a:pPr marL="2628900" lvl="5" indent="-342900">
              <a:lnSpc>
                <a:spcPts val="3422"/>
              </a:lnSpc>
              <a:buFont typeface="Arial" panose="020B0604020202020204" pitchFamily="34" charset="0"/>
              <a:buChar char="•"/>
            </a:pPr>
            <a:r>
              <a:rPr lang="en-AU" sz="2479" spc="-49" dirty="0">
                <a:solidFill>
                  <a:srgbClr val="FFFFFF"/>
                </a:solidFill>
                <a:latin typeface="DM Sans"/>
              </a:rPr>
              <a:t>enough evidence has been gathered</a:t>
            </a:r>
          </a:p>
          <a:p>
            <a:pPr marL="2628900" lvl="5" indent="-342900">
              <a:lnSpc>
                <a:spcPts val="3422"/>
              </a:lnSpc>
              <a:buFont typeface="Arial" panose="020B0604020202020204" pitchFamily="34" charset="0"/>
              <a:buChar char="•"/>
            </a:pPr>
            <a:r>
              <a:rPr lang="en-AU" sz="2479" spc="-49" dirty="0">
                <a:solidFill>
                  <a:srgbClr val="FFFFFF"/>
                </a:solidFill>
                <a:latin typeface="DM Sans"/>
              </a:rPr>
              <a:t>final answer has been produced</a:t>
            </a:r>
          </a:p>
          <a:p>
            <a:pPr marL="2628900" lvl="5" indent="-342900">
              <a:lnSpc>
                <a:spcPts val="3422"/>
              </a:lnSpc>
              <a:buFont typeface="Arial" panose="020B0604020202020204" pitchFamily="34" charset="0"/>
              <a:buChar char="•"/>
            </a:pPr>
            <a:r>
              <a:rPr lang="en-AU" sz="2479" spc="-49" dirty="0">
                <a:solidFill>
                  <a:srgbClr val="FFFFFF"/>
                </a:solidFill>
                <a:latin typeface="DM Sans"/>
              </a:rPr>
              <a:t>max number of steps reached</a:t>
            </a:r>
          </a:p>
          <a:p>
            <a:pPr marL="2628900" lvl="5" indent="-342900">
              <a:lnSpc>
                <a:spcPts val="3422"/>
              </a:lnSpc>
              <a:buFont typeface="Arial" panose="020B0604020202020204" pitchFamily="34" charset="0"/>
              <a:buChar char="•"/>
            </a:pPr>
            <a:r>
              <a:rPr lang="en-AU" sz="2479" spc="-49" dirty="0">
                <a:solidFill>
                  <a:srgbClr val="FFFFFF"/>
                </a:solidFill>
                <a:latin typeface="DM Sans"/>
              </a:rPr>
              <a:t>timeout reached</a:t>
            </a:r>
          </a:p>
          <a:p>
            <a:pPr marL="2628900" lvl="5" indent="-342900">
              <a:lnSpc>
                <a:spcPts val="3422"/>
              </a:lnSpc>
              <a:buFont typeface="Arial" panose="020B0604020202020204" pitchFamily="34" charset="0"/>
              <a:buChar char="•"/>
            </a:pPr>
            <a:r>
              <a:rPr lang="en-AU" sz="2479" spc="-49" dirty="0">
                <a:solidFill>
                  <a:srgbClr val="FFFFFF"/>
                </a:solidFill>
                <a:latin typeface="DM Sans"/>
              </a:rPr>
              <a:t>tool failed too many times</a:t>
            </a:r>
          </a:p>
          <a:p>
            <a:pPr marL="2628900" lvl="5" indent="-342900">
              <a:lnSpc>
                <a:spcPts val="3422"/>
              </a:lnSpc>
              <a:buFont typeface="Arial" panose="020B0604020202020204" pitchFamily="34" charset="0"/>
              <a:buChar char="•"/>
            </a:pPr>
            <a:r>
              <a:rPr lang="en-AU" sz="2479" spc="-49" dirty="0">
                <a:solidFill>
                  <a:srgbClr val="FFFFFF"/>
                </a:solidFill>
                <a:latin typeface="DM Sans"/>
              </a:rPr>
              <a:t>human approval required before continuing</a:t>
            </a:r>
          </a:p>
          <a:p>
            <a:pPr marL="2171700" lvl="4" indent="-342900">
              <a:lnSpc>
                <a:spcPts val="3422"/>
              </a:lnSpc>
              <a:buFont typeface="Arial" panose="020B0604020202020204" pitchFamily="34" charset="0"/>
              <a:buChar char="•"/>
            </a:pPr>
            <a:endParaRPr lang="en-AU" sz="2479" spc="-49" dirty="0">
              <a:solidFill>
                <a:srgbClr val="FFFFFF"/>
              </a:solidFill>
              <a:latin typeface="DM Sans"/>
            </a:endParaRPr>
          </a:p>
          <a:p>
            <a:pPr>
              <a:lnSpc>
                <a:spcPts val="3284"/>
              </a:lnSpc>
            </a:pPr>
            <a:endParaRPr lang="en-US" sz="2479" spc="-49" dirty="0">
              <a:solidFill>
                <a:srgbClr val="FFFFFF"/>
              </a:solidFill>
              <a:latin typeface="DM Sans"/>
            </a:endParaRPr>
          </a:p>
        </p:txBody>
      </p:sp>
    </p:spTree>
    <p:extLst>
      <p:ext uri="{BB962C8B-B14F-4D97-AF65-F5344CB8AC3E}">
        <p14:creationId xmlns:p14="http://schemas.microsoft.com/office/powerpoint/2010/main" val="371921262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FBA2A0CB-2C59-C962-A63E-30553DD1D339}"/>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F2DF87E-1EFC-7494-1D0A-70EB39E50B35}"/>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B2538FD1-5E6F-BFE1-E800-113D70D0B25B}"/>
              </a:ext>
            </a:extLst>
          </p:cNvPr>
          <p:cNvSpPr/>
          <p:nvPr/>
        </p:nvSpPr>
        <p:spPr>
          <a:xfrm>
            <a:off x="-721096" y="840063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585F14A5-9D6C-657C-027E-2479227628D3}"/>
              </a:ext>
            </a:extLst>
          </p:cNvPr>
          <p:cNvSpPr txBox="1"/>
          <p:nvPr/>
        </p:nvSpPr>
        <p:spPr>
          <a:xfrm>
            <a:off x="2169220" y="2030063"/>
            <a:ext cx="14497588" cy="2900153"/>
          </a:xfrm>
          <a:prstGeom prst="rect">
            <a:avLst/>
          </a:prstGeom>
        </p:spPr>
        <p:txBody>
          <a:bodyPr wrap="square" lIns="0" tIns="0" rIns="0" bIns="0" rtlCol="0" anchor="t">
            <a:spAutoFit/>
          </a:bodyPr>
          <a:lstStyle/>
          <a:p>
            <a:pPr>
              <a:lnSpc>
                <a:spcPts val="7711"/>
              </a:lnSpc>
              <a:spcBef>
                <a:spcPct val="0"/>
              </a:spcBef>
            </a:pPr>
            <a:r>
              <a:rPr lang="en-AU" sz="4800" dirty="0">
                <a:solidFill>
                  <a:srgbClr val="0CC0DF"/>
                </a:solidFill>
                <a:latin typeface="Now Bold"/>
              </a:rPr>
              <a:t>SOME WORKFLOW EXAMPLES</a:t>
            </a:r>
          </a:p>
          <a:p>
            <a:pPr>
              <a:lnSpc>
                <a:spcPts val="7711"/>
              </a:lnSpc>
              <a:spcBef>
                <a:spcPct val="0"/>
              </a:spcBef>
            </a:pPr>
            <a:endParaRPr lang="en-US" sz="4800" dirty="0">
              <a:solidFill>
                <a:srgbClr val="0CC0DF"/>
              </a:solidFill>
              <a:latin typeface="Now Bold"/>
            </a:endParaRPr>
          </a:p>
          <a:p>
            <a:pPr marL="0" lvl="0" indent="0">
              <a:lnSpc>
                <a:spcPts val="7711"/>
              </a:lnSpc>
              <a:spcBef>
                <a:spcPct val="0"/>
              </a:spcBef>
            </a:pPr>
            <a:r>
              <a:rPr lang="en-US" sz="4800" dirty="0">
                <a:solidFill>
                  <a:srgbClr val="0CC0DF"/>
                </a:solidFill>
                <a:latin typeface="Now Bold"/>
              </a:rPr>
              <a:t>	</a:t>
            </a:r>
          </a:p>
        </p:txBody>
      </p:sp>
      <p:sp>
        <p:nvSpPr>
          <p:cNvPr id="10" name="TextBox 10">
            <a:extLst>
              <a:ext uri="{FF2B5EF4-FFF2-40B4-BE49-F238E27FC236}">
                <a16:creationId xmlns:a16="http://schemas.microsoft.com/office/drawing/2014/main" id="{F8D4F007-CD2D-6669-28AD-8FB5F681BF48}"/>
              </a:ext>
            </a:extLst>
          </p:cNvPr>
          <p:cNvSpPr txBox="1"/>
          <p:nvPr/>
        </p:nvSpPr>
        <p:spPr>
          <a:xfrm>
            <a:off x="1590683" y="4045492"/>
            <a:ext cx="15142855" cy="789703"/>
          </a:xfrm>
          <a:prstGeom prst="rect">
            <a:avLst/>
          </a:prstGeom>
        </p:spPr>
        <p:txBody>
          <a:bodyPr wrap="square" lIns="0" tIns="0" rIns="0" bIns="0" rtlCol="0" anchor="t">
            <a:spAutoFit/>
          </a:bodyPr>
          <a:lstStyle/>
          <a:p>
            <a:pPr lvl="3"/>
            <a:endParaRPr lang="en-AU" sz="2479" spc="-49" dirty="0">
              <a:solidFill>
                <a:srgbClr val="FFFFFF"/>
              </a:solidFill>
              <a:latin typeface="DM Sans"/>
            </a:endParaRPr>
          </a:p>
          <a:p>
            <a:pPr>
              <a:lnSpc>
                <a:spcPts val="3284"/>
              </a:lnSpc>
            </a:pPr>
            <a:endParaRPr lang="en-US" sz="2479" spc="-49" dirty="0">
              <a:solidFill>
                <a:srgbClr val="FFFFFF"/>
              </a:solidFill>
              <a:latin typeface="DM Sans"/>
            </a:endParaRPr>
          </a:p>
        </p:txBody>
      </p:sp>
      <p:sp>
        <p:nvSpPr>
          <p:cNvPr id="3" name="TextBox 10">
            <a:extLst>
              <a:ext uri="{FF2B5EF4-FFF2-40B4-BE49-F238E27FC236}">
                <a16:creationId xmlns:a16="http://schemas.microsoft.com/office/drawing/2014/main" id="{AC47D5CD-EA2C-4537-39D7-5C48D5F92F02}"/>
              </a:ext>
            </a:extLst>
          </p:cNvPr>
          <p:cNvSpPr txBox="1"/>
          <p:nvPr/>
        </p:nvSpPr>
        <p:spPr>
          <a:xfrm>
            <a:off x="1543681" y="2319606"/>
            <a:ext cx="15142855" cy="4332340"/>
          </a:xfrm>
          <a:prstGeom prst="rect">
            <a:avLst/>
          </a:prstGeom>
        </p:spPr>
        <p:txBody>
          <a:bodyPr wrap="square" lIns="0" tIns="0" rIns="0" bIns="0" rtlCol="0" anchor="t">
            <a:spAutoFit/>
          </a:bodyPr>
          <a:lstStyle/>
          <a:p>
            <a:pPr lvl="2">
              <a:lnSpc>
                <a:spcPts val="3422"/>
              </a:lnSpc>
            </a:pPr>
            <a:br>
              <a:rPr lang="en-AU" sz="2479" spc="-49" dirty="0">
                <a:solidFill>
                  <a:schemeClr val="bg1"/>
                </a:solidFill>
                <a:latin typeface="DM Sans"/>
              </a:rPr>
            </a:br>
            <a:endParaRPr lang="en-AU" sz="2479" spc="-49" dirty="0">
              <a:solidFill>
                <a:schemeClr val="bg1"/>
              </a:solidFill>
              <a:latin typeface="DM Sans"/>
            </a:endParaRPr>
          </a:p>
          <a:p>
            <a:pPr marL="1714500" lvl="3" indent="-342900">
              <a:lnSpc>
                <a:spcPts val="3422"/>
              </a:lnSpc>
              <a:buFont typeface="Arial" panose="020B0604020202020204" pitchFamily="34" charset="0"/>
              <a:buChar char="•"/>
            </a:pPr>
            <a:r>
              <a:rPr lang="en-AU" sz="2479" b="1" spc="-49" dirty="0">
                <a:solidFill>
                  <a:srgbClr val="FFFFFF"/>
                </a:solidFill>
                <a:latin typeface="DM Sans"/>
              </a:rPr>
              <a:t>Prompt chaining</a:t>
            </a:r>
          </a:p>
          <a:p>
            <a:pPr marL="2171700" lvl="4" indent="-342900">
              <a:lnSpc>
                <a:spcPts val="3422"/>
              </a:lnSpc>
              <a:buFont typeface="Arial" panose="020B0604020202020204" pitchFamily="34" charset="0"/>
              <a:buChar char="•"/>
            </a:pPr>
            <a:r>
              <a:rPr lang="en-AU" sz="2479" b="1" spc="-49" dirty="0">
                <a:solidFill>
                  <a:srgbClr val="FFFFFF"/>
                </a:solidFill>
                <a:latin typeface="DM Sans"/>
              </a:rPr>
              <a:t>Decompose a task into a sequence of steps, where each LLM call processes the output of the previous one. The main goal is to trade off latency for higher accuracy, by making each LLM call an easier task.</a:t>
            </a:r>
          </a:p>
          <a:p>
            <a:pPr marL="1714500" lvl="3" indent="-342900">
              <a:lnSpc>
                <a:spcPts val="3422"/>
              </a:lnSpc>
              <a:buFont typeface="Arial" panose="020B0604020202020204" pitchFamily="34" charset="0"/>
              <a:buChar char="•"/>
            </a:pPr>
            <a:endParaRPr lang="en-AU" sz="2479" spc="-49" dirty="0">
              <a:solidFill>
                <a:srgbClr val="FFFFFF"/>
              </a:solidFill>
              <a:latin typeface="DM Sans"/>
            </a:endParaRPr>
          </a:p>
          <a:p>
            <a:pPr lvl="1">
              <a:lnSpc>
                <a:spcPts val="3422"/>
              </a:lnSpc>
            </a:pPr>
            <a:endParaRPr lang="en-AU" sz="2800" dirty="0">
              <a:solidFill>
                <a:schemeClr val="bg1"/>
              </a:solidFill>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a:lnSpc>
                <a:spcPts val="3284"/>
              </a:lnSpc>
            </a:pPr>
            <a:endParaRPr lang="en-US" sz="2479" spc="-49" dirty="0">
              <a:solidFill>
                <a:srgbClr val="FFFFFF"/>
              </a:solidFill>
              <a:latin typeface="DM Sans"/>
            </a:endParaRPr>
          </a:p>
        </p:txBody>
      </p:sp>
      <p:pic>
        <p:nvPicPr>
          <p:cNvPr id="5" name="Picture 4">
            <a:extLst>
              <a:ext uri="{FF2B5EF4-FFF2-40B4-BE49-F238E27FC236}">
                <a16:creationId xmlns:a16="http://schemas.microsoft.com/office/drawing/2014/main" id="{4DB1FAA8-2C39-1D6F-3A4F-CBEBAACA3755}"/>
              </a:ext>
            </a:extLst>
          </p:cNvPr>
          <p:cNvPicPr>
            <a:picLocks noChangeAspect="1"/>
          </p:cNvPicPr>
          <p:nvPr/>
        </p:nvPicPr>
        <p:blipFill>
          <a:blip r:embed="rId4"/>
          <a:stretch>
            <a:fillRect/>
          </a:stretch>
        </p:blipFill>
        <p:spPr>
          <a:xfrm>
            <a:off x="3616270" y="5029950"/>
            <a:ext cx="11972792" cy="4988663"/>
          </a:xfrm>
          <a:prstGeom prst="rect">
            <a:avLst/>
          </a:prstGeom>
        </p:spPr>
      </p:pic>
    </p:spTree>
    <p:extLst>
      <p:ext uri="{BB962C8B-B14F-4D97-AF65-F5344CB8AC3E}">
        <p14:creationId xmlns:p14="http://schemas.microsoft.com/office/powerpoint/2010/main" val="189401651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7F649FDB-F587-639E-210B-4147FC7F57A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D72F9769-B48A-E6EB-84F1-CAA4D3539CF2}"/>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146D9DEC-733A-F21F-339C-0B2D2DD154D6}"/>
              </a:ext>
            </a:extLst>
          </p:cNvPr>
          <p:cNvSpPr/>
          <p:nvPr/>
        </p:nvSpPr>
        <p:spPr>
          <a:xfrm>
            <a:off x="-721096" y="840063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C9467B3D-72AC-FE87-D357-E66763F29D66}"/>
              </a:ext>
            </a:extLst>
          </p:cNvPr>
          <p:cNvSpPr txBox="1"/>
          <p:nvPr/>
        </p:nvSpPr>
        <p:spPr>
          <a:xfrm>
            <a:off x="1559180" y="2129797"/>
            <a:ext cx="14497588" cy="2900153"/>
          </a:xfrm>
          <a:prstGeom prst="rect">
            <a:avLst/>
          </a:prstGeom>
        </p:spPr>
        <p:txBody>
          <a:bodyPr wrap="square" lIns="0" tIns="0" rIns="0" bIns="0" rtlCol="0" anchor="t">
            <a:spAutoFit/>
          </a:bodyPr>
          <a:lstStyle/>
          <a:p>
            <a:pPr>
              <a:lnSpc>
                <a:spcPts val="7711"/>
              </a:lnSpc>
              <a:spcBef>
                <a:spcPct val="0"/>
              </a:spcBef>
            </a:pPr>
            <a:r>
              <a:rPr lang="en-AU" sz="4800" dirty="0">
                <a:solidFill>
                  <a:srgbClr val="0CC0DF"/>
                </a:solidFill>
                <a:latin typeface="Now Bold"/>
              </a:rPr>
              <a:t>SOME WORKFLOW EXAMPLES</a:t>
            </a:r>
          </a:p>
          <a:p>
            <a:pPr>
              <a:lnSpc>
                <a:spcPts val="7711"/>
              </a:lnSpc>
              <a:spcBef>
                <a:spcPct val="0"/>
              </a:spcBef>
            </a:pPr>
            <a:endParaRPr lang="en-US" sz="4800" dirty="0">
              <a:solidFill>
                <a:srgbClr val="0CC0DF"/>
              </a:solidFill>
              <a:latin typeface="Now Bold"/>
            </a:endParaRPr>
          </a:p>
          <a:p>
            <a:pPr marL="0" lvl="0" indent="0">
              <a:lnSpc>
                <a:spcPts val="7711"/>
              </a:lnSpc>
              <a:spcBef>
                <a:spcPct val="0"/>
              </a:spcBef>
            </a:pPr>
            <a:r>
              <a:rPr lang="en-US" sz="4800" dirty="0">
                <a:solidFill>
                  <a:srgbClr val="0CC0DF"/>
                </a:solidFill>
                <a:latin typeface="Now Bold"/>
              </a:rPr>
              <a:t>	</a:t>
            </a:r>
          </a:p>
        </p:txBody>
      </p:sp>
      <p:sp>
        <p:nvSpPr>
          <p:cNvPr id="10" name="TextBox 10">
            <a:extLst>
              <a:ext uri="{FF2B5EF4-FFF2-40B4-BE49-F238E27FC236}">
                <a16:creationId xmlns:a16="http://schemas.microsoft.com/office/drawing/2014/main" id="{0B8833D5-BF77-DEC8-0779-EEFFDAB8BE7E}"/>
              </a:ext>
            </a:extLst>
          </p:cNvPr>
          <p:cNvSpPr txBox="1"/>
          <p:nvPr/>
        </p:nvSpPr>
        <p:spPr>
          <a:xfrm>
            <a:off x="1590683" y="4045492"/>
            <a:ext cx="15142855" cy="789703"/>
          </a:xfrm>
          <a:prstGeom prst="rect">
            <a:avLst/>
          </a:prstGeom>
        </p:spPr>
        <p:txBody>
          <a:bodyPr wrap="square" lIns="0" tIns="0" rIns="0" bIns="0" rtlCol="0" anchor="t">
            <a:spAutoFit/>
          </a:bodyPr>
          <a:lstStyle/>
          <a:p>
            <a:pPr lvl="3"/>
            <a:endParaRPr lang="en-AU" sz="2479" spc="-49" dirty="0">
              <a:solidFill>
                <a:srgbClr val="FFFFFF"/>
              </a:solidFill>
              <a:latin typeface="DM Sans"/>
            </a:endParaRPr>
          </a:p>
          <a:p>
            <a:pPr>
              <a:lnSpc>
                <a:spcPts val="3284"/>
              </a:lnSpc>
            </a:pPr>
            <a:endParaRPr lang="en-US" sz="2479" spc="-49" dirty="0">
              <a:solidFill>
                <a:srgbClr val="FFFFFF"/>
              </a:solidFill>
              <a:latin typeface="DM Sans"/>
            </a:endParaRPr>
          </a:p>
        </p:txBody>
      </p:sp>
      <p:sp>
        <p:nvSpPr>
          <p:cNvPr id="3" name="TextBox 10">
            <a:extLst>
              <a:ext uri="{FF2B5EF4-FFF2-40B4-BE49-F238E27FC236}">
                <a16:creationId xmlns:a16="http://schemas.microsoft.com/office/drawing/2014/main" id="{108FA06E-7D90-C7C7-EF7A-EBD0689E5CFD}"/>
              </a:ext>
            </a:extLst>
          </p:cNvPr>
          <p:cNvSpPr txBox="1"/>
          <p:nvPr/>
        </p:nvSpPr>
        <p:spPr>
          <a:xfrm>
            <a:off x="1543681" y="2319606"/>
            <a:ext cx="15142855" cy="3896323"/>
          </a:xfrm>
          <a:prstGeom prst="rect">
            <a:avLst/>
          </a:prstGeom>
        </p:spPr>
        <p:txBody>
          <a:bodyPr wrap="square" lIns="0" tIns="0" rIns="0" bIns="0" rtlCol="0" anchor="t">
            <a:spAutoFit/>
          </a:bodyPr>
          <a:lstStyle/>
          <a:p>
            <a:pPr lvl="2">
              <a:lnSpc>
                <a:spcPts val="3422"/>
              </a:lnSpc>
            </a:pPr>
            <a:br>
              <a:rPr lang="en-AU" sz="2479" spc="-49" dirty="0">
                <a:solidFill>
                  <a:schemeClr val="bg1"/>
                </a:solidFill>
                <a:latin typeface="DM Sans"/>
              </a:rPr>
            </a:br>
            <a:endParaRPr lang="en-AU" sz="2479" spc="-49" dirty="0">
              <a:solidFill>
                <a:schemeClr val="bg1"/>
              </a:solidFill>
              <a:latin typeface="DM Sans"/>
            </a:endParaRPr>
          </a:p>
          <a:p>
            <a:pPr marL="1714500" lvl="3" indent="-342900">
              <a:lnSpc>
                <a:spcPts val="3422"/>
              </a:lnSpc>
              <a:buFont typeface="Arial" panose="020B0604020202020204" pitchFamily="34" charset="0"/>
              <a:buChar char="•"/>
            </a:pPr>
            <a:r>
              <a:rPr lang="en-AU" sz="2479" b="1" spc="-49" dirty="0">
                <a:solidFill>
                  <a:srgbClr val="FFFFFF"/>
                </a:solidFill>
                <a:latin typeface="DM Sans"/>
              </a:rPr>
              <a:t>Routing</a:t>
            </a:r>
          </a:p>
          <a:p>
            <a:pPr marL="2171700" lvl="4" indent="-342900">
              <a:lnSpc>
                <a:spcPts val="3422"/>
              </a:lnSpc>
              <a:buFont typeface="Arial" panose="020B0604020202020204" pitchFamily="34" charset="0"/>
              <a:buChar char="•"/>
            </a:pPr>
            <a:r>
              <a:rPr lang="en-AU" sz="2479" b="1" spc="-49" dirty="0">
                <a:solidFill>
                  <a:srgbClr val="FFFFFF"/>
                </a:solidFill>
                <a:latin typeface="DM Sans"/>
              </a:rPr>
              <a:t>Routing classifies an input and directs it to a specialised follow-up task. This workflow allows for separation of concerns, and building more specialized prompts. Without this workflow, optimizing for one kind of input can hurt performance on other inputs.</a:t>
            </a:r>
            <a:endParaRPr lang="en-AU" sz="2479" spc="-49" dirty="0">
              <a:solidFill>
                <a:srgbClr val="FFFFFF"/>
              </a:solidFill>
              <a:latin typeface="DM Sans"/>
            </a:endParaRPr>
          </a:p>
          <a:p>
            <a:pPr lvl="1">
              <a:lnSpc>
                <a:spcPts val="3422"/>
              </a:lnSpc>
            </a:pPr>
            <a:endParaRPr lang="en-AU" sz="2800" dirty="0">
              <a:solidFill>
                <a:schemeClr val="bg1"/>
              </a:solidFill>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a:lnSpc>
                <a:spcPts val="3284"/>
              </a:lnSpc>
            </a:pPr>
            <a:endParaRPr lang="en-US" sz="2479" spc="-49" dirty="0">
              <a:solidFill>
                <a:srgbClr val="FFFFFF"/>
              </a:solidFill>
              <a:latin typeface="DM Sans"/>
            </a:endParaRPr>
          </a:p>
        </p:txBody>
      </p:sp>
      <p:pic>
        <p:nvPicPr>
          <p:cNvPr id="4" name="Picture 3">
            <a:extLst>
              <a:ext uri="{FF2B5EF4-FFF2-40B4-BE49-F238E27FC236}">
                <a16:creationId xmlns:a16="http://schemas.microsoft.com/office/drawing/2014/main" id="{8435920C-D24A-3D98-E98D-4A27B2E63A9D}"/>
              </a:ext>
            </a:extLst>
          </p:cNvPr>
          <p:cNvPicPr>
            <a:picLocks noChangeAspect="1"/>
          </p:cNvPicPr>
          <p:nvPr/>
        </p:nvPicPr>
        <p:blipFill>
          <a:blip r:embed="rId4"/>
          <a:stretch>
            <a:fillRect/>
          </a:stretch>
        </p:blipFill>
        <p:spPr>
          <a:xfrm>
            <a:off x="3631769" y="4996423"/>
            <a:ext cx="12200488" cy="5083537"/>
          </a:xfrm>
          <a:prstGeom prst="rect">
            <a:avLst/>
          </a:prstGeom>
        </p:spPr>
      </p:pic>
    </p:spTree>
    <p:extLst>
      <p:ext uri="{BB962C8B-B14F-4D97-AF65-F5344CB8AC3E}">
        <p14:creationId xmlns:p14="http://schemas.microsoft.com/office/powerpoint/2010/main" val="217071037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715F8ADA-FD0F-680B-7BB4-9B64F4822B34}"/>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2B3772E-70D8-5D5D-71B2-B3C771DE0F61}"/>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D9FB232F-92C2-49B0-D6A5-5EB2EDA3CE36}"/>
              </a:ext>
            </a:extLst>
          </p:cNvPr>
          <p:cNvSpPr/>
          <p:nvPr/>
        </p:nvSpPr>
        <p:spPr>
          <a:xfrm>
            <a:off x="-721096" y="840063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1ACE1989-61EE-139D-0B16-6A24507B1FA5}"/>
              </a:ext>
            </a:extLst>
          </p:cNvPr>
          <p:cNvSpPr txBox="1"/>
          <p:nvPr/>
        </p:nvSpPr>
        <p:spPr>
          <a:xfrm>
            <a:off x="1559180" y="2129797"/>
            <a:ext cx="14497588" cy="2900153"/>
          </a:xfrm>
          <a:prstGeom prst="rect">
            <a:avLst/>
          </a:prstGeom>
        </p:spPr>
        <p:txBody>
          <a:bodyPr wrap="square" lIns="0" tIns="0" rIns="0" bIns="0" rtlCol="0" anchor="t">
            <a:spAutoFit/>
          </a:bodyPr>
          <a:lstStyle/>
          <a:p>
            <a:pPr>
              <a:lnSpc>
                <a:spcPts val="7711"/>
              </a:lnSpc>
              <a:spcBef>
                <a:spcPct val="0"/>
              </a:spcBef>
            </a:pPr>
            <a:r>
              <a:rPr lang="en-AU" sz="4800" dirty="0">
                <a:solidFill>
                  <a:srgbClr val="0CC0DF"/>
                </a:solidFill>
                <a:latin typeface="Now Bold"/>
              </a:rPr>
              <a:t>SOME WORKFLOW EXAMPLES</a:t>
            </a:r>
          </a:p>
          <a:p>
            <a:pPr>
              <a:lnSpc>
                <a:spcPts val="7711"/>
              </a:lnSpc>
              <a:spcBef>
                <a:spcPct val="0"/>
              </a:spcBef>
            </a:pPr>
            <a:endParaRPr lang="en-US" sz="4800" dirty="0">
              <a:solidFill>
                <a:srgbClr val="0CC0DF"/>
              </a:solidFill>
              <a:latin typeface="Now Bold"/>
            </a:endParaRPr>
          </a:p>
          <a:p>
            <a:pPr marL="0" lvl="0" indent="0">
              <a:lnSpc>
                <a:spcPts val="7711"/>
              </a:lnSpc>
              <a:spcBef>
                <a:spcPct val="0"/>
              </a:spcBef>
            </a:pPr>
            <a:r>
              <a:rPr lang="en-US" sz="4800" dirty="0">
                <a:solidFill>
                  <a:srgbClr val="0CC0DF"/>
                </a:solidFill>
                <a:latin typeface="Now Bold"/>
              </a:rPr>
              <a:t>	</a:t>
            </a:r>
          </a:p>
        </p:txBody>
      </p:sp>
      <p:sp>
        <p:nvSpPr>
          <p:cNvPr id="10" name="TextBox 10">
            <a:extLst>
              <a:ext uri="{FF2B5EF4-FFF2-40B4-BE49-F238E27FC236}">
                <a16:creationId xmlns:a16="http://schemas.microsoft.com/office/drawing/2014/main" id="{01A83AB0-34C7-4DBF-0402-F8108E003952}"/>
              </a:ext>
            </a:extLst>
          </p:cNvPr>
          <p:cNvSpPr txBox="1"/>
          <p:nvPr/>
        </p:nvSpPr>
        <p:spPr>
          <a:xfrm>
            <a:off x="1590683" y="4045492"/>
            <a:ext cx="15142855" cy="789703"/>
          </a:xfrm>
          <a:prstGeom prst="rect">
            <a:avLst/>
          </a:prstGeom>
        </p:spPr>
        <p:txBody>
          <a:bodyPr wrap="square" lIns="0" tIns="0" rIns="0" bIns="0" rtlCol="0" anchor="t">
            <a:spAutoFit/>
          </a:bodyPr>
          <a:lstStyle/>
          <a:p>
            <a:pPr lvl="3"/>
            <a:endParaRPr lang="en-AU" sz="2479" spc="-49" dirty="0">
              <a:solidFill>
                <a:srgbClr val="FFFFFF"/>
              </a:solidFill>
              <a:latin typeface="DM Sans"/>
            </a:endParaRPr>
          </a:p>
          <a:p>
            <a:pPr>
              <a:lnSpc>
                <a:spcPts val="3284"/>
              </a:lnSpc>
            </a:pPr>
            <a:endParaRPr lang="en-US" sz="2479" spc="-49" dirty="0">
              <a:solidFill>
                <a:srgbClr val="FFFFFF"/>
              </a:solidFill>
              <a:latin typeface="DM Sans"/>
            </a:endParaRPr>
          </a:p>
        </p:txBody>
      </p:sp>
      <p:sp>
        <p:nvSpPr>
          <p:cNvPr id="3" name="TextBox 10">
            <a:extLst>
              <a:ext uri="{FF2B5EF4-FFF2-40B4-BE49-F238E27FC236}">
                <a16:creationId xmlns:a16="http://schemas.microsoft.com/office/drawing/2014/main" id="{BEE9EDDB-362E-F121-0EF0-00CD1900B111}"/>
              </a:ext>
            </a:extLst>
          </p:cNvPr>
          <p:cNvSpPr txBox="1"/>
          <p:nvPr/>
        </p:nvSpPr>
        <p:spPr>
          <a:xfrm>
            <a:off x="1543681" y="2319606"/>
            <a:ext cx="15142855" cy="4332340"/>
          </a:xfrm>
          <a:prstGeom prst="rect">
            <a:avLst/>
          </a:prstGeom>
        </p:spPr>
        <p:txBody>
          <a:bodyPr wrap="square" lIns="0" tIns="0" rIns="0" bIns="0" rtlCol="0" anchor="t">
            <a:spAutoFit/>
          </a:bodyPr>
          <a:lstStyle/>
          <a:p>
            <a:pPr lvl="2">
              <a:lnSpc>
                <a:spcPts val="3422"/>
              </a:lnSpc>
            </a:pPr>
            <a:br>
              <a:rPr lang="en-AU" sz="2479" spc="-49" dirty="0">
                <a:solidFill>
                  <a:schemeClr val="bg1"/>
                </a:solidFill>
                <a:latin typeface="DM Sans"/>
              </a:rPr>
            </a:br>
            <a:endParaRPr lang="en-AU" sz="2479" spc="-49" dirty="0">
              <a:solidFill>
                <a:schemeClr val="bg1"/>
              </a:solidFill>
              <a:latin typeface="DM Sans"/>
            </a:endParaRPr>
          </a:p>
          <a:p>
            <a:pPr marL="1714500" lvl="3" indent="-342900">
              <a:lnSpc>
                <a:spcPts val="3422"/>
              </a:lnSpc>
              <a:buFont typeface="Arial" panose="020B0604020202020204" pitchFamily="34" charset="0"/>
              <a:buChar char="•"/>
            </a:pPr>
            <a:r>
              <a:rPr lang="en-AU" sz="2479" b="1" spc="-49" dirty="0">
                <a:solidFill>
                  <a:srgbClr val="FFFFFF"/>
                </a:solidFill>
                <a:latin typeface="DM Sans"/>
              </a:rPr>
              <a:t>Parallelization</a:t>
            </a:r>
          </a:p>
          <a:p>
            <a:pPr marL="2171700" lvl="4" indent="-342900">
              <a:lnSpc>
                <a:spcPts val="3422"/>
              </a:lnSpc>
              <a:buFont typeface="Arial" panose="020B0604020202020204" pitchFamily="34" charset="0"/>
              <a:buChar char="•"/>
            </a:pPr>
            <a:r>
              <a:rPr lang="en-AU" sz="2479" b="1" spc="-49" dirty="0">
                <a:solidFill>
                  <a:srgbClr val="FFFFFF"/>
                </a:solidFill>
                <a:latin typeface="DM Sans"/>
              </a:rPr>
              <a:t>LLMs can sometimes work simultaneously on a task and have their outputs aggregated programmatically. This workflow, parallelization, manifests in two key variations:</a:t>
            </a:r>
          </a:p>
          <a:p>
            <a:pPr marL="2628900" lvl="5" indent="-342900">
              <a:lnSpc>
                <a:spcPts val="3422"/>
              </a:lnSpc>
              <a:buFont typeface="Arial" panose="020B0604020202020204" pitchFamily="34" charset="0"/>
              <a:buChar char="•"/>
            </a:pPr>
            <a:r>
              <a:rPr lang="en-AU" sz="2479" b="1" spc="-49" dirty="0">
                <a:solidFill>
                  <a:srgbClr val="FFFFFF"/>
                </a:solidFill>
                <a:latin typeface="DM Sans"/>
              </a:rPr>
              <a:t>Sectioning: Breaking a task into independent subtasks run in parallel.</a:t>
            </a:r>
          </a:p>
          <a:p>
            <a:pPr marL="2628900" lvl="5" indent="-342900">
              <a:lnSpc>
                <a:spcPts val="3422"/>
              </a:lnSpc>
              <a:buFont typeface="Arial" panose="020B0604020202020204" pitchFamily="34" charset="0"/>
              <a:buChar char="•"/>
            </a:pPr>
            <a:r>
              <a:rPr lang="en-AU" sz="2479" b="1" spc="-49" dirty="0">
                <a:solidFill>
                  <a:srgbClr val="FFFFFF"/>
                </a:solidFill>
                <a:latin typeface="DM Sans"/>
              </a:rPr>
              <a:t>Voting: Running the same task multiple times to get diverse outputs.</a:t>
            </a:r>
          </a:p>
          <a:p>
            <a:pPr lvl="1">
              <a:lnSpc>
                <a:spcPts val="3422"/>
              </a:lnSpc>
            </a:pPr>
            <a:endParaRPr lang="en-AU" sz="2800" dirty="0">
              <a:solidFill>
                <a:schemeClr val="bg1"/>
              </a:solidFill>
            </a:endParaRPr>
          </a:p>
          <a:p>
            <a:pPr marL="800100" lvl="1" indent="-342900">
              <a:lnSpc>
                <a:spcPts val="3422"/>
              </a:lnSpc>
              <a:buFont typeface="Arial" panose="020B0604020202020204" pitchFamily="34" charset="0"/>
              <a:buChar char="•"/>
            </a:pPr>
            <a:endParaRPr lang="en-AU" sz="2479" spc="-49" dirty="0">
              <a:solidFill>
                <a:srgbClr val="FFFFFF"/>
              </a:solidFill>
              <a:latin typeface="DM Sans"/>
            </a:endParaRPr>
          </a:p>
          <a:p>
            <a:pPr>
              <a:lnSpc>
                <a:spcPts val="3284"/>
              </a:lnSpc>
            </a:pPr>
            <a:endParaRPr lang="en-US" sz="2479" spc="-49" dirty="0">
              <a:solidFill>
                <a:srgbClr val="FFFFFF"/>
              </a:solidFill>
              <a:latin typeface="DM Sans"/>
            </a:endParaRPr>
          </a:p>
        </p:txBody>
      </p:sp>
      <p:pic>
        <p:nvPicPr>
          <p:cNvPr id="10246" name="Picture 6">
            <a:extLst>
              <a:ext uri="{FF2B5EF4-FFF2-40B4-BE49-F238E27FC236}">
                <a16:creationId xmlns:a16="http://schemas.microsoft.com/office/drawing/2014/main" id="{C163DE90-1A1B-1EE3-796E-533A18FB42B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31432" y="5351881"/>
            <a:ext cx="10735829" cy="44713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2658479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95E632A7-9860-A11A-0FB2-CD229313FA1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4F91DEEB-28F7-7385-43D4-AB9AAB49E9C1}"/>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ED2190AC-4F27-DC28-B617-0139D0047FEA}"/>
              </a:ext>
            </a:extLst>
          </p:cNvPr>
          <p:cNvSpPr/>
          <p:nvPr/>
        </p:nvSpPr>
        <p:spPr>
          <a:xfrm>
            <a:off x="-721096" y="840063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487354C1-EB3B-3029-CD7D-C4B91840B6D6}"/>
              </a:ext>
            </a:extLst>
          </p:cNvPr>
          <p:cNvSpPr txBox="1"/>
          <p:nvPr/>
        </p:nvSpPr>
        <p:spPr>
          <a:xfrm>
            <a:off x="1559180" y="2129797"/>
            <a:ext cx="14497588" cy="2900153"/>
          </a:xfrm>
          <a:prstGeom prst="rect">
            <a:avLst/>
          </a:prstGeom>
        </p:spPr>
        <p:txBody>
          <a:bodyPr wrap="square" lIns="0" tIns="0" rIns="0" bIns="0" rtlCol="0" anchor="t">
            <a:spAutoFit/>
          </a:bodyPr>
          <a:lstStyle/>
          <a:p>
            <a:pPr>
              <a:lnSpc>
                <a:spcPts val="7711"/>
              </a:lnSpc>
              <a:spcBef>
                <a:spcPct val="0"/>
              </a:spcBef>
            </a:pPr>
            <a:r>
              <a:rPr lang="en-AU" sz="4800" dirty="0">
                <a:solidFill>
                  <a:srgbClr val="0CC0DF"/>
                </a:solidFill>
                <a:latin typeface="Now Bold"/>
              </a:rPr>
              <a:t>SOME WORKFLOW EXAMPLES</a:t>
            </a:r>
          </a:p>
          <a:p>
            <a:pPr>
              <a:lnSpc>
                <a:spcPts val="7711"/>
              </a:lnSpc>
              <a:spcBef>
                <a:spcPct val="0"/>
              </a:spcBef>
            </a:pPr>
            <a:endParaRPr lang="en-US" sz="4800" dirty="0">
              <a:solidFill>
                <a:srgbClr val="0CC0DF"/>
              </a:solidFill>
              <a:latin typeface="Now Bold"/>
            </a:endParaRPr>
          </a:p>
          <a:p>
            <a:pPr marL="0" lvl="0" indent="0">
              <a:lnSpc>
                <a:spcPts val="7711"/>
              </a:lnSpc>
              <a:spcBef>
                <a:spcPct val="0"/>
              </a:spcBef>
            </a:pPr>
            <a:r>
              <a:rPr lang="en-US" sz="4800" dirty="0">
                <a:solidFill>
                  <a:srgbClr val="0CC0DF"/>
                </a:solidFill>
                <a:latin typeface="Now Bold"/>
              </a:rPr>
              <a:t>	</a:t>
            </a:r>
          </a:p>
        </p:txBody>
      </p:sp>
      <p:sp>
        <p:nvSpPr>
          <p:cNvPr id="10" name="TextBox 10">
            <a:extLst>
              <a:ext uri="{FF2B5EF4-FFF2-40B4-BE49-F238E27FC236}">
                <a16:creationId xmlns:a16="http://schemas.microsoft.com/office/drawing/2014/main" id="{0E82B606-D62B-0974-64D8-21D6C64D28FD}"/>
              </a:ext>
            </a:extLst>
          </p:cNvPr>
          <p:cNvSpPr txBox="1"/>
          <p:nvPr/>
        </p:nvSpPr>
        <p:spPr>
          <a:xfrm>
            <a:off x="1590683" y="4045492"/>
            <a:ext cx="15142855" cy="789703"/>
          </a:xfrm>
          <a:prstGeom prst="rect">
            <a:avLst/>
          </a:prstGeom>
        </p:spPr>
        <p:txBody>
          <a:bodyPr wrap="square" lIns="0" tIns="0" rIns="0" bIns="0" rtlCol="0" anchor="t">
            <a:spAutoFit/>
          </a:bodyPr>
          <a:lstStyle/>
          <a:p>
            <a:pPr lvl="3"/>
            <a:endParaRPr lang="en-AU" sz="2479" spc="-49" dirty="0">
              <a:solidFill>
                <a:srgbClr val="FFFFFF"/>
              </a:solidFill>
              <a:latin typeface="DM Sans"/>
            </a:endParaRPr>
          </a:p>
          <a:p>
            <a:pPr>
              <a:lnSpc>
                <a:spcPts val="3284"/>
              </a:lnSpc>
            </a:pPr>
            <a:endParaRPr lang="en-US" sz="2479" spc="-49" dirty="0">
              <a:solidFill>
                <a:srgbClr val="FFFFFF"/>
              </a:solidFill>
              <a:latin typeface="DM Sans"/>
            </a:endParaRPr>
          </a:p>
        </p:txBody>
      </p:sp>
      <p:sp>
        <p:nvSpPr>
          <p:cNvPr id="3" name="TextBox 10">
            <a:extLst>
              <a:ext uri="{FF2B5EF4-FFF2-40B4-BE49-F238E27FC236}">
                <a16:creationId xmlns:a16="http://schemas.microsoft.com/office/drawing/2014/main" id="{48FFEA77-A84F-0122-F08A-1F0602F45F44}"/>
              </a:ext>
            </a:extLst>
          </p:cNvPr>
          <p:cNvSpPr txBox="1"/>
          <p:nvPr/>
        </p:nvSpPr>
        <p:spPr>
          <a:xfrm>
            <a:off x="1543681" y="2319606"/>
            <a:ext cx="15142855" cy="3024289"/>
          </a:xfrm>
          <a:prstGeom prst="rect">
            <a:avLst/>
          </a:prstGeom>
        </p:spPr>
        <p:txBody>
          <a:bodyPr wrap="square" lIns="0" tIns="0" rIns="0" bIns="0" rtlCol="0" anchor="t">
            <a:spAutoFit/>
          </a:bodyPr>
          <a:lstStyle/>
          <a:p>
            <a:pPr lvl="2">
              <a:lnSpc>
                <a:spcPts val="3422"/>
              </a:lnSpc>
            </a:pPr>
            <a:br>
              <a:rPr lang="en-AU" sz="2479" spc="-49" dirty="0">
                <a:solidFill>
                  <a:schemeClr val="bg1"/>
                </a:solidFill>
                <a:latin typeface="DM Sans"/>
              </a:rPr>
            </a:br>
            <a:endParaRPr lang="en-AU" sz="2479" spc="-49" dirty="0">
              <a:solidFill>
                <a:schemeClr val="bg1"/>
              </a:solidFill>
              <a:latin typeface="DM Sans"/>
            </a:endParaRPr>
          </a:p>
          <a:p>
            <a:pPr marL="1714500" lvl="3" indent="-342900">
              <a:lnSpc>
                <a:spcPts val="3422"/>
              </a:lnSpc>
              <a:buFont typeface="Arial" panose="020B0604020202020204" pitchFamily="34" charset="0"/>
              <a:buChar char="•"/>
            </a:pPr>
            <a:r>
              <a:rPr lang="en-AU" sz="2479" b="1" spc="-49" dirty="0">
                <a:solidFill>
                  <a:srgbClr val="FFFFFF"/>
                </a:solidFill>
                <a:latin typeface="DM Sans"/>
              </a:rPr>
              <a:t>Evaluator-optimizer</a:t>
            </a:r>
          </a:p>
          <a:p>
            <a:pPr marL="2171700" lvl="4" indent="-342900">
              <a:lnSpc>
                <a:spcPts val="3422"/>
              </a:lnSpc>
              <a:buFont typeface="Arial" panose="020B0604020202020204" pitchFamily="34" charset="0"/>
              <a:buChar char="•"/>
            </a:pPr>
            <a:r>
              <a:rPr lang="en-AU" sz="2479" b="1" spc="-49" dirty="0">
                <a:solidFill>
                  <a:srgbClr val="FFFFFF"/>
                </a:solidFill>
                <a:latin typeface="DM Sans"/>
              </a:rPr>
              <a:t>One LLM call generates a response while another provides evaluation and feedback in a loop.</a:t>
            </a:r>
          </a:p>
          <a:p>
            <a:pPr marL="800100" lvl="1" indent="-342900">
              <a:lnSpc>
                <a:spcPts val="3422"/>
              </a:lnSpc>
              <a:buFont typeface="Arial" panose="020B0604020202020204" pitchFamily="34" charset="0"/>
              <a:buChar char="•"/>
            </a:pPr>
            <a:endParaRPr lang="en-AU" sz="2479" b="1" spc="-49" dirty="0">
              <a:solidFill>
                <a:srgbClr val="FFFFFF"/>
              </a:solidFill>
              <a:latin typeface="DM Sans"/>
            </a:endParaRPr>
          </a:p>
          <a:p>
            <a:pPr>
              <a:lnSpc>
                <a:spcPts val="3284"/>
              </a:lnSpc>
            </a:pPr>
            <a:endParaRPr lang="en-US" sz="2479" spc="-49" dirty="0">
              <a:solidFill>
                <a:srgbClr val="FFFFFF"/>
              </a:solidFill>
              <a:latin typeface="DM Sans"/>
            </a:endParaRPr>
          </a:p>
        </p:txBody>
      </p:sp>
      <p:pic>
        <p:nvPicPr>
          <p:cNvPr id="4" name="Picture 3">
            <a:extLst>
              <a:ext uri="{FF2B5EF4-FFF2-40B4-BE49-F238E27FC236}">
                <a16:creationId xmlns:a16="http://schemas.microsoft.com/office/drawing/2014/main" id="{B2E7E8B2-1348-C9F6-7C03-0D8C1A58E78E}"/>
              </a:ext>
            </a:extLst>
          </p:cNvPr>
          <p:cNvPicPr>
            <a:picLocks noChangeAspect="1"/>
          </p:cNvPicPr>
          <p:nvPr/>
        </p:nvPicPr>
        <p:blipFill>
          <a:blip r:embed="rId4"/>
          <a:stretch>
            <a:fillRect/>
          </a:stretch>
        </p:blipFill>
        <p:spPr>
          <a:xfrm>
            <a:off x="3743400" y="4696170"/>
            <a:ext cx="12457384" cy="5190577"/>
          </a:xfrm>
          <a:prstGeom prst="rect">
            <a:avLst/>
          </a:prstGeom>
        </p:spPr>
      </p:pic>
    </p:spTree>
    <p:extLst>
      <p:ext uri="{BB962C8B-B14F-4D97-AF65-F5344CB8AC3E}">
        <p14:creationId xmlns:p14="http://schemas.microsoft.com/office/powerpoint/2010/main" val="349135839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E3FBE496-6B0A-ABE6-9C18-E7C640F1A5D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F37C43A4-3573-180E-03AF-A35A2DF7BF46}"/>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6" name="Freeform 6">
            <a:extLst>
              <a:ext uri="{FF2B5EF4-FFF2-40B4-BE49-F238E27FC236}">
                <a16:creationId xmlns:a16="http://schemas.microsoft.com/office/drawing/2014/main" id="{E2F114F0-63C5-8A1A-B347-F51010B33E3C}"/>
              </a:ext>
            </a:extLst>
          </p:cNvPr>
          <p:cNvSpPr/>
          <p:nvPr/>
        </p:nvSpPr>
        <p:spPr>
          <a:xfrm>
            <a:off x="-721096" y="840063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endParaRPr lang="en-AU"/>
          </a:p>
        </p:txBody>
      </p:sp>
      <p:sp>
        <p:nvSpPr>
          <p:cNvPr id="9" name="TextBox 9">
            <a:extLst>
              <a:ext uri="{FF2B5EF4-FFF2-40B4-BE49-F238E27FC236}">
                <a16:creationId xmlns:a16="http://schemas.microsoft.com/office/drawing/2014/main" id="{F5A69F6F-4AED-F7CB-7D21-1CF96877C0CC}"/>
              </a:ext>
            </a:extLst>
          </p:cNvPr>
          <p:cNvSpPr txBox="1"/>
          <p:nvPr/>
        </p:nvSpPr>
        <p:spPr>
          <a:xfrm>
            <a:off x="1554462" y="1572214"/>
            <a:ext cx="14497588" cy="2900153"/>
          </a:xfrm>
          <a:prstGeom prst="rect">
            <a:avLst/>
          </a:prstGeom>
        </p:spPr>
        <p:txBody>
          <a:bodyPr wrap="square" lIns="0" tIns="0" rIns="0" bIns="0" rtlCol="0" anchor="t">
            <a:spAutoFit/>
          </a:bodyPr>
          <a:lstStyle/>
          <a:p>
            <a:pPr>
              <a:lnSpc>
                <a:spcPts val="7711"/>
              </a:lnSpc>
              <a:spcBef>
                <a:spcPct val="0"/>
              </a:spcBef>
            </a:pPr>
            <a:r>
              <a:rPr lang="en-AU" sz="4800" dirty="0">
                <a:solidFill>
                  <a:srgbClr val="0CC0DF"/>
                </a:solidFill>
                <a:latin typeface="Now Bold"/>
              </a:rPr>
              <a:t>SOME WORKFLOW EXAMPLES</a:t>
            </a:r>
          </a:p>
          <a:p>
            <a:pPr>
              <a:lnSpc>
                <a:spcPts val="7711"/>
              </a:lnSpc>
              <a:spcBef>
                <a:spcPct val="0"/>
              </a:spcBef>
            </a:pPr>
            <a:endParaRPr lang="en-US" sz="4800" dirty="0">
              <a:solidFill>
                <a:srgbClr val="0CC0DF"/>
              </a:solidFill>
              <a:latin typeface="Now Bold"/>
            </a:endParaRPr>
          </a:p>
          <a:p>
            <a:pPr marL="0" lvl="0" indent="0">
              <a:lnSpc>
                <a:spcPts val="7711"/>
              </a:lnSpc>
              <a:spcBef>
                <a:spcPct val="0"/>
              </a:spcBef>
            </a:pPr>
            <a:r>
              <a:rPr lang="en-US" sz="4800" dirty="0">
                <a:solidFill>
                  <a:srgbClr val="0CC0DF"/>
                </a:solidFill>
                <a:latin typeface="Now Bold"/>
              </a:rPr>
              <a:t>	</a:t>
            </a:r>
          </a:p>
        </p:txBody>
      </p:sp>
      <p:sp>
        <p:nvSpPr>
          <p:cNvPr id="10" name="TextBox 10">
            <a:extLst>
              <a:ext uri="{FF2B5EF4-FFF2-40B4-BE49-F238E27FC236}">
                <a16:creationId xmlns:a16="http://schemas.microsoft.com/office/drawing/2014/main" id="{C91A8264-4D69-DDA5-402E-F5B5D133BAF3}"/>
              </a:ext>
            </a:extLst>
          </p:cNvPr>
          <p:cNvSpPr txBox="1"/>
          <p:nvPr/>
        </p:nvSpPr>
        <p:spPr>
          <a:xfrm>
            <a:off x="1590683" y="4045492"/>
            <a:ext cx="15142855" cy="789703"/>
          </a:xfrm>
          <a:prstGeom prst="rect">
            <a:avLst/>
          </a:prstGeom>
        </p:spPr>
        <p:txBody>
          <a:bodyPr wrap="square" lIns="0" tIns="0" rIns="0" bIns="0" rtlCol="0" anchor="t">
            <a:spAutoFit/>
          </a:bodyPr>
          <a:lstStyle/>
          <a:p>
            <a:pPr lvl="3"/>
            <a:endParaRPr lang="en-AU" sz="2479" spc="-49" dirty="0">
              <a:solidFill>
                <a:srgbClr val="FFFFFF"/>
              </a:solidFill>
              <a:latin typeface="DM Sans"/>
            </a:endParaRPr>
          </a:p>
          <a:p>
            <a:pPr>
              <a:lnSpc>
                <a:spcPts val="3284"/>
              </a:lnSpc>
            </a:pPr>
            <a:endParaRPr lang="en-US" sz="2479" spc="-49" dirty="0">
              <a:solidFill>
                <a:srgbClr val="FFFFFF"/>
              </a:solidFill>
              <a:latin typeface="DM Sans"/>
            </a:endParaRPr>
          </a:p>
        </p:txBody>
      </p:sp>
      <p:sp>
        <p:nvSpPr>
          <p:cNvPr id="3" name="TextBox 10">
            <a:extLst>
              <a:ext uri="{FF2B5EF4-FFF2-40B4-BE49-F238E27FC236}">
                <a16:creationId xmlns:a16="http://schemas.microsoft.com/office/drawing/2014/main" id="{71A6094C-80A9-8F06-E8C7-40E5A9D79B92}"/>
              </a:ext>
            </a:extLst>
          </p:cNvPr>
          <p:cNvSpPr txBox="1"/>
          <p:nvPr/>
        </p:nvSpPr>
        <p:spPr>
          <a:xfrm>
            <a:off x="909195" y="1670656"/>
            <a:ext cx="15142855" cy="2588273"/>
          </a:xfrm>
          <a:prstGeom prst="rect">
            <a:avLst/>
          </a:prstGeom>
        </p:spPr>
        <p:txBody>
          <a:bodyPr wrap="square" lIns="0" tIns="0" rIns="0" bIns="0" rtlCol="0" anchor="t">
            <a:spAutoFit/>
          </a:bodyPr>
          <a:lstStyle/>
          <a:p>
            <a:pPr lvl="2">
              <a:lnSpc>
                <a:spcPts val="3422"/>
              </a:lnSpc>
            </a:pPr>
            <a:br>
              <a:rPr lang="en-AU" sz="2479" spc="-49" dirty="0">
                <a:solidFill>
                  <a:schemeClr val="bg1"/>
                </a:solidFill>
                <a:latin typeface="DM Sans"/>
              </a:rPr>
            </a:br>
            <a:endParaRPr lang="en-AU" sz="2479" spc="-49" dirty="0">
              <a:solidFill>
                <a:schemeClr val="bg1"/>
              </a:solidFill>
              <a:latin typeface="DM Sans"/>
            </a:endParaRPr>
          </a:p>
          <a:p>
            <a:pPr marL="1714500" lvl="3" indent="-342900">
              <a:lnSpc>
                <a:spcPts val="3422"/>
              </a:lnSpc>
              <a:buFont typeface="Arial" panose="020B0604020202020204" pitchFamily="34" charset="0"/>
              <a:buChar char="•"/>
            </a:pPr>
            <a:r>
              <a:rPr lang="en-AU" sz="2479" b="1" spc="-49" dirty="0">
                <a:solidFill>
                  <a:srgbClr val="FFFFFF"/>
                </a:solidFill>
                <a:latin typeface="DM Sans"/>
              </a:rPr>
              <a:t>Orchestrator-workers</a:t>
            </a:r>
          </a:p>
          <a:p>
            <a:pPr marL="2171700" lvl="4" indent="-342900">
              <a:lnSpc>
                <a:spcPts val="3422"/>
              </a:lnSpc>
              <a:buFont typeface="Arial" panose="020B0604020202020204" pitchFamily="34" charset="0"/>
              <a:buChar char="•"/>
            </a:pPr>
            <a:r>
              <a:rPr lang="en-AU" sz="2479" b="1" spc="-49" dirty="0">
                <a:solidFill>
                  <a:srgbClr val="FFFFFF"/>
                </a:solidFill>
                <a:latin typeface="DM Sans"/>
              </a:rPr>
              <a:t>a central LLM dynamically breaks down tasks, delegates them to worker LLMs, and synthesizes their results.</a:t>
            </a:r>
          </a:p>
          <a:p>
            <a:pPr>
              <a:lnSpc>
                <a:spcPts val="3284"/>
              </a:lnSpc>
            </a:pPr>
            <a:endParaRPr lang="en-US" sz="2479" spc="-49" dirty="0">
              <a:solidFill>
                <a:srgbClr val="FFFFFF"/>
              </a:solidFill>
              <a:latin typeface="DM Sans"/>
            </a:endParaRPr>
          </a:p>
        </p:txBody>
      </p:sp>
      <p:pic>
        <p:nvPicPr>
          <p:cNvPr id="4" name="Picture 3">
            <a:extLst>
              <a:ext uri="{FF2B5EF4-FFF2-40B4-BE49-F238E27FC236}">
                <a16:creationId xmlns:a16="http://schemas.microsoft.com/office/drawing/2014/main" id="{B43F92E6-B9A2-3AA1-5522-3F63CC15E3F1}"/>
              </a:ext>
            </a:extLst>
          </p:cNvPr>
          <p:cNvPicPr>
            <a:picLocks noChangeAspect="1"/>
          </p:cNvPicPr>
          <p:nvPr/>
        </p:nvPicPr>
        <p:blipFill>
          <a:blip r:embed="rId4"/>
          <a:stretch>
            <a:fillRect/>
          </a:stretch>
        </p:blipFill>
        <p:spPr>
          <a:xfrm>
            <a:off x="2447256" y="4045492"/>
            <a:ext cx="13033448" cy="5430603"/>
          </a:xfrm>
          <a:prstGeom prst="rect">
            <a:avLst/>
          </a:prstGeom>
        </p:spPr>
      </p:pic>
    </p:spTree>
    <p:extLst>
      <p:ext uri="{BB962C8B-B14F-4D97-AF65-F5344CB8AC3E}">
        <p14:creationId xmlns:p14="http://schemas.microsoft.com/office/powerpoint/2010/main" val="33320076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EBF89468-0406-FF75-9449-4A08BC7A8F7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51190CC-DE5D-1933-7E68-89E5771577DF}"/>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2"/>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Freeform 6">
            <a:extLst>
              <a:ext uri="{FF2B5EF4-FFF2-40B4-BE49-F238E27FC236}">
                <a16:creationId xmlns:a16="http://schemas.microsoft.com/office/drawing/2014/main" id="{EE118A4B-0FEA-528B-E81B-25988FE52ECB}"/>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2"/>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sp>
        <p:nvSpPr>
          <p:cNvPr id="12" name="Title 1">
            <a:extLst>
              <a:ext uri="{FF2B5EF4-FFF2-40B4-BE49-F238E27FC236}">
                <a16:creationId xmlns:a16="http://schemas.microsoft.com/office/drawing/2014/main" id="{2D1FFF38-405B-36ED-40CE-2A8ED4CA256B}"/>
              </a:ext>
            </a:extLst>
          </p:cNvPr>
          <p:cNvSpPr txBox="1">
            <a:spLocks/>
          </p:cNvSpPr>
          <p:nvPr/>
        </p:nvSpPr>
        <p:spPr>
          <a:xfrm>
            <a:off x="2362201" y="4095749"/>
            <a:ext cx="14658974" cy="1500188"/>
          </a:xfrm>
          <a:prstGeom prst="rect">
            <a:avLst/>
          </a:prstGeom>
        </p:spPr>
        <p:txBody>
          <a:bodyP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lang="en-AU" sz="6600" dirty="0">
                <a:solidFill>
                  <a:srgbClr val="0CC0DF"/>
                </a:solidFill>
                <a:latin typeface="Now Bold"/>
              </a:rPr>
              <a:t>EXAMPLE of AGENTIC SYSTEM </a:t>
            </a:r>
            <a:endParaRPr kumimoji="0" lang="en-US" sz="6600" b="0" i="0" u="none" strike="noStrike" kern="1200" cap="none" spc="0" normalizeH="0" baseline="0" noProof="0" dirty="0">
              <a:ln>
                <a:noFill/>
              </a:ln>
              <a:solidFill>
                <a:srgbClr val="0CC0DF"/>
              </a:solidFill>
              <a:effectLst/>
              <a:uLnTx/>
              <a:uFillTx/>
              <a:latin typeface="Now Bold"/>
              <a:ea typeface="+mj-ea"/>
              <a:cs typeface="+mj-cs"/>
            </a:endParaRPr>
          </a:p>
        </p:txBody>
      </p:sp>
    </p:spTree>
    <p:extLst>
      <p:ext uri="{BB962C8B-B14F-4D97-AF65-F5344CB8AC3E}">
        <p14:creationId xmlns:p14="http://schemas.microsoft.com/office/powerpoint/2010/main" val="22261239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37CA4B44-5B17-8788-250B-CF7BB1C792B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845B6E50-A81B-105F-4EFF-4F7E6EC9CA8C}"/>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2"/>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Freeform 6">
            <a:extLst>
              <a:ext uri="{FF2B5EF4-FFF2-40B4-BE49-F238E27FC236}">
                <a16:creationId xmlns:a16="http://schemas.microsoft.com/office/drawing/2014/main" id="{5682ACDC-8918-0437-2603-D72E9AB568AE}"/>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2"/>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pic>
        <p:nvPicPr>
          <p:cNvPr id="4" name="Picture 3">
            <a:extLst>
              <a:ext uri="{FF2B5EF4-FFF2-40B4-BE49-F238E27FC236}">
                <a16:creationId xmlns:a16="http://schemas.microsoft.com/office/drawing/2014/main" id="{3553BD43-E054-4D1B-EA88-C4D2112C28E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616608" y="114300"/>
            <a:ext cx="2712999" cy="10058400"/>
          </a:xfrm>
          <a:prstGeom prst="rect">
            <a:avLst/>
          </a:prstGeom>
        </p:spPr>
      </p:pic>
      <p:sp>
        <p:nvSpPr>
          <p:cNvPr id="11" name="TextBox 10">
            <a:extLst>
              <a:ext uri="{FF2B5EF4-FFF2-40B4-BE49-F238E27FC236}">
                <a16:creationId xmlns:a16="http://schemas.microsoft.com/office/drawing/2014/main" id="{2481597D-5A9F-BB1C-DE99-2B98BE019236}"/>
              </a:ext>
            </a:extLst>
          </p:cNvPr>
          <p:cNvSpPr txBox="1"/>
          <p:nvPr/>
        </p:nvSpPr>
        <p:spPr>
          <a:xfrm>
            <a:off x="958393" y="2786189"/>
            <a:ext cx="13114827" cy="6231129"/>
          </a:xfrm>
          <a:prstGeom prst="rect">
            <a:avLst/>
          </a:prstGeom>
        </p:spPr>
        <p:txBody>
          <a:bodyPr wrap="square" lIns="0" tIns="0" rIns="0" bIns="0" rtlCol="0" anchor="t">
            <a:spAutoFit/>
          </a:bodyPr>
          <a:lstStyle/>
          <a:p>
            <a:pPr marL="800100" lvl="1" indent="-342900">
              <a:buFont typeface="Arial" panose="020B0604020202020204" pitchFamily="34" charset="0"/>
              <a:buChar char="•"/>
            </a:pPr>
            <a:r>
              <a:rPr lang="en-AU" sz="2500" b="1" spc="-49" dirty="0">
                <a:solidFill>
                  <a:srgbClr val="FFFFFF"/>
                </a:solidFill>
                <a:latin typeface="DM Sans"/>
              </a:rPr>
              <a:t>A multi-agent system that automates the citation and referencing process for academic documents</a:t>
            </a:r>
          </a:p>
          <a:p>
            <a:pPr marL="800100" lvl="1" indent="-342900">
              <a:buFont typeface="Arial" panose="020B0604020202020204" pitchFamily="34" charset="0"/>
              <a:buChar char="•"/>
            </a:pPr>
            <a:endParaRPr lang="en-AU" sz="2500" b="1" spc="-49" dirty="0">
              <a:solidFill>
                <a:srgbClr val="FFFFFF"/>
              </a:solidFill>
              <a:latin typeface="DM Sans"/>
            </a:endParaRPr>
          </a:p>
          <a:p>
            <a:pPr marL="800100" lvl="1" indent="-342900">
              <a:buFont typeface="Arial" panose="020B0604020202020204" pitchFamily="34" charset="0"/>
              <a:buChar char="•"/>
            </a:pPr>
            <a:r>
              <a:rPr lang="en-AU" sz="2500" b="1" spc="-49" dirty="0">
                <a:solidFill>
                  <a:srgbClr val="FFFFFF"/>
                </a:solidFill>
                <a:latin typeface="DM Sans"/>
              </a:rPr>
              <a:t>Six specialised agents work in sequence, each responsible for one stage of the pipeline</a:t>
            </a:r>
          </a:p>
          <a:p>
            <a:pPr marL="800100" lvl="1" indent="-342900">
              <a:buFont typeface="Arial" panose="020B0604020202020204" pitchFamily="34" charset="0"/>
              <a:buChar char="•"/>
            </a:pPr>
            <a:endParaRPr lang="en-AU" sz="2500" b="1" spc="-49" dirty="0">
              <a:solidFill>
                <a:srgbClr val="FFFFFF"/>
              </a:solidFill>
              <a:latin typeface="DM Sans"/>
            </a:endParaRPr>
          </a:p>
          <a:p>
            <a:pPr marL="800100" lvl="1" indent="-342900">
              <a:buFont typeface="Arial" panose="020B0604020202020204" pitchFamily="34" charset="0"/>
              <a:buChar char="•"/>
            </a:pPr>
            <a:r>
              <a:rPr lang="en-AU" sz="2500" b="1" spc="-49" dirty="0">
                <a:solidFill>
                  <a:srgbClr val="FFFFFF"/>
                </a:solidFill>
                <a:latin typeface="DM Sans"/>
              </a:rPr>
              <a:t>Two human checkpoints ensure the researcher stays in control before any irreversible action is taken</a:t>
            </a:r>
          </a:p>
          <a:p>
            <a:pPr marL="800100" lvl="1" indent="-342900">
              <a:buFont typeface="Arial" panose="020B0604020202020204" pitchFamily="34" charset="0"/>
              <a:buChar char="•"/>
            </a:pPr>
            <a:endParaRPr lang="en-AU" sz="2500" b="1" spc="-49" dirty="0">
              <a:solidFill>
                <a:srgbClr val="FFFFFF"/>
              </a:solidFill>
              <a:latin typeface="DM Sans"/>
            </a:endParaRPr>
          </a:p>
          <a:p>
            <a:pPr marL="800100" lvl="1" indent="-342900">
              <a:buFont typeface="Arial" panose="020B0604020202020204" pitchFamily="34" charset="0"/>
              <a:buChar char="•"/>
            </a:pPr>
            <a:r>
              <a:rPr lang="en-AU" sz="2500" b="1" spc="-49" dirty="0">
                <a:solidFill>
                  <a:srgbClr val="FFFFFF"/>
                </a:solidFill>
                <a:latin typeface="DM Sans"/>
              </a:rPr>
              <a:t>Focused on academic text  </a:t>
            </a:r>
          </a:p>
          <a:p>
            <a:pPr marL="800100" lvl="1" indent="-342900">
              <a:buFont typeface="Arial" panose="020B0604020202020204" pitchFamily="34" charset="0"/>
              <a:buChar char="•"/>
            </a:pPr>
            <a:endParaRPr lang="en-AU" sz="2500" b="1" spc="-49" dirty="0">
              <a:solidFill>
                <a:srgbClr val="FFFFFF"/>
              </a:solidFill>
              <a:latin typeface="DM Sans"/>
            </a:endParaRPr>
          </a:p>
          <a:p>
            <a:pPr marL="800100" lvl="1" indent="-342900">
              <a:buFont typeface="Arial" panose="020B0604020202020204" pitchFamily="34" charset="0"/>
              <a:buChar char="•"/>
            </a:pPr>
            <a:r>
              <a:rPr lang="en-AU" sz="2500" b="1" spc="-49" dirty="0">
                <a:solidFill>
                  <a:srgbClr val="FFFFFF"/>
                </a:solidFill>
                <a:latin typeface="DM Sans"/>
              </a:rPr>
              <a:t>The system handles the labour; the researcher retains all intellectual judgment</a:t>
            </a:r>
          </a:p>
          <a:p>
            <a:pPr lvl="1"/>
            <a:br>
              <a:rPr lang="en-AU" sz="2500" b="1" spc="-49" dirty="0">
                <a:solidFill>
                  <a:srgbClr val="FFFFFF"/>
                </a:solidFill>
                <a:latin typeface="DM Sans"/>
              </a:rPr>
            </a:br>
            <a:endParaRPr lang="en-AU" sz="2500" b="1" spc="-49" dirty="0">
              <a:solidFill>
                <a:srgbClr val="FFFFFF"/>
              </a:solidFill>
              <a:latin typeface="DM Sans"/>
            </a:endParaRPr>
          </a:p>
          <a:p>
            <a:pPr marL="2171700" lvl="4" indent="-342900">
              <a:lnSpc>
                <a:spcPts val="3422"/>
              </a:lnSpc>
              <a:buFont typeface="Arial" panose="020B0604020202020204" pitchFamily="34" charset="0"/>
              <a:buChar char="•"/>
            </a:pPr>
            <a:endParaRPr lang="en-AU" sz="2500" b="1" spc="-49" dirty="0">
              <a:solidFill>
                <a:srgbClr val="FFFFFF"/>
              </a:solidFill>
              <a:latin typeface="DM Sans"/>
            </a:endParaRPr>
          </a:p>
          <a:p>
            <a:pPr>
              <a:lnSpc>
                <a:spcPts val="3284"/>
              </a:lnSpc>
            </a:pPr>
            <a:endParaRPr lang="en-US" sz="2500" spc="-49" dirty="0">
              <a:solidFill>
                <a:srgbClr val="FFFFFF"/>
              </a:solidFill>
              <a:latin typeface="DM Sans"/>
            </a:endParaRPr>
          </a:p>
        </p:txBody>
      </p:sp>
      <p:sp>
        <p:nvSpPr>
          <p:cNvPr id="14" name="TextBox 9">
            <a:extLst>
              <a:ext uri="{FF2B5EF4-FFF2-40B4-BE49-F238E27FC236}">
                <a16:creationId xmlns:a16="http://schemas.microsoft.com/office/drawing/2014/main" id="{87FE0BC2-DAAD-A209-AFF3-1612C8E1B661}"/>
              </a:ext>
            </a:extLst>
          </p:cNvPr>
          <p:cNvSpPr txBox="1"/>
          <p:nvPr/>
        </p:nvSpPr>
        <p:spPr>
          <a:xfrm>
            <a:off x="958393" y="1564388"/>
            <a:ext cx="14497588" cy="2651367"/>
          </a:xfrm>
          <a:prstGeom prst="rect">
            <a:avLst/>
          </a:prstGeom>
        </p:spPr>
        <p:txBody>
          <a:bodyPr wrap="square" lIns="0" tIns="0" rIns="0" bIns="0" rtlCol="0" anchor="t">
            <a:spAutoFit/>
          </a:bodyPr>
          <a:lstStyle/>
          <a:p>
            <a:pPr lvl="0">
              <a:spcBef>
                <a:spcPct val="0"/>
              </a:spcBef>
              <a:defRPr/>
            </a:pPr>
            <a:r>
              <a:rPr lang="en-AU" sz="4800" dirty="0">
                <a:solidFill>
                  <a:srgbClr val="0CC0DF"/>
                </a:solidFill>
                <a:latin typeface="Now Bold"/>
              </a:rPr>
              <a:t>EXAMPLE of  an AGENTIC SYSTEM </a:t>
            </a:r>
            <a:endParaRPr lang="en-US" sz="4800" dirty="0">
              <a:solidFill>
                <a:srgbClr val="0CC0DF"/>
              </a:solidFill>
              <a:latin typeface="Now Bold"/>
            </a:endParaRPr>
          </a:p>
          <a:p>
            <a:pPr>
              <a:lnSpc>
                <a:spcPts val="7711"/>
              </a:lnSpc>
              <a:spcBef>
                <a:spcPct val="0"/>
              </a:spcBef>
            </a:pPr>
            <a:endParaRPr lang="en-US" sz="4800" dirty="0">
              <a:solidFill>
                <a:srgbClr val="0CC0DF"/>
              </a:solidFill>
              <a:latin typeface="Now Bold"/>
            </a:endParaRPr>
          </a:p>
          <a:p>
            <a:pPr marL="0" lvl="0" indent="0">
              <a:lnSpc>
                <a:spcPts val="7711"/>
              </a:lnSpc>
              <a:spcBef>
                <a:spcPct val="0"/>
              </a:spcBef>
            </a:pPr>
            <a:r>
              <a:rPr lang="en-US" sz="4800" dirty="0">
                <a:solidFill>
                  <a:srgbClr val="0CC0DF"/>
                </a:solidFill>
                <a:latin typeface="Now Bold"/>
              </a:rPr>
              <a:t>	</a:t>
            </a:r>
          </a:p>
        </p:txBody>
      </p:sp>
    </p:spTree>
    <p:extLst>
      <p:ext uri="{BB962C8B-B14F-4D97-AF65-F5344CB8AC3E}">
        <p14:creationId xmlns:p14="http://schemas.microsoft.com/office/powerpoint/2010/main" val="133839057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2B1BC289-20FE-9EB1-7DE5-0F1D77FEF88F}"/>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416F0BB3-0CB5-E80F-49B4-E9C008868245}"/>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2"/>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Freeform 6">
            <a:extLst>
              <a:ext uri="{FF2B5EF4-FFF2-40B4-BE49-F238E27FC236}">
                <a16:creationId xmlns:a16="http://schemas.microsoft.com/office/drawing/2014/main" id="{1192BBEC-C62D-B847-A100-4A904C3393D5}"/>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2"/>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pic>
        <p:nvPicPr>
          <p:cNvPr id="5" name="Picture 4">
            <a:extLst>
              <a:ext uri="{FF2B5EF4-FFF2-40B4-BE49-F238E27FC236}">
                <a16:creationId xmlns:a16="http://schemas.microsoft.com/office/drawing/2014/main" id="{ABFDD1B3-741F-1581-5A92-CEA41B1EB77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312352" y="203200"/>
            <a:ext cx="4394200" cy="9880600"/>
          </a:xfrm>
          <a:prstGeom prst="rect">
            <a:avLst/>
          </a:prstGeom>
        </p:spPr>
      </p:pic>
      <p:sp>
        <p:nvSpPr>
          <p:cNvPr id="7" name="TextBox 6">
            <a:extLst>
              <a:ext uri="{FF2B5EF4-FFF2-40B4-BE49-F238E27FC236}">
                <a16:creationId xmlns:a16="http://schemas.microsoft.com/office/drawing/2014/main" id="{84882015-F2DF-3D90-4CF1-EDDCFC6E7FF2}"/>
              </a:ext>
            </a:extLst>
          </p:cNvPr>
          <p:cNvSpPr txBox="1"/>
          <p:nvPr/>
        </p:nvSpPr>
        <p:spPr>
          <a:xfrm>
            <a:off x="629832" y="2426280"/>
            <a:ext cx="9347614" cy="7770012"/>
          </a:xfrm>
          <a:prstGeom prst="rect">
            <a:avLst/>
          </a:prstGeom>
        </p:spPr>
        <p:txBody>
          <a:bodyPr wrap="square" lIns="0" tIns="0" rIns="0" bIns="0" rtlCol="0" anchor="t">
            <a:spAutoFit/>
          </a:bodyPr>
          <a:lstStyle/>
          <a:p>
            <a:pPr lvl="1"/>
            <a:r>
              <a:rPr lang="en-AU" sz="2500" b="1" spc="-49" dirty="0">
                <a:solidFill>
                  <a:srgbClr val="FFFFFF"/>
                </a:solidFill>
                <a:latin typeface="DM Sans"/>
              </a:rPr>
              <a:t>Planner agent</a:t>
            </a:r>
          </a:p>
          <a:p>
            <a:pPr lvl="1"/>
            <a:endParaRPr lang="en-AU" sz="2500" b="1" spc="-49" dirty="0">
              <a:solidFill>
                <a:srgbClr val="FFFFFF"/>
              </a:solidFill>
              <a:latin typeface="DM Sans"/>
            </a:endParaRPr>
          </a:p>
          <a:p>
            <a:pPr marL="800100" lvl="1" indent="-342900">
              <a:buFont typeface="Arial" panose="020B0604020202020204" pitchFamily="34" charset="0"/>
              <a:buChar char="•"/>
            </a:pPr>
            <a:r>
              <a:rPr lang="en-AU" sz="2500" b="1" spc="-49" dirty="0">
                <a:solidFill>
                  <a:srgbClr val="FFFFFF"/>
                </a:solidFill>
                <a:latin typeface="DM Sans"/>
              </a:rPr>
              <a:t>Reads the uploaded document and breaks it into logical sections: Abstract, Introduction, Methods, Results, Conclusion</a:t>
            </a:r>
          </a:p>
          <a:p>
            <a:pPr marL="800100" lvl="1" indent="-342900">
              <a:buFont typeface="Arial" panose="020B0604020202020204" pitchFamily="34" charset="0"/>
              <a:buChar char="•"/>
            </a:pPr>
            <a:endParaRPr lang="en-AU" sz="2500" b="1" spc="-49" dirty="0">
              <a:solidFill>
                <a:srgbClr val="FFFFFF"/>
              </a:solidFill>
              <a:latin typeface="DM Sans"/>
            </a:endParaRPr>
          </a:p>
          <a:p>
            <a:pPr marL="800100" lvl="1" indent="-342900">
              <a:buFont typeface="Arial" panose="020B0604020202020204" pitchFamily="34" charset="0"/>
              <a:buChar char="•"/>
            </a:pPr>
            <a:r>
              <a:rPr lang="en-AU" sz="2500" b="1" spc="-49" dirty="0">
                <a:solidFill>
                  <a:srgbClr val="FFFFFF"/>
                </a:solidFill>
                <a:latin typeface="DM Sans"/>
              </a:rPr>
              <a:t>Queries Wikipedia/web to clarify terminology and map the conceptual scope of the work</a:t>
            </a:r>
          </a:p>
          <a:p>
            <a:pPr marL="800100" lvl="1" indent="-342900">
              <a:buFont typeface="Arial" panose="020B0604020202020204" pitchFamily="34" charset="0"/>
              <a:buChar char="•"/>
            </a:pPr>
            <a:endParaRPr lang="en-AU" sz="2500" b="1" spc="-49" dirty="0">
              <a:solidFill>
                <a:srgbClr val="FFFFFF"/>
              </a:solidFill>
              <a:latin typeface="DM Sans"/>
            </a:endParaRPr>
          </a:p>
          <a:p>
            <a:pPr marL="800100" lvl="1" indent="-342900">
              <a:buFont typeface="Arial" panose="020B0604020202020204" pitchFamily="34" charset="0"/>
              <a:buChar char="•"/>
            </a:pPr>
            <a:r>
              <a:rPr lang="en-AU" sz="2500" b="1" spc="-49" dirty="0">
                <a:solidFill>
                  <a:srgbClr val="FFFFFF"/>
                </a:solidFill>
                <a:latin typeface="DM Sans"/>
              </a:rPr>
              <a:t>Identifies citation gaps </a:t>
            </a:r>
          </a:p>
          <a:p>
            <a:pPr lvl="1"/>
            <a:endParaRPr lang="en-AU" sz="2500" b="1" spc="-49" dirty="0">
              <a:solidFill>
                <a:srgbClr val="FFFFFF"/>
              </a:solidFill>
              <a:latin typeface="DM Sans"/>
            </a:endParaRPr>
          </a:p>
          <a:p>
            <a:pPr marL="800100" lvl="1" indent="-342900">
              <a:buFont typeface="Arial" panose="020B0604020202020204" pitchFamily="34" charset="0"/>
              <a:buChar char="•"/>
            </a:pPr>
            <a:r>
              <a:rPr lang="en-AU" sz="2500" b="1" spc="-49" dirty="0">
                <a:solidFill>
                  <a:srgbClr val="FFFFFF"/>
                </a:solidFill>
                <a:latin typeface="DM Sans"/>
              </a:rPr>
              <a:t>Produces a structured research plan that specifies what topics need coverage, what kind of evidence is required, and which sections are the highest priority</a:t>
            </a:r>
          </a:p>
          <a:p>
            <a:pPr marL="800100" lvl="1" indent="-342900">
              <a:buFont typeface="Arial" panose="020B0604020202020204" pitchFamily="34" charset="0"/>
              <a:buChar char="•"/>
            </a:pPr>
            <a:endParaRPr lang="en-AU" sz="2500" b="1" spc="-49" dirty="0">
              <a:solidFill>
                <a:srgbClr val="FFFFFF"/>
              </a:solidFill>
              <a:latin typeface="DM Sans"/>
            </a:endParaRPr>
          </a:p>
          <a:p>
            <a:pPr marL="800100" lvl="1" indent="-342900">
              <a:buFont typeface="Arial" panose="020B0604020202020204" pitchFamily="34" charset="0"/>
              <a:buChar char="•"/>
            </a:pPr>
            <a:r>
              <a:rPr lang="en-AU" sz="2500" b="1" spc="-49" dirty="0">
                <a:solidFill>
                  <a:srgbClr val="FFFFFF"/>
                </a:solidFill>
                <a:latin typeface="DM Sans"/>
              </a:rPr>
              <a:t>Every downstream agent operates from this plan  </a:t>
            </a:r>
          </a:p>
          <a:p>
            <a:pPr lvl="1"/>
            <a:br>
              <a:rPr lang="en-AU" sz="2500" b="1" spc="-49" dirty="0">
                <a:solidFill>
                  <a:srgbClr val="FFFFFF"/>
                </a:solidFill>
                <a:latin typeface="DM Sans"/>
              </a:rPr>
            </a:br>
            <a:endParaRPr lang="en-AU" sz="2500" b="1" spc="-49" dirty="0">
              <a:solidFill>
                <a:srgbClr val="FFFFFF"/>
              </a:solidFill>
              <a:latin typeface="DM Sans"/>
            </a:endParaRPr>
          </a:p>
          <a:p>
            <a:pPr marL="2171700" lvl="4" indent="-342900">
              <a:lnSpc>
                <a:spcPts val="3422"/>
              </a:lnSpc>
              <a:buFont typeface="Arial" panose="020B0604020202020204" pitchFamily="34" charset="0"/>
              <a:buChar char="•"/>
            </a:pPr>
            <a:endParaRPr lang="en-AU" sz="2500" b="1" spc="-49" dirty="0">
              <a:solidFill>
                <a:srgbClr val="FFFFFF"/>
              </a:solidFill>
              <a:latin typeface="DM Sans"/>
            </a:endParaRPr>
          </a:p>
          <a:p>
            <a:pPr>
              <a:lnSpc>
                <a:spcPts val="3284"/>
              </a:lnSpc>
            </a:pPr>
            <a:endParaRPr lang="en-US" sz="2500" spc="-49" dirty="0">
              <a:solidFill>
                <a:srgbClr val="FFFFFF"/>
              </a:solidFill>
              <a:latin typeface="DM Sans"/>
            </a:endParaRPr>
          </a:p>
        </p:txBody>
      </p:sp>
      <p:sp>
        <p:nvSpPr>
          <p:cNvPr id="8" name="TextBox 9">
            <a:extLst>
              <a:ext uri="{FF2B5EF4-FFF2-40B4-BE49-F238E27FC236}">
                <a16:creationId xmlns:a16="http://schemas.microsoft.com/office/drawing/2014/main" id="{96600798-B60C-0F5A-8534-937B757986EC}"/>
              </a:ext>
            </a:extLst>
          </p:cNvPr>
          <p:cNvSpPr txBox="1"/>
          <p:nvPr/>
        </p:nvSpPr>
        <p:spPr>
          <a:xfrm>
            <a:off x="629832" y="1471092"/>
            <a:ext cx="14497588" cy="2651367"/>
          </a:xfrm>
          <a:prstGeom prst="rect">
            <a:avLst/>
          </a:prstGeom>
        </p:spPr>
        <p:txBody>
          <a:bodyPr wrap="square" lIns="0" tIns="0" rIns="0" bIns="0" rtlCol="0" anchor="t">
            <a:spAutoFit/>
          </a:bodyPr>
          <a:lstStyle/>
          <a:p>
            <a:pPr lvl="0">
              <a:spcBef>
                <a:spcPct val="0"/>
              </a:spcBef>
              <a:defRPr/>
            </a:pPr>
            <a:r>
              <a:rPr lang="en-AU" sz="4800" dirty="0">
                <a:solidFill>
                  <a:srgbClr val="0CC0DF"/>
                </a:solidFill>
                <a:latin typeface="Now Bold"/>
              </a:rPr>
              <a:t>EXAMPLE of AGENTIC SYSTEM </a:t>
            </a:r>
            <a:endParaRPr lang="en-US" sz="4800" dirty="0">
              <a:solidFill>
                <a:srgbClr val="0CC0DF"/>
              </a:solidFill>
              <a:latin typeface="Now Bold"/>
            </a:endParaRPr>
          </a:p>
          <a:p>
            <a:pPr>
              <a:lnSpc>
                <a:spcPts val="7711"/>
              </a:lnSpc>
              <a:spcBef>
                <a:spcPct val="0"/>
              </a:spcBef>
            </a:pPr>
            <a:endParaRPr lang="en-US" sz="4800" dirty="0">
              <a:solidFill>
                <a:srgbClr val="0CC0DF"/>
              </a:solidFill>
              <a:latin typeface="Now Bold"/>
            </a:endParaRPr>
          </a:p>
          <a:p>
            <a:pPr marL="0" lvl="0" indent="0">
              <a:lnSpc>
                <a:spcPts val="7711"/>
              </a:lnSpc>
              <a:spcBef>
                <a:spcPct val="0"/>
              </a:spcBef>
            </a:pPr>
            <a:r>
              <a:rPr lang="en-US" sz="4800" dirty="0">
                <a:solidFill>
                  <a:srgbClr val="0CC0DF"/>
                </a:solidFill>
                <a:latin typeface="Now Bold"/>
              </a:rPr>
              <a:t>	</a:t>
            </a:r>
          </a:p>
        </p:txBody>
      </p:sp>
    </p:spTree>
    <p:extLst>
      <p:ext uri="{BB962C8B-B14F-4D97-AF65-F5344CB8AC3E}">
        <p14:creationId xmlns:p14="http://schemas.microsoft.com/office/powerpoint/2010/main" val="285484049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AB60051F-09FD-CBEE-A0A3-71B9AEED3A1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D72EFCA8-5254-1512-73D8-FFFBA4CCD7ED}"/>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2"/>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Freeform 6">
            <a:extLst>
              <a:ext uri="{FF2B5EF4-FFF2-40B4-BE49-F238E27FC236}">
                <a16:creationId xmlns:a16="http://schemas.microsoft.com/office/drawing/2014/main" id="{5E452C76-DA5E-014D-9EA6-38830433C49F}"/>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2"/>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pic>
        <p:nvPicPr>
          <p:cNvPr id="5" name="Picture 4">
            <a:extLst>
              <a:ext uri="{FF2B5EF4-FFF2-40B4-BE49-F238E27FC236}">
                <a16:creationId xmlns:a16="http://schemas.microsoft.com/office/drawing/2014/main" id="{81F3E86E-2CF4-F2BA-54B1-85689888D36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353800" y="534988"/>
            <a:ext cx="6934200" cy="8674100"/>
          </a:xfrm>
          <a:prstGeom prst="rect">
            <a:avLst/>
          </a:prstGeom>
        </p:spPr>
      </p:pic>
      <p:sp>
        <p:nvSpPr>
          <p:cNvPr id="7" name="TextBox 6">
            <a:extLst>
              <a:ext uri="{FF2B5EF4-FFF2-40B4-BE49-F238E27FC236}">
                <a16:creationId xmlns:a16="http://schemas.microsoft.com/office/drawing/2014/main" id="{5DEDF360-BAB9-BF57-96AC-3B700D7D1D04}"/>
              </a:ext>
            </a:extLst>
          </p:cNvPr>
          <p:cNvSpPr txBox="1"/>
          <p:nvPr/>
        </p:nvSpPr>
        <p:spPr>
          <a:xfrm>
            <a:off x="232820" y="2335188"/>
            <a:ext cx="11079863" cy="7770012"/>
          </a:xfrm>
          <a:prstGeom prst="rect">
            <a:avLst/>
          </a:prstGeom>
        </p:spPr>
        <p:txBody>
          <a:bodyPr wrap="square" lIns="0" tIns="0" rIns="0" bIns="0" rtlCol="0" anchor="t">
            <a:spAutoFit/>
          </a:bodyPr>
          <a:lstStyle/>
          <a:p>
            <a:pPr marL="800100" lvl="1" indent="-342900">
              <a:buFont typeface="Arial" panose="020B0604020202020204" pitchFamily="34" charset="0"/>
              <a:buChar char="•"/>
            </a:pPr>
            <a:r>
              <a:rPr lang="en-AU" sz="2500" b="1" spc="-49" dirty="0">
                <a:solidFill>
                  <a:srgbClr val="FFFFFF"/>
                </a:solidFill>
                <a:latin typeface="DM Sans"/>
              </a:rPr>
              <a:t>Query Builder Agent</a:t>
            </a:r>
          </a:p>
          <a:p>
            <a:pPr marL="1257300" lvl="2" indent="-342900">
              <a:buFont typeface="Arial" panose="020B0604020202020204" pitchFamily="34" charset="0"/>
              <a:buChar char="•"/>
            </a:pPr>
            <a:r>
              <a:rPr lang="en-AU" sz="2500" b="1" spc="-49" dirty="0">
                <a:solidFill>
                  <a:srgbClr val="FFFFFF"/>
                </a:solidFill>
                <a:latin typeface="DM Sans"/>
              </a:rPr>
              <a:t>Translates the research plan into, structured API queries   </a:t>
            </a:r>
          </a:p>
          <a:p>
            <a:pPr marL="1257300" lvl="2" indent="-342900">
              <a:buFont typeface="Arial" panose="020B0604020202020204" pitchFamily="34" charset="0"/>
              <a:buChar char="•"/>
            </a:pPr>
            <a:endParaRPr lang="en-AU" sz="2500" b="1" spc="-49" dirty="0">
              <a:solidFill>
                <a:srgbClr val="FFFFFF"/>
              </a:solidFill>
              <a:latin typeface="DM Sans"/>
            </a:endParaRPr>
          </a:p>
          <a:p>
            <a:pPr marL="1257300" lvl="2" indent="-342900">
              <a:buFont typeface="Arial" panose="020B0604020202020204" pitchFamily="34" charset="0"/>
              <a:buChar char="•"/>
            </a:pPr>
            <a:r>
              <a:rPr lang="en-AU" sz="2500" b="1" spc="-49" dirty="0">
                <a:solidFill>
                  <a:srgbClr val="FFFFFF"/>
                </a:solidFill>
                <a:latin typeface="DM Sans"/>
              </a:rPr>
              <a:t>Uses Boolean logic, field-specific filters, and date range constraints to improve retrieval precision</a:t>
            </a:r>
          </a:p>
          <a:p>
            <a:pPr marL="1257300" lvl="2" indent="-342900">
              <a:buFont typeface="Arial" panose="020B0604020202020204" pitchFamily="34" charset="0"/>
              <a:buChar char="•"/>
            </a:pPr>
            <a:endParaRPr lang="en-AU" sz="2500" b="1" spc="-49" dirty="0">
              <a:solidFill>
                <a:srgbClr val="FFFFFF"/>
              </a:solidFill>
              <a:latin typeface="DM Sans"/>
            </a:endParaRPr>
          </a:p>
          <a:p>
            <a:pPr marL="1257300" lvl="2" indent="-342900">
              <a:buFont typeface="Arial" panose="020B0604020202020204" pitchFamily="34" charset="0"/>
              <a:buChar char="•"/>
            </a:pPr>
            <a:r>
              <a:rPr lang="en-AU" sz="2500" b="1" spc="-49" dirty="0">
                <a:solidFill>
                  <a:srgbClr val="FFFFFF"/>
                </a:solidFill>
                <a:latin typeface="DM Sans"/>
              </a:rPr>
              <a:t>Routes each query to the appropriate database: </a:t>
            </a:r>
            <a:r>
              <a:rPr lang="en-AU" sz="2500" b="1" spc="-49" dirty="0" err="1">
                <a:solidFill>
                  <a:srgbClr val="FFFFFF"/>
                </a:solidFill>
                <a:latin typeface="DM Sans"/>
              </a:rPr>
              <a:t>OpenAlex</a:t>
            </a:r>
            <a:r>
              <a:rPr lang="en-AU" sz="2500" b="1" spc="-49" dirty="0">
                <a:solidFill>
                  <a:srgbClr val="FFFFFF"/>
                </a:solidFill>
                <a:latin typeface="DM Sans"/>
              </a:rPr>
              <a:t> for open-access literature, </a:t>
            </a:r>
            <a:r>
              <a:rPr lang="en-AU" sz="2500" b="1" spc="-49" dirty="0" err="1">
                <a:solidFill>
                  <a:srgbClr val="FFFFFF"/>
                </a:solidFill>
                <a:latin typeface="DM Sans"/>
              </a:rPr>
              <a:t>CrossRef</a:t>
            </a:r>
            <a:r>
              <a:rPr lang="en-AU" sz="2500" b="1" spc="-49" dirty="0">
                <a:solidFill>
                  <a:srgbClr val="FFFFFF"/>
                </a:solidFill>
                <a:latin typeface="DM Sans"/>
              </a:rPr>
              <a:t> for DOI resolution, Elsevier and Scopus for paywalled journals</a:t>
            </a:r>
          </a:p>
          <a:p>
            <a:pPr marL="1257300" lvl="2" indent="-342900">
              <a:buFont typeface="Arial" panose="020B0604020202020204" pitchFamily="34" charset="0"/>
              <a:buChar char="•"/>
            </a:pPr>
            <a:endParaRPr lang="en-AU" sz="2500" b="1" spc="-49" dirty="0">
              <a:solidFill>
                <a:srgbClr val="FFFFFF"/>
              </a:solidFill>
              <a:latin typeface="DM Sans"/>
            </a:endParaRPr>
          </a:p>
          <a:p>
            <a:pPr marL="1257300" lvl="2" indent="-342900">
              <a:buFont typeface="Arial" panose="020B0604020202020204" pitchFamily="34" charset="0"/>
              <a:buChar char="•"/>
            </a:pPr>
            <a:r>
              <a:rPr lang="en-AU" sz="2500" b="1" spc="-49" dirty="0">
                <a:solidFill>
                  <a:srgbClr val="FFFFFF"/>
                </a:solidFill>
                <a:latin typeface="DM Sans"/>
              </a:rPr>
              <a:t>Presents the full query set alongside the research plan to the researcher before the API calls</a:t>
            </a:r>
          </a:p>
          <a:p>
            <a:pPr marL="1257300" lvl="2" indent="-342900">
              <a:buFont typeface="Arial" panose="020B0604020202020204" pitchFamily="34" charset="0"/>
              <a:buChar char="•"/>
            </a:pPr>
            <a:endParaRPr lang="en-AU" sz="2500" b="1" spc="-49" dirty="0">
              <a:solidFill>
                <a:srgbClr val="FFFFFF"/>
              </a:solidFill>
              <a:latin typeface="DM Sans"/>
            </a:endParaRPr>
          </a:p>
          <a:p>
            <a:pPr marL="1257300" lvl="2" indent="-342900">
              <a:buFont typeface="Arial" panose="020B0604020202020204" pitchFamily="34" charset="0"/>
              <a:buChar char="•"/>
            </a:pPr>
            <a:r>
              <a:rPr lang="en-AU" sz="2500" b="1" spc="-49" dirty="0">
                <a:solidFill>
                  <a:srgbClr val="FFFFFF"/>
                </a:solidFill>
                <a:latin typeface="DM Sans"/>
              </a:rPr>
              <a:t>The researcher can approve, annotate, or reject</a:t>
            </a:r>
          </a:p>
          <a:p>
            <a:pPr marL="1714500" lvl="3" indent="-342900">
              <a:buFont typeface="Arial" panose="020B0604020202020204" pitchFamily="34" charset="0"/>
              <a:buChar char="•"/>
            </a:pPr>
            <a:r>
              <a:rPr lang="en-AU" sz="2500" b="1" spc="-49" dirty="0">
                <a:solidFill>
                  <a:srgbClr val="FFFFFF"/>
                </a:solidFill>
                <a:latin typeface="DM Sans"/>
              </a:rPr>
              <a:t>rejected queries loop back for refinement with the researcher's notes attached</a:t>
            </a:r>
          </a:p>
          <a:p>
            <a:pPr lvl="1"/>
            <a:br>
              <a:rPr lang="en-AU" sz="2500" b="1" spc="-49" dirty="0">
                <a:solidFill>
                  <a:srgbClr val="FFFFFF"/>
                </a:solidFill>
                <a:latin typeface="DM Sans"/>
              </a:rPr>
            </a:br>
            <a:endParaRPr lang="en-AU" sz="2500" b="1" spc="-49" dirty="0">
              <a:solidFill>
                <a:srgbClr val="FFFFFF"/>
              </a:solidFill>
              <a:latin typeface="DM Sans"/>
            </a:endParaRPr>
          </a:p>
          <a:p>
            <a:pPr marL="2171700" lvl="4" indent="-342900">
              <a:lnSpc>
                <a:spcPts val="3422"/>
              </a:lnSpc>
              <a:buFont typeface="Arial" panose="020B0604020202020204" pitchFamily="34" charset="0"/>
              <a:buChar char="•"/>
            </a:pPr>
            <a:endParaRPr lang="en-AU" sz="2500" b="1" spc="-49" dirty="0">
              <a:solidFill>
                <a:srgbClr val="FFFFFF"/>
              </a:solidFill>
              <a:latin typeface="DM Sans"/>
            </a:endParaRPr>
          </a:p>
          <a:p>
            <a:pPr>
              <a:lnSpc>
                <a:spcPts val="3284"/>
              </a:lnSpc>
            </a:pPr>
            <a:endParaRPr lang="en-US" sz="2500" spc="-49" dirty="0">
              <a:solidFill>
                <a:srgbClr val="FFFFFF"/>
              </a:solidFill>
              <a:latin typeface="DM Sans"/>
            </a:endParaRPr>
          </a:p>
        </p:txBody>
      </p:sp>
    </p:spTree>
    <p:extLst>
      <p:ext uri="{BB962C8B-B14F-4D97-AF65-F5344CB8AC3E}">
        <p14:creationId xmlns:p14="http://schemas.microsoft.com/office/powerpoint/2010/main" val="368453347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D6C8F403-C0D8-926F-711E-9F90E2FDC263}"/>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803F4447-867F-A9BB-9826-EECECA99FD55}"/>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2"/>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Freeform 6">
            <a:extLst>
              <a:ext uri="{FF2B5EF4-FFF2-40B4-BE49-F238E27FC236}">
                <a16:creationId xmlns:a16="http://schemas.microsoft.com/office/drawing/2014/main" id="{110A95AC-58F6-4BF3-AFC7-C958FE843D5F}"/>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2"/>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pic>
        <p:nvPicPr>
          <p:cNvPr id="4" name="Picture 3">
            <a:extLst>
              <a:ext uri="{FF2B5EF4-FFF2-40B4-BE49-F238E27FC236}">
                <a16:creationId xmlns:a16="http://schemas.microsoft.com/office/drawing/2014/main" id="{53C3965E-C109-9008-2B46-062E6712040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968536" y="114300"/>
            <a:ext cx="4130364" cy="10058400"/>
          </a:xfrm>
          <a:prstGeom prst="rect">
            <a:avLst/>
          </a:prstGeom>
        </p:spPr>
      </p:pic>
      <p:sp>
        <p:nvSpPr>
          <p:cNvPr id="7" name="TextBox 6">
            <a:extLst>
              <a:ext uri="{FF2B5EF4-FFF2-40B4-BE49-F238E27FC236}">
                <a16:creationId xmlns:a16="http://schemas.microsoft.com/office/drawing/2014/main" id="{39C04C1C-D235-377A-30E9-6D736C879309}"/>
              </a:ext>
            </a:extLst>
          </p:cNvPr>
          <p:cNvSpPr txBox="1"/>
          <p:nvPr/>
        </p:nvSpPr>
        <p:spPr>
          <a:xfrm>
            <a:off x="214104" y="2150534"/>
            <a:ext cx="12601400" cy="7000571"/>
          </a:xfrm>
          <a:prstGeom prst="rect">
            <a:avLst/>
          </a:prstGeom>
        </p:spPr>
        <p:txBody>
          <a:bodyPr wrap="square" lIns="0" tIns="0" rIns="0" bIns="0" rtlCol="0" anchor="t">
            <a:spAutoFit/>
          </a:bodyPr>
          <a:lstStyle/>
          <a:p>
            <a:pPr marL="800100" lvl="1" indent="-342900">
              <a:buFont typeface="Arial" panose="020B0604020202020204" pitchFamily="34" charset="0"/>
              <a:buChar char="•"/>
            </a:pPr>
            <a:r>
              <a:rPr lang="en-AU" sz="2500" b="1" spc="-49" dirty="0">
                <a:solidFill>
                  <a:srgbClr val="FFFFFF"/>
                </a:solidFill>
                <a:latin typeface="DM Sans"/>
              </a:rPr>
              <a:t>Fetcher and RAG </a:t>
            </a:r>
            <a:r>
              <a:rPr lang="en-AU" sz="2500" b="1" spc="-49" dirty="0" err="1">
                <a:solidFill>
                  <a:srgbClr val="FFFFFF"/>
                </a:solidFill>
                <a:latin typeface="DM Sans"/>
              </a:rPr>
              <a:t>Ingestor</a:t>
            </a:r>
            <a:endParaRPr lang="en-AU" sz="2500" b="1" spc="-49" dirty="0">
              <a:solidFill>
                <a:srgbClr val="FFFFFF"/>
              </a:solidFill>
              <a:latin typeface="DM Sans"/>
            </a:endParaRPr>
          </a:p>
          <a:p>
            <a:pPr marL="800100" lvl="1" indent="-342900">
              <a:buFont typeface="Arial" panose="020B0604020202020204" pitchFamily="34" charset="0"/>
              <a:buChar char="•"/>
            </a:pPr>
            <a:endParaRPr lang="en-AU" sz="2500" b="1" spc="-49" dirty="0">
              <a:solidFill>
                <a:srgbClr val="FFFFFF"/>
              </a:solidFill>
              <a:latin typeface="DM Sans"/>
            </a:endParaRPr>
          </a:p>
          <a:p>
            <a:pPr marL="1257300" lvl="2" indent="-342900">
              <a:buFont typeface="Arial" panose="020B0604020202020204" pitchFamily="34" charset="0"/>
              <a:buChar char="•"/>
            </a:pPr>
            <a:r>
              <a:rPr lang="en-AU" sz="2500" b="1" spc="-49" dirty="0">
                <a:solidFill>
                  <a:srgbClr val="FFFFFF"/>
                </a:solidFill>
                <a:latin typeface="DM Sans"/>
              </a:rPr>
              <a:t>Sends the approved queries to the external APIs and downloads full-text papers and metadata</a:t>
            </a:r>
          </a:p>
          <a:p>
            <a:pPr marL="1257300" lvl="2" indent="-342900">
              <a:buFont typeface="Arial" panose="020B0604020202020204" pitchFamily="34" charset="0"/>
              <a:buChar char="•"/>
            </a:pPr>
            <a:endParaRPr lang="en-AU" sz="2500" b="1" spc="-49" dirty="0">
              <a:solidFill>
                <a:srgbClr val="FFFFFF"/>
              </a:solidFill>
              <a:latin typeface="DM Sans"/>
            </a:endParaRPr>
          </a:p>
          <a:p>
            <a:pPr marL="1714500" lvl="3" indent="-342900">
              <a:buFont typeface="Arial" panose="020B0604020202020204" pitchFamily="34" charset="0"/>
              <a:buChar char="•"/>
            </a:pPr>
            <a:r>
              <a:rPr lang="en-AU" sz="2500" b="1" spc="-49" dirty="0">
                <a:solidFill>
                  <a:srgbClr val="FFFFFF"/>
                </a:solidFill>
                <a:latin typeface="DM Sans"/>
              </a:rPr>
              <a:t>If the download fails tells user for manual intervention </a:t>
            </a:r>
          </a:p>
          <a:p>
            <a:pPr marL="1257300" lvl="2" indent="-342900">
              <a:buFont typeface="Arial" panose="020B0604020202020204" pitchFamily="34" charset="0"/>
              <a:buChar char="•"/>
            </a:pPr>
            <a:endParaRPr lang="en-AU" sz="2500" b="1" spc="-49" dirty="0">
              <a:solidFill>
                <a:srgbClr val="FFFFFF"/>
              </a:solidFill>
              <a:latin typeface="DM Sans"/>
            </a:endParaRPr>
          </a:p>
          <a:p>
            <a:pPr marL="1257300" lvl="2" indent="-342900">
              <a:buFont typeface="Arial" panose="020B0604020202020204" pitchFamily="34" charset="0"/>
              <a:buChar char="•"/>
            </a:pPr>
            <a:r>
              <a:rPr lang="en-AU" sz="2500" b="1" spc="-49" dirty="0">
                <a:solidFill>
                  <a:srgbClr val="FFFFFF"/>
                </a:solidFill>
                <a:latin typeface="DM Sans"/>
              </a:rPr>
              <a:t>Chunks each paper into smaller passages</a:t>
            </a:r>
          </a:p>
          <a:p>
            <a:pPr marL="1257300" lvl="2" indent="-342900">
              <a:buFont typeface="Arial" panose="020B0604020202020204" pitchFamily="34" charset="0"/>
              <a:buChar char="•"/>
            </a:pPr>
            <a:endParaRPr lang="en-AU" sz="2500" b="1" spc="-49" dirty="0">
              <a:solidFill>
                <a:srgbClr val="FFFFFF"/>
              </a:solidFill>
              <a:latin typeface="DM Sans"/>
            </a:endParaRPr>
          </a:p>
          <a:p>
            <a:pPr marL="1257300" lvl="2" indent="-342900">
              <a:buFont typeface="Arial" panose="020B0604020202020204" pitchFamily="34" charset="0"/>
              <a:buChar char="•"/>
            </a:pPr>
            <a:r>
              <a:rPr lang="en-AU" sz="2500" b="1" spc="-49" dirty="0">
                <a:solidFill>
                  <a:srgbClr val="FFFFFF"/>
                </a:solidFill>
                <a:latin typeface="DM Sans"/>
              </a:rPr>
              <a:t>Embeds every chunk into a vector representation, capturing semantic meaning</a:t>
            </a:r>
          </a:p>
          <a:p>
            <a:pPr marL="1257300" lvl="2" indent="-342900">
              <a:buFont typeface="Arial" panose="020B0604020202020204" pitchFamily="34" charset="0"/>
              <a:buChar char="•"/>
            </a:pPr>
            <a:endParaRPr lang="en-AU" sz="2500" b="1" spc="-49" dirty="0">
              <a:solidFill>
                <a:srgbClr val="FFFFFF"/>
              </a:solidFill>
              <a:latin typeface="DM Sans"/>
            </a:endParaRPr>
          </a:p>
          <a:p>
            <a:pPr marL="1257300" lvl="2" indent="-342900">
              <a:buFont typeface="Arial" panose="020B0604020202020204" pitchFamily="34" charset="0"/>
              <a:buChar char="•"/>
            </a:pPr>
            <a:r>
              <a:rPr lang="en-AU" sz="2500" b="1" spc="-49" dirty="0">
                <a:solidFill>
                  <a:srgbClr val="FFFFFF"/>
                </a:solidFill>
                <a:latin typeface="DM Sans"/>
              </a:rPr>
              <a:t>Stores all embeddings in a vector database </a:t>
            </a:r>
          </a:p>
          <a:p>
            <a:pPr marL="1257300" lvl="2" indent="-342900">
              <a:buFont typeface="Arial" panose="020B0604020202020204" pitchFamily="34" charset="0"/>
              <a:buChar char="•"/>
            </a:pPr>
            <a:endParaRPr lang="en-AU" sz="2500" b="1" spc="-49" dirty="0">
              <a:solidFill>
                <a:srgbClr val="FFFFFF"/>
              </a:solidFill>
              <a:latin typeface="DM Sans"/>
            </a:endParaRPr>
          </a:p>
          <a:p>
            <a:pPr marL="1257300" lvl="2" indent="-342900">
              <a:buFont typeface="Arial" panose="020B0604020202020204" pitchFamily="34" charset="0"/>
              <a:buChar char="•"/>
            </a:pPr>
            <a:r>
              <a:rPr lang="en-AU" sz="2500" b="1" spc="-49" dirty="0">
                <a:solidFill>
                  <a:srgbClr val="FFFFFF"/>
                </a:solidFill>
                <a:latin typeface="DM Sans"/>
              </a:rPr>
              <a:t>Enables the system to find a relevant passage even when the paper uses different terminology than the original query</a:t>
            </a:r>
          </a:p>
          <a:p>
            <a:pPr marL="2171700" lvl="4" indent="-342900">
              <a:lnSpc>
                <a:spcPts val="3422"/>
              </a:lnSpc>
              <a:buFont typeface="Arial" panose="020B0604020202020204" pitchFamily="34" charset="0"/>
              <a:buChar char="•"/>
            </a:pPr>
            <a:endParaRPr lang="en-AU" sz="2500" b="1" spc="-49" dirty="0">
              <a:solidFill>
                <a:srgbClr val="FFFFFF"/>
              </a:solidFill>
              <a:latin typeface="DM Sans"/>
            </a:endParaRPr>
          </a:p>
          <a:p>
            <a:pPr>
              <a:lnSpc>
                <a:spcPts val="3284"/>
              </a:lnSpc>
            </a:pPr>
            <a:endParaRPr lang="en-US" sz="2500" spc="-49" dirty="0">
              <a:solidFill>
                <a:srgbClr val="FFFFFF"/>
              </a:solidFill>
              <a:latin typeface="DM Sans"/>
            </a:endParaRPr>
          </a:p>
        </p:txBody>
      </p:sp>
    </p:spTree>
    <p:extLst>
      <p:ext uri="{BB962C8B-B14F-4D97-AF65-F5344CB8AC3E}">
        <p14:creationId xmlns:p14="http://schemas.microsoft.com/office/powerpoint/2010/main" val="244569029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EB0A72FF-8E83-26D9-F709-669F6870992E}"/>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1166B95-70FE-E3F8-41D1-AAAA137BC759}"/>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Freeform 6">
            <a:extLst>
              <a:ext uri="{FF2B5EF4-FFF2-40B4-BE49-F238E27FC236}">
                <a16:creationId xmlns:a16="http://schemas.microsoft.com/office/drawing/2014/main" id="{DE4F7EA5-54CD-C352-55E2-70FA1FCAC7B4}"/>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pic>
        <p:nvPicPr>
          <p:cNvPr id="3" name="Picture 2">
            <a:extLst>
              <a:ext uri="{FF2B5EF4-FFF2-40B4-BE49-F238E27FC236}">
                <a16:creationId xmlns:a16="http://schemas.microsoft.com/office/drawing/2014/main" id="{CDC53807-49BD-AFF7-3D77-6F4506D10B11}"/>
              </a:ext>
            </a:extLst>
          </p:cNvPr>
          <p:cNvPicPr>
            <a:picLocks noChangeAspect="1"/>
          </p:cNvPicPr>
          <p:nvPr/>
        </p:nvPicPr>
        <p:blipFill>
          <a:blip r:embed="rId4"/>
          <a:stretch>
            <a:fillRect/>
          </a:stretch>
        </p:blipFill>
        <p:spPr>
          <a:xfrm>
            <a:off x="12312352" y="114300"/>
            <a:ext cx="5437511" cy="10058400"/>
          </a:xfrm>
          <a:prstGeom prst="rect">
            <a:avLst/>
          </a:prstGeom>
        </p:spPr>
      </p:pic>
      <p:sp>
        <p:nvSpPr>
          <p:cNvPr id="5" name="TextBox 4">
            <a:extLst>
              <a:ext uri="{FF2B5EF4-FFF2-40B4-BE49-F238E27FC236}">
                <a16:creationId xmlns:a16="http://schemas.microsoft.com/office/drawing/2014/main" id="{D7B88B30-67FF-F56C-EE95-B7D461916582}"/>
              </a:ext>
            </a:extLst>
          </p:cNvPr>
          <p:cNvSpPr txBox="1"/>
          <p:nvPr/>
        </p:nvSpPr>
        <p:spPr>
          <a:xfrm>
            <a:off x="287016" y="1791368"/>
            <a:ext cx="11704020" cy="8924174"/>
          </a:xfrm>
          <a:prstGeom prst="rect">
            <a:avLst/>
          </a:prstGeom>
        </p:spPr>
        <p:txBody>
          <a:bodyPr wrap="square" lIns="0" tIns="0" rIns="0" bIns="0" rtlCol="0" anchor="t">
            <a:spAutoFit/>
          </a:bodyPr>
          <a:lstStyle/>
          <a:p>
            <a:pPr marL="800100" lvl="1" indent="-342900">
              <a:buFont typeface="Arial" panose="020B0604020202020204" pitchFamily="34" charset="0"/>
              <a:buChar char="•"/>
            </a:pPr>
            <a:r>
              <a:rPr lang="en-AU" sz="2500" b="1" spc="-49" dirty="0">
                <a:solidFill>
                  <a:srgbClr val="FFFFFF"/>
                </a:solidFill>
                <a:latin typeface="DM Sans"/>
              </a:rPr>
              <a:t>Citation Agent</a:t>
            </a:r>
          </a:p>
          <a:p>
            <a:pPr marL="800100" lvl="1" indent="-342900">
              <a:buFont typeface="Arial" panose="020B0604020202020204" pitchFamily="34" charset="0"/>
              <a:buChar char="•"/>
            </a:pPr>
            <a:endParaRPr lang="en-AU" sz="2500" b="1" spc="-49" dirty="0">
              <a:solidFill>
                <a:srgbClr val="FFFFFF"/>
              </a:solidFill>
              <a:latin typeface="DM Sans"/>
            </a:endParaRPr>
          </a:p>
          <a:p>
            <a:pPr marL="1257300" lvl="2" indent="-342900">
              <a:buFont typeface="Arial" panose="020B0604020202020204" pitchFamily="34" charset="0"/>
              <a:buChar char="•"/>
            </a:pPr>
            <a:r>
              <a:rPr lang="en-AU" sz="2500" b="1" spc="-49" dirty="0">
                <a:solidFill>
                  <a:srgbClr val="FFFFFF"/>
                </a:solidFill>
                <a:latin typeface="DM Sans"/>
              </a:rPr>
              <a:t>Works through the uploaded document section by section, keeping the research plan in context at all times</a:t>
            </a:r>
          </a:p>
          <a:p>
            <a:pPr marL="1257300" lvl="2" indent="-342900">
              <a:buFont typeface="Arial" panose="020B0604020202020204" pitchFamily="34" charset="0"/>
              <a:buChar char="•"/>
            </a:pPr>
            <a:endParaRPr lang="en-AU" sz="2500" b="1" spc="-49" dirty="0">
              <a:solidFill>
                <a:srgbClr val="FFFFFF"/>
              </a:solidFill>
              <a:latin typeface="DM Sans"/>
            </a:endParaRPr>
          </a:p>
          <a:p>
            <a:pPr marL="1257300" lvl="2" indent="-342900">
              <a:buFont typeface="Arial" panose="020B0604020202020204" pitchFamily="34" charset="0"/>
              <a:buChar char="•"/>
            </a:pPr>
            <a:r>
              <a:rPr lang="en-AU" sz="2500" b="1" spc="-49" dirty="0">
                <a:solidFill>
                  <a:srgbClr val="FFFFFF"/>
                </a:solidFill>
                <a:latin typeface="DM Sans"/>
              </a:rPr>
              <a:t>For each section, builds targeted retrieval queries based on the specific claims and arguments present</a:t>
            </a:r>
          </a:p>
          <a:p>
            <a:pPr marL="1257300" lvl="2" indent="-342900">
              <a:buFont typeface="Arial" panose="020B0604020202020204" pitchFamily="34" charset="0"/>
              <a:buChar char="•"/>
            </a:pPr>
            <a:endParaRPr lang="en-AU" sz="2500" b="1" spc="-49" dirty="0">
              <a:solidFill>
                <a:srgbClr val="FFFFFF"/>
              </a:solidFill>
              <a:latin typeface="DM Sans"/>
            </a:endParaRPr>
          </a:p>
          <a:p>
            <a:pPr marL="1257300" lvl="2" indent="-342900">
              <a:buFont typeface="Arial" panose="020B0604020202020204" pitchFamily="34" charset="0"/>
              <a:buChar char="•"/>
            </a:pPr>
            <a:r>
              <a:rPr lang="en-AU" sz="2500" b="1" spc="-49" dirty="0">
                <a:solidFill>
                  <a:srgbClr val="FFFFFF"/>
                </a:solidFill>
                <a:latin typeface="DM Sans"/>
              </a:rPr>
              <a:t>Searches the vector index and retrieves the semantically relevant passages from the downloaded literature</a:t>
            </a:r>
          </a:p>
          <a:p>
            <a:pPr marL="1257300" lvl="2" indent="-342900">
              <a:buFont typeface="Arial" panose="020B0604020202020204" pitchFamily="34" charset="0"/>
              <a:buChar char="•"/>
            </a:pPr>
            <a:endParaRPr lang="en-AU" sz="2500" b="1" spc="-49" dirty="0">
              <a:solidFill>
                <a:srgbClr val="FFFFFF"/>
              </a:solidFill>
              <a:latin typeface="DM Sans"/>
            </a:endParaRPr>
          </a:p>
          <a:p>
            <a:pPr marL="1257300" lvl="2" indent="-342900">
              <a:buFont typeface="Arial" panose="020B0604020202020204" pitchFamily="34" charset="0"/>
              <a:buChar char="•"/>
            </a:pPr>
            <a:r>
              <a:rPr lang="en-AU" sz="2500" b="1" spc="-49" dirty="0">
                <a:solidFill>
                  <a:srgbClr val="FFFFFF"/>
                </a:solidFill>
                <a:latin typeface="DM Sans"/>
              </a:rPr>
              <a:t>If the first retrieval pass is insufficient, the agent refines its queries and searches again </a:t>
            </a:r>
          </a:p>
          <a:p>
            <a:pPr marL="1257300" lvl="2" indent="-342900">
              <a:buFont typeface="Arial" panose="020B0604020202020204" pitchFamily="34" charset="0"/>
              <a:buChar char="•"/>
            </a:pPr>
            <a:endParaRPr lang="en-AU" sz="2500" b="1" spc="-49" dirty="0">
              <a:solidFill>
                <a:srgbClr val="FFFFFF"/>
              </a:solidFill>
              <a:latin typeface="DM Sans"/>
            </a:endParaRPr>
          </a:p>
          <a:p>
            <a:pPr marL="1257300" lvl="2" indent="-342900">
              <a:buFont typeface="Arial" panose="020B0604020202020204" pitchFamily="34" charset="0"/>
              <a:buChar char="•"/>
            </a:pPr>
            <a:r>
              <a:rPr lang="en-AU" sz="2500" b="1" spc="-49" dirty="0">
                <a:solidFill>
                  <a:srgbClr val="FFFFFF"/>
                </a:solidFill>
                <a:latin typeface="DM Sans"/>
              </a:rPr>
              <a:t>Filters and ranks all candidates by relevance, recency, and credibility before passing them forward</a:t>
            </a:r>
          </a:p>
          <a:p>
            <a:pPr marL="1257300" lvl="2" indent="-342900">
              <a:buFont typeface="Arial" panose="020B0604020202020204" pitchFamily="34" charset="0"/>
              <a:buChar char="•"/>
            </a:pPr>
            <a:endParaRPr lang="en-AU" sz="2500" b="1" spc="-49" dirty="0">
              <a:solidFill>
                <a:srgbClr val="FFFFFF"/>
              </a:solidFill>
              <a:latin typeface="DM Sans"/>
            </a:endParaRPr>
          </a:p>
          <a:p>
            <a:pPr marL="1257300" lvl="2" indent="-342900">
              <a:buFont typeface="Arial" panose="020B0604020202020204" pitchFamily="34" charset="0"/>
              <a:buChar char="•"/>
            </a:pPr>
            <a:r>
              <a:rPr lang="en-AU" sz="2500" b="1" spc="-49" dirty="0">
                <a:solidFill>
                  <a:srgbClr val="FFFFFF"/>
                </a:solidFill>
                <a:latin typeface="DM Sans"/>
              </a:rPr>
              <a:t>Separates the retrieval work from the formatting work </a:t>
            </a:r>
          </a:p>
          <a:p>
            <a:pPr marL="1714500" lvl="3" indent="-342900">
              <a:buFont typeface="Arial" panose="020B0604020202020204" pitchFamily="34" charset="0"/>
              <a:buChar char="•"/>
            </a:pPr>
            <a:r>
              <a:rPr lang="en-AU" sz="2500" b="1" spc="-49" dirty="0">
                <a:solidFill>
                  <a:srgbClr val="FFFFFF"/>
                </a:solidFill>
                <a:latin typeface="DM Sans"/>
              </a:rPr>
              <a:t>its only job is to find the right evidence</a:t>
            </a:r>
          </a:p>
          <a:p>
            <a:pPr lvl="2"/>
            <a:br>
              <a:rPr lang="en-AU" sz="2500" b="1" spc="-49" dirty="0">
                <a:solidFill>
                  <a:srgbClr val="FFFFFF"/>
                </a:solidFill>
                <a:latin typeface="DM Sans"/>
              </a:rPr>
            </a:br>
            <a:endParaRPr lang="en-AU" sz="2500" b="1" spc="-49" dirty="0">
              <a:solidFill>
                <a:srgbClr val="FFFFFF"/>
              </a:solidFill>
              <a:latin typeface="DM Sans"/>
            </a:endParaRPr>
          </a:p>
          <a:p>
            <a:pPr marL="2171700" lvl="4" indent="-342900">
              <a:lnSpc>
                <a:spcPts val="3422"/>
              </a:lnSpc>
              <a:buFont typeface="Arial" panose="020B0604020202020204" pitchFamily="34" charset="0"/>
              <a:buChar char="•"/>
            </a:pPr>
            <a:endParaRPr lang="en-AU" sz="2500" b="1" spc="-49" dirty="0">
              <a:solidFill>
                <a:srgbClr val="FFFFFF"/>
              </a:solidFill>
              <a:latin typeface="DM Sans"/>
            </a:endParaRPr>
          </a:p>
          <a:p>
            <a:pPr marL="342900" indent="-342900">
              <a:lnSpc>
                <a:spcPts val="3284"/>
              </a:lnSpc>
              <a:buFont typeface="Arial" panose="020B0604020202020204" pitchFamily="34" charset="0"/>
              <a:buChar char="•"/>
            </a:pPr>
            <a:endParaRPr lang="en-US" sz="2500" spc="-49" dirty="0">
              <a:solidFill>
                <a:srgbClr val="FFFFFF"/>
              </a:solidFill>
              <a:latin typeface="DM Sans"/>
            </a:endParaRPr>
          </a:p>
        </p:txBody>
      </p:sp>
    </p:spTree>
    <p:extLst>
      <p:ext uri="{BB962C8B-B14F-4D97-AF65-F5344CB8AC3E}">
        <p14:creationId xmlns:p14="http://schemas.microsoft.com/office/powerpoint/2010/main" val="294963731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C2AAB285-710E-58BF-BA75-5261A07F37BE}"/>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302AB41E-4679-E97B-D46C-B317C1136C44}"/>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2"/>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Freeform 6">
            <a:extLst>
              <a:ext uri="{FF2B5EF4-FFF2-40B4-BE49-F238E27FC236}">
                <a16:creationId xmlns:a16="http://schemas.microsoft.com/office/drawing/2014/main" id="{CA64B2B0-922B-869B-48C3-B24508BA4D4A}"/>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2"/>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pic>
        <p:nvPicPr>
          <p:cNvPr id="5" name="Picture 4">
            <a:extLst>
              <a:ext uri="{FF2B5EF4-FFF2-40B4-BE49-F238E27FC236}">
                <a16:creationId xmlns:a16="http://schemas.microsoft.com/office/drawing/2014/main" id="{3E94B32A-C4F4-898E-7C34-BC2BD4BAE9B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944200" y="114300"/>
            <a:ext cx="6214036" cy="10058400"/>
          </a:xfrm>
          <a:prstGeom prst="rect">
            <a:avLst/>
          </a:prstGeom>
        </p:spPr>
      </p:pic>
      <p:sp>
        <p:nvSpPr>
          <p:cNvPr id="7" name="TextBox 6">
            <a:extLst>
              <a:ext uri="{FF2B5EF4-FFF2-40B4-BE49-F238E27FC236}">
                <a16:creationId xmlns:a16="http://schemas.microsoft.com/office/drawing/2014/main" id="{DE35685F-730B-341D-5557-D743970F10D5}"/>
              </a:ext>
            </a:extLst>
          </p:cNvPr>
          <p:cNvSpPr txBox="1"/>
          <p:nvPr/>
        </p:nvSpPr>
        <p:spPr>
          <a:xfrm>
            <a:off x="424840" y="892973"/>
            <a:ext cx="9347614" cy="10463057"/>
          </a:xfrm>
          <a:prstGeom prst="rect">
            <a:avLst/>
          </a:prstGeom>
        </p:spPr>
        <p:txBody>
          <a:bodyPr wrap="square" lIns="0" tIns="0" rIns="0" bIns="0" rtlCol="0" anchor="t">
            <a:spAutoFit/>
          </a:bodyPr>
          <a:lstStyle/>
          <a:p>
            <a:pPr marL="800100" lvl="1" indent="-342900">
              <a:buFont typeface="Arial" panose="020B0604020202020204" pitchFamily="34" charset="0"/>
              <a:buChar char="•"/>
            </a:pPr>
            <a:r>
              <a:rPr lang="en-AU" sz="2500" b="1" spc="-49" dirty="0">
                <a:solidFill>
                  <a:srgbClr val="FFFFFF"/>
                </a:solidFill>
                <a:latin typeface="DM Sans"/>
              </a:rPr>
              <a:t> Citation Engine and Document Agent</a:t>
            </a:r>
          </a:p>
          <a:p>
            <a:pPr marL="1257300" lvl="2" indent="-342900">
              <a:buFont typeface="Arial" panose="020B0604020202020204" pitchFamily="34" charset="0"/>
              <a:buChar char="•"/>
            </a:pPr>
            <a:r>
              <a:rPr lang="en-AU" sz="2500" b="1" spc="-49" dirty="0">
                <a:solidFill>
                  <a:srgbClr val="FFFFFF"/>
                </a:solidFill>
                <a:latin typeface="DM Sans"/>
              </a:rPr>
              <a:t>The Citation Engine receives ranked evidence and formats every reference in the required citation style: APA, MLA, Chicago, or Vancouver</a:t>
            </a:r>
          </a:p>
          <a:p>
            <a:pPr marL="1257300" lvl="2" indent="-342900">
              <a:buFont typeface="Arial" panose="020B0604020202020204" pitchFamily="34" charset="0"/>
              <a:buChar char="•"/>
            </a:pPr>
            <a:endParaRPr lang="en-AU" sz="2500" b="1" spc="-49" dirty="0">
              <a:solidFill>
                <a:srgbClr val="FFFFFF"/>
              </a:solidFill>
              <a:latin typeface="DM Sans"/>
            </a:endParaRPr>
          </a:p>
          <a:p>
            <a:pPr marL="1257300" lvl="2" indent="-342900">
              <a:buFont typeface="Arial" panose="020B0604020202020204" pitchFamily="34" charset="0"/>
              <a:buChar char="•"/>
            </a:pPr>
            <a:r>
              <a:rPr lang="en-AU" sz="2500" b="1" spc="-49" dirty="0">
                <a:solidFill>
                  <a:srgbClr val="FFFFFF"/>
                </a:solidFill>
                <a:latin typeface="DM Sans"/>
              </a:rPr>
              <a:t>Builds a citation table showing the reference, the exact passage used as evidence, the explanation of why it supports the claim, and the location in the document where it belongs</a:t>
            </a:r>
          </a:p>
          <a:p>
            <a:pPr marL="1257300" lvl="2" indent="-342900">
              <a:buFont typeface="Arial" panose="020B0604020202020204" pitchFamily="34" charset="0"/>
              <a:buChar char="•"/>
            </a:pPr>
            <a:endParaRPr lang="en-AU" sz="2500" b="1" spc="-49" dirty="0">
              <a:solidFill>
                <a:srgbClr val="FFFFFF"/>
              </a:solidFill>
              <a:latin typeface="DM Sans"/>
            </a:endParaRPr>
          </a:p>
          <a:p>
            <a:pPr marL="1257300" lvl="2" indent="-342900">
              <a:buFont typeface="Arial" panose="020B0604020202020204" pitchFamily="34" charset="0"/>
              <a:buChar char="•"/>
            </a:pPr>
            <a:r>
              <a:rPr lang="en-AU" sz="2500" b="1" spc="-49" dirty="0">
                <a:solidFill>
                  <a:srgbClr val="FFFFFF"/>
                </a:solidFill>
                <a:latin typeface="DM Sans"/>
              </a:rPr>
              <a:t>The researcher reviews the full citation table before anything is written into the document  </a:t>
            </a:r>
          </a:p>
          <a:p>
            <a:pPr marL="1257300" lvl="2" indent="-342900">
              <a:buFont typeface="Arial" panose="020B0604020202020204" pitchFamily="34" charset="0"/>
              <a:buChar char="•"/>
            </a:pPr>
            <a:endParaRPr lang="en-AU" sz="2500" b="1" spc="-49" dirty="0">
              <a:solidFill>
                <a:srgbClr val="FFFFFF"/>
              </a:solidFill>
              <a:latin typeface="DM Sans"/>
            </a:endParaRPr>
          </a:p>
          <a:p>
            <a:pPr marL="1257300" lvl="2" indent="-342900">
              <a:buFont typeface="Arial" panose="020B0604020202020204" pitchFamily="34" charset="0"/>
              <a:buChar char="•"/>
            </a:pPr>
            <a:r>
              <a:rPr lang="en-AU" sz="2500" b="1" spc="-49" dirty="0">
                <a:solidFill>
                  <a:srgbClr val="FFFFFF"/>
                </a:solidFill>
                <a:latin typeface="DM Sans"/>
              </a:rPr>
              <a:t>If any citation needs revision, it loops back to the Citation Agent for re-retrieval rather than requiring manual intervention</a:t>
            </a:r>
          </a:p>
          <a:p>
            <a:pPr marL="1257300" lvl="2" indent="-342900">
              <a:buFont typeface="Arial" panose="020B0604020202020204" pitchFamily="34" charset="0"/>
              <a:buChar char="•"/>
            </a:pPr>
            <a:endParaRPr lang="en-AU" sz="2500" b="1" spc="-49" dirty="0">
              <a:solidFill>
                <a:srgbClr val="FFFFFF"/>
              </a:solidFill>
              <a:latin typeface="DM Sans"/>
            </a:endParaRPr>
          </a:p>
          <a:p>
            <a:pPr marL="1257300" lvl="2" indent="-342900">
              <a:buFont typeface="Arial" panose="020B0604020202020204" pitchFamily="34" charset="0"/>
              <a:buChar char="•"/>
            </a:pPr>
            <a:r>
              <a:rPr lang="en-AU" sz="2500" b="1" spc="-49" dirty="0">
                <a:solidFill>
                  <a:srgbClr val="FFFFFF"/>
                </a:solidFill>
                <a:latin typeface="DM Sans"/>
              </a:rPr>
              <a:t>Once approved, the Document Agent inserts every inline citation at the precise location identified and appends a complete formatted reference list</a:t>
            </a:r>
          </a:p>
          <a:p>
            <a:pPr marL="1257300" lvl="2" indent="-342900">
              <a:buFont typeface="Arial" panose="020B0604020202020204" pitchFamily="34" charset="0"/>
              <a:buChar char="•"/>
            </a:pPr>
            <a:endParaRPr lang="en-AU" sz="2500" b="1" spc="-49" dirty="0">
              <a:solidFill>
                <a:srgbClr val="FFFFFF"/>
              </a:solidFill>
              <a:latin typeface="DM Sans"/>
            </a:endParaRPr>
          </a:p>
          <a:p>
            <a:pPr marL="1257300" lvl="2" indent="-342900">
              <a:buFont typeface="Arial" panose="020B0604020202020204" pitchFamily="34" charset="0"/>
              <a:buChar char="•"/>
            </a:pPr>
            <a:r>
              <a:rPr lang="en-AU" sz="2500" b="1" spc="-49" dirty="0">
                <a:solidFill>
                  <a:srgbClr val="FFFFFF"/>
                </a:solidFill>
                <a:latin typeface="DM Sans"/>
              </a:rPr>
              <a:t>The final output is a cited document ready to be reviewed.</a:t>
            </a:r>
          </a:p>
          <a:p>
            <a:pPr marL="1257300" lvl="2" indent="-342900">
              <a:buFont typeface="Arial" panose="020B0604020202020204" pitchFamily="34" charset="0"/>
              <a:buChar char="•"/>
            </a:pPr>
            <a:endParaRPr lang="en-AU" sz="2500" b="1" spc="-49" dirty="0">
              <a:solidFill>
                <a:srgbClr val="FFFFFF"/>
              </a:solidFill>
              <a:latin typeface="DM Sans"/>
            </a:endParaRPr>
          </a:p>
          <a:p>
            <a:pPr marL="1257300" lvl="2" indent="-342900">
              <a:buFont typeface="Arial" panose="020B0604020202020204" pitchFamily="34" charset="0"/>
              <a:buChar char="•"/>
            </a:pPr>
            <a:endParaRPr lang="en-AU" sz="2500" b="1" spc="-49" dirty="0">
              <a:solidFill>
                <a:srgbClr val="FFFFFF"/>
              </a:solidFill>
              <a:latin typeface="DM Sans"/>
            </a:endParaRPr>
          </a:p>
          <a:p>
            <a:pPr lvl="4">
              <a:lnSpc>
                <a:spcPts val="3422"/>
              </a:lnSpc>
            </a:pPr>
            <a:endParaRPr lang="en-AU" sz="2500" b="1" spc="-49" dirty="0">
              <a:solidFill>
                <a:srgbClr val="FFFFFF"/>
              </a:solidFill>
              <a:latin typeface="DM Sans"/>
            </a:endParaRPr>
          </a:p>
          <a:p>
            <a:pPr>
              <a:lnSpc>
                <a:spcPts val="3284"/>
              </a:lnSpc>
            </a:pPr>
            <a:endParaRPr lang="en-US" sz="2500" spc="-49" dirty="0">
              <a:solidFill>
                <a:srgbClr val="FFFFFF"/>
              </a:solidFill>
              <a:latin typeface="DM Sans"/>
            </a:endParaRPr>
          </a:p>
        </p:txBody>
      </p:sp>
    </p:spTree>
    <p:extLst>
      <p:ext uri="{BB962C8B-B14F-4D97-AF65-F5344CB8AC3E}">
        <p14:creationId xmlns:p14="http://schemas.microsoft.com/office/powerpoint/2010/main" val="186754363"/>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5BC0FB4A-520E-17F3-FBF3-48919E306134}"/>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02D2A493-439F-0DB7-78A5-10E37EA7CB99}"/>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2"/>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Freeform 6">
            <a:extLst>
              <a:ext uri="{FF2B5EF4-FFF2-40B4-BE49-F238E27FC236}">
                <a16:creationId xmlns:a16="http://schemas.microsoft.com/office/drawing/2014/main" id="{06D2B2A5-5ADD-C63F-4457-C79B3DA3048C}"/>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2"/>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sp>
        <p:nvSpPr>
          <p:cNvPr id="12" name="Title 1">
            <a:extLst>
              <a:ext uri="{FF2B5EF4-FFF2-40B4-BE49-F238E27FC236}">
                <a16:creationId xmlns:a16="http://schemas.microsoft.com/office/drawing/2014/main" id="{769A7B09-3693-4776-33C8-503D4AEDEE3D}"/>
              </a:ext>
            </a:extLst>
          </p:cNvPr>
          <p:cNvSpPr txBox="1">
            <a:spLocks/>
          </p:cNvSpPr>
          <p:nvPr/>
        </p:nvSpPr>
        <p:spPr>
          <a:xfrm>
            <a:off x="2159224" y="4393406"/>
            <a:ext cx="14658974" cy="1500188"/>
          </a:xfrm>
          <a:prstGeom prst="rect">
            <a:avLst/>
          </a:prstGeom>
        </p:spPr>
        <p:txBody>
          <a:bodyP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lang="en-AU" sz="6600" dirty="0">
                <a:solidFill>
                  <a:srgbClr val="0CC0DF"/>
                </a:solidFill>
                <a:latin typeface="Now Bold"/>
              </a:rPr>
              <a:t>OPEN-SOURCE AGENTS</a:t>
            </a:r>
            <a:endParaRPr kumimoji="0" lang="en-US" sz="6600" b="0" i="0" u="none" strike="noStrike" kern="1200" cap="none" spc="0" normalizeH="0" baseline="0" noProof="0" dirty="0">
              <a:ln>
                <a:noFill/>
              </a:ln>
              <a:solidFill>
                <a:srgbClr val="0CC0DF"/>
              </a:solidFill>
              <a:effectLst/>
              <a:uLnTx/>
              <a:uFillTx/>
              <a:latin typeface="Now Bold"/>
              <a:ea typeface="+mj-ea"/>
              <a:cs typeface="+mj-cs"/>
            </a:endParaRPr>
          </a:p>
        </p:txBody>
      </p:sp>
    </p:spTree>
    <p:extLst>
      <p:ext uri="{BB962C8B-B14F-4D97-AF65-F5344CB8AC3E}">
        <p14:creationId xmlns:p14="http://schemas.microsoft.com/office/powerpoint/2010/main" val="8053477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3ACB8A56-0A46-FB93-3C25-61E67A7E00EB}"/>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6CAF1450-7FEB-F551-23D6-8227D4F9F8EC}"/>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2"/>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Freeform 6">
            <a:extLst>
              <a:ext uri="{FF2B5EF4-FFF2-40B4-BE49-F238E27FC236}">
                <a16:creationId xmlns:a16="http://schemas.microsoft.com/office/drawing/2014/main" id="{EFE8A9C1-516A-3C66-5AC9-370B29C492B2}"/>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2"/>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sp>
        <p:nvSpPr>
          <p:cNvPr id="7" name="TextBox 6">
            <a:extLst>
              <a:ext uri="{FF2B5EF4-FFF2-40B4-BE49-F238E27FC236}">
                <a16:creationId xmlns:a16="http://schemas.microsoft.com/office/drawing/2014/main" id="{A16FD432-F128-39F3-2E55-0EB46D763E73}"/>
              </a:ext>
            </a:extLst>
          </p:cNvPr>
          <p:cNvSpPr txBox="1"/>
          <p:nvPr/>
        </p:nvSpPr>
        <p:spPr>
          <a:xfrm>
            <a:off x="935088" y="1391551"/>
            <a:ext cx="16849872" cy="8539454"/>
          </a:xfrm>
          <a:prstGeom prst="rect">
            <a:avLst/>
          </a:prstGeom>
        </p:spPr>
        <p:txBody>
          <a:bodyPr wrap="square" lIns="0" tIns="0" rIns="0" bIns="0" rtlCol="0" anchor="t">
            <a:spAutoFit/>
          </a:bodyPr>
          <a:lstStyle/>
          <a:p>
            <a:pPr marL="800100" lvl="1" indent="-342900">
              <a:buFont typeface="Arial" panose="020B0604020202020204" pitchFamily="34" charset="0"/>
              <a:buChar char="•"/>
            </a:pPr>
            <a:r>
              <a:rPr lang="en-AU" sz="2500" b="1" spc="-49" dirty="0">
                <a:solidFill>
                  <a:srgbClr val="FFFFFF"/>
                </a:solidFill>
                <a:latin typeface="DM Sans"/>
              </a:rPr>
              <a:t> Why use ready-made agents instead of building your own?</a:t>
            </a:r>
          </a:p>
          <a:p>
            <a:pPr marL="800100" lvl="1" indent="-342900">
              <a:buFont typeface="Arial" panose="020B0604020202020204" pitchFamily="34" charset="0"/>
              <a:buChar char="•"/>
            </a:pPr>
            <a:endParaRPr lang="en-AU" sz="2500" b="1" spc="-49" dirty="0">
              <a:solidFill>
                <a:srgbClr val="FFFFFF"/>
              </a:solidFill>
              <a:latin typeface="DM Sans"/>
            </a:endParaRPr>
          </a:p>
          <a:p>
            <a:pPr marL="1257300" lvl="2" indent="-342900">
              <a:buFont typeface="Arial" panose="020B0604020202020204" pitchFamily="34" charset="0"/>
              <a:buChar char="•"/>
            </a:pPr>
            <a:r>
              <a:rPr lang="en-AU" sz="2500" b="1" spc="-49" dirty="0">
                <a:solidFill>
                  <a:srgbClr val="FFFFFF"/>
                </a:solidFill>
                <a:latin typeface="DM Sans"/>
              </a:rPr>
              <a:t>In these systems, the agentic flow is already designed for you</a:t>
            </a:r>
          </a:p>
          <a:p>
            <a:pPr marL="1257300" lvl="2" indent="-342900">
              <a:buFont typeface="Arial" panose="020B0604020202020204" pitchFamily="34" charset="0"/>
              <a:buChar char="•"/>
            </a:pPr>
            <a:endParaRPr lang="en-AU" sz="2500" b="1" spc="-49" dirty="0">
              <a:solidFill>
                <a:srgbClr val="FFFFFF"/>
              </a:solidFill>
              <a:latin typeface="DM Sans"/>
            </a:endParaRPr>
          </a:p>
          <a:p>
            <a:pPr marL="1257300" lvl="2" indent="-342900">
              <a:buFont typeface="Arial" panose="020B0604020202020204" pitchFamily="34" charset="0"/>
              <a:buChar char="•"/>
            </a:pPr>
            <a:r>
              <a:rPr lang="en-AU" sz="2500" b="1" spc="-49" dirty="0">
                <a:solidFill>
                  <a:srgbClr val="FFFFFF"/>
                </a:solidFill>
                <a:latin typeface="DM Sans"/>
              </a:rPr>
              <a:t>Tool selection, memory management, task decomposition, and error recovery are built in</a:t>
            </a:r>
          </a:p>
          <a:p>
            <a:pPr marL="1257300" lvl="2" indent="-342900">
              <a:buFont typeface="Arial" panose="020B0604020202020204" pitchFamily="34" charset="0"/>
              <a:buChar char="•"/>
            </a:pPr>
            <a:endParaRPr lang="en-AU" sz="2500" b="1" spc="-49" dirty="0">
              <a:solidFill>
                <a:srgbClr val="FFFFFF"/>
              </a:solidFill>
              <a:latin typeface="DM Sans"/>
            </a:endParaRPr>
          </a:p>
          <a:p>
            <a:pPr marL="1257300" lvl="2" indent="-342900">
              <a:buFont typeface="Arial" panose="020B0604020202020204" pitchFamily="34" charset="0"/>
              <a:buChar char="•"/>
            </a:pPr>
            <a:r>
              <a:rPr lang="en-AU" sz="2500" b="1" spc="-49" dirty="0">
                <a:solidFill>
                  <a:srgbClr val="FFFFFF"/>
                </a:solidFill>
                <a:latin typeface="DM Sans"/>
              </a:rPr>
              <a:t>You skip months of orchestration engineering </a:t>
            </a:r>
          </a:p>
          <a:p>
            <a:pPr marL="1714500" lvl="3" indent="-342900">
              <a:buFont typeface="Arial" panose="020B0604020202020204" pitchFamily="34" charset="0"/>
              <a:buChar char="•"/>
            </a:pPr>
            <a:r>
              <a:rPr lang="en-AU" sz="2500" b="1" spc="-49" dirty="0">
                <a:solidFill>
                  <a:srgbClr val="FFFFFF"/>
                </a:solidFill>
                <a:latin typeface="DM Sans"/>
              </a:rPr>
              <a:t> prompt chaining, retry logic, context management, output parsing</a:t>
            </a:r>
          </a:p>
          <a:p>
            <a:pPr marL="1257300" lvl="2" indent="-342900">
              <a:buFont typeface="Arial" panose="020B0604020202020204" pitchFamily="34" charset="0"/>
              <a:buChar char="•"/>
            </a:pPr>
            <a:endParaRPr lang="en-AU" sz="2500" b="1" spc="-49" dirty="0">
              <a:solidFill>
                <a:srgbClr val="FFFFFF"/>
              </a:solidFill>
              <a:latin typeface="DM Sans"/>
            </a:endParaRPr>
          </a:p>
          <a:p>
            <a:pPr marL="1257300" lvl="2" indent="-342900">
              <a:buFont typeface="Arial" panose="020B0604020202020204" pitchFamily="34" charset="0"/>
              <a:buChar char="•"/>
            </a:pPr>
            <a:r>
              <a:rPr lang="en-AU" sz="2500" b="1" spc="-49" dirty="0">
                <a:solidFill>
                  <a:srgbClr val="FFFFFF"/>
                </a:solidFill>
                <a:latin typeface="DM Sans"/>
              </a:rPr>
              <a:t>Each agent ships with a tested loop: observe → plan → act → reflect → repeat</a:t>
            </a:r>
          </a:p>
          <a:p>
            <a:pPr marL="1257300" lvl="2" indent="-342900">
              <a:buFont typeface="Arial" panose="020B0604020202020204" pitchFamily="34" charset="0"/>
              <a:buChar char="•"/>
            </a:pPr>
            <a:endParaRPr lang="en-AU" sz="2500" b="1" spc="-49" dirty="0">
              <a:solidFill>
                <a:srgbClr val="FFFFFF"/>
              </a:solidFill>
              <a:latin typeface="DM Sans"/>
            </a:endParaRPr>
          </a:p>
          <a:p>
            <a:pPr marL="1257300" lvl="2" indent="-342900">
              <a:buFont typeface="Arial" panose="020B0604020202020204" pitchFamily="34" charset="0"/>
              <a:buChar char="•"/>
            </a:pPr>
            <a:r>
              <a:rPr lang="en-AU" sz="2500" b="1" spc="-49" dirty="0">
                <a:solidFill>
                  <a:srgbClr val="FFFFFF"/>
                </a:solidFill>
                <a:latin typeface="DM Sans"/>
              </a:rPr>
              <a:t>Adding a new capability is often just installing a plugin or writing a function — not redesigning the architecture</a:t>
            </a:r>
          </a:p>
          <a:p>
            <a:pPr marL="1257300" lvl="2" indent="-342900">
              <a:buFont typeface="Arial" panose="020B0604020202020204" pitchFamily="34" charset="0"/>
              <a:buChar char="•"/>
            </a:pPr>
            <a:endParaRPr lang="en-AU" sz="2500" b="1" spc="-49" dirty="0">
              <a:solidFill>
                <a:srgbClr val="FFFFFF"/>
              </a:solidFill>
              <a:latin typeface="DM Sans"/>
            </a:endParaRPr>
          </a:p>
          <a:p>
            <a:pPr marL="1257300" lvl="2" indent="-342900">
              <a:buFont typeface="Arial" panose="020B0604020202020204" pitchFamily="34" charset="0"/>
              <a:buChar char="•"/>
            </a:pPr>
            <a:r>
              <a:rPr lang="en-AU" sz="2500" b="1" spc="-49" dirty="0">
                <a:solidFill>
                  <a:srgbClr val="FFFFFF"/>
                </a:solidFill>
                <a:latin typeface="DM Sans"/>
              </a:rPr>
              <a:t>Multi-turn reasoning, tool calling, and self-correction work out of the box</a:t>
            </a:r>
          </a:p>
          <a:p>
            <a:pPr marL="1257300" lvl="2" indent="-342900">
              <a:buFont typeface="Arial" panose="020B0604020202020204" pitchFamily="34" charset="0"/>
              <a:buChar char="•"/>
            </a:pPr>
            <a:endParaRPr lang="en-AU" sz="2500" b="1" spc="-49" dirty="0">
              <a:solidFill>
                <a:srgbClr val="FFFFFF"/>
              </a:solidFill>
              <a:latin typeface="DM Sans"/>
            </a:endParaRPr>
          </a:p>
          <a:p>
            <a:pPr marL="1257300" lvl="2" indent="-342900">
              <a:buFont typeface="Arial" panose="020B0604020202020204" pitchFamily="34" charset="0"/>
              <a:buChar char="•"/>
            </a:pPr>
            <a:r>
              <a:rPr lang="en-AU" sz="2500" b="1" spc="-49" dirty="0">
                <a:solidFill>
                  <a:srgbClr val="FFFFFF"/>
                </a:solidFill>
                <a:latin typeface="DM Sans"/>
              </a:rPr>
              <a:t>You focus on your task, not on wiring together LLM calls, API schemas, and state machines</a:t>
            </a:r>
          </a:p>
          <a:p>
            <a:pPr marL="1257300" lvl="2" indent="-342900">
              <a:buFont typeface="Arial" panose="020B0604020202020204" pitchFamily="34" charset="0"/>
              <a:buChar char="•"/>
            </a:pPr>
            <a:endParaRPr lang="en-AU" sz="2500" b="1" spc="-49" dirty="0">
              <a:solidFill>
                <a:srgbClr val="FFFFFF"/>
              </a:solidFill>
              <a:latin typeface="DM Sans"/>
            </a:endParaRPr>
          </a:p>
          <a:p>
            <a:pPr marL="1257300" lvl="2" indent="-342900">
              <a:buFont typeface="Arial" panose="020B0604020202020204" pitchFamily="34" charset="0"/>
              <a:buChar char="•"/>
            </a:pPr>
            <a:endParaRPr lang="en-AU" sz="2500" b="1" spc="-49" dirty="0">
              <a:solidFill>
                <a:srgbClr val="FFFFFF"/>
              </a:solidFill>
              <a:latin typeface="DM Sans"/>
            </a:endParaRPr>
          </a:p>
          <a:p>
            <a:pPr marL="1257300" lvl="2" indent="-342900">
              <a:buFont typeface="Arial" panose="020B0604020202020204" pitchFamily="34" charset="0"/>
              <a:buChar char="•"/>
            </a:pPr>
            <a:endParaRPr lang="en-AU" sz="2500" b="1" spc="-49" dirty="0">
              <a:solidFill>
                <a:srgbClr val="FFFFFF"/>
              </a:solidFill>
              <a:latin typeface="DM Sans"/>
            </a:endParaRPr>
          </a:p>
          <a:p>
            <a:pPr lvl="4">
              <a:lnSpc>
                <a:spcPts val="3422"/>
              </a:lnSpc>
            </a:pPr>
            <a:endParaRPr lang="en-AU" sz="2500" b="1" spc="-49" dirty="0">
              <a:solidFill>
                <a:srgbClr val="FFFFFF"/>
              </a:solidFill>
              <a:latin typeface="DM Sans"/>
            </a:endParaRPr>
          </a:p>
          <a:p>
            <a:pPr>
              <a:lnSpc>
                <a:spcPts val="3284"/>
              </a:lnSpc>
            </a:pPr>
            <a:endParaRPr lang="en-US" sz="2500" spc="-49" dirty="0">
              <a:solidFill>
                <a:srgbClr val="FFFFFF"/>
              </a:solidFill>
              <a:latin typeface="DM Sans"/>
            </a:endParaRPr>
          </a:p>
        </p:txBody>
      </p:sp>
    </p:spTree>
    <p:extLst>
      <p:ext uri="{BB962C8B-B14F-4D97-AF65-F5344CB8AC3E}">
        <p14:creationId xmlns:p14="http://schemas.microsoft.com/office/powerpoint/2010/main" val="114007445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EDA7B8A2-E2A5-7CC9-FCB4-BEC597D38CA4}"/>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BD64788-7B59-3972-73D7-5C28D7A3C3F6}"/>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2"/>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Freeform 6">
            <a:extLst>
              <a:ext uri="{FF2B5EF4-FFF2-40B4-BE49-F238E27FC236}">
                <a16:creationId xmlns:a16="http://schemas.microsoft.com/office/drawing/2014/main" id="{308D30C3-3F9F-3BDB-FBB2-8B4B9AA70BD0}"/>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2"/>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sp>
        <p:nvSpPr>
          <p:cNvPr id="7" name="TextBox 6">
            <a:extLst>
              <a:ext uri="{FF2B5EF4-FFF2-40B4-BE49-F238E27FC236}">
                <a16:creationId xmlns:a16="http://schemas.microsoft.com/office/drawing/2014/main" id="{1DB932F1-3D1B-04C0-563E-BAA28668D95E}"/>
              </a:ext>
            </a:extLst>
          </p:cNvPr>
          <p:cNvSpPr txBox="1"/>
          <p:nvPr/>
        </p:nvSpPr>
        <p:spPr>
          <a:xfrm>
            <a:off x="935088" y="1391551"/>
            <a:ext cx="16849872" cy="8924174"/>
          </a:xfrm>
          <a:prstGeom prst="rect">
            <a:avLst/>
          </a:prstGeom>
        </p:spPr>
        <p:txBody>
          <a:bodyPr wrap="square" lIns="0" tIns="0" rIns="0" bIns="0" rtlCol="0" anchor="t">
            <a:spAutoFit/>
          </a:bodyPr>
          <a:lstStyle/>
          <a:p>
            <a:pPr marL="800100" lvl="1" indent="-342900">
              <a:buFont typeface="Arial" panose="020B0604020202020204" pitchFamily="34" charset="0"/>
              <a:buChar char="•"/>
            </a:pPr>
            <a:r>
              <a:rPr lang="en-AU" sz="2500" b="1" spc="-49" dirty="0">
                <a:solidFill>
                  <a:srgbClr val="FFFFFF"/>
                </a:solidFill>
                <a:latin typeface="DM Sans"/>
              </a:rPr>
              <a:t>Example: </a:t>
            </a:r>
          </a:p>
          <a:p>
            <a:pPr marL="1257300" lvl="2" indent="-342900">
              <a:buFont typeface="Arial" panose="020B0604020202020204" pitchFamily="34" charset="0"/>
              <a:buChar char="•"/>
            </a:pPr>
            <a:r>
              <a:rPr lang="en-AU" sz="2500" b="1" spc="-49" dirty="0">
                <a:solidFill>
                  <a:srgbClr val="FFFFFF"/>
                </a:solidFill>
                <a:latin typeface="DM Sans"/>
              </a:rPr>
              <a:t>Hermes Agent</a:t>
            </a:r>
          </a:p>
          <a:p>
            <a:pPr marL="1257300" lvl="2" indent="-342900">
              <a:buFont typeface="Arial" panose="020B0604020202020204" pitchFamily="34" charset="0"/>
              <a:buChar char="•"/>
            </a:pPr>
            <a:endParaRPr lang="en-AU" sz="2500" b="1" spc="-49" dirty="0">
              <a:solidFill>
                <a:srgbClr val="FFFFFF"/>
              </a:solidFill>
              <a:latin typeface="DM Sans"/>
            </a:endParaRPr>
          </a:p>
          <a:p>
            <a:pPr marL="800100" lvl="1" indent="-342900">
              <a:buFont typeface="Arial" panose="020B0604020202020204" pitchFamily="34" charset="0"/>
              <a:buChar char="•"/>
            </a:pPr>
            <a:r>
              <a:rPr lang="en-AU" sz="2500" b="1" spc="-49" dirty="0">
                <a:solidFill>
                  <a:srgbClr val="FFFFFF"/>
                </a:solidFill>
                <a:latin typeface="DM Sans"/>
              </a:rPr>
              <a:t>Tools</a:t>
            </a:r>
          </a:p>
          <a:p>
            <a:pPr marL="1257300" lvl="2" indent="-342900">
              <a:buFont typeface="Arial" panose="020B0604020202020204" pitchFamily="34" charset="0"/>
              <a:buChar char="•"/>
            </a:pPr>
            <a:r>
              <a:rPr lang="en-AU" sz="2500" b="1" spc="-49" dirty="0">
                <a:solidFill>
                  <a:srgbClr val="FFFFFF"/>
                </a:solidFill>
                <a:latin typeface="DM Sans"/>
              </a:rPr>
              <a:t>40+ built-in — web search, terminal, file system, browser automation, vision, image generation, text-to-speech, code execution, subagent delegation, memory, task planning, </a:t>
            </a:r>
            <a:r>
              <a:rPr lang="en-AU" sz="2500" b="1" spc="-49" dirty="0" err="1">
                <a:solidFill>
                  <a:srgbClr val="FFFFFF"/>
                </a:solidFill>
                <a:latin typeface="DM Sans"/>
              </a:rPr>
              <a:t>cron</a:t>
            </a:r>
            <a:r>
              <a:rPr lang="en-AU" sz="2500" b="1" spc="-49" dirty="0">
                <a:solidFill>
                  <a:srgbClr val="FFFFFF"/>
                </a:solidFill>
                <a:latin typeface="DM Sans"/>
              </a:rPr>
              <a:t> scheduling, multi-model reasoning, and more.</a:t>
            </a:r>
          </a:p>
          <a:p>
            <a:pPr marL="800100" lvl="1" indent="-342900">
              <a:buFont typeface="Arial" panose="020B0604020202020204" pitchFamily="34" charset="0"/>
              <a:buChar char="•"/>
            </a:pPr>
            <a:r>
              <a:rPr lang="en-AU" sz="2500" b="1" spc="-49" dirty="0">
                <a:solidFill>
                  <a:srgbClr val="FFFFFF"/>
                </a:solidFill>
                <a:latin typeface="DM Sans"/>
              </a:rPr>
              <a:t>Platforms</a:t>
            </a:r>
          </a:p>
          <a:p>
            <a:pPr marL="1257300" lvl="2" indent="-342900">
              <a:buFont typeface="Arial" panose="020B0604020202020204" pitchFamily="34" charset="0"/>
              <a:buChar char="•"/>
            </a:pPr>
            <a:r>
              <a:rPr lang="en-AU" sz="2500" b="1" spc="-49" dirty="0">
                <a:solidFill>
                  <a:srgbClr val="FFFFFF"/>
                </a:solidFill>
                <a:latin typeface="DM Sans"/>
              </a:rPr>
              <a:t>Telegram, Discord, Slack, WhatsApp, Signal, Email, and CLI — all from a single gateway. Connect to Nous Portal, </a:t>
            </a:r>
            <a:r>
              <a:rPr lang="en-AU" sz="2500" b="1" spc="-49" dirty="0" err="1">
                <a:solidFill>
                  <a:srgbClr val="FFFFFF"/>
                </a:solidFill>
                <a:latin typeface="DM Sans"/>
              </a:rPr>
              <a:t>OpenRouter</a:t>
            </a:r>
            <a:r>
              <a:rPr lang="en-AU" sz="2500" b="1" spc="-49" dirty="0">
                <a:solidFill>
                  <a:srgbClr val="FFFFFF"/>
                </a:solidFill>
                <a:latin typeface="DM Sans"/>
              </a:rPr>
              <a:t>, or any OpenAI-compatible API.</a:t>
            </a:r>
          </a:p>
          <a:p>
            <a:pPr marL="800100" lvl="1" indent="-342900">
              <a:buFont typeface="Arial" panose="020B0604020202020204" pitchFamily="34" charset="0"/>
              <a:buChar char="•"/>
            </a:pPr>
            <a:r>
              <a:rPr lang="en-AU" sz="2500" b="1" spc="-49" dirty="0">
                <a:solidFill>
                  <a:srgbClr val="FFFFFF"/>
                </a:solidFill>
                <a:latin typeface="DM Sans"/>
              </a:rPr>
              <a:t>Environments</a:t>
            </a:r>
          </a:p>
          <a:p>
            <a:pPr marL="1257300" lvl="2" indent="-342900">
              <a:buFont typeface="Arial" panose="020B0604020202020204" pitchFamily="34" charset="0"/>
              <a:buChar char="•"/>
            </a:pPr>
            <a:r>
              <a:rPr lang="en-AU" sz="2500" b="1" spc="-49" dirty="0">
                <a:solidFill>
                  <a:srgbClr val="FFFFFF"/>
                </a:solidFill>
                <a:latin typeface="DM Sans"/>
              </a:rPr>
              <a:t>Run locally, in Docker, over SSH, on Modal, Daytona, or Singularity. Container hardening with read-only root, dropped capabilities, and namespace isolation.</a:t>
            </a:r>
          </a:p>
          <a:p>
            <a:pPr marL="800100" lvl="1" indent="-342900">
              <a:buFont typeface="Arial" panose="020B0604020202020204" pitchFamily="34" charset="0"/>
              <a:buChar char="•"/>
            </a:pPr>
            <a:r>
              <a:rPr lang="en-AU" sz="2500" b="1" spc="-49" dirty="0">
                <a:solidFill>
                  <a:srgbClr val="FFFFFF"/>
                </a:solidFill>
                <a:latin typeface="DM Sans"/>
              </a:rPr>
              <a:t>Skills</a:t>
            </a:r>
          </a:p>
          <a:p>
            <a:pPr marL="1257300" lvl="2" indent="-342900">
              <a:buFont typeface="Arial" panose="020B0604020202020204" pitchFamily="34" charset="0"/>
              <a:buChar char="•"/>
            </a:pPr>
            <a:r>
              <a:rPr lang="en-AU" sz="2500" b="1" spc="-49" dirty="0">
                <a:solidFill>
                  <a:srgbClr val="FFFFFF"/>
                </a:solidFill>
                <a:latin typeface="DM Sans"/>
              </a:rPr>
              <a:t>40+ bundled skills covering </a:t>
            </a:r>
            <a:r>
              <a:rPr lang="en-AU" sz="2500" b="1" spc="-49" dirty="0" err="1">
                <a:solidFill>
                  <a:srgbClr val="FFFFFF"/>
                </a:solidFill>
                <a:latin typeface="DM Sans"/>
              </a:rPr>
              <a:t>MLOps</a:t>
            </a:r>
            <a:r>
              <a:rPr lang="en-AU" sz="2500" b="1" spc="-49" dirty="0">
                <a:solidFill>
                  <a:srgbClr val="FFFFFF"/>
                </a:solidFill>
                <a:latin typeface="DM Sans"/>
              </a:rPr>
              <a:t>, GitHub workflows, research, and more. The agent creates new skills on the fly and shares them via the open </a:t>
            </a:r>
            <a:r>
              <a:rPr lang="en-AU" sz="2500" b="1" spc="-49" dirty="0" err="1">
                <a:solidFill>
                  <a:srgbClr val="FFFFFF"/>
                </a:solidFill>
                <a:latin typeface="DM Sans"/>
              </a:rPr>
              <a:t>agentskills.io</a:t>
            </a:r>
            <a:r>
              <a:rPr lang="en-AU" sz="2500" b="1" spc="-49" dirty="0">
                <a:solidFill>
                  <a:srgbClr val="FFFFFF"/>
                </a:solidFill>
                <a:latin typeface="DM Sans"/>
              </a:rPr>
              <a:t> format. Install community skills from </a:t>
            </a:r>
            <a:r>
              <a:rPr lang="en-AU" sz="2500" b="1" spc="-49" dirty="0" err="1">
                <a:solidFill>
                  <a:srgbClr val="FFFFFF"/>
                </a:solidFill>
                <a:latin typeface="DM Sans"/>
              </a:rPr>
              <a:t>ClawHub</a:t>
            </a:r>
            <a:r>
              <a:rPr lang="en-AU" sz="2500" b="1" spc="-49" dirty="0">
                <a:solidFill>
                  <a:srgbClr val="FFFFFF"/>
                </a:solidFill>
                <a:latin typeface="DM Sans"/>
              </a:rPr>
              <a:t>, </a:t>
            </a:r>
            <a:r>
              <a:rPr lang="en-AU" sz="2500" b="1" spc="-49" dirty="0" err="1">
                <a:solidFill>
                  <a:srgbClr val="FFFFFF"/>
                </a:solidFill>
                <a:latin typeface="DM Sans"/>
              </a:rPr>
              <a:t>LobeHub</a:t>
            </a:r>
            <a:r>
              <a:rPr lang="en-AU" sz="2500" b="1" spc="-49" dirty="0">
                <a:solidFill>
                  <a:srgbClr val="FFFFFF"/>
                </a:solidFill>
                <a:latin typeface="DM Sans"/>
              </a:rPr>
              <a:t>, and GitHub.</a:t>
            </a:r>
          </a:p>
          <a:p>
            <a:pPr marL="800100" lvl="1" indent="-342900">
              <a:buFont typeface="Arial" panose="020B0604020202020204" pitchFamily="34" charset="0"/>
              <a:buChar char="•"/>
            </a:pPr>
            <a:r>
              <a:rPr lang="en-AU" sz="2500" b="1" spc="-49" dirty="0">
                <a:solidFill>
                  <a:srgbClr val="FFFFFF"/>
                </a:solidFill>
                <a:latin typeface="DM Sans"/>
              </a:rPr>
              <a:t>Research</a:t>
            </a:r>
          </a:p>
          <a:p>
            <a:pPr marL="1257300" lvl="2" indent="-342900">
              <a:buFont typeface="Arial" panose="020B0604020202020204" pitchFamily="34" charset="0"/>
              <a:buChar char="•"/>
            </a:pPr>
            <a:r>
              <a:rPr lang="en-AU" sz="2500" b="1" spc="-49" dirty="0">
                <a:solidFill>
                  <a:srgbClr val="FFFFFF"/>
                </a:solidFill>
                <a:latin typeface="DM Sans"/>
              </a:rPr>
              <a:t>Batch trajectory generation with parallel workers and checkpointing. Atropos integration for RL training. Export to </a:t>
            </a:r>
            <a:r>
              <a:rPr lang="en-AU" sz="2500" b="1" spc="-49" dirty="0" err="1">
                <a:solidFill>
                  <a:srgbClr val="FFFFFF"/>
                </a:solidFill>
                <a:latin typeface="DM Sans"/>
              </a:rPr>
              <a:t>ShareGPT</a:t>
            </a:r>
            <a:r>
              <a:rPr lang="en-AU" sz="2500" b="1" spc="-49" dirty="0">
                <a:solidFill>
                  <a:srgbClr val="FFFFFF"/>
                </a:solidFill>
                <a:latin typeface="DM Sans"/>
              </a:rPr>
              <a:t> for fine-tuning with trajectory compression.</a:t>
            </a:r>
          </a:p>
          <a:p>
            <a:pPr marL="1257300" lvl="2" indent="-342900">
              <a:buFont typeface="Arial" panose="020B0604020202020204" pitchFamily="34" charset="0"/>
              <a:buChar char="•"/>
            </a:pPr>
            <a:endParaRPr lang="en-AU" sz="2500" b="1" spc="-49" dirty="0">
              <a:solidFill>
                <a:srgbClr val="FFFFFF"/>
              </a:solidFill>
              <a:latin typeface="DM Sans"/>
            </a:endParaRPr>
          </a:p>
          <a:p>
            <a:pPr lvl="4">
              <a:lnSpc>
                <a:spcPts val="3422"/>
              </a:lnSpc>
            </a:pPr>
            <a:endParaRPr lang="en-AU" sz="2500" b="1" spc="-49" dirty="0">
              <a:solidFill>
                <a:srgbClr val="FFFFFF"/>
              </a:solidFill>
              <a:latin typeface="DM Sans"/>
            </a:endParaRPr>
          </a:p>
          <a:p>
            <a:pPr>
              <a:lnSpc>
                <a:spcPts val="3284"/>
              </a:lnSpc>
            </a:pPr>
            <a:endParaRPr lang="en-US" sz="2500" spc="-49" dirty="0">
              <a:solidFill>
                <a:srgbClr val="FFFFFF"/>
              </a:solidFill>
              <a:latin typeface="DM Sans"/>
            </a:endParaRPr>
          </a:p>
        </p:txBody>
      </p:sp>
    </p:spTree>
    <p:extLst>
      <p:ext uri="{BB962C8B-B14F-4D97-AF65-F5344CB8AC3E}">
        <p14:creationId xmlns:p14="http://schemas.microsoft.com/office/powerpoint/2010/main" val="2621728231"/>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1F5BD6A3-4243-15F9-EDB2-FDDCEE915A0B}"/>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3553148B-1861-9FCC-66C4-44C0869256A1}"/>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2"/>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Freeform 6">
            <a:extLst>
              <a:ext uri="{FF2B5EF4-FFF2-40B4-BE49-F238E27FC236}">
                <a16:creationId xmlns:a16="http://schemas.microsoft.com/office/drawing/2014/main" id="{58A6F8EE-6A1D-A61B-0469-34C4EF7240D3}"/>
              </a:ext>
            </a:extLst>
          </p:cNvPr>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2"/>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graphicFrame>
        <p:nvGraphicFramePr>
          <p:cNvPr id="17" name="Table 16">
            <a:extLst>
              <a:ext uri="{FF2B5EF4-FFF2-40B4-BE49-F238E27FC236}">
                <a16:creationId xmlns:a16="http://schemas.microsoft.com/office/drawing/2014/main" id="{844A5A75-3B5A-76FD-610D-F6F3DFF8A7CF}"/>
              </a:ext>
            </a:extLst>
          </p:cNvPr>
          <p:cNvGraphicFramePr>
            <a:graphicFrameLocks noGrp="1"/>
          </p:cNvGraphicFramePr>
          <p:nvPr>
            <p:extLst>
              <p:ext uri="{D42A27DB-BD31-4B8C-83A1-F6EECF244321}">
                <p14:modId xmlns:p14="http://schemas.microsoft.com/office/powerpoint/2010/main" val="1808194729"/>
              </p:ext>
            </p:extLst>
          </p:nvPr>
        </p:nvGraphicFramePr>
        <p:xfrm>
          <a:off x="611052" y="503479"/>
          <a:ext cx="17065896" cy="9280041"/>
        </p:xfrm>
        <a:graphic>
          <a:graphicData uri="http://schemas.openxmlformats.org/drawingml/2006/table">
            <a:tbl>
              <a:tblPr firstRow="1" bandRow="1">
                <a:tableStyleId>{00A15C55-8517-42AA-B614-E9B94910E393}</a:tableStyleId>
              </a:tblPr>
              <a:tblGrid>
                <a:gridCol w="5688632">
                  <a:extLst>
                    <a:ext uri="{9D8B030D-6E8A-4147-A177-3AD203B41FA5}">
                      <a16:colId xmlns:a16="http://schemas.microsoft.com/office/drawing/2014/main" val="3862807367"/>
                    </a:ext>
                  </a:extLst>
                </a:gridCol>
                <a:gridCol w="5688632">
                  <a:extLst>
                    <a:ext uri="{9D8B030D-6E8A-4147-A177-3AD203B41FA5}">
                      <a16:colId xmlns:a16="http://schemas.microsoft.com/office/drawing/2014/main" val="2634330779"/>
                    </a:ext>
                  </a:extLst>
                </a:gridCol>
                <a:gridCol w="5688632">
                  <a:extLst>
                    <a:ext uri="{9D8B030D-6E8A-4147-A177-3AD203B41FA5}">
                      <a16:colId xmlns:a16="http://schemas.microsoft.com/office/drawing/2014/main" val="1138815579"/>
                    </a:ext>
                  </a:extLst>
                </a:gridCol>
              </a:tblGrid>
              <a:tr h="622604">
                <a:tc>
                  <a:txBody>
                    <a:bodyPr/>
                    <a:lstStyle/>
                    <a:p>
                      <a:pPr algn="l" fontAlgn="b">
                        <a:buNone/>
                      </a:pPr>
                      <a:r>
                        <a:rPr lang="en-AU" sz="2400" b="1" u="none" strike="noStrike" dirty="0">
                          <a:solidFill>
                            <a:srgbClr val="000000"/>
                          </a:solidFill>
                          <a:effectLst/>
                        </a:rPr>
                        <a:t>Agent</a:t>
                      </a:r>
                      <a:endParaRPr lang="en-AU" sz="2400" b="1"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buNone/>
                      </a:pPr>
                      <a:r>
                        <a:rPr lang="en-AU" sz="2400" b="1" u="none" strike="noStrike" dirty="0">
                          <a:solidFill>
                            <a:srgbClr val="000000"/>
                          </a:solidFill>
                          <a:effectLst/>
                        </a:rPr>
                        <a:t>Capabilities</a:t>
                      </a:r>
                      <a:endParaRPr lang="en-AU" sz="2400" b="1"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buNone/>
                      </a:pPr>
                      <a:r>
                        <a:rPr lang="en-AU" sz="2400" b="1" u="none" strike="noStrike">
                          <a:solidFill>
                            <a:srgbClr val="000000"/>
                          </a:solidFill>
                          <a:effectLst/>
                        </a:rPr>
                        <a:t>Link</a:t>
                      </a:r>
                      <a:endParaRPr lang="en-AU" sz="2400" b="1"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465343518"/>
                  </a:ext>
                </a:extLst>
              </a:tr>
              <a:tr h="715646">
                <a:tc>
                  <a:txBody>
                    <a:bodyPr/>
                    <a:lstStyle/>
                    <a:p>
                      <a:pPr algn="l" fontAlgn="b">
                        <a:buNone/>
                      </a:pPr>
                      <a:r>
                        <a:rPr lang="en-AU" sz="2400" b="0" u="none" strike="noStrike" dirty="0">
                          <a:solidFill>
                            <a:srgbClr val="000000"/>
                          </a:solidFill>
                          <a:effectLst/>
                        </a:rPr>
                        <a:t>Cline</a:t>
                      </a:r>
                      <a:endParaRPr lang="en-AU" sz="24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buNone/>
                      </a:pPr>
                      <a:r>
                        <a:rPr lang="en-AU" sz="2400" b="0" u="none" strike="noStrike">
                          <a:solidFill>
                            <a:srgbClr val="000000"/>
                          </a:solidFill>
                          <a:effectLst/>
                        </a:rPr>
                        <a:t>Autonomous coding in your IDE — file ops, terminal, browser, MCP support</a:t>
                      </a:r>
                      <a:endParaRPr lang="en-AU" sz="24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buNone/>
                      </a:pPr>
                      <a:r>
                        <a:rPr lang="en-AU" sz="2400" b="0" u="sng" strike="noStrike">
                          <a:solidFill>
                            <a:srgbClr val="C573D2"/>
                          </a:solidFill>
                          <a:effectLst/>
                          <a:hlinkClick r:id="rId3"/>
                        </a:rPr>
                        <a:t>https://github.com/cline/cline</a:t>
                      </a:r>
                      <a:endParaRPr lang="en-AU" sz="2400" b="0" i="0" u="sng" strike="noStrike">
                        <a:solidFill>
                          <a:srgbClr val="C573D2"/>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45167152"/>
                  </a:ext>
                </a:extLst>
              </a:tr>
              <a:tr h="715646">
                <a:tc>
                  <a:txBody>
                    <a:bodyPr/>
                    <a:lstStyle/>
                    <a:p>
                      <a:pPr algn="l" fontAlgn="b">
                        <a:buNone/>
                      </a:pPr>
                      <a:r>
                        <a:rPr lang="en-AU" sz="2400" b="0" u="none" strike="noStrike">
                          <a:solidFill>
                            <a:srgbClr val="000000"/>
                          </a:solidFill>
                          <a:effectLst/>
                        </a:rPr>
                        <a:t>Observer AI</a:t>
                      </a:r>
                      <a:endParaRPr lang="en-AU" sz="24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buNone/>
                      </a:pPr>
                      <a:r>
                        <a:rPr lang="en-AU" sz="2400" b="0" u="none" strike="noStrike">
                          <a:solidFill>
                            <a:srgbClr val="000000"/>
                          </a:solidFill>
                          <a:effectLst/>
                        </a:rPr>
                        <a:t>Local micro-agents that observe and react to your screen — fully on-device</a:t>
                      </a:r>
                      <a:endParaRPr lang="en-AU" sz="24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buNone/>
                      </a:pPr>
                      <a:r>
                        <a:rPr lang="en-AU" sz="2400" b="0" u="sng" strike="noStrike">
                          <a:solidFill>
                            <a:srgbClr val="C573D2"/>
                          </a:solidFill>
                          <a:effectLst/>
                          <a:hlinkClick r:id="rId4"/>
                        </a:rPr>
                        <a:t>https://github.com/Roy3838/Observer</a:t>
                      </a:r>
                      <a:endParaRPr lang="en-AU" sz="2400" b="0" i="0" u="sng" strike="noStrike">
                        <a:solidFill>
                          <a:srgbClr val="C573D2"/>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272861837"/>
                  </a:ext>
                </a:extLst>
              </a:tr>
              <a:tr h="715646">
                <a:tc>
                  <a:txBody>
                    <a:bodyPr/>
                    <a:lstStyle/>
                    <a:p>
                      <a:pPr algn="l" fontAlgn="b">
                        <a:buNone/>
                      </a:pPr>
                      <a:r>
                        <a:rPr lang="en-AU" sz="2400" b="0" u="none" strike="noStrike">
                          <a:solidFill>
                            <a:srgbClr val="000000"/>
                          </a:solidFill>
                          <a:effectLst/>
                        </a:rPr>
                        <a:t>AutoGPT</a:t>
                      </a:r>
                      <a:endParaRPr lang="en-AU" sz="24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buNone/>
                      </a:pPr>
                      <a:r>
                        <a:rPr lang="en-AU" sz="2400" b="0" u="none" strike="noStrike" dirty="0">
                          <a:solidFill>
                            <a:srgbClr val="000000"/>
                          </a:solidFill>
                          <a:effectLst/>
                        </a:rPr>
                        <a:t>General-purpose autonomy — goal decomposition, web browsing, file management</a:t>
                      </a:r>
                      <a:endParaRPr lang="en-AU" sz="24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buNone/>
                      </a:pPr>
                      <a:r>
                        <a:rPr lang="en-AU" sz="2400" b="0" u="sng" strike="noStrike">
                          <a:solidFill>
                            <a:srgbClr val="C573D2"/>
                          </a:solidFill>
                          <a:effectLst/>
                          <a:hlinkClick r:id="rId5"/>
                        </a:rPr>
                        <a:t>https://github.com/Significant-Gravitas/AutoGPT</a:t>
                      </a:r>
                      <a:endParaRPr lang="en-AU" sz="2400" b="0" i="0" u="sng" strike="noStrike">
                        <a:solidFill>
                          <a:srgbClr val="C573D2"/>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140701592"/>
                  </a:ext>
                </a:extLst>
              </a:tr>
              <a:tr h="715646">
                <a:tc>
                  <a:txBody>
                    <a:bodyPr/>
                    <a:lstStyle/>
                    <a:p>
                      <a:pPr algn="l" fontAlgn="b">
                        <a:buNone/>
                      </a:pPr>
                      <a:r>
                        <a:rPr lang="en-AU" sz="2400" b="0" u="none" strike="noStrike">
                          <a:solidFill>
                            <a:srgbClr val="000000"/>
                          </a:solidFill>
                          <a:effectLst/>
                        </a:rPr>
                        <a:t>BabyAGI</a:t>
                      </a:r>
                      <a:endParaRPr lang="en-AU" sz="24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buNone/>
                      </a:pPr>
                      <a:r>
                        <a:rPr lang="en-AU" sz="2400" b="0" u="none" strike="noStrike">
                          <a:solidFill>
                            <a:srgbClr val="000000"/>
                          </a:solidFill>
                          <a:effectLst/>
                        </a:rPr>
                        <a:t>Task decomposition and planning — self-building agent with function registry</a:t>
                      </a:r>
                      <a:endParaRPr lang="en-AU" sz="24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buNone/>
                      </a:pPr>
                      <a:r>
                        <a:rPr lang="en-AU" sz="2400" b="0" u="sng" strike="noStrike">
                          <a:solidFill>
                            <a:srgbClr val="C573D2"/>
                          </a:solidFill>
                          <a:effectLst/>
                          <a:hlinkClick r:id="rId6"/>
                        </a:rPr>
                        <a:t>https://github.com/yoheinakajima/babyagi</a:t>
                      </a:r>
                      <a:endParaRPr lang="en-AU" sz="2400" b="0" i="0" u="sng" strike="noStrike">
                        <a:solidFill>
                          <a:srgbClr val="C573D2"/>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423364540"/>
                  </a:ext>
                </a:extLst>
              </a:tr>
              <a:tr h="881227">
                <a:tc>
                  <a:txBody>
                    <a:bodyPr/>
                    <a:lstStyle/>
                    <a:p>
                      <a:pPr algn="l" fontAlgn="b">
                        <a:buNone/>
                      </a:pPr>
                      <a:r>
                        <a:rPr lang="en-AU" sz="2400" b="0" u="none" strike="noStrike">
                          <a:solidFill>
                            <a:srgbClr val="000000"/>
                          </a:solidFill>
                          <a:effectLst/>
                        </a:rPr>
                        <a:t>GPT Researcher</a:t>
                      </a:r>
                      <a:endParaRPr lang="en-AU" sz="24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buNone/>
                      </a:pPr>
                      <a:r>
                        <a:rPr lang="en-AU" sz="2400" b="0" u="none" strike="noStrike">
                          <a:solidFill>
                            <a:srgbClr val="000000"/>
                          </a:solidFill>
                          <a:effectLst/>
                        </a:rPr>
                        <a:t>Autonomous deep research — 20+ sources, cited reports in PDF/Docx/Markdown</a:t>
                      </a:r>
                      <a:endParaRPr lang="en-AU" sz="24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buNone/>
                      </a:pPr>
                      <a:r>
                        <a:rPr lang="en-AU" sz="2400" b="0" u="sng" strike="noStrike">
                          <a:solidFill>
                            <a:srgbClr val="C573D2"/>
                          </a:solidFill>
                          <a:effectLst/>
                          <a:hlinkClick r:id="rId7"/>
                        </a:rPr>
                        <a:t>https://github.com/assafelovic/gpt-researcher</a:t>
                      </a:r>
                      <a:endParaRPr lang="en-AU" sz="2400" b="0" i="0" u="sng" strike="noStrike">
                        <a:solidFill>
                          <a:srgbClr val="C573D2"/>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448798977"/>
                  </a:ext>
                </a:extLst>
              </a:tr>
              <a:tr h="715646">
                <a:tc>
                  <a:txBody>
                    <a:bodyPr/>
                    <a:lstStyle/>
                    <a:p>
                      <a:pPr algn="l" fontAlgn="b">
                        <a:buNone/>
                      </a:pPr>
                      <a:r>
                        <a:rPr lang="en-AU" sz="2400" b="0" u="none" strike="noStrike" dirty="0">
                          <a:solidFill>
                            <a:srgbClr val="000000"/>
                          </a:solidFill>
                          <a:effectLst/>
                        </a:rPr>
                        <a:t>Open Interpreter</a:t>
                      </a:r>
                      <a:endParaRPr lang="en-AU" sz="24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buNone/>
                      </a:pPr>
                      <a:r>
                        <a:rPr lang="en-AU" sz="2400" b="0" u="none" strike="noStrike" dirty="0">
                          <a:solidFill>
                            <a:srgbClr val="000000"/>
                          </a:solidFill>
                          <a:effectLst/>
                        </a:rPr>
                        <a:t>Natural language computer control — runs Python, bash, and browser locally</a:t>
                      </a:r>
                      <a:endParaRPr lang="en-AU" sz="24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buNone/>
                      </a:pPr>
                      <a:r>
                        <a:rPr lang="en-AU" sz="2400" b="0" u="sng" strike="noStrike" dirty="0">
                          <a:solidFill>
                            <a:srgbClr val="C573D2"/>
                          </a:solidFill>
                          <a:effectLst/>
                          <a:hlinkClick r:id="rId8"/>
                        </a:rPr>
                        <a:t>https://github.com/openinterpreter/open-interpreter</a:t>
                      </a:r>
                      <a:endParaRPr lang="en-AU" sz="2400" b="0" i="0" u="sng" strike="noStrike" dirty="0">
                        <a:solidFill>
                          <a:srgbClr val="C573D2"/>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249595855"/>
                  </a:ext>
                </a:extLst>
              </a:tr>
              <a:tr h="715646">
                <a:tc>
                  <a:txBody>
                    <a:bodyPr/>
                    <a:lstStyle/>
                    <a:p>
                      <a:pPr algn="l" fontAlgn="b">
                        <a:buNone/>
                      </a:pPr>
                      <a:r>
                        <a:rPr lang="en-AU" sz="2400" b="0" u="none" strike="noStrike">
                          <a:solidFill>
                            <a:srgbClr val="000000"/>
                          </a:solidFill>
                          <a:effectLst/>
                        </a:rPr>
                        <a:t>AGiXT</a:t>
                      </a:r>
                      <a:endParaRPr lang="en-AU" sz="24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buNone/>
                      </a:pPr>
                      <a:r>
                        <a:rPr lang="en-AU" sz="2400" b="0" u="none" strike="noStrike">
                          <a:solidFill>
                            <a:srgbClr val="000000"/>
                          </a:solidFill>
                          <a:effectLst/>
                        </a:rPr>
                        <a:t>Enterprise AI automation — 40+ extensions, adaptive memory, extensible plugins</a:t>
                      </a:r>
                      <a:endParaRPr lang="en-AU" sz="24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buNone/>
                      </a:pPr>
                      <a:r>
                        <a:rPr lang="en-AU" sz="2400" b="0" u="sng" strike="noStrike">
                          <a:solidFill>
                            <a:srgbClr val="C573D2"/>
                          </a:solidFill>
                          <a:effectLst/>
                          <a:hlinkClick r:id="rId9"/>
                        </a:rPr>
                        <a:t>https://github.com/Josh-XT/AGiXT</a:t>
                      </a:r>
                      <a:endParaRPr lang="en-AU" sz="2400" b="0" i="0" u="sng" strike="noStrike">
                        <a:solidFill>
                          <a:srgbClr val="C573D2"/>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719801239"/>
                  </a:ext>
                </a:extLst>
              </a:tr>
              <a:tr h="715646">
                <a:tc>
                  <a:txBody>
                    <a:bodyPr/>
                    <a:lstStyle/>
                    <a:p>
                      <a:pPr algn="l" fontAlgn="b">
                        <a:buNone/>
                      </a:pPr>
                      <a:r>
                        <a:rPr lang="en-AU" sz="2400" b="0" u="none" strike="noStrike">
                          <a:solidFill>
                            <a:srgbClr val="000000"/>
                          </a:solidFill>
                          <a:effectLst/>
                        </a:rPr>
                        <a:t>Flowise</a:t>
                      </a:r>
                      <a:endParaRPr lang="en-AU" sz="24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buNone/>
                      </a:pPr>
                      <a:r>
                        <a:rPr lang="en-AU" sz="2400" b="0" u="none" strike="noStrike">
                          <a:solidFill>
                            <a:srgbClr val="000000"/>
                          </a:solidFill>
                          <a:effectLst/>
                        </a:rPr>
                        <a:t>Visual drag-and-drop agent builder — no-code LangChain workflows and RAG</a:t>
                      </a:r>
                      <a:endParaRPr lang="en-AU" sz="24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buNone/>
                      </a:pPr>
                      <a:r>
                        <a:rPr lang="en-AU" sz="2400" b="0" u="sng" strike="noStrike">
                          <a:solidFill>
                            <a:srgbClr val="C573D2"/>
                          </a:solidFill>
                          <a:effectLst/>
                          <a:hlinkClick r:id="rId10"/>
                        </a:rPr>
                        <a:t>https://github.com/FlowiseAI/Flowise</a:t>
                      </a:r>
                      <a:endParaRPr lang="en-AU" sz="2400" b="0" i="0" u="sng" strike="noStrike">
                        <a:solidFill>
                          <a:srgbClr val="C573D2"/>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419456114"/>
                  </a:ext>
                </a:extLst>
              </a:tr>
              <a:tr h="715646">
                <a:tc>
                  <a:txBody>
                    <a:bodyPr/>
                    <a:lstStyle/>
                    <a:p>
                      <a:pPr algn="l" fontAlgn="b">
                        <a:buNone/>
                      </a:pPr>
                      <a:r>
                        <a:rPr lang="en-AU" sz="2400" b="0" u="none" strike="noStrike" dirty="0" err="1">
                          <a:solidFill>
                            <a:srgbClr val="000000"/>
                          </a:solidFill>
                          <a:effectLst/>
                        </a:rPr>
                        <a:t>LocalAI</a:t>
                      </a:r>
                      <a:r>
                        <a:rPr lang="en-AU" sz="2400" b="0" u="none" strike="noStrike" dirty="0">
                          <a:solidFill>
                            <a:srgbClr val="000000"/>
                          </a:solidFill>
                          <a:effectLst/>
                        </a:rPr>
                        <a:t> + </a:t>
                      </a:r>
                      <a:r>
                        <a:rPr lang="en-AU" sz="2400" b="0" u="none" strike="noStrike" dirty="0" err="1">
                          <a:solidFill>
                            <a:srgbClr val="000000"/>
                          </a:solidFill>
                          <a:effectLst/>
                        </a:rPr>
                        <a:t>LocalAGI</a:t>
                      </a:r>
                      <a:endParaRPr lang="en-AU" sz="24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buNone/>
                      </a:pPr>
                      <a:r>
                        <a:rPr lang="en-AU" sz="2400" b="0" u="none" strike="noStrike">
                          <a:solidFill>
                            <a:srgbClr val="000000"/>
                          </a:solidFill>
                          <a:effectLst/>
                        </a:rPr>
                        <a:t>Fully self-hosted LLM runtime + agent layer — no cloud, consumer hardware</a:t>
                      </a:r>
                      <a:endParaRPr lang="en-AU" sz="24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buNone/>
                      </a:pPr>
                      <a:r>
                        <a:rPr lang="en-AU" sz="2400" b="0" u="sng" strike="noStrike">
                          <a:solidFill>
                            <a:srgbClr val="C573D2"/>
                          </a:solidFill>
                          <a:effectLst/>
                          <a:hlinkClick r:id="rId11"/>
                        </a:rPr>
                        <a:t>https://github.com/mudler/LocalAI</a:t>
                      </a:r>
                      <a:endParaRPr lang="en-AU" sz="2400" b="0" i="0" u="sng" strike="noStrike">
                        <a:solidFill>
                          <a:srgbClr val="C573D2"/>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40634058"/>
                  </a:ext>
                </a:extLst>
              </a:tr>
              <a:tr h="715646">
                <a:tc>
                  <a:txBody>
                    <a:bodyPr/>
                    <a:lstStyle/>
                    <a:p>
                      <a:pPr algn="l" fontAlgn="b">
                        <a:buNone/>
                      </a:pPr>
                      <a:r>
                        <a:rPr lang="en-AU" sz="2400" b="0" u="none" strike="noStrike">
                          <a:solidFill>
                            <a:srgbClr val="000000"/>
                          </a:solidFill>
                          <a:effectLst/>
                        </a:rPr>
                        <a:t>Semantic Kernel</a:t>
                      </a:r>
                      <a:endParaRPr lang="en-AU" sz="24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buNone/>
                      </a:pPr>
                      <a:r>
                        <a:rPr lang="en-AU" sz="2400" b="0" u="none" strike="noStrike">
                          <a:solidFill>
                            <a:srgbClr val="000000"/>
                          </a:solidFill>
                          <a:effectLst/>
                        </a:rPr>
                        <a:t>Microsoft SDK for LLM integration in .NET/Python/Java — memory, planners</a:t>
                      </a:r>
                      <a:endParaRPr lang="en-AU" sz="24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buNone/>
                      </a:pPr>
                      <a:r>
                        <a:rPr lang="en-AU" sz="2400" b="0" u="sng" strike="noStrike">
                          <a:solidFill>
                            <a:srgbClr val="C573D2"/>
                          </a:solidFill>
                          <a:effectLst/>
                          <a:hlinkClick r:id="rId12"/>
                        </a:rPr>
                        <a:t>https://github.com/microsoft/semantic-kernel</a:t>
                      </a:r>
                      <a:endParaRPr lang="en-AU" sz="2400" b="0" i="0" u="sng" strike="noStrike">
                        <a:solidFill>
                          <a:srgbClr val="C573D2"/>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679765004"/>
                  </a:ext>
                </a:extLst>
              </a:tr>
              <a:tr h="715646">
                <a:tc>
                  <a:txBody>
                    <a:bodyPr/>
                    <a:lstStyle/>
                    <a:p>
                      <a:pPr algn="l" fontAlgn="b">
                        <a:buNone/>
                      </a:pPr>
                      <a:r>
                        <a:rPr lang="en-AU" sz="2400" b="0" u="none" strike="noStrike">
                          <a:solidFill>
                            <a:srgbClr val="000000"/>
                          </a:solidFill>
                          <a:effectLst/>
                        </a:rPr>
                        <a:t>Hermes Agent</a:t>
                      </a:r>
                      <a:endParaRPr lang="en-AU" sz="24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buNone/>
                      </a:pPr>
                      <a:r>
                        <a:rPr lang="en-AU" sz="2400" b="0" u="none" strike="noStrike">
                          <a:solidFill>
                            <a:srgbClr val="000000"/>
                          </a:solidFill>
                          <a:effectLst/>
                        </a:rPr>
                        <a:t>Self-improving persistent agent — learns skills, multi-platform messaging, RL training</a:t>
                      </a:r>
                      <a:endParaRPr lang="en-AU" sz="24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buNone/>
                      </a:pPr>
                      <a:r>
                        <a:rPr lang="en-AU" sz="2400" b="0" u="sng" strike="noStrike" dirty="0">
                          <a:solidFill>
                            <a:srgbClr val="C573D2"/>
                          </a:solidFill>
                          <a:effectLst/>
                          <a:hlinkClick r:id="rId13"/>
                        </a:rPr>
                        <a:t>https://github.com/NousResearch/hermes-agent</a:t>
                      </a:r>
                      <a:endParaRPr lang="en-AU" sz="2400" b="0" i="0" u="sng" strike="noStrike" dirty="0">
                        <a:solidFill>
                          <a:srgbClr val="C573D2"/>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565030380"/>
                  </a:ext>
                </a:extLst>
              </a:tr>
            </a:tbl>
          </a:graphicData>
        </a:graphic>
      </p:graphicFrame>
    </p:spTree>
    <p:extLst>
      <p:ext uri="{BB962C8B-B14F-4D97-AF65-F5344CB8AC3E}">
        <p14:creationId xmlns:p14="http://schemas.microsoft.com/office/powerpoint/2010/main" val="163363213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4BDF9D5F-6294-82F9-E9CE-6C42EB170956}"/>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E564807A-018E-C816-7426-B5B2857D1A8E}"/>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Freeform 6">
            <a:extLst>
              <a:ext uri="{FF2B5EF4-FFF2-40B4-BE49-F238E27FC236}">
                <a16:creationId xmlns:a16="http://schemas.microsoft.com/office/drawing/2014/main" id="{2213E9CF-2BB4-CF96-44D5-DC815D0CE865}"/>
              </a:ext>
            </a:extLst>
          </p:cNvPr>
          <p:cNvSpPr/>
          <p:nvPr/>
        </p:nvSpPr>
        <p:spPr>
          <a:xfrm>
            <a:off x="-721096" y="840063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sp>
        <p:nvSpPr>
          <p:cNvPr id="9" name="TextBox 9">
            <a:extLst>
              <a:ext uri="{FF2B5EF4-FFF2-40B4-BE49-F238E27FC236}">
                <a16:creationId xmlns:a16="http://schemas.microsoft.com/office/drawing/2014/main" id="{24A75C98-50D0-70C5-662B-00C32876C87A}"/>
              </a:ext>
            </a:extLst>
          </p:cNvPr>
          <p:cNvSpPr txBox="1"/>
          <p:nvPr/>
        </p:nvSpPr>
        <p:spPr>
          <a:xfrm>
            <a:off x="1559180" y="2129797"/>
            <a:ext cx="14497588" cy="3887603"/>
          </a:xfrm>
          <a:prstGeom prst="rect">
            <a:avLst/>
          </a:prstGeom>
        </p:spPr>
        <p:txBody>
          <a:bodyPr wrap="square" lIns="0" tIns="0" rIns="0" bIns="0" rtlCol="0" anchor="t">
            <a:spAutoFit/>
          </a:bodyPr>
          <a:lstStyle/>
          <a:p>
            <a:pPr marL="0" marR="0" lvl="0" indent="0" algn="l" defTabSz="914400" rtl="0" eaLnBrk="1" fontAlgn="auto" latinLnBrk="0" hangingPunct="1">
              <a:lnSpc>
                <a:spcPts val="7711"/>
              </a:lnSpc>
              <a:spcBef>
                <a:spcPct val="0"/>
              </a:spcBef>
              <a:spcAft>
                <a:spcPts val="0"/>
              </a:spcAft>
              <a:buClrTx/>
              <a:buSzTx/>
              <a:buFontTx/>
              <a:buNone/>
              <a:tabLst/>
              <a:defRPr/>
            </a:pPr>
            <a:r>
              <a:rPr kumimoji="0" lang="en-AU" sz="4800" b="0" i="0" u="none" strike="noStrike" kern="1200" cap="none" spc="0" normalizeH="0" baseline="0" noProof="0" dirty="0">
                <a:ln>
                  <a:noFill/>
                </a:ln>
                <a:solidFill>
                  <a:srgbClr val="0CC0DF"/>
                </a:solidFill>
                <a:effectLst/>
                <a:uLnTx/>
                <a:uFillTx/>
                <a:latin typeface="Now Bold"/>
                <a:ea typeface="+mn-ea"/>
                <a:cs typeface="+mn-cs"/>
              </a:rPr>
              <a:t>REFERENCES</a:t>
            </a:r>
          </a:p>
          <a:p>
            <a:pPr marL="0" marR="0" lvl="0" indent="0" algn="l" defTabSz="914400" rtl="0" eaLnBrk="1" fontAlgn="auto" latinLnBrk="0" hangingPunct="1">
              <a:lnSpc>
                <a:spcPts val="7711"/>
              </a:lnSpc>
              <a:spcBef>
                <a:spcPct val="0"/>
              </a:spcBef>
              <a:spcAft>
                <a:spcPts val="0"/>
              </a:spcAft>
              <a:buClrTx/>
              <a:buSzTx/>
              <a:buFontTx/>
              <a:buNone/>
              <a:tabLst/>
              <a:defRPr/>
            </a:pPr>
            <a:endParaRPr kumimoji="0" lang="en-AU" sz="4800" b="0" i="0" u="none" strike="noStrike" kern="1200" cap="none" spc="0" normalizeH="0" baseline="0" noProof="0" dirty="0">
              <a:ln>
                <a:noFill/>
              </a:ln>
              <a:solidFill>
                <a:srgbClr val="0CC0DF"/>
              </a:solidFill>
              <a:effectLst/>
              <a:uLnTx/>
              <a:uFillTx/>
              <a:latin typeface="Now Bold"/>
              <a:ea typeface="+mn-ea"/>
              <a:cs typeface="+mn-cs"/>
            </a:endParaRPr>
          </a:p>
          <a:p>
            <a:pPr marL="0" marR="0" lvl="0" indent="0" algn="l" defTabSz="914400" rtl="0" eaLnBrk="1" fontAlgn="auto" latinLnBrk="0" hangingPunct="1">
              <a:lnSpc>
                <a:spcPts val="7711"/>
              </a:lnSpc>
              <a:spcBef>
                <a:spcPct val="0"/>
              </a:spcBef>
              <a:spcAft>
                <a:spcPts val="0"/>
              </a:spcAft>
              <a:buClrTx/>
              <a:buSzTx/>
              <a:buFontTx/>
              <a:buNone/>
              <a:tabLst/>
              <a:defRPr/>
            </a:pPr>
            <a:endParaRPr kumimoji="0" lang="en-US" sz="4800" b="0" i="0" u="none" strike="noStrike" kern="1200" cap="none" spc="0" normalizeH="0" baseline="0" noProof="0" dirty="0">
              <a:ln>
                <a:noFill/>
              </a:ln>
              <a:solidFill>
                <a:srgbClr val="0CC0DF"/>
              </a:solidFill>
              <a:effectLst/>
              <a:uLnTx/>
              <a:uFillTx/>
              <a:latin typeface="Now Bold"/>
              <a:ea typeface="+mn-ea"/>
              <a:cs typeface="+mn-cs"/>
            </a:endParaRPr>
          </a:p>
          <a:p>
            <a:pPr marL="0" marR="0" lvl="0" indent="0" algn="l" defTabSz="914400" rtl="0" eaLnBrk="1" fontAlgn="auto" latinLnBrk="0" hangingPunct="1">
              <a:lnSpc>
                <a:spcPts val="7711"/>
              </a:lnSpc>
              <a:spcBef>
                <a:spcPct val="0"/>
              </a:spcBef>
              <a:spcAft>
                <a:spcPts val="0"/>
              </a:spcAft>
              <a:buClrTx/>
              <a:buSzTx/>
              <a:buFontTx/>
              <a:buNone/>
              <a:tabLst/>
              <a:defRPr/>
            </a:pPr>
            <a:r>
              <a:rPr kumimoji="0" lang="en-US" sz="4800" b="0" i="0" u="none" strike="noStrike" kern="1200" cap="none" spc="0" normalizeH="0" baseline="0" noProof="0" dirty="0">
                <a:ln>
                  <a:noFill/>
                </a:ln>
                <a:solidFill>
                  <a:srgbClr val="0CC0DF"/>
                </a:solidFill>
                <a:effectLst/>
                <a:uLnTx/>
                <a:uFillTx/>
                <a:latin typeface="Now Bold"/>
                <a:ea typeface="+mn-ea"/>
                <a:cs typeface="+mn-cs"/>
              </a:rPr>
              <a:t>	</a:t>
            </a:r>
          </a:p>
        </p:txBody>
      </p:sp>
      <p:sp>
        <p:nvSpPr>
          <p:cNvPr id="10" name="TextBox 10">
            <a:extLst>
              <a:ext uri="{FF2B5EF4-FFF2-40B4-BE49-F238E27FC236}">
                <a16:creationId xmlns:a16="http://schemas.microsoft.com/office/drawing/2014/main" id="{B4512377-D221-79B3-D67B-CA5FC2716925}"/>
              </a:ext>
            </a:extLst>
          </p:cNvPr>
          <p:cNvSpPr txBox="1"/>
          <p:nvPr/>
        </p:nvSpPr>
        <p:spPr>
          <a:xfrm>
            <a:off x="1590683" y="4045492"/>
            <a:ext cx="15142855" cy="789703"/>
          </a:xfrm>
          <a:prstGeom prst="rect">
            <a:avLst/>
          </a:prstGeom>
        </p:spPr>
        <p:txBody>
          <a:bodyPr wrap="square" lIns="0" tIns="0" rIns="0" bIns="0" rtlCol="0" anchor="t">
            <a:spAutoFit/>
          </a:bodyPr>
          <a:lstStyle/>
          <a:p>
            <a:pPr marL="1371600" marR="0" lvl="3" indent="0" algn="l" defTabSz="914400" rtl="0" eaLnBrk="1" fontAlgn="auto" latinLnBrk="0" hangingPunct="1">
              <a:lnSpc>
                <a:spcPct val="100000"/>
              </a:lnSpc>
              <a:spcBef>
                <a:spcPts val="0"/>
              </a:spcBef>
              <a:spcAft>
                <a:spcPts val="0"/>
              </a:spcAft>
              <a:buClrTx/>
              <a:buSzTx/>
              <a:buFontTx/>
              <a:buNone/>
              <a:tabLst/>
              <a:defRPr/>
            </a:pPr>
            <a:endParaRPr kumimoji="0" lang="en-AU" sz="2479" b="0" i="0" u="none" strike="noStrike" kern="1200" cap="none" spc="-49" normalizeH="0" baseline="0" noProof="0" dirty="0">
              <a:ln>
                <a:noFill/>
              </a:ln>
              <a:solidFill>
                <a:srgbClr val="FFFFFF"/>
              </a:solidFill>
              <a:effectLst/>
              <a:uLnTx/>
              <a:uFillTx/>
              <a:latin typeface="DM Sans"/>
              <a:ea typeface="+mn-ea"/>
              <a:cs typeface="+mn-cs"/>
            </a:endParaRPr>
          </a:p>
          <a:p>
            <a:pPr marL="0" marR="0" lvl="0" indent="0" algn="l" defTabSz="914400" rtl="0" eaLnBrk="1" fontAlgn="auto" latinLnBrk="0" hangingPunct="1">
              <a:lnSpc>
                <a:spcPts val="3284"/>
              </a:lnSpc>
              <a:spcBef>
                <a:spcPts val="0"/>
              </a:spcBef>
              <a:spcAft>
                <a:spcPts val="0"/>
              </a:spcAft>
              <a:buClrTx/>
              <a:buSzTx/>
              <a:buFontTx/>
              <a:buNone/>
              <a:tabLst/>
              <a:defRPr/>
            </a:pPr>
            <a:endParaRPr kumimoji="0" lang="en-US" sz="2479" b="0" i="0" u="none" strike="noStrike" kern="1200" cap="none" spc="-49" normalizeH="0" baseline="0" noProof="0" dirty="0">
              <a:ln>
                <a:noFill/>
              </a:ln>
              <a:solidFill>
                <a:srgbClr val="FFFFFF"/>
              </a:solidFill>
              <a:effectLst/>
              <a:uLnTx/>
              <a:uFillTx/>
              <a:latin typeface="DM Sans"/>
              <a:ea typeface="+mn-ea"/>
              <a:cs typeface="+mn-cs"/>
            </a:endParaRPr>
          </a:p>
        </p:txBody>
      </p:sp>
      <p:sp>
        <p:nvSpPr>
          <p:cNvPr id="3" name="TextBox 10">
            <a:extLst>
              <a:ext uri="{FF2B5EF4-FFF2-40B4-BE49-F238E27FC236}">
                <a16:creationId xmlns:a16="http://schemas.microsoft.com/office/drawing/2014/main" id="{54B927CD-CA71-E6AC-1922-1BE6AC76F1D8}"/>
              </a:ext>
            </a:extLst>
          </p:cNvPr>
          <p:cNvSpPr txBox="1"/>
          <p:nvPr/>
        </p:nvSpPr>
        <p:spPr>
          <a:xfrm>
            <a:off x="1590683" y="4045492"/>
            <a:ext cx="15142855" cy="2588273"/>
          </a:xfrm>
          <a:prstGeom prst="rect">
            <a:avLst/>
          </a:prstGeom>
        </p:spPr>
        <p:txBody>
          <a:bodyPr wrap="square" lIns="0" tIns="0" rIns="0" bIns="0" rtlCol="0" anchor="t">
            <a:spAutoFit/>
          </a:bodyPr>
          <a:lstStyle/>
          <a:p>
            <a:pPr marL="914400" marR="0" lvl="2" indent="0" algn="l" defTabSz="914400" rtl="0" eaLnBrk="1" fontAlgn="auto" latinLnBrk="0" hangingPunct="1">
              <a:lnSpc>
                <a:spcPts val="3422"/>
              </a:lnSpc>
              <a:spcBef>
                <a:spcPts val="0"/>
              </a:spcBef>
              <a:spcAft>
                <a:spcPts val="0"/>
              </a:spcAft>
              <a:buClrTx/>
              <a:buSzTx/>
              <a:buFontTx/>
              <a:buNone/>
              <a:tabLst/>
              <a:defRPr/>
            </a:pPr>
            <a:br>
              <a:rPr kumimoji="0" lang="en-AU" sz="2479" b="0" i="0" u="none" strike="noStrike" kern="1200" cap="none" spc="-49" normalizeH="0" baseline="0" noProof="0" dirty="0">
                <a:ln>
                  <a:noFill/>
                </a:ln>
                <a:solidFill>
                  <a:prstClr val="white"/>
                </a:solidFill>
                <a:effectLst/>
                <a:uLnTx/>
                <a:uFillTx/>
                <a:latin typeface="DM Sans"/>
                <a:ea typeface="+mn-ea"/>
                <a:cs typeface="+mn-cs"/>
              </a:rPr>
            </a:br>
            <a:endParaRPr kumimoji="0" lang="en-AU" sz="2479" b="0" i="0" u="none" strike="noStrike" kern="1200" cap="none" spc="-49" normalizeH="0" baseline="0" noProof="0" dirty="0">
              <a:ln>
                <a:noFill/>
              </a:ln>
              <a:solidFill>
                <a:prstClr val="white"/>
              </a:solidFill>
              <a:effectLst/>
              <a:uLnTx/>
              <a:uFillTx/>
              <a:latin typeface="DM Sans"/>
              <a:ea typeface="+mn-ea"/>
              <a:cs typeface="+mn-cs"/>
            </a:endParaRPr>
          </a:p>
          <a:p>
            <a:pPr marL="1714500" marR="0" lvl="3" indent="-342900" algn="l" defTabSz="914400" rtl="0" eaLnBrk="1" fontAlgn="auto" latinLnBrk="0" hangingPunct="1">
              <a:lnSpc>
                <a:spcPts val="3422"/>
              </a:lnSpc>
              <a:spcBef>
                <a:spcPts val="0"/>
              </a:spcBef>
              <a:spcAft>
                <a:spcPts val="0"/>
              </a:spcAft>
              <a:buClrTx/>
              <a:buSzTx/>
              <a:buFont typeface="Arial" panose="020B0604020202020204" pitchFamily="34" charset="0"/>
              <a:buChar char="•"/>
              <a:tabLst/>
              <a:defRPr/>
            </a:pPr>
            <a:endParaRPr kumimoji="0" lang="en-AU" sz="2479" b="0" i="0" u="none" strike="noStrike" kern="1200" cap="none" spc="-49" normalizeH="0" baseline="0" noProof="0" dirty="0">
              <a:ln>
                <a:noFill/>
              </a:ln>
              <a:solidFill>
                <a:srgbClr val="FFFFFF"/>
              </a:solidFill>
              <a:effectLst/>
              <a:uLnTx/>
              <a:uFillTx/>
              <a:latin typeface="DM Sans"/>
              <a:ea typeface="+mn-ea"/>
              <a:cs typeface="+mn-cs"/>
            </a:endParaRPr>
          </a:p>
          <a:p>
            <a:pPr marL="457200" marR="0" lvl="1" indent="0" algn="l" defTabSz="914400" rtl="0" eaLnBrk="1" fontAlgn="auto" latinLnBrk="0" hangingPunct="1">
              <a:lnSpc>
                <a:spcPts val="3422"/>
              </a:lnSpc>
              <a:spcBef>
                <a:spcPts val="0"/>
              </a:spcBef>
              <a:spcAft>
                <a:spcPts val="0"/>
              </a:spcAft>
              <a:buClrTx/>
              <a:buSzTx/>
              <a:buFontTx/>
              <a:buNone/>
              <a:tabLst/>
              <a:defRPr/>
            </a:pPr>
            <a:endParaRPr kumimoji="0" lang="en-AU" sz="2800" b="0" i="0" u="none" strike="noStrike" kern="1200" cap="none" spc="0" normalizeH="0" baseline="0" noProof="0" dirty="0">
              <a:ln>
                <a:noFill/>
              </a:ln>
              <a:solidFill>
                <a:prstClr val="white"/>
              </a:solidFill>
              <a:effectLst/>
              <a:uLnTx/>
              <a:uFillTx/>
              <a:latin typeface="Calibri"/>
              <a:ea typeface="+mn-ea"/>
              <a:cs typeface="+mn-cs"/>
            </a:endParaRPr>
          </a:p>
          <a:p>
            <a:pPr marL="800100" marR="0" lvl="1" indent="-342900" algn="l" defTabSz="914400" rtl="0" eaLnBrk="1" fontAlgn="auto" latinLnBrk="0" hangingPunct="1">
              <a:lnSpc>
                <a:spcPts val="3422"/>
              </a:lnSpc>
              <a:spcBef>
                <a:spcPts val="0"/>
              </a:spcBef>
              <a:spcAft>
                <a:spcPts val="0"/>
              </a:spcAft>
              <a:buClrTx/>
              <a:buSzTx/>
              <a:buFont typeface="Arial" panose="020B0604020202020204" pitchFamily="34" charset="0"/>
              <a:buChar char="•"/>
              <a:tabLst/>
              <a:defRPr/>
            </a:pPr>
            <a:endParaRPr kumimoji="0" lang="en-AU" sz="2479" b="0" i="0" u="none" strike="noStrike" kern="1200" cap="none" spc="-49" normalizeH="0" baseline="0" noProof="0" dirty="0">
              <a:ln>
                <a:noFill/>
              </a:ln>
              <a:solidFill>
                <a:srgbClr val="FFFFFF"/>
              </a:solidFill>
              <a:effectLst/>
              <a:uLnTx/>
              <a:uFillTx/>
              <a:latin typeface="DM Sans"/>
              <a:ea typeface="+mn-ea"/>
              <a:cs typeface="+mn-cs"/>
            </a:endParaRPr>
          </a:p>
          <a:p>
            <a:pPr marL="0" marR="0" lvl="0" indent="0" algn="l" defTabSz="914400" rtl="0" eaLnBrk="1" fontAlgn="auto" latinLnBrk="0" hangingPunct="1">
              <a:lnSpc>
                <a:spcPts val="3284"/>
              </a:lnSpc>
              <a:spcBef>
                <a:spcPts val="0"/>
              </a:spcBef>
              <a:spcAft>
                <a:spcPts val="0"/>
              </a:spcAft>
              <a:buClrTx/>
              <a:buSzTx/>
              <a:buFontTx/>
              <a:buNone/>
              <a:tabLst/>
              <a:defRPr/>
            </a:pPr>
            <a:endParaRPr kumimoji="0" lang="en-US" sz="2479" b="0" i="0" u="none" strike="noStrike" kern="1200" cap="none" spc="-49" normalizeH="0" baseline="0" noProof="0" dirty="0">
              <a:ln>
                <a:noFill/>
              </a:ln>
              <a:solidFill>
                <a:srgbClr val="FFFFFF"/>
              </a:solidFill>
              <a:effectLst/>
              <a:uLnTx/>
              <a:uFillTx/>
              <a:latin typeface="DM Sans"/>
              <a:ea typeface="+mn-ea"/>
              <a:cs typeface="+mn-cs"/>
            </a:endParaRPr>
          </a:p>
        </p:txBody>
      </p:sp>
      <p:sp>
        <p:nvSpPr>
          <p:cNvPr id="4" name="TextBox 10">
            <a:extLst>
              <a:ext uri="{FF2B5EF4-FFF2-40B4-BE49-F238E27FC236}">
                <a16:creationId xmlns:a16="http://schemas.microsoft.com/office/drawing/2014/main" id="{6E4A79B4-61B8-8702-4FA4-2602AF960F99}"/>
              </a:ext>
            </a:extLst>
          </p:cNvPr>
          <p:cNvSpPr txBox="1"/>
          <p:nvPr/>
        </p:nvSpPr>
        <p:spPr>
          <a:xfrm>
            <a:off x="1639790" y="3408538"/>
            <a:ext cx="15142855" cy="5213991"/>
          </a:xfrm>
          <a:prstGeom prst="rect">
            <a:avLst/>
          </a:prstGeom>
        </p:spPr>
        <p:txBody>
          <a:bodyPr wrap="square" lIns="0" tIns="0" rIns="0" bIns="0" rtlCol="0" anchor="t">
            <a:spAutoFit/>
          </a:bodyPr>
          <a:lstStyle/>
          <a:p>
            <a:pPr marL="914400" marR="0" lvl="2" indent="0" algn="l" defTabSz="914400" rtl="0" eaLnBrk="1" fontAlgn="auto" latinLnBrk="0" hangingPunct="1">
              <a:lnSpc>
                <a:spcPts val="3422"/>
              </a:lnSpc>
              <a:spcBef>
                <a:spcPts val="0"/>
              </a:spcBef>
              <a:spcAft>
                <a:spcPts val="0"/>
              </a:spcAft>
              <a:buClrTx/>
              <a:buSzTx/>
              <a:buFontTx/>
              <a:buNone/>
              <a:tabLst/>
              <a:defRPr/>
            </a:pPr>
            <a:r>
              <a:rPr kumimoji="0" lang="en-AU" sz="2479" b="0" i="0" u="none" strike="noStrike" kern="1200" cap="none" spc="-49" normalizeH="0" baseline="0" noProof="0" dirty="0">
                <a:ln>
                  <a:noFill/>
                </a:ln>
                <a:solidFill>
                  <a:schemeClr val="bg1"/>
                </a:solidFill>
                <a:effectLst/>
                <a:uLnTx/>
                <a:uFillTx/>
                <a:latin typeface="DM Sans"/>
                <a:ea typeface="+mn-ea"/>
                <a:cs typeface="+mn-cs"/>
              </a:rPr>
              <a:t> </a:t>
            </a:r>
          </a:p>
          <a:p>
            <a:pPr marL="800100" lvl="1" indent="-342900">
              <a:lnSpc>
                <a:spcPts val="3422"/>
              </a:lnSpc>
              <a:buFont typeface="Arial" panose="020B0604020202020204" pitchFamily="34" charset="0"/>
              <a:buChar char="•"/>
              <a:defRPr/>
            </a:pPr>
            <a:r>
              <a:rPr lang="en-AU" sz="2479" spc="-49" dirty="0">
                <a:solidFill>
                  <a:schemeClr val="bg1"/>
                </a:solidFill>
                <a:latin typeface="DM Sans"/>
                <a:hlinkClick r:id="rId4">
                  <a:extLst>
                    <a:ext uri="{A12FA001-AC4F-418D-AE19-62706E023703}">
                      <ahyp:hlinkClr xmlns:ahyp="http://schemas.microsoft.com/office/drawing/2018/hyperlinkcolor" val="tx"/>
                    </a:ext>
                  </a:extLst>
                </a:hlinkClick>
              </a:rPr>
              <a:t>https://medium.com/@rbhatia46/cross-encoders-vs-bi-encoders-a-deep-dive-into-text-encoding-methods-d9aa890d6ca4</a:t>
            </a:r>
            <a:endParaRPr lang="en-AU" sz="2479" spc="-49" dirty="0">
              <a:solidFill>
                <a:schemeClr val="bg1"/>
              </a:solidFill>
              <a:latin typeface="DM Sans"/>
            </a:endParaRPr>
          </a:p>
          <a:p>
            <a:pPr marL="800100" lvl="1" indent="-342900">
              <a:lnSpc>
                <a:spcPts val="3422"/>
              </a:lnSpc>
              <a:buFont typeface="Arial" panose="020B0604020202020204" pitchFamily="34" charset="0"/>
              <a:buChar char="•"/>
              <a:defRPr/>
            </a:pPr>
            <a:endParaRPr lang="en-AU" sz="2479" spc="-49" dirty="0">
              <a:solidFill>
                <a:schemeClr val="bg1"/>
              </a:solidFill>
              <a:latin typeface="DM Sans"/>
            </a:endParaRPr>
          </a:p>
          <a:p>
            <a:pPr marL="800100" lvl="1" indent="-342900">
              <a:lnSpc>
                <a:spcPts val="3422"/>
              </a:lnSpc>
              <a:buFont typeface="Arial" panose="020B0604020202020204" pitchFamily="34" charset="0"/>
              <a:buChar char="•"/>
              <a:defRPr/>
            </a:pPr>
            <a:r>
              <a:rPr lang="en-US" sz="2479" spc="-49" dirty="0">
                <a:solidFill>
                  <a:schemeClr val="bg1"/>
                </a:solidFill>
                <a:latin typeface="DM Sans"/>
                <a:hlinkClick r:id="rId5">
                  <a:extLst>
                    <a:ext uri="{A12FA001-AC4F-418D-AE19-62706E023703}">
                      <ahyp:hlinkClr xmlns:ahyp="http://schemas.microsoft.com/office/drawing/2018/hyperlinkcolor" val="tx"/>
                    </a:ext>
                  </a:extLst>
                </a:hlinkClick>
              </a:rPr>
              <a:t>https://www.anthropic.com/engineering/building-effective-agents</a:t>
            </a:r>
            <a:endParaRPr lang="en-US" sz="2479" spc="-49" dirty="0">
              <a:solidFill>
                <a:schemeClr val="bg1"/>
              </a:solidFill>
              <a:latin typeface="DM Sans"/>
            </a:endParaRPr>
          </a:p>
          <a:p>
            <a:pPr marL="800100" lvl="1" indent="-342900">
              <a:lnSpc>
                <a:spcPts val="3422"/>
              </a:lnSpc>
              <a:buFont typeface="Arial" panose="020B0604020202020204" pitchFamily="34" charset="0"/>
              <a:buChar char="•"/>
              <a:defRPr/>
            </a:pPr>
            <a:endParaRPr lang="en-US" sz="2479" spc="-49" dirty="0">
              <a:solidFill>
                <a:schemeClr val="bg1"/>
              </a:solidFill>
              <a:latin typeface="DM Sans"/>
            </a:endParaRPr>
          </a:p>
          <a:p>
            <a:pPr marL="800100" lvl="1" indent="-342900">
              <a:lnSpc>
                <a:spcPts val="3422"/>
              </a:lnSpc>
              <a:buFont typeface="Arial" panose="020B0604020202020204" pitchFamily="34" charset="0"/>
              <a:buChar char="•"/>
              <a:defRPr/>
            </a:pPr>
            <a:r>
              <a:rPr lang="en-US" sz="2479" spc="-49" dirty="0">
                <a:solidFill>
                  <a:schemeClr val="bg1"/>
                </a:solidFill>
                <a:latin typeface="DM Sans"/>
                <a:hlinkClick r:id="rId6">
                  <a:extLst>
                    <a:ext uri="{A12FA001-AC4F-418D-AE19-62706E023703}">
                      <ahyp:hlinkClr xmlns:ahyp="http://schemas.microsoft.com/office/drawing/2018/hyperlinkcolor" val="tx"/>
                    </a:ext>
                  </a:extLst>
                </a:hlinkClick>
              </a:rPr>
              <a:t>https://huggingface.co/</a:t>
            </a:r>
            <a:endParaRPr lang="en-US" sz="2479" spc="-49" dirty="0">
              <a:solidFill>
                <a:schemeClr val="bg1"/>
              </a:solidFill>
              <a:latin typeface="DM Sans"/>
            </a:endParaRPr>
          </a:p>
          <a:p>
            <a:pPr marL="800100" lvl="1" indent="-342900">
              <a:lnSpc>
                <a:spcPts val="3422"/>
              </a:lnSpc>
              <a:buFont typeface="Arial" panose="020B0604020202020204" pitchFamily="34" charset="0"/>
              <a:buChar char="•"/>
              <a:defRPr/>
            </a:pPr>
            <a:endParaRPr lang="en-US" sz="2479" spc="-49" dirty="0">
              <a:solidFill>
                <a:schemeClr val="bg1"/>
              </a:solidFill>
              <a:latin typeface="DM Sans"/>
            </a:endParaRPr>
          </a:p>
          <a:p>
            <a:pPr marL="800100" lvl="1" indent="-342900">
              <a:lnSpc>
                <a:spcPts val="3422"/>
              </a:lnSpc>
              <a:buFont typeface="Arial" panose="020B0604020202020204" pitchFamily="34" charset="0"/>
              <a:buChar char="•"/>
              <a:defRPr/>
            </a:pPr>
            <a:r>
              <a:rPr lang="en-US" sz="2479" spc="-49" dirty="0">
                <a:solidFill>
                  <a:schemeClr val="bg1"/>
                </a:solidFill>
                <a:latin typeface="DM Sans"/>
                <a:hlinkClick r:id="rId7">
                  <a:extLst>
                    <a:ext uri="{A12FA001-AC4F-418D-AE19-62706E023703}">
                      <ahyp:hlinkClr xmlns:ahyp="http://schemas.microsoft.com/office/drawing/2018/hyperlinkcolor" val="tx"/>
                    </a:ext>
                  </a:extLst>
                </a:hlinkClick>
              </a:rPr>
              <a:t>https://medium.com/@pragyashukla2580/rag-retrieval-augmented-generation-for-your-own-documents-5e024267140e</a:t>
            </a:r>
            <a:endParaRPr lang="en-US" sz="2479" spc="-49" dirty="0">
              <a:solidFill>
                <a:schemeClr val="bg1"/>
              </a:solidFill>
              <a:latin typeface="DM Sans"/>
            </a:endParaRPr>
          </a:p>
          <a:p>
            <a:pPr marL="800100" lvl="1" indent="-342900">
              <a:lnSpc>
                <a:spcPts val="3422"/>
              </a:lnSpc>
              <a:buFont typeface="Arial" panose="020B0604020202020204" pitchFamily="34" charset="0"/>
              <a:buChar char="•"/>
              <a:defRP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defRPr/>
            </a:pPr>
            <a:endParaRPr kumimoji="0" lang="en-US" sz="2479" b="0" i="0" u="none" strike="noStrike" kern="1200" cap="none" spc="-49" normalizeH="0" baseline="0" noProof="0" dirty="0">
              <a:ln>
                <a:noFill/>
              </a:ln>
              <a:solidFill>
                <a:srgbClr val="FFFFFF"/>
              </a:solidFill>
              <a:effectLst/>
              <a:uLnTx/>
              <a:uFillTx/>
              <a:latin typeface="DM Sans"/>
              <a:ea typeface="+mn-ea"/>
              <a:cs typeface="+mn-cs"/>
            </a:endParaRPr>
          </a:p>
        </p:txBody>
      </p:sp>
    </p:spTree>
    <p:extLst>
      <p:ext uri="{BB962C8B-B14F-4D97-AF65-F5344CB8AC3E}">
        <p14:creationId xmlns:p14="http://schemas.microsoft.com/office/powerpoint/2010/main" val="84742818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6860DAB8-D206-932E-DBF4-1561A98FF8CE}"/>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0030A397-1499-C567-6B30-ADEF3D2B6169}"/>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Freeform 6">
            <a:extLst>
              <a:ext uri="{FF2B5EF4-FFF2-40B4-BE49-F238E27FC236}">
                <a16:creationId xmlns:a16="http://schemas.microsoft.com/office/drawing/2014/main" id="{82125F9D-7C69-572F-8388-DA3C5C4714A4}"/>
              </a:ext>
            </a:extLst>
          </p:cNvPr>
          <p:cNvSpPr/>
          <p:nvPr/>
        </p:nvSpPr>
        <p:spPr>
          <a:xfrm>
            <a:off x="-721096" y="840063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sp>
        <p:nvSpPr>
          <p:cNvPr id="9" name="TextBox 9">
            <a:extLst>
              <a:ext uri="{FF2B5EF4-FFF2-40B4-BE49-F238E27FC236}">
                <a16:creationId xmlns:a16="http://schemas.microsoft.com/office/drawing/2014/main" id="{42FD605C-E130-5722-AEFD-9B4632A5200F}"/>
              </a:ext>
            </a:extLst>
          </p:cNvPr>
          <p:cNvSpPr txBox="1"/>
          <p:nvPr/>
        </p:nvSpPr>
        <p:spPr>
          <a:xfrm>
            <a:off x="1559180" y="2129797"/>
            <a:ext cx="14497588" cy="3887603"/>
          </a:xfrm>
          <a:prstGeom prst="rect">
            <a:avLst/>
          </a:prstGeom>
        </p:spPr>
        <p:txBody>
          <a:bodyPr wrap="square" lIns="0" tIns="0" rIns="0" bIns="0" rtlCol="0" anchor="t">
            <a:spAutoFit/>
          </a:bodyPr>
          <a:lstStyle/>
          <a:p>
            <a:pPr marL="0" marR="0" lvl="0" indent="0" algn="l" defTabSz="914400" rtl="0" eaLnBrk="1" fontAlgn="auto" latinLnBrk="0" hangingPunct="1">
              <a:lnSpc>
                <a:spcPts val="7711"/>
              </a:lnSpc>
              <a:spcBef>
                <a:spcPct val="0"/>
              </a:spcBef>
              <a:spcAft>
                <a:spcPts val="0"/>
              </a:spcAft>
              <a:buClrTx/>
              <a:buSzTx/>
              <a:buFontTx/>
              <a:buNone/>
              <a:tabLst/>
              <a:defRPr/>
            </a:pPr>
            <a:r>
              <a:rPr kumimoji="0" lang="en-AU" sz="4800" b="0" i="0" u="none" strike="noStrike" kern="1200" cap="none" spc="0" normalizeH="0" baseline="0" noProof="0" dirty="0">
                <a:ln>
                  <a:noFill/>
                </a:ln>
                <a:solidFill>
                  <a:srgbClr val="0CC0DF"/>
                </a:solidFill>
                <a:effectLst/>
                <a:uLnTx/>
                <a:uFillTx/>
                <a:latin typeface="Now Bold"/>
                <a:ea typeface="+mn-ea"/>
                <a:cs typeface="+mn-cs"/>
              </a:rPr>
              <a:t>REFERENCES</a:t>
            </a:r>
          </a:p>
          <a:p>
            <a:pPr marL="0" marR="0" lvl="0" indent="0" algn="l" defTabSz="914400" rtl="0" eaLnBrk="1" fontAlgn="auto" latinLnBrk="0" hangingPunct="1">
              <a:lnSpc>
                <a:spcPts val="7711"/>
              </a:lnSpc>
              <a:spcBef>
                <a:spcPct val="0"/>
              </a:spcBef>
              <a:spcAft>
                <a:spcPts val="0"/>
              </a:spcAft>
              <a:buClrTx/>
              <a:buSzTx/>
              <a:buFontTx/>
              <a:buNone/>
              <a:tabLst/>
              <a:defRPr/>
            </a:pPr>
            <a:endParaRPr kumimoji="0" lang="en-AU" sz="4800" b="0" i="0" u="none" strike="noStrike" kern="1200" cap="none" spc="0" normalizeH="0" baseline="0" noProof="0" dirty="0">
              <a:ln>
                <a:noFill/>
              </a:ln>
              <a:solidFill>
                <a:srgbClr val="0CC0DF"/>
              </a:solidFill>
              <a:effectLst/>
              <a:uLnTx/>
              <a:uFillTx/>
              <a:latin typeface="Now Bold"/>
              <a:ea typeface="+mn-ea"/>
              <a:cs typeface="+mn-cs"/>
            </a:endParaRPr>
          </a:p>
          <a:p>
            <a:pPr marL="0" marR="0" lvl="0" indent="0" algn="l" defTabSz="914400" rtl="0" eaLnBrk="1" fontAlgn="auto" latinLnBrk="0" hangingPunct="1">
              <a:lnSpc>
                <a:spcPts val="7711"/>
              </a:lnSpc>
              <a:spcBef>
                <a:spcPct val="0"/>
              </a:spcBef>
              <a:spcAft>
                <a:spcPts val="0"/>
              </a:spcAft>
              <a:buClrTx/>
              <a:buSzTx/>
              <a:buFontTx/>
              <a:buNone/>
              <a:tabLst/>
              <a:defRPr/>
            </a:pPr>
            <a:endParaRPr kumimoji="0" lang="en-US" sz="4800" b="0" i="0" u="none" strike="noStrike" kern="1200" cap="none" spc="0" normalizeH="0" baseline="0" noProof="0" dirty="0">
              <a:ln>
                <a:noFill/>
              </a:ln>
              <a:solidFill>
                <a:srgbClr val="0CC0DF"/>
              </a:solidFill>
              <a:effectLst/>
              <a:uLnTx/>
              <a:uFillTx/>
              <a:latin typeface="Now Bold"/>
              <a:ea typeface="+mn-ea"/>
              <a:cs typeface="+mn-cs"/>
            </a:endParaRPr>
          </a:p>
          <a:p>
            <a:pPr marL="0" marR="0" lvl="0" indent="0" algn="l" defTabSz="914400" rtl="0" eaLnBrk="1" fontAlgn="auto" latinLnBrk="0" hangingPunct="1">
              <a:lnSpc>
                <a:spcPts val="7711"/>
              </a:lnSpc>
              <a:spcBef>
                <a:spcPct val="0"/>
              </a:spcBef>
              <a:spcAft>
                <a:spcPts val="0"/>
              </a:spcAft>
              <a:buClrTx/>
              <a:buSzTx/>
              <a:buFontTx/>
              <a:buNone/>
              <a:tabLst/>
              <a:defRPr/>
            </a:pPr>
            <a:r>
              <a:rPr kumimoji="0" lang="en-US" sz="4800" b="0" i="0" u="none" strike="noStrike" kern="1200" cap="none" spc="0" normalizeH="0" baseline="0" noProof="0" dirty="0">
                <a:ln>
                  <a:noFill/>
                </a:ln>
                <a:solidFill>
                  <a:srgbClr val="0CC0DF"/>
                </a:solidFill>
                <a:effectLst/>
                <a:uLnTx/>
                <a:uFillTx/>
                <a:latin typeface="Now Bold"/>
                <a:ea typeface="+mn-ea"/>
                <a:cs typeface="+mn-cs"/>
              </a:rPr>
              <a:t>	</a:t>
            </a:r>
          </a:p>
        </p:txBody>
      </p:sp>
      <p:sp>
        <p:nvSpPr>
          <p:cNvPr id="10" name="TextBox 10">
            <a:extLst>
              <a:ext uri="{FF2B5EF4-FFF2-40B4-BE49-F238E27FC236}">
                <a16:creationId xmlns:a16="http://schemas.microsoft.com/office/drawing/2014/main" id="{8F861968-9073-4C78-9131-330313624EA0}"/>
              </a:ext>
            </a:extLst>
          </p:cNvPr>
          <p:cNvSpPr txBox="1"/>
          <p:nvPr/>
        </p:nvSpPr>
        <p:spPr>
          <a:xfrm>
            <a:off x="1590683" y="4045492"/>
            <a:ext cx="15142855" cy="789703"/>
          </a:xfrm>
          <a:prstGeom prst="rect">
            <a:avLst/>
          </a:prstGeom>
        </p:spPr>
        <p:txBody>
          <a:bodyPr wrap="square" lIns="0" tIns="0" rIns="0" bIns="0" rtlCol="0" anchor="t">
            <a:spAutoFit/>
          </a:bodyPr>
          <a:lstStyle/>
          <a:p>
            <a:pPr marL="1371600" marR="0" lvl="3" indent="0" algn="l" defTabSz="914400" rtl="0" eaLnBrk="1" fontAlgn="auto" latinLnBrk="0" hangingPunct="1">
              <a:lnSpc>
                <a:spcPct val="100000"/>
              </a:lnSpc>
              <a:spcBef>
                <a:spcPts val="0"/>
              </a:spcBef>
              <a:spcAft>
                <a:spcPts val="0"/>
              </a:spcAft>
              <a:buClrTx/>
              <a:buSzTx/>
              <a:buFontTx/>
              <a:buNone/>
              <a:tabLst/>
              <a:defRPr/>
            </a:pPr>
            <a:endParaRPr kumimoji="0" lang="en-AU" sz="2479" b="0" i="0" u="none" strike="noStrike" kern="1200" cap="none" spc="-49" normalizeH="0" baseline="0" noProof="0" dirty="0">
              <a:ln>
                <a:noFill/>
              </a:ln>
              <a:solidFill>
                <a:srgbClr val="FFFFFF"/>
              </a:solidFill>
              <a:effectLst/>
              <a:uLnTx/>
              <a:uFillTx/>
              <a:latin typeface="DM Sans"/>
              <a:ea typeface="+mn-ea"/>
              <a:cs typeface="+mn-cs"/>
            </a:endParaRPr>
          </a:p>
          <a:p>
            <a:pPr marL="0" marR="0" lvl="0" indent="0" algn="l" defTabSz="914400" rtl="0" eaLnBrk="1" fontAlgn="auto" latinLnBrk="0" hangingPunct="1">
              <a:lnSpc>
                <a:spcPts val="3284"/>
              </a:lnSpc>
              <a:spcBef>
                <a:spcPts val="0"/>
              </a:spcBef>
              <a:spcAft>
                <a:spcPts val="0"/>
              </a:spcAft>
              <a:buClrTx/>
              <a:buSzTx/>
              <a:buFontTx/>
              <a:buNone/>
              <a:tabLst/>
              <a:defRPr/>
            </a:pPr>
            <a:endParaRPr kumimoji="0" lang="en-US" sz="2479" b="0" i="0" u="none" strike="noStrike" kern="1200" cap="none" spc="-49" normalizeH="0" baseline="0" noProof="0" dirty="0">
              <a:ln>
                <a:noFill/>
              </a:ln>
              <a:solidFill>
                <a:srgbClr val="FFFFFF"/>
              </a:solidFill>
              <a:effectLst/>
              <a:uLnTx/>
              <a:uFillTx/>
              <a:latin typeface="DM Sans"/>
              <a:ea typeface="+mn-ea"/>
              <a:cs typeface="+mn-cs"/>
            </a:endParaRPr>
          </a:p>
        </p:txBody>
      </p:sp>
      <p:sp>
        <p:nvSpPr>
          <p:cNvPr id="3" name="TextBox 10">
            <a:extLst>
              <a:ext uri="{FF2B5EF4-FFF2-40B4-BE49-F238E27FC236}">
                <a16:creationId xmlns:a16="http://schemas.microsoft.com/office/drawing/2014/main" id="{0D64AD3A-64C3-7CAF-7B81-6D4166E9E6FD}"/>
              </a:ext>
            </a:extLst>
          </p:cNvPr>
          <p:cNvSpPr txBox="1"/>
          <p:nvPr/>
        </p:nvSpPr>
        <p:spPr>
          <a:xfrm>
            <a:off x="1590683" y="4045492"/>
            <a:ext cx="15142855" cy="2588273"/>
          </a:xfrm>
          <a:prstGeom prst="rect">
            <a:avLst/>
          </a:prstGeom>
        </p:spPr>
        <p:txBody>
          <a:bodyPr wrap="square" lIns="0" tIns="0" rIns="0" bIns="0" rtlCol="0" anchor="t">
            <a:spAutoFit/>
          </a:bodyPr>
          <a:lstStyle/>
          <a:p>
            <a:pPr marL="914400" marR="0" lvl="2" indent="0" algn="l" defTabSz="914400" rtl="0" eaLnBrk="1" fontAlgn="auto" latinLnBrk="0" hangingPunct="1">
              <a:lnSpc>
                <a:spcPts val="3422"/>
              </a:lnSpc>
              <a:spcBef>
                <a:spcPts val="0"/>
              </a:spcBef>
              <a:spcAft>
                <a:spcPts val="0"/>
              </a:spcAft>
              <a:buClrTx/>
              <a:buSzTx/>
              <a:buFontTx/>
              <a:buNone/>
              <a:tabLst/>
              <a:defRPr/>
            </a:pPr>
            <a:br>
              <a:rPr kumimoji="0" lang="en-AU" sz="2479" b="0" i="0" u="none" strike="noStrike" kern="1200" cap="none" spc="-49" normalizeH="0" baseline="0" noProof="0" dirty="0">
                <a:ln>
                  <a:noFill/>
                </a:ln>
                <a:solidFill>
                  <a:prstClr val="white"/>
                </a:solidFill>
                <a:effectLst/>
                <a:uLnTx/>
                <a:uFillTx/>
                <a:latin typeface="DM Sans"/>
                <a:ea typeface="+mn-ea"/>
                <a:cs typeface="+mn-cs"/>
              </a:rPr>
            </a:br>
            <a:endParaRPr kumimoji="0" lang="en-AU" sz="2479" b="0" i="0" u="none" strike="noStrike" kern="1200" cap="none" spc="-49" normalizeH="0" baseline="0" noProof="0" dirty="0">
              <a:ln>
                <a:noFill/>
              </a:ln>
              <a:solidFill>
                <a:prstClr val="white"/>
              </a:solidFill>
              <a:effectLst/>
              <a:uLnTx/>
              <a:uFillTx/>
              <a:latin typeface="DM Sans"/>
              <a:ea typeface="+mn-ea"/>
              <a:cs typeface="+mn-cs"/>
            </a:endParaRPr>
          </a:p>
          <a:p>
            <a:pPr marL="1714500" marR="0" lvl="3" indent="-342900" algn="l" defTabSz="914400" rtl="0" eaLnBrk="1" fontAlgn="auto" latinLnBrk="0" hangingPunct="1">
              <a:lnSpc>
                <a:spcPts val="3422"/>
              </a:lnSpc>
              <a:spcBef>
                <a:spcPts val="0"/>
              </a:spcBef>
              <a:spcAft>
                <a:spcPts val="0"/>
              </a:spcAft>
              <a:buClrTx/>
              <a:buSzTx/>
              <a:buFont typeface="Arial" panose="020B0604020202020204" pitchFamily="34" charset="0"/>
              <a:buChar char="•"/>
              <a:tabLst/>
              <a:defRPr/>
            </a:pPr>
            <a:endParaRPr kumimoji="0" lang="en-AU" sz="2479" b="0" i="0" u="none" strike="noStrike" kern="1200" cap="none" spc="-49" normalizeH="0" baseline="0" noProof="0" dirty="0">
              <a:ln>
                <a:noFill/>
              </a:ln>
              <a:solidFill>
                <a:srgbClr val="FFFFFF"/>
              </a:solidFill>
              <a:effectLst/>
              <a:uLnTx/>
              <a:uFillTx/>
              <a:latin typeface="DM Sans"/>
              <a:ea typeface="+mn-ea"/>
              <a:cs typeface="+mn-cs"/>
            </a:endParaRPr>
          </a:p>
          <a:p>
            <a:pPr marL="457200" marR="0" lvl="1" indent="0" algn="l" defTabSz="914400" rtl="0" eaLnBrk="1" fontAlgn="auto" latinLnBrk="0" hangingPunct="1">
              <a:lnSpc>
                <a:spcPts val="3422"/>
              </a:lnSpc>
              <a:spcBef>
                <a:spcPts val="0"/>
              </a:spcBef>
              <a:spcAft>
                <a:spcPts val="0"/>
              </a:spcAft>
              <a:buClrTx/>
              <a:buSzTx/>
              <a:buFontTx/>
              <a:buNone/>
              <a:tabLst/>
              <a:defRPr/>
            </a:pPr>
            <a:endParaRPr kumimoji="0" lang="en-AU" sz="2800" b="0" i="0" u="none" strike="noStrike" kern="1200" cap="none" spc="0" normalizeH="0" baseline="0" noProof="0" dirty="0">
              <a:ln>
                <a:noFill/>
              </a:ln>
              <a:solidFill>
                <a:prstClr val="white"/>
              </a:solidFill>
              <a:effectLst/>
              <a:uLnTx/>
              <a:uFillTx/>
              <a:latin typeface="Calibri"/>
              <a:ea typeface="+mn-ea"/>
              <a:cs typeface="+mn-cs"/>
            </a:endParaRPr>
          </a:p>
          <a:p>
            <a:pPr marL="800100" marR="0" lvl="1" indent="-342900" algn="l" defTabSz="914400" rtl="0" eaLnBrk="1" fontAlgn="auto" latinLnBrk="0" hangingPunct="1">
              <a:lnSpc>
                <a:spcPts val="3422"/>
              </a:lnSpc>
              <a:spcBef>
                <a:spcPts val="0"/>
              </a:spcBef>
              <a:spcAft>
                <a:spcPts val="0"/>
              </a:spcAft>
              <a:buClrTx/>
              <a:buSzTx/>
              <a:buFont typeface="Arial" panose="020B0604020202020204" pitchFamily="34" charset="0"/>
              <a:buChar char="•"/>
              <a:tabLst/>
              <a:defRPr/>
            </a:pPr>
            <a:endParaRPr kumimoji="0" lang="en-AU" sz="2479" b="0" i="0" u="none" strike="noStrike" kern="1200" cap="none" spc="-49" normalizeH="0" baseline="0" noProof="0" dirty="0">
              <a:ln>
                <a:noFill/>
              </a:ln>
              <a:solidFill>
                <a:srgbClr val="FFFFFF"/>
              </a:solidFill>
              <a:effectLst/>
              <a:uLnTx/>
              <a:uFillTx/>
              <a:latin typeface="DM Sans"/>
              <a:ea typeface="+mn-ea"/>
              <a:cs typeface="+mn-cs"/>
            </a:endParaRPr>
          </a:p>
          <a:p>
            <a:pPr marL="0" marR="0" lvl="0" indent="0" algn="l" defTabSz="914400" rtl="0" eaLnBrk="1" fontAlgn="auto" latinLnBrk="0" hangingPunct="1">
              <a:lnSpc>
                <a:spcPts val="3284"/>
              </a:lnSpc>
              <a:spcBef>
                <a:spcPts val="0"/>
              </a:spcBef>
              <a:spcAft>
                <a:spcPts val="0"/>
              </a:spcAft>
              <a:buClrTx/>
              <a:buSzTx/>
              <a:buFontTx/>
              <a:buNone/>
              <a:tabLst/>
              <a:defRPr/>
            </a:pPr>
            <a:endParaRPr kumimoji="0" lang="en-US" sz="2479" b="0" i="0" u="none" strike="noStrike" kern="1200" cap="none" spc="-49" normalizeH="0" baseline="0" noProof="0" dirty="0">
              <a:ln>
                <a:noFill/>
              </a:ln>
              <a:solidFill>
                <a:srgbClr val="FFFFFF"/>
              </a:solidFill>
              <a:effectLst/>
              <a:uLnTx/>
              <a:uFillTx/>
              <a:latin typeface="DM Sans"/>
              <a:ea typeface="+mn-ea"/>
              <a:cs typeface="+mn-cs"/>
            </a:endParaRPr>
          </a:p>
        </p:txBody>
      </p:sp>
      <p:sp>
        <p:nvSpPr>
          <p:cNvPr id="4" name="TextBox 10">
            <a:extLst>
              <a:ext uri="{FF2B5EF4-FFF2-40B4-BE49-F238E27FC236}">
                <a16:creationId xmlns:a16="http://schemas.microsoft.com/office/drawing/2014/main" id="{4D7D7EDA-491C-2BEB-0614-6CF3ED3EC570}"/>
              </a:ext>
            </a:extLst>
          </p:cNvPr>
          <p:cNvSpPr txBox="1"/>
          <p:nvPr/>
        </p:nvSpPr>
        <p:spPr>
          <a:xfrm>
            <a:off x="1639790" y="3408538"/>
            <a:ext cx="15142855" cy="7317131"/>
          </a:xfrm>
          <a:prstGeom prst="rect">
            <a:avLst/>
          </a:prstGeom>
        </p:spPr>
        <p:txBody>
          <a:bodyPr wrap="square" lIns="0" tIns="0" rIns="0" bIns="0" rtlCol="0" anchor="t">
            <a:spAutoFit/>
          </a:bodyPr>
          <a:lstStyle/>
          <a:p>
            <a:pPr marL="285750" indent="-285750">
              <a:buFont typeface="Arial" panose="020B0604020202020204" pitchFamily="34" charset="0"/>
              <a:buChar char="•"/>
            </a:pPr>
            <a:r>
              <a:rPr lang="en-AU" sz="2800" dirty="0">
                <a:solidFill>
                  <a:schemeClr val="bg1"/>
                </a:solidFill>
              </a:rPr>
              <a:t>Anthropic — Tool Search Tool documentation </a:t>
            </a:r>
            <a:r>
              <a:rPr lang="en-AU" sz="2800" u="sng" dirty="0">
                <a:solidFill>
                  <a:schemeClr val="bg1"/>
                </a:solidFill>
                <a:hlinkClick r:id="rId4">
                  <a:extLst>
                    <a:ext uri="{A12FA001-AC4F-418D-AE19-62706E023703}">
                      <ahyp:hlinkClr xmlns:ahyp="http://schemas.microsoft.com/office/drawing/2018/hyperlinkcolor" val="tx"/>
                    </a:ext>
                  </a:extLst>
                </a:hlinkClick>
              </a:rPr>
              <a:t>https://platform.claude.com/docs/en/agents-and-tools/tool-use/tool-search-tool</a:t>
            </a:r>
            <a:endParaRPr lang="en-AU" sz="2800" u="sng" dirty="0">
              <a:solidFill>
                <a:schemeClr val="bg1"/>
              </a:solidFill>
            </a:endParaRPr>
          </a:p>
          <a:p>
            <a:pPr marL="285750" indent="-285750">
              <a:buFont typeface="Arial" panose="020B0604020202020204" pitchFamily="34" charset="0"/>
              <a:buChar char="•"/>
            </a:pPr>
            <a:endParaRPr lang="en-AU" sz="2800" dirty="0">
              <a:solidFill>
                <a:schemeClr val="bg1"/>
              </a:solidFill>
            </a:endParaRPr>
          </a:p>
          <a:p>
            <a:pPr marL="285750" indent="-285750">
              <a:buFont typeface="Arial" panose="020B0604020202020204" pitchFamily="34" charset="0"/>
              <a:buChar char="•"/>
            </a:pPr>
            <a:r>
              <a:rPr lang="en-AU" sz="2800" dirty="0">
                <a:solidFill>
                  <a:schemeClr val="bg1"/>
                </a:solidFill>
              </a:rPr>
              <a:t>Anthropic Engineering — Advanced Tool Use </a:t>
            </a:r>
            <a:r>
              <a:rPr lang="en-AU" sz="2800" u="sng" dirty="0">
                <a:solidFill>
                  <a:schemeClr val="bg1"/>
                </a:solidFill>
                <a:hlinkClick r:id="rId5">
                  <a:extLst>
                    <a:ext uri="{A12FA001-AC4F-418D-AE19-62706E023703}">
                      <ahyp:hlinkClr xmlns:ahyp="http://schemas.microsoft.com/office/drawing/2018/hyperlinkcolor" val="tx"/>
                    </a:ext>
                  </a:extLst>
                </a:hlinkClick>
              </a:rPr>
              <a:t>https://www.anthropic.com/engineering/advanced-tool-use</a:t>
            </a:r>
            <a:endParaRPr lang="en-AU" sz="2800" dirty="0">
              <a:solidFill>
                <a:schemeClr val="bg1"/>
              </a:solidFill>
            </a:endParaRPr>
          </a:p>
          <a:p>
            <a:pPr marL="285750" indent="-285750">
              <a:buFont typeface="Arial" panose="020B0604020202020204" pitchFamily="34" charset="0"/>
              <a:buChar char="•"/>
            </a:pPr>
            <a:r>
              <a:rPr lang="en-AU" sz="2800" dirty="0">
                <a:solidFill>
                  <a:schemeClr val="bg1"/>
                </a:solidFill>
              </a:rPr>
              <a:t>Anthropic Engineering — Code Execution with MCP </a:t>
            </a:r>
            <a:r>
              <a:rPr lang="en-AU" sz="2800" u="sng" dirty="0">
                <a:solidFill>
                  <a:schemeClr val="bg1"/>
                </a:solidFill>
                <a:hlinkClick r:id="rId6">
                  <a:extLst>
                    <a:ext uri="{A12FA001-AC4F-418D-AE19-62706E023703}">
                      <ahyp:hlinkClr xmlns:ahyp="http://schemas.microsoft.com/office/drawing/2018/hyperlinkcolor" val="tx"/>
                    </a:ext>
                  </a:extLst>
                </a:hlinkClick>
              </a:rPr>
              <a:t>https://www.anthropic.com/engineering/code-execution-with-mcp</a:t>
            </a:r>
            <a:endParaRPr lang="en-AU" sz="2800" u="sng" dirty="0">
              <a:solidFill>
                <a:schemeClr val="bg1"/>
              </a:solidFill>
            </a:endParaRPr>
          </a:p>
          <a:p>
            <a:pPr marL="285750" indent="-285750">
              <a:buFont typeface="Arial" panose="020B0604020202020204" pitchFamily="34" charset="0"/>
              <a:buChar char="•"/>
            </a:pPr>
            <a:endParaRPr lang="en-AU" sz="2800" dirty="0">
              <a:solidFill>
                <a:schemeClr val="bg1"/>
              </a:solidFill>
            </a:endParaRPr>
          </a:p>
          <a:p>
            <a:pPr marL="285750" indent="-285750">
              <a:buFont typeface="Arial" panose="020B0604020202020204" pitchFamily="34" charset="0"/>
              <a:buChar char="•"/>
            </a:pPr>
            <a:r>
              <a:rPr lang="en-AU" sz="2800" dirty="0">
                <a:solidFill>
                  <a:schemeClr val="bg1"/>
                </a:solidFill>
              </a:rPr>
              <a:t>RAG-MCP paper (</a:t>
            </a:r>
            <a:r>
              <a:rPr lang="en-AU" sz="2800" dirty="0" err="1">
                <a:solidFill>
                  <a:schemeClr val="bg1"/>
                </a:solidFill>
              </a:rPr>
              <a:t>arXiv</a:t>
            </a:r>
            <a:r>
              <a:rPr lang="en-AU" sz="2800" dirty="0">
                <a:solidFill>
                  <a:schemeClr val="bg1"/>
                </a:solidFill>
              </a:rPr>
              <a:t> 2505.03275) </a:t>
            </a:r>
            <a:r>
              <a:rPr lang="en-AU" sz="2800" u="sng" dirty="0">
                <a:solidFill>
                  <a:schemeClr val="bg1"/>
                </a:solidFill>
                <a:hlinkClick r:id="rId7">
                  <a:extLst>
                    <a:ext uri="{A12FA001-AC4F-418D-AE19-62706E023703}">
                      <ahyp:hlinkClr xmlns:ahyp="http://schemas.microsoft.com/office/drawing/2018/hyperlinkcolor" val="tx"/>
                    </a:ext>
                  </a:extLst>
                </a:hlinkClick>
              </a:rPr>
              <a:t>https://arxiv.org/pdf/2505.03275</a:t>
            </a:r>
            <a:endParaRPr lang="en-AU" sz="2800" u="sng" dirty="0">
              <a:solidFill>
                <a:schemeClr val="bg1"/>
              </a:solidFill>
            </a:endParaRPr>
          </a:p>
          <a:p>
            <a:pPr marL="285750" indent="-285750">
              <a:buFont typeface="Arial" panose="020B0604020202020204" pitchFamily="34" charset="0"/>
              <a:buChar char="•"/>
            </a:pPr>
            <a:endParaRPr lang="en-AU" sz="2800" dirty="0">
              <a:solidFill>
                <a:schemeClr val="bg1"/>
              </a:solidFill>
            </a:endParaRPr>
          </a:p>
          <a:p>
            <a:pPr marL="285750" indent="-285750">
              <a:buFont typeface="Arial" panose="020B0604020202020204" pitchFamily="34" charset="0"/>
              <a:buChar char="•"/>
            </a:pPr>
            <a:r>
              <a:rPr lang="en-AU" sz="2800" dirty="0">
                <a:solidFill>
                  <a:schemeClr val="bg1"/>
                </a:solidFill>
              </a:rPr>
              <a:t>Red Hat — Tool RAG: The Next Breakthrough in Scalable AI Agents </a:t>
            </a:r>
            <a:r>
              <a:rPr lang="en-AU" sz="2800" u="sng" dirty="0">
                <a:solidFill>
                  <a:schemeClr val="bg1"/>
                </a:solidFill>
                <a:hlinkClick r:id="rId8">
                  <a:extLst>
                    <a:ext uri="{A12FA001-AC4F-418D-AE19-62706E023703}">
                      <ahyp:hlinkClr xmlns:ahyp="http://schemas.microsoft.com/office/drawing/2018/hyperlinkcolor" val="tx"/>
                    </a:ext>
                  </a:extLst>
                </a:hlinkClick>
              </a:rPr>
              <a:t>https://next.redhat.com/2025/11/26/tool-rag-the-next-breakthrough-in-scalable-ai-agents/</a:t>
            </a:r>
            <a:endParaRPr lang="en-AU" sz="2800" u="sng" dirty="0">
              <a:solidFill>
                <a:schemeClr val="bg1"/>
              </a:solidFill>
            </a:endParaRPr>
          </a:p>
          <a:p>
            <a:pPr marL="285750" indent="-285750">
              <a:buFont typeface="Arial" panose="020B0604020202020204" pitchFamily="34" charset="0"/>
              <a:buChar char="•"/>
            </a:pPr>
            <a:endParaRPr lang="en-AU" sz="2800" dirty="0">
              <a:solidFill>
                <a:schemeClr val="bg1"/>
              </a:solidFill>
            </a:endParaRPr>
          </a:p>
          <a:p>
            <a:pPr marL="285750" indent="-285750">
              <a:buFont typeface="Arial" panose="020B0604020202020204" pitchFamily="34" charset="0"/>
              <a:buChar char="•"/>
            </a:pPr>
            <a:r>
              <a:rPr lang="en-AU" sz="2800" dirty="0">
                <a:solidFill>
                  <a:schemeClr val="bg1"/>
                </a:solidFill>
              </a:rPr>
              <a:t>Spring AI — Dynamic Tool Discovery (34-64% token savings) </a:t>
            </a:r>
            <a:r>
              <a:rPr lang="en-AU" sz="2800" u="sng" dirty="0">
                <a:solidFill>
                  <a:schemeClr val="bg1"/>
                </a:solidFill>
                <a:hlinkClick r:id="rId9">
                  <a:extLst>
                    <a:ext uri="{A12FA001-AC4F-418D-AE19-62706E023703}">
                      <ahyp:hlinkClr xmlns:ahyp="http://schemas.microsoft.com/office/drawing/2018/hyperlinkcolor" val="tx"/>
                    </a:ext>
                  </a:extLst>
                </a:hlinkClick>
              </a:rPr>
              <a:t>https://spring.io/blog/2025/12/11/spring-ai-tool-search-tools-tzolov/</a:t>
            </a:r>
            <a:endParaRPr lang="en-AU" sz="2800" dirty="0">
              <a:solidFill>
                <a:schemeClr val="bg1"/>
              </a:solidFill>
            </a:endParaRPr>
          </a:p>
          <a:p>
            <a:pPr marL="800100" lvl="1" indent="-342900">
              <a:lnSpc>
                <a:spcPts val="3422"/>
              </a:lnSpc>
              <a:buFont typeface="Arial" panose="020B0604020202020204" pitchFamily="34" charset="0"/>
              <a:buChar char="•"/>
              <a:defRPr/>
            </a:pPr>
            <a:endParaRPr lang="en-US" sz="2479" spc="-49" dirty="0">
              <a:solidFill>
                <a:srgbClr val="FFFFFF"/>
              </a:solidFill>
              <a:latin typeface="DM Sans"/>
            </a:endParaRPr>
          </a:p>
          <a:p>
            <a:pPr marL="800100" lvl="1" indent="-342900">
              <a:lnSpc>
                <a:spcPts val="3422"/>
              </a:lnSpc>
              <a:buFont typeface="Arial" panose="020B0604020202020204" pitchFamily="34" charset="0"/>
              <a:buChar char="•"/>
              <a:defRPr/>
            </a:pPr>
            <a:endParaRPr kumimoji="0" lang="en-US" sz="2479" b="0" i="0" u="none" strike="noStrike" kern="1200" cap="none" spc="-49" normalizeH="0" baseline="0" noProof="0" dirty="0">
              <a:ln>
                <a:noFill/>
              </a:ln>
              <a:solidFill>
                <a:srgbClr val="FFFFFF"/>
              </a:solidFill>
              <a:effectLst/>
              <a:uLnTx/>
              <a:uFillTx/>
              <a:latin typeface="DM Sans"/>
              <a:ea typeface="+mn-ea"/>
              <a:cs typeface="+mn-cs"/>
            </a:endParaRPr>
          </a:p>
        </p:txBody>
      </p:sp>
    </p:spTree>
    <p:extLst>
      <p:ext uri="{BB962C8B-B14F-4D97-AF65-F5344CB8AC3E}">
        <p14:creationId xmlns:p14="http://schemas.microsoft.com/office/powerpoint/2010/main" val="2723020447"/>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68A65E7F-ADDE-7C3D-B242-852FA59266A9}"/>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2929EEA3-A82B-5A1F-AFF1-3CE39A431745}"/>
              </a:ext>
            </a:extLst>
          </p:cNvPr>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Freeform 6">
            <a:extLst>
              <a:ext uri="{FF2B5EF4-FFF2-40B4-BE49-F238E27FC236}">
                <a16:creationId xmlns:a16="http://schemas.microsoft.com/office/drawing/2014/main" id="{9F057008-3901-B59C-A47F-441D4C7AD92C}"/>
              </a:ext>
            </a:extLst>
          </p:cNvPr>
          <p:cNvSpPr/>
          <p:nvPr/>
        </p:nvSpPr>
        <p:spPr>
          <a:xfrm>
            <a:off x="-721096" y="840063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a:alphaModFix amt="29000"/>
              <a:extLst>
                <a:ext uri="{96DAC541-7B7A-43D3-8B79-37D633B846F1}">
                  <asvg:svgBlip xmlns:asvg="http://schemas.microsoft.com/office/drawing/2016/SVG/main" r:embed="rId3"/>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sp>
        <p:nvSpPr>
          <p:cNvPr id="9" name="TextBox 9">
            <a:extLst>
              <a:ext uri="{FF2B5EF4-FFF2-40B4-BE49-F238E27FC236}">
                <a16:creationId xmlns:a16="http://schemas.microsoft.com/office/drawing/2014/main" id="{7CBE8AE4-86E8-3FBC-F08E-6F48F05C39A0}"/>
              </a:ext>
            </a:extLst>
          </p:cNvPr>
          <p:cNvSpPr txBox="1"/>
          <p:nvPr/>
        </p:nvSpPr>
        <p:spPr>
          <a:xfrm>
            <a:off x="1559180" y="2129797"/>
            <a:ext cx="14497588" cy="3887603"/>
          </a:xfrm>
          <a:prstGeom prst="rect">
            <a:avLst/>
          </a:prstGeom>
        </p:spPr>
        <p:txBody>
          <a:bodyPr wrap="square" lIns="0" tIns="0" rIns="0" bIns="0" rtlCol="0" anchor="t">
            <a:spAutoFit/>
          </a:bodyPr>
          <a:lstStyle/>
          <a:p>
            <a:pPr marL="0" marR="0" lvl="0" indent="0" algn="l" defTabSz="914400" rtl="0" eaLnBrk="1" fontAlgn="auto" latinLnBrk="0" hangingPunct="1">
              <a:lnSpc>
                <a:spcPts val="7711"/>
              </a:lnSpc>
              <a:spcBef>
                <a:spcPct val="0"/>
              </a:spcBef>
              <a:spcAft>
                <a:spcPts val="0"/>
              </a:spcAft>
              <a:buClrTx/>
              <a:buSzTx/>
              <a:buFontTx/>
              <a:buNone/>
              <a:tabLst/>
              <a:defRPr/>
            </a:pPr>
            <a:r>
              <a:rPr kumimoji="0" lang="en-AU" sz="4800" b="0" i="0" u="none" strike="noStrike" kern="1200" cap="none" spc="0" normalizeH="0" baseline="0" noProof="0" dirty="0">
                <a:ln>
                  <a:noFill/>
                </a:ln>
                <a:solidFill>
                  <a:srgbClr val="0CC0DF"/>
                </a:solidFill>
                <a:effectLst/>
                <a:uLnTx/>
                <a:uFillTx/>
                <a:latin typeface="Now Bold"/>
                <a:ea typeface="+mn-ea"/>
                <a:cs typeface="+mn-cs"/>
              </a:rPr>
              <a:t>REFERENCES</a:t>
            </a:r>
          </a:p>
          <a:p>
            <a:pPr marL="0" marR="0" lvl="0" indent="0" algn="l" defTabSz="914400" rtl="0" eaLnBrk="1" fontAlgn="auto" latinLnBrk="0" hangingPunct="1">
              <a:lnSpc>
                <a:spcPts val="7711"/>
              </a:lnSpc>
              <a:spcBef>
                <a:spcPct val="0"/>
              </a:spcBef>
              <a:spcAft>
                <a:spcPts val="0"/>
              </a:spcAft>
              <a:buClrTx/>
              <a:buSzTx/>
              <a:buFontTx/>
              <a:buNone/>
              <a:tabLst/>
              <a:defRPr/>
            </a:pPr>
            <a:endParaRPr kumimoji="0" lang="en-AU" sz="4800" b="0" i="0" u="none" strike="noStrike" kern="1200" cap="none" spc="0" normalizeH="0" baseline="0" noProof="0" dirty="0">
              <a:ln>
                <a:noFill/>
              </a:ln>
              <a:solidFill>
                <a:srgbClr val="0CC0DF"/>
              </a:solidFill>
              <a:effectLst/>
              <a:uLnTx/>
              <a:uFillTx/>
              <a:latin typeface="Now Bold"/>
              <a:ea typeface="+mn-ea"/>
              <a:cs typeface="+mn-cs"/>
            </a:endParaRPr>
          </a:p>
          <a:p>
            <a:pPr marL="0" marR="0" lvl="0" indent="0" algn="l" defTabSz="914400" rtl="0" eaLnBrk="1" fontAlgn="auto" latinLnBrk="0" hangingPunct="1">
              <a:lnSpc>
                <a:spcPts val="7711"/>
              </a:lnSpc>
              <a:spcBef>
                <a:spcPct val="0"/>
              </a:spcBef>
              <a:spcAft>
                <a:spcPts val="0"/>
              </a:spcAft>
              <a:buClrTx/>
              <a:buSzTx/>
              <a:buFontTx/>
              <a:buNone/>
              <a:tabLst/>
              <a:defRPr/>
            </a:pPr>
            <a:endParaRPr kumimoji="0" lang="en-US" sz="4800" b="0" i="0" u="none" strike="noStrike" kern="1200" cap="none" spc="0" normalizeH="0" baseline="0" noProof="0" dirty="0">
              <a:ln>
                <a:noFill/>
              </a:ln>
              <a:solidFill>
                <a:srgbClr val="0CC0DF"/>
              </a:solidFill>
              <a:effectLst/>
              <a:uLnTx/>
              <a:uFillTx/>
              <a:latin typeface="Now Bold"/>
              <a:ea typeface="+mn-ea"/>
              <a:cs typeface="+mn-cs"/>
            </a:endParaRPr>
          </a:p>
          <a:p>
            <a:pPr marL="0" marR="0" lvl="0" indent="0" algn="l" defTabSz="914400" rtl="0" eaLnBrk="1" fontAlgn="auto" latinLnBrk="0" hangingPunct="1">
              <a:lnSpc>
                <a:spcPts val="7711"/>
              </a:lnSpc>
              <a:spcBef>
                <a:spcPct val="0"/>
              </a:spcBef>
              <a:spcAft>
                <a:spcPts val="0"/>
              </a:spcAft>
              <a:buClrTx/>
              <a:buSzTx/>
              <a:buFontTx/>
              <a:buNone/>
              <a:tabLst/>
              <a:defRPr/>
            </a:pPr>
            <a:r>
              <a:rPr kumimoji="0" lang="en-US" sz="4800" b="0" i="0" u="none" strike="noStrike" kern="1200" cap="none" spc="0" normalizeH="0" baseline="0" noProof="0" dirty="0">
                <a:ln>
                  <a:noFill/>
                </a:ln>
                <a:solidFill>
                  <a:srgbClr val="0CC0DF"/>
                </a:solidFill>
                <a:effectLst/>
                <a:uLnTx/>
                <a:uFillTx/>
                <a:latin typeface="Now Bold"/>
                <a:ea typeface="+mn-ea"/>
                <a:cs typeface="+mn-cs"/>
              </a:rPr>
              <a:t>	</a:t>
            </a:r>
          </a:p>
        </p:txBody>
      </p:sp>
      <p:sp>
        <p:nvSpPr>
          <p:cNvPr id="10" name="TextBox 10">
            <a:extLst>
              <a:ext uri="{FF2B5EF4-FFF2-40B4-BE49-F238E27FC236}">
                <a16:creationId xmlns:a16="http://schemas.microsoft.com/office/drawing/2014/main" id="{D01C71FD-DE09-D2E7-21CD-A0AB03B4E968}"/>
              </a:ext>
            </a:extLst>
          </p:cNvPr>
          <p:cNvSpPr txBox="1"/>
          <p:nvPr/>
        </p:nvSpPr>
        <p:spPr>
          <a:xfrm>
            <a:off x="1590683" y="4045492"/>
            <a:ext cx="15142855" cy="789703"/>
          </a:xfrm>
          <a:prstGeom prst="rect">
            <a:avLst/>
          </a:prstGeom>
        </p:spPr>
        <p:txBody>
          <a:bodyPr wrap="square" lIns="0" tIns="0" rIns="0" bIns="0" rtlCol="0" anchor="t">
            <a:spAutoFit/>
          </a:bodyPr>
          <a:lstStyle/>
          <a:p>
            <a:pPr marL="1371600" marR="0" lvl="3" indent="0" algn="l" defTabSz="914400" rtl="0" eaLnBrk="1" fontAlgn="auto" latinLnBrk="0" hangingPunct="1">
              <a:lnSpc>
                <a:spcPct val="100000"/>
              </a:lnSpc>
              <a:spcBef>
                <a:spcPts val="0"/>
              </a:spcBef>
              <a:spcAft>
                <a:spcPts val="0"/>
              </a:spcAft>
              <a:buClrTx/>
              <a:buSzTx/>
              <a:buFontTx/>
              <a:buNone/>
              <a:tabLst/>
              <a:defRPr/>
            </a:pPr>
            <a:endParaRPr kumimoji="0" lang="en-AU" sz="2479" b="0" i="0" u="none" strike="noStrike" kern="1200" cap="none" spc="-49" normalizeH="0" baseline="0" noProof="0" dirty="0">
              <a:ln>
                <a:noFill/>
              </a:ln>
              <a:solidFill>
                <a:srgbClr val="FFFFFF"/>
              </a:solidFill>
              <a:effectLst/>
              <a:uLnTx/>
              <a:uFillTx/>
              <a:latin typeface="DM Sans"/>
              <a:ea typeface="+mn-ea"/>
              <a:cs typeface="+mn-cs"/>
            </a:endParaRPr>
          </a:p>
          <a:p>
            <a:pPr marL="0" marR="0" lvl="0" indent="0" algn="l" defTabSz="914400" rtl="0" eaLnBrk="1" fontAlgn="auto" latinLnBrk="0" hangingPunct="1">
              <a:lnSpc>
                <a:spcPts val="3284"/>
              </a:lnSpc>
              <a:spcBef>
                <a:spcPts val="0"/>
              </a:spcBef>
              <a:spcAft>
                <a:spcPts val="0"/>
              </a:spcAft>
              <a:buClrTx/>
              <a:buSzTx/>
              <a:buFontTx/>
              <a:buNone/>
              <a:tabLst/>
              <a:defRPr/>
            </a:pPr>
            <a:endParaRPr kumimoji="0" lang="en-US" sz="2479" b="0" i="0" u="none" strike="noStrike" kern="1200" cap="none" spc="-49" normalizeH="0" baseline="0" noProof="0" dirty="0">
              <a:ln>
                <a:noFill/>
              </a:ln>
              <a:solidFill>
                <a:srgbClr val="FFFFFF"/>
              </a:solidFill>
              <a:effectLst/>
              <a:uLnTx/>
              <a:uFillTx/>
              <a:latin typeface="DM Sans"/>
              <a:ea typeface="+mn-ea"/>
              <a:cs typeface="+mn-cs"/>
            </a:endParaRPr>
          </a:p>
        </p:txBody>
      </p:sp>
      <p:sp>
        <p:nvSpPr>
          <p:cNvPr id="3" name="TextBox 10">
            <a:extLst>
              <a:ext uri="{FF2B5EF4-FFF2-40B4-BE49-F238E27FC236}">
                <a16:creationId xmlns:a16="http://schemas.microsoft.com/office/drawing/2014/main" id="{463532DC-AE42-5229-00A0-79AB8E2F6957}"/>
              </a:ext>
            </a:extLst>
          </p:cNvPr>
          <p:cNvSpPr txBox="1"/>
          <p:nvPr/>
        </p:nvSpPr>
        <p:spPr>
          <a:xfrm>
            <a:off x="1590683" y="4045492"/>
            <a:ext cx="15142855" cy="2588273"/>
          </a:xfrm>
          <a:prstGeom prst="rect">
            <a:avLst/>
          </a:prstGeom>
        </p:spPr>
        <p:txBody>
          <a:bodyPr wrap="square" lIns="0" tIns="0" rIns="0" bIns="0" rtlCol="0" anchor="t">
            <a:spAutoFit/>
          </a:bodyPr>
          <a:lstStyle/>
          <a:p>
            <a:pPr marL="914400" marR="0" lvl="2" indent="0" algn="l" defTabSz="914400" rtl="0" eaLnBrk="1" fontAlgn="auto" latinLnBrk="0" hangingPunct="1">
              <a:lnSpc>
                <a:spcPts val="3422"/>
              </a:lnSpc>
              <a:spcBef>
                <a:spcPts val="0"/>
              </a:spcBef>
              <a:spcAft>
                <a:spcPts val="0"/>
              </a:spcAft>
              <a:buClrTx/>
              <a:buSzTx/>
              <a:buFontTx/>
              <a:buNone/>
              <a:tabLst/>
              <a:defRPr/>
            </a:pPr>
            <a:br>
              <a:rPr kumimoji="0" lang="en-AU" sz="2479" b="0" i="0" u="none" strike="noStrike" kern="1200" cap="none" spc="-49" normalizeH="0" baseline="0" noProof="0" dirty="0">
                <a:ln>
                  <a:noFill/>
                </a:ln>
                <a:solidFill>
                  <a:prstClr val="white"/>
                </a:solidFill>
                <a:effectLst/>
                <a:uLnTx/>
                <a:uFillTx/>
                <a:latin typeface="DM Sans"/>
                <a:ea typeface="+mn-ea"/>
                <a:cs typeface="+mn-cs"/>
              </a:rPr>
            </a:br>
            <a:endParaRPr kumimoji="0" lang="en-AU" sz="2479" b="0" i="0" u="none" strike="noStrike" kern="1200" cap="none" spc="-49" normalizeH="0" baseline="0" noProof="0" dirty="0">
              <a:ln>
                <a:noFill/>
              </a:ln>
              <a:solidFill>
                <a:prstClr val="white"/>
              </a:solidFill>
              <a:effectLst/>
              <a:uLnTx/>
              <a:uFillTx/>
              <a:latin typeface="DM Sans"/>
              <a:ea typeface="+mn-ea"/>
              <a:cs typeface="+mn-cs"/>
            </a:endParaRPr>
          </a:p>
          <a:p>
            <a:pPr marL="1714500" marR="0" lvl="3" indent="-342900" algn="l" defTabSz="914400" rtl="0" eaLnBrk="1" fontAlgn="auto" latinLnBrk="0" hangingPunct="1">
              <a:lnSpc>
                <a:spcPts val="3422"/>
              </a:lnSpc>
              <a:spcBef>
                <a:spcPts val="0"/>
              </a:spcBef>
              <a:spcAft>
                <a:spcPts val="0"/>
              </a:spcAft>
              <a:buClrTx/>
              <a:buSzTx/>
              <a:buFont typeface="Arial" panose="020B0604020202020204" pitchFamily="34" charset="0"/>
              <a:buChar char="•"/>
              <a:tabLst/>
              <a:defRPr/>
            </a:pPr>
            <a:endParaRPr kumimoji="0" lang="en-AU" sz="2479" b="0" i="0" u="none" strike="noStrike" kern="1200" cap="none" spc="-49" normalizeH="0" baseline="0" noProof="0" dirty="0">
              <a:ln>
                <a:noFill/>
              </a:ln>
              <a:solidFill>
                <a:srgbClr val="FFFFFF"/>
              </a:solidFill>
              <a:effectLst/>
              <a:uLnTx/>
              <a:uFillTx/>
              <a:latin typeface="DM Sans"/>
              <a:ea typeface="+mn-ea"/>
              <a:cs typeface="+mn-cs"/>
            </a:endParaRPr>
          </a:p>
          <a:p>
            <a:pPr marL="457200" marR="0" lvl="1" indent="0" algn="l" defTabSz="914400" rtl="0" eaLnBrk="1" fontAlgn="auto" latinLnBrk="0" hangingPunct="1">
              <a:lnSpc>
                <a:spcPts val="3422"/>
              </a:lnSpc>
              <a:spcBef>
                <a:spcPts val="0"/>
              </a:spcBef>
              <a:spcAft>
                <a:spcPts val="0"/>
              </a:spcAft>
              <a:buClrTx/>
              <a:buSzTx/>
              <a:buFontTx/>
              <a:buNone/>
              <a:tabLst/>
              <a:defRPr/>
            </a:pPr>
            <a:endParaRPr kumimoji="0" lang="en-AU" sz="2800" b="0" i="0" u="none" strike="noStrike" kern="1200" cap="none" spc="0" normalizeH="0" baseline="0" noProof="0" dirty="0">
              <a:ln>
                <a:noFill/>
              </a:ln>
              <a:solidFill>
                <a:prstClr val="white"/>
              </a:solidFill>
              <a:effectLst/>
              <a:uLnTx/>
              <a:uFillTx/>
              <a:latin typeface="Calibri"/>
              <a:ea typeface="+mn-ea"/>
              <a:cs typeface="+mn-cs"/>
            </a:endParaRPr>
          </a:p>
          <a:p>
            <a:pPr marL="800100" marR="0" lvl="1" indent="-342900" algn="l" defTabSz="914400" rtl="0" eaLnBrk="1" fontAlgn="auto" latinLnBrk="0" hangingPunct="1">
              <a:lnSpc>
                <a:spcPts val="3422"/>
              </a:lnSpc>
              <a:spcBef>
                <a:spcPts val="0"/>
              </a:spcBef>
              <a:spcAft>
                <a:spcPts val="0"/>
              </a:spcAft>
              <a:buClrTx/>
              <a:buSzTx/>
              <a:buFont typeface="Arial" panose="020B0604020202020204" pitchFamily="34" charset="0"/>
              <a:buChar char="•"/>
              <a:tabLst/>
              <a:defRPr/>
            </a:pPr>
            <a:endParaRPr kumimoji="0" lang="en-AU" sz="2479" b="0" i="0" u="none" strike="noStrike" kern="1200" cap="none" spc="-49" normalizeH="0" baseline="0" noProof="0" dirty="0">
              <a:ln>
                <a:noFill/>
              </a:ln>
              <a:solidFill>
                <a:srgbClr val="FFFFFF"/>
              </a:solidFill>
              <a:effectLst/>
              <a:uLnTx/>
              <a:uFillTx/>
              <a:latin typeface="DM Sans"/>
              <a:ea typeface="+mn-ea"/>
              <a:cs typeface="+mn-cs"/>
            </a:endParaRPr>
          </a:p>
          <a:p>
            <a:pPr marL="0" marR="0" lvl="0" indent="0" algn="l" defTabSz="914400" rtl="0" eaLnBrk="1" fontAlgn="auto" latinLnBrk="0" hangingPunct="1">
              <a:lnSpc>
                <a:spcPts val="3284"/>
              </a:lnSpc>
              <a:spcBef>
                <a:spcPts val="0"/>
              </a:spcBef>
              <a:spcAft>
                <a:spcPts val="0"/>
              </a:spcAft>
              <a:buClrTx/>
              <a:buSzTx/>
              <a:buFontTx/>
              <a:buNone/>
              <a:tabLst/>
              <a:defRPr/>
            </a:pPr>
            <a:endParaRPr kumimoji="0" lang="en-US" sz="2479" b="0" i="0" u="none" strike="noStrike" kern="1200" cap="none" spc="-49" normalizeH="0" baseline="0" noProof="0" dirty="0">
              <a:ln>
                <a:noFill/>
              </a:ln>
              <a:solidFill>
                <a:srgbClr val="FFFFFF"/>
              </a:solidFill>
              <a:effectLst/>
              <a:uLnTx/>
              <a:uFillTx/>
              <a:latin typeface="DM Sans"/>
              <a:ea typeface="+mn-ea"/>
              <a:cs typeface="+mn-cs"/>
            </a:endParaRPr>
          </a:p>
        </p:txBody>
      </p:sp>
      <p:sp>
        <p:nvSpPr>
          <p:cNvPr id="4" name="TextBox 10">
            <a:extLst>
              <a:ext uri="{FF2B5EF4-FFF2-40B4-BE49-F238E27FC236}">
                <a16:creationId xmlns:a16="http://schemas.microsoft.com/office/drawing/2014/main" id="{21B852D7-79F6-4616-8E7D-C492188D4FFE}"/>
              </a:ext>
            </a:extLst>
          </p:cNvPr>
          <p:cNvSpPr txBox="1"/>
          <p:nvPr/>
        </p:nvSpPr>
        <p:spPr>
          <a:xfrm>
            <a:off x="1639790" y="3408538"/>
            <a:ext cx="15142855" cy="6891374"/>
          </a:xfrm>
          <a:prstGeom prst="rect">
            <a:avLst/>
          </a:prstGeom>
        </p:spPr>
        <p:txBody>
          <a:bodyPr wrap="square" lIns="0" tIns="0" rIns="0" bIns="0" rtlCol="0" anchor="t">
            <a:spAutoFit/>
          </a:bodyPr>
          <a:lstStyle/>
          <a:p>
            <a:pPr marL="285750" indent="-285750">
              <a:buFont typeface="Arial" panose="020B0604020202020204" pitchFamily="34" charset="0"/>
              <a:buChar char="•"/>
            </a:pPr>
            <a:r>
              <a:rPr lang="en-AU" sz="2800" dirty="0">
                <a:solidFill>
                  <a:schemeClr val="bg1"/>
                </a:solidFill>
              </a:rPr>
              <a:t>Tool Learning with LLMs: A Survey (Qu et al., 2024) </a:t>
            </a:r>
            <a:r>
              <a:rPr lang="en-AU" sz="2800" u="sng" dirty="0">
                <a:solidFill>
                  <a:schemeClr val="bg1"/>
                </a:solidFill>
                <a:hlinkClick r:id="rId4">
                  <a:extLst>
                    <a:ext uri="{A12FA001-AC4F-418D-AE19-62706E023703}">
                      <ahyp:hlinkClr xmlns:ahyp="http://schemas.microsoft.com/office/drawing/2018/hyperlinkcolor" val="tx"/>
                    </a:ext>
                  </a:extLst>
                </a:hlinkClick>
              </a:rPr>
              <a:t>https://arxiv.org/abs/2405.17935</a:t>
            </a:r>
            <a:endParaRPr lang="en-AU" sz="2800" u="sng" dirty="0">
              <a:solidFill>
                <a:schemeClr val="bg1"/>
              </a:solidFill>
            </a:endParaRPr>
          </a:p>
          <a:p>
            <a:pPr marL="285750" indent="-285750">
              <a:buFont typeface="Arial" panose="020B0604020202020204" pitchFamily="34" charset="0"/>
              <a:buChar char="•"/>
            </a:pPr>
            <a:endParaRPr lang="en-AU" sz="2800" dirty="0">
              <a:solidFill>
                <a:schemeClr val="bg1"/>
              </a:solidFill>
            </a:endParaRPr>
          </a:p>
          <a:p>
            <a:pPr marL="285750" indent="-285750">
              <a:buFont typeface="Arial" panose="020B0604020202020204" pitchFamily="34" charset="0"/>
              <a:buChar char="•"/>
            </a:pPr>
            <a:r>
              <a:rPr lang="en-AU" sz="2800" dirty="0" err="1">
                <a:solidFill>
                  <a:schemeClr val="bg1"/>
                </a:solidFill>
              </a:rPr>
              <a:t>ToolLLM</a:t>
            </a:r>
            <a:r>
              <a:rPr lang="en-AU" sz="2800" dirty="0">
                <a:solidFill>
                  <a:schemeClr val="bg1"/>
                </a:solidFill>
              </a:rPr>
              <a:t> — Mastering 16,000+ Real-World APIs (ICLR 2024) </a:t>
            </a:r>
            <a:r>
              <a:rPr lang="en-AU" sz="2800" u="sng" dirty="0">
                <a:solidFill>
                  <a:schemeClr val="bg1"/>
                </a:solidFill>
                <a:hlinkClick r:id="rId5">
                  <a:extLst>
                    <a:ext uri="{A12FA001-AC4F-418D-AE19-62706E023703}">
                      <ahyp:hlinkClr xmlns:ahyp="http://schemas.microsoft.com/office/drawing/2018/hyperlinkcolor" val="tx"/>
                    </a:ext>
                  </a:extLst>
                </a:hlinkClick>
              </a:rPr>
              <a:t>https://arxiv.org/abs/2307.16789</a:t>
            </a:r>
            <a:endParaRPr lang="en-AU" sz="2800" u="sng" dirty="0">
              <a:solidFill>
                <a:schemeClr val="bg1"/>
              </a:solidFill>
            </a:endParaRPr>
          </a:p>
          <a:p>
            <a:pPr marL="285750" indent="-285750">
              <a:buFont typeface="Arial" panose="020B0604020202020204" pitchFamily="34" charset="0"/>
              <a:buChar char="•"/>
            </a:pPr>
            <a:endParaRPr lang="en-AU" sz="2800" dirty="0">
              <a:solidFill>
                <a:schemeClr val="bg1"/>
              </a:solidFill>
            </a:endParaRPr>
          </a:p>
          <a:p>
            <a:pPr marL="285750" indent="-285750">
              <a:buFont typeface="Arial" panose="020B0604020202020204" pitchFamily="34" charset="0"/>
              <a:buChar char="•"/>
            </a:pPr>
            <a:r>
              <a:rPr lang="en-AU" sz="2800" dirty="0">
                <a:solidFill>
                  <a:schemeClr val="bg1"/>
                </a:solidFill>
              </a:rPr>
              <a:t>Learning to Rewrite Tool Descriptions (</a:t>
            </a:r>
            <a:r>
              <a:rPr lang="en-AU" sz="2800" dirty="0" err="1">
                <a:solidFill>
                  <a:schemeClr val="bg1"/>
                </a:solidFill>
              </a:rPr>
              <a:t>arXiv</a:t>
            </a:r>
            <a:r>
              <a:rPr lang="en-AU" sz="2800" dirty="0">
                <a:solidFill>
                  <a:schemeClr val="bg1"/>
                </a:solidFill>
              </a:rPr>
              <a:t> 2602.20426) </a:t>
            </a:r>
            <a:r>
              <a:rPr lang="en-AU" sz="2800" u="sng" dirty="0">
                <a:solidFill>
                  <a:schemeClr val="bg1"/>
                </a:solidFill>
                <a:hlinkClick r:id="rId6">
                  <a:extLst>
                    <a:ext uri="{A12FA001-AC4F-418D-AE19-62706E023703}">
                      <ahyp:hlinkClr xmlns:ahyp="http://schemas.microsoft.com/office/drawing/2018/hyperlinkcolor" val="tx"/>
                    </a:ext>
                  </a:extLst>
                </a:hlinkClick>
              </a:rPr>
              <a:t>https://arxiv.org/html/2602.20426v1</a:t>
            </a:r>
            <a:endParaRPr lang="en-AU" sz="2800" u="sng" dirty="0">
              <a:solidFill>
                <a:schemeClr val="bg1"/>
              </a:solidFill>
            </a:endParaRPr>
          </a:p>
          <a:p>
            <a:pPr marL="285750" indent="-285750">
              <a:buFont typeface="Arial" panose="020B0604020202020204" pitchFamily="34" charset="0"/>
              <a:buChar char="•"/>
            </a:pPr>
            <a:endParaRPr lang="en-AU" sz="2800" dirty="0">
              <a:solidFill>
                <a:schemeClr val="bg1"/>
              </a:solidFill>
            </a:endParaRPr>
          </a:p>
          <a:p>
            <a:pPr marL="285750" indent="-285750">
              <a:buFont typeface="Arial" panose="020B0604020202020204" pitchFamily="34" charset="0"/>
              <a:buChar char="•"/>
            </a:pPr>
            <a:r>
              <a:rPr lang="en-AU" sz="2800" dirty="0">
                <a:solidFill>
                  <a:schemeClr val="bg1"/>
                </a:solidFill>
              </a:rPr>
              <a:t>Graph-Based Tool Search Engine (DEV Community) </a:t>
            </a:r>
            <a:r>
              <a:rPr lang="en-AU" sz="2800" u="sng" dirty="0">
                <a:solidFill>
                  <a:schemeClr val="bg1"/>
                </a:solidFill>
                <a:hlinkClick r:id="rId7">
                  <a:extLst>
                    <a:ext uri="{A12FA001-AC4F-418D-AE19-62706E023703}">
                      <ahyp:hlinkClr xmlns:ahyp="http://schemas.microsoft.com/office/drawing/2018/hyperlinkcolor" val="tx"/>
                    </a:ext>
                  </a:extLst>
                </a:hlinkClick>
              </a:rPr>
              <a:t>https://dev.to/sonaiengine/i-built-a-graph-based-tool-search-engine-for-llm-agents-heres-what-i-learned-after-1068-tools-4fj4</a:t>
            </a:r>
            <a:endParaRPr lang="en-AU" sz="2800" u="sng" dirty="0">
              <a:solidFill>
                <a:schemeClr val="bg1"/>
              </a:solidFill>
            </a:endParaRPr>
          </a:p>
          <a:p>
            <a:pPr marL="285750" indent="-285750">
              <a:buFont typeface="Arial" panose="020B0604020202020204" pitchFamily="34" charset="0"/>
              <a:buChar char="•"/>
            </a:pPr>
            <a:endParaRPr lang="en-AU" sz="2800" dirty="0">
              <a:solidFill>
                <a:schemeClr val="bg1"/>
              </a:solidFill>
            </a:endParaRPr>
          </a:p>
          <a:p>
            <a:pPr marL="285750" indent="-285750">
              <a:buFont typeface="Arial" panose="020B0604020202020204" pitchFamily="34" charset="0"/>
              <a:buChar char="•"/>
            </a:pPr>
            <a:r>
              <a:rPr lang="en-AU" sz="2800" dirty="0">
                <a:solidFill>
                  <a:schemeClr val="bg1"/>
                </a:solidFill>
              </a:rPr>
              <a:t>MCP Tool Search Guide (</a:t>
            </a:r>
            <a:r>
              <a:rPr lang="en-AU" sz="2800" dirty="0" err="1">
                <a:solidFill>
                  <a:schemeClr val="bg1"/>
                </a:solidFill>
              </a:rPr>
              <a:t>atcyrus.com</a:t>
            </a:r>
            <a:r>
              <a:rPr lang="en-AU" sz="2800" dirty="0">
                <a:solidFill>
                  <a:schemeClr val="bg1"/>
                </a:solidFill>
              </a:rPr>
              <a:t>) </a:t>
            </a:r>
            <a:r>
              <a:rPr lang="en-AU" sz="2800" u="sng" dirty="0">
                <a:solidFill>
                  <a:schemeClr val="bg1"/>
                </a:solidFill>
                <a:hlinkClick r:id="rId8">
                  <a:extLst>
                    <a:ext uri="{A12FA001-AC4F-418D-AE19-62706E023703}">
                      <ahyp:hlinkClr xmlns:ahyp="http://schemas.microsoft.com/office/drawing/2018/hyperlinkcolor" val="tx"/>
                    </a:ext>
                  </a:extLst>
                </a:hlinkClick>
              </a:rPr>
              <a:t>https://www.atcyrus.com/stories/mcp-tool-search-claude-code-context-pollution-guide</a:t>
            </a:r>
            <a:endParaRPr lang="en-AU" sz="2800" u="sng" dirty="0">
              <a:solidFill>
                <a:schemeClr val="bg1"/>
              </a:solidFill>
            </a:endParaRPr>
          </a:p>
          <a:p>
            <a:pPr marL="285750" indent="-285750">
              <a:buFont typeface="Arial" panose="020B0604020202020204" pitchFamily="34" charset="0"/>
              <a:buChar char="•"/>
            </a:pPr>
            <a:endParaRPr lang="en-AU" sz="2800" dirty="0">
              <a:solidFill>
                <a:schemeClr val="bg1"/>
              </a:solidFill>
            </a:endParaRPr>
          </a:p>
          <a:p>
            <a:pPr marL="285750" indent="-285750">
              <a:buFont typeface="Arial" panose="020B0604020202020204" pitchFamily="34" charset="0"/>
              <a:buChar char="•"/>
            </a:pPr>
            <a:r>
              <a:rPr lang="en-AU" sz="2800" dirty="0">
                <a:solidFill>
                  <a:schemeClr val="bg1"/>
                </a:solidFill>
              </a:rPr>
              <a:t>The MCP Tax: Hidden Costs (</a:t>
            </a:r>
            <a:r>
              <a:rPr lang="en-AU" sz="2800" dirty="0" err="1">
                <a:solidFill>
                  <a:schemeClr val="bg1"/>
                </a:solidFill>
              </a:rPr>
              <a:t>mmntm.net</a:t>
            </a:r>
            <a:r>
              <a:rPr lang="en-AU" sz="2800" dirty="0">
                <a:solidFill>
                  <a:schemeClr val="bg1"/>
                </a:solidFill>
              </a:rPr>
              <a:t>) </a:t>
            </a:r>
            <a:r>
              <a:rPr lang="en-AU" sz="2800" u="sng" dirty="0">
                <a:solidFill>
                  <a:schemeClr val="bg1"/>
                </a:solidFill>
                <a:hlinkClick r:id="rId9">
                  <a:extLst>
                    <a:ext uri="{A12FA001-AC4F-418D-AE19-62706E023703}">
                      <ahyp:hlinkClr xmlns:ahyp="http://schemas.microsoft.com/office/drawing/2018/hyperlinkcolor" val="tx"/>
                    </a:ext>
                  </a:extLst>
                </a:hlinkClick>
              </a:rPr>
              <a:t>https://www.mmntm.net/articles/mcp-context-tax</a:t>
            </a:r>
            <a:endParaRPr lang="en-AU" sz="2800" dirty="0">
              <a:solidFill>
                <a:schemeClr val="bg1"/>
              </a:solidFill>
            </a:endParaRPr>
          </a:p>
          <a:p>
            <a:pPr marL="800100" lvl="1" indent="-342900">
              <a:lnSpc>
                <a:spcPts val="3422"/>
              </a:lnSpc>
              <a:buFont typeface="Arial" panose="020B0604020202020204" pitchFamily="34" charset="0"/>
              <a:buChar char="•"/>
              <a:defRPr/>
            </a:pPr>
            <a:endParaRPr lang="en-US" sz="2479" spc="-49" dirty="0">
              <a:solidFill>
                <a:srgbClr val="FFFFFF"/>
              </a:solidFill>
              <a:latin typeface="DM Sans"/>
            </a:endParaRPr>
          </a:p>
          <a:p>
            <a:pPr marL="342900" indent="-342900">
              <a:lnSpc>
                <a:spcPts val="3422"/>
              </a:lnSpc>
              <a:buFont typeface="Arial" panose="020B0604020202020204" pitchFamily="34" charset="0"/>
              <a:buChar char="•"/>
              <a:defRPr/>
            </a:pPr>
            <a:r>
              <a:rPr lang="en-US" sz="2479" u="sng" spc="-49" dirty="0">
                <a:solidFill>
                  <a:srgbClr val="FFFFFF"/>
                </a:solidFill>
                <a:latin typeface="DM Sans"/>
              </a:rPr>
              <a:t>https://</a:t>
            </a:r>
            <a:r>
              <a:rPr lang="en-US" sz="2479" u="sng" spc="-49" dirty="0" err="1">
                <a:solidFill>
                  <a:srgbClr val="FFFFFF"/>
                </a:solidFill>
                <a:latin typeface="DM Sans"/>
              </a:rPr>
              <a:t>ollama.com</a:t>
            </a:r>
            <a:r>
              <a:rPr lang="en-US" sz="2479" u="sng" spc="-49" dirty="0">
                <a:solidFill>
                  <a:srgbClr val="FFFFFF"/>
                </a:solidFill>
                <a:latin typeface="DM Sans"/>
              </a:rPr>
              <a:t>/</a:t>
            </a:r>
          </a:p>
          <a:p>
            <a:pPr marL="800100" lvl="1" indent="-342900">
              <a:lnSpc>
                <a:spcPts val="3422"/>
              </a:lnSpc>
              <a:buFont typeface="Arial" panose="020B0604020202020204" pitchFamily="34" charset="0"/>
              <a:buChar char="•"/>
              <a:defRPr/>
            </a:pPr>
            <a:endParaRPr kumimoji="0" lang="en-US" sz="2479" b="0" i="0" u="none" strike="noStrike" kern="1200" cap="none" spc="-49" normalizeH="0" baseline="0" noProof="0" dirty="0">
              <a:ln>
                <a:noFill/>
              </a:ln>
              <a:solidFill>
                <a:srgbClr val="FFFFFF"/>
              </a:solidFill>
              <a:effectLst/>
              <a:uLnTx/>
              <a:uFillTx/>
              <a:latin typeface="DM Sans"/>
              <a:ea typeface="+mn-ea"/>
              <a:cs typeface="+mn-cs"/>
            </a:endParaRPr>
          </a:p>
        </p:txBody>
      </p:sp>
    </p:spTree>
    <p:extLst>
      <p:ext uri="{BB962C8B-B14F-4D97-AF65-F5344CB8AC3E}">
        <p14:creationId xmlns:p14="http://schemas.microsoft.com/office/powerpoint/2010/main" val="274688885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p:cNvGrpSpPr/>
        <p:nvPr/>
      </p:nvGrpSpPr>
      <p:grpSpPr>
        <a:xfrm>
          <a:off x="0" y="0"/>
          <a:ext cx="0" cy="0"/>
          <a:chOff x="0" y="0"/>
          <a:chExt cx="0" cy="0"/>
        </a:xfrm>
      </p:grpSpPr>
      <p:sp>
        <p:nvSpPr>
          <p:cNvPr id="2" name="Freeform 2"/>
          <p:cNvSpPr/>
          <p:nvPr/>
        </p:nvSpPr>
        <p:spPr>
          <a:xfrm>
            <a:off x="16683520" y="1590911"/>
            <a:ext cx="2651835" cy="2651835"/>
          </a:xfrm>
          <a:custGeom>
            <a:avLst/>
            <a:gdLst/>
            <a:ahLst/>
            <a:cxnLst/>
            <a:rect l="l" t="t" r="r" b="b"/>
            <a:pathLst>
              <a:path w="2651835" h="2651835">
                <a:moveTo>
                  <a:pt x="0" y="0"/>
                </a:moveTo>
                <a:lnTo>
                  <a:pt x="2651835" y="0"/>
                </a:lnTo>
                <a:lnTo>
                  <a:pt x="2651835" y="2651835"/>
                </a:lnTo>
                <a:lnTo>
                  <a:pt x="0" y="2651835"/>
                </a:lnTo>
                <a:lnTo>
                  <a:pt x="0" y="0"/>
                </a:lnTo>
                <a:close/>
              </a:path>
            </a:pathLst>
          </a:custGeom>
          <a:blipFill>
            <a:blip>
              <a:alphaModFix amt="20999"/>
              <a:extLst>
                <a:ext uri="{96DAC541-7B7A-43D3-8B79-37D633B846F1}">
                  <asvg:svgBlip xmlns:asvg="http://schemas.microsoft.com/office/drawing/2016/SVG/main" r:embed="rId2"/>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grpSp>
        <p:nvGrpSpPr>
          <p:cNvPr id="3" name="Group 3"/>
          <p:cNvGrpSpPr/>
          <p:nvPr/>
        </p:nvGrpSpPr>
        <p:grpSpPr>
          <a:xfrm>
            <a:off x="12852331" y="4851331"/>
            <a:ext cx="5435669" cy="5435669"/>
            <a:chOff x="0" y="0"/>
            <a:chExt cx="3331210" cy="3331210"/>
          </a:xfrm>
        </p:grpSpPr>
        <p:sp>
          <p:nvSpPr>
            <p:cNvPr id="4" name="Freeform 4"/>
            <p:cNvSpPr/>
            <p:nvPr/>
          </p:nvSpPr>
          <p:spPr>
            <a:xfrm>
              <a:off x="0" y="0"/>
              <a:ext cx="3331210" cy="3331210"/>
            </a:xfrm>
            <a:custGeom>
              <a:avLst/>
              <a:gdLst/>
              <a:ahLst/>
              <a:cxnLst/>
              <a:rect l="l" t="t" r="r" b="b"/>
              <a:pathLst>
                <a:path w="3331210" h="3331210">
                  <a:moveTo>
                    <a:pt x="3331210" y="3331210"/>
                  </a:moveTo>
                  <a:lnTo>
                    <a:pt x="0" y="3331210"/>
                  </a:lnTo>
                  <a:cubicBezTo>
                    <a:pt x="0" y="1490980"/>
                    <a:pt x="1490980" y="0"/>
                    <a:pt x="3331210" y="0"/>
                  </a:cubicBezTo>
                  <a:lnTo>
                    <a:pt x="3331210" y="3331210"/>
                  </a:lnTo>
                  <a:close/>
                </a:path>
              </a:pathLst>
            </a:custGeom>
            <a:blipFill>
              <a:blip r:embed="rId3"/>
              <a:stretch>
                <a:fillRect l="-145211" t="-11258" b="-51909"/>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grpSp>
      <p:sp>
        <p:nvSpPr>
          <p:cNvPr id="8" name="Freeform 8"/>
          <p:cNvSpPr/>
          <p:nvPr/>
        </p:nvSpPr>
        <p:spPr>
          <a:xfrm>
            <a:off x="-789475" y="-570381"/>
            <a:ext cx="2651835" cy="2651835"/>
          </a:xfrm>
          <a:custGeom>
            <a:avLst/>
            <a:gdLst/>
            <a:ahLst/>
            <a:cxnLst/>
            <a:rect l="l" t="t" r="r" b="b"/>
            <a:pathLst>
              <a:path w="2651835" h="2651835">
                <a:moveTo>
                  <a:pt x="0" y="0"/>
                </a:moveTo>
                <a:lnTo>
                  <a:pt x="2651836" y="0"/>
                </a:lnTo>
                <a:lnTo>
                  <a:pt x="2651836" y="2651835"/>
                </a:lnTo>
                <a:lnTo>
                  <a:pt x="0" y="2651835"/>
                </a:lnTo>
                <a:lnTo>
                  <a:pt x="0" y="0"/>
                </a:lnTo>
                <a:close/>
              </a:path>
            </a:pathLst>
          </a:custGeom>
          <a:blipFill>
            <a:blip>
              <a:alphaModFix amt="20999"/>
              <a:extLst>
                <a:ext uri="{96DAC541-7B7A-43D3-8B79-37D633B846F1}">
                  <asvg:svgBlip xmlns:asvg="http://schemas.microsoft.com/office/drawing/2016/SVG/main" r:embed="rId2"/>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Calibri"/>
              <a:ea typeface="+mn-ea"/>
              <a:cs typeface="+mn-cs"/>
            </a:endParaRPr>
          </a:p>
        </p:txBody>
      </p:sp>
      <p:sp>
        <p:nvSpPr>
          <p:cNvPr id="9" name="TextBox 9"/>
          <p:cNvSpPr txBox="1"/>
          <p:nvPr/>
        </p:nvSpPr>
        <p:spPr>
          <a:xfrm>
            <a:off x="2255514" y="6270223"/>
            <a:ext cx="9364819" cy="625877"/>
          </a:xfrm>
          <a:prstGeom prst="rect">
            <a:avLst/>
          </a:prstGeom>
        </p:spPr>
        <p:txBody>
          <a:bodyPr lIns="0" tIns="0" rIns="0" bIns="0" rtlCol="0" anchor="t">
            <a:spAutoFit/>
          </a:bodyPr>
          <a:lstStyle/>
          <a:p>
            <a:pPr marL="0" marR="0" lvl="0" indent="0" algn="l" defTabSz="914400" rtl="0" eaLnBrk="1" fontAlgn="auto" latinLnBrk="0" hangingPunct="1">
              <a:lnSpc>
                <a:spcPts val="5099"/>
              </a:lnSpc>
              <a:spcBef>
                <a:spcPct val="0"/>
              </a:spcBef>
              <a:spcAft>
                <a:spcPts val="0"/>
              </a:spcAft>
              <a:buClrTx/>
              <a:buSzTx/>
              <a:buFontTx/>
              <a:buNone/>
              <a:tabLst/>
              <a:defRPr/>
            </a:pPr>
            <a:r>
              <a:rPr kumimoji="0" lang="en-US" sz="3695" b="0" i="0" u="none" strike="noStrike" kern="1200" cap="none" spc="0" normalizeH="0" baseline="0" noProof="0" dirty="0">
                <a:ln>
                  <a:noFill/>
                </a:ln>
                <a:solidFill>
                  <a:srgbClr val="4BD1FB"/>
                </a:solidFill>
                <a:effectLst/>
                <a:uLnTx/>
                <a:uFillTx/>
                <a:latin typeface="DM Sans Bold"/>
                <a:ea typeface="+mn-ea"/>
                <a:cs typeface="+mn-cs"/>
              </a:rPr>
              <a:t>www.arcbita.org</a:t>
            </a:r>
          </a:p>
        </p:txBody>
      </p:sp>
      <p:sp>
        <p:nvSpPr>
          <p:cNvPr id="10" name="TextBox 10"/>
          <p:cNvSpPr txBox="1"/>
          <p:nvPr/>
        </p:nvSpPr>
        <p:spPr>
          <a:xfrm>
            <a:off x="2255514" y="4605913"/>
            <a:ext cx="10434893" cy="1299587"/>
          </a:xfrm>
          <a:prstGeom prst="rect">
            <a:avLst/>
          </a:prstGeom>
        </p:spPr>
        <p:txBody>
          <a:bodyPr lIns="0" tIns="0" rIns="0" bIns="0" rtlCol="0" anchor="t">
            <a:spAutoFit/>
          </a:bodyPr>
          <a:lstStyle/>
          <a:p>
            <a:pPr marL="0" marR="0" lvl="0" indent="0" algn="l" defTabSz="914400" rtl="0" eaLnBrk="1" fontAlgn="auto" latinLnBrk="0" hangingPunct="1">
              <a:lnSpc>
                <a:spcPts val="10543"/>
              </a:lnSpc>
              <a:spcBef>
                <a:spcPts val="0"/>
              </a:spcBef>
              <a:spcAft>
                <a:spcPts val="0"/>
              </a:spcAft>
              <a:buClrTx/>
              <a:buSzTx/>
              <a:buFontTx/>
              <a:buNone/>
              <a:tabLst/>
              <a:defRPr/>
            </a:pPr>
            <a:r>
              <a:rPr kumimoji="0" lang="en-US" sz="7530" b="0" i="0" u="none" strike="noStrike" kern="1200" cap="none" spc="459" normalizeH="0" baseline="0" noProof="0" dirty="0">
                <a:ln>
                  <a:noFill/>
                </a:ln>
                <a:solidFill>
                  <a:srgbClr val="FFFFFF"/>
                </a:solidFill>
                <a:effectLst/>
                <a:uLnTx/>
                <a:uFillTx/>
                <a:latin typeface="Now Bold"/>
                <a:ea typeface="+mn-ea"/>
                <a:cs typeface="+mn-cs"/>
              </a:rPr>
              <a:t>Thank you</a:t>
            </a:r>
          </a:p>
        </p:txBody>
      </p:sp>
      <p:sp>
        <p:nvSpPr>
          <p:cNvPr id="14" name="Freeform 6">
            <a:extLst>
              <a:ext uri="{FF2B5EF4-FFF2-40B4-BE49-F238E27FC236}">
                <a16:creationId xmlns:a16="http://schemas.microsoft.com/office/drawing/2014/main" id="{D71AA4F6-F73F-2AE9-D724-BE176C2CAA0F}"/>
              </a:ext>
            </a:extLst>
          </p:cNvPr>
          <p:cNvSpPr/>
          <p:nvPr/>
        </p:nvSpPr>
        <p:spPr>
          <a:xfrm>
            <a:off x="2236579" y="2324100"/>
            <a:ext cx="1182028" cy="1073533"/>
          </a:xfrm>
          <a:custGeom>
            <a:avLst/>
            <a:gdLst/>
            <a:ahLst/>
            <a:cxnLst/>
            <a:rect l="l" t="t" r="r" b="b"/>
            <a:pathLst>
              <a:path w="1182028" h="1073533">
                <a:moveTo>
                  <a:pt x="0" y="0"/>
                </a:moveTo>
                <a:lnTo>
                  <a:pt x="1182028" y="0"/>
                </a:lnTo>
                <a:lnTo>
                  <a:pt x="1182028" y="1073533"/>
                </a:lnTo>
                <a:lnTo>
                  <a:pt x="0" y="1073533"/>
                </a:lnTo>
                <a:lnTo>
                  <a:pt x="0" y="0"/>
                </a:lnTo>
                <a:close/>
              </a:path>
            </a:pathLst>
          </a:custGeom>
          <a:blipFill>
            <a:blip r:embed="rId4"/>
            <a:stretch>
              <a:fillRect/>
            </a:stretch>
          </a:blipFill>
        </p:spPr>
        <p:txBody>
          <a:bodyPr/>
          <a:lstStyle/>
          <a:p>
            <a:endParaRPr lang="en-AU"/>
          </a:p>
        </p:txBody>
      </p:sp>
      <p:sp>
        <p:nvSpPr>
          <p:cNvPr id="15" name="TextBox 8">
            <a:extLst>
              <a:ext uri="{FF2B5EF4-FFF2-40B4-BE49-F238E27FC236}">
                <a16:creationId xmlns:a16="http://schemas.microsoft.com/office/drawing/2014/main" id="{0FDABAF4-E7CF-0270-658C-8F560D9B61D5}"/>
              </a:ext>
            </a:extLst>
          </p:cNvPr>
          <p:cNvSpPr txBox="1"/>
          <p:nvPr/>
        </p:nvSpPr>
        <p:spPr>
          <a:xfrm>
            <a:off x="3626555" y="2460444"/>
            <a:ext cx="6889045" cy="788934"/>
          </a:xfrm>
          <a:prstGeom prst="rect">
            <a:avLst/>
          </a:prstGeom>
        </p:spPr>
        <p:txBody>
          <a:bodyPr lIns="0" tIns="0" rIns="0" bIns="0" rtlCol="0" anchor="t">
            <a:spAutoFit/>
          </a:bodyPr>
          <a:lstStyle/>
          <a:p>
            <a:pPr>
              <a:lnSpc>
                <a:spcPts val="3131"/>
              </a:lnSpc>
            </a:pPr>
            <a:r>
              <a:rPr lang="en-US" sz="2545" spc="-50" dirty="0">
                <a:solidFill>
                  <a:srgbClr val="FDFEFE"/>
                </a:solidFill>
                <a:latin typeface="DM Sans" pitchFamily="2" charset="0"/>
              </a:rPr>
              <a:t>ARC Training Centre for Behavioural </a:t>
            </a:r>
          </a:p>
          <a:p>
            <a:pPr>
              <a:lnSpc>
                <a:spcPts val="3131"/>
              </a:lnSpc>
            </a:pPr>
            <a:r>
              <a:rPr lang="en-US" sz="2545" spc="-50" dirty="0">
                <a:solidFill>
                  <a:srgbClr val="FDFEFE"/>
                </a:solidFill>
                <a:latin typeface="DM Sans" pitchFamily="2" charset="0"/>
              </a:rPr>
              <a:t>Insights for Technology Adoption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ARC BITA - Presentation template" id="{675569DD-F1F3-ED4C-AE95-8E1911D3B424}" vid="{3C59EA71-70CC-8844-8857-9FA3861BCA22}"/>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1824</TotalTime>
  <Words>8077</Words>
  <Application>Microsoft Macintosh PowerPoint</Application>
  <PresentationFormat>Custom</PresentationFormat>
  <Paragraphs>1482</Paragraphs>
  <Slides>100</Slides>
  <Notes>81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100</vt:i4>
      </vt:variant>
    </vt:vector>
  </HeadingPairs>
  <TitlesOfParts>
    <vt:vector size="109" baseType="lpstr">
      <vt:lpstr>Arial</vt:lpstr>
      <vt:lpstr>Calibri</vt:lpstr>
      <vt:lpstr>Cambria Math</vt:lpstr>
      <vt:lpstr>Now Bold</vt:lpstr>
      <vt:lpstr>DM Sans</vt:lpstr>
      <vt:lpstr>DM Sans Bold</vt:lpstr>
      <vt:lpstr>Roboto</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Arian Mashhady</dc:creator>
  <cp:lastModifiedBy>Arian Mashhady</cp:lastModifiedBy>
  <cp:revision>270</cp:revision>
  <dcterms:created xsi:type="dcterms:W3CDTF">2026-03-10T23:00:47Z</dcterms:created>
  <dcterms:modified xsi:type="dcterms:W3CDTF">2026-03-31T23:15:49Z</dcterms:modified>
  <dc:identifier>DAF92tty4Tw</dc:identifier>
</cp:coreProperties>
</file>