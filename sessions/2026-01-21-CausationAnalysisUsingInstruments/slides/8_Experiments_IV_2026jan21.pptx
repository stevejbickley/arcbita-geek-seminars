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6"/>
  </p:notesMasterIdLst>
  <p:handoutMasterIdLst>
    <p:handoutMasterId r:id="rId27"/>
  </p:handoutMasterIdLst>
  <p:sldIdLst>
    <p:sldId id="256" r:id="rId2"/>
    <p:sldId id="265" r:id="rId3"/>
    <p:sldId id="588" r:id="rId4"/>
    <p:sldId id="362" r:id="rId5"/>
    <p:sldId id="287" r:id="rId6"/>
    <p:sldId id="288" r:id="rId7"/>
    <p:sldId id="590" r:id="rId8"/>
    <p:sldId id="589" r:id="rId9"/>
    <p:sldId id="611" r:id="rId10"/>
    <p:sldId id="614" r:id="rId11"/>
    <p:sldId id="615" r:id="rId12"/>
    <p:sldId id="617" r:id="rId13"/>
    <p:sldId id="619" r:id="rId14"/>
    <p:sldId id="618" r:id="rId15"/>
    <p:sldId id="616" r:id="rId16"/>
    <p:sldId id="621" r:id="rId17"/>
    <p:sldId id="345" r:id="rId18"/>
    <p:sldId id="620" r:id="rId19"/>
    <p:sldId id="599" r:id="rId20"/>
    <p:sldId id="394" r:id="rId21"/>
    <p:sldId id="339" r:id="rId22"/>
    <p:sldId id="326" r:id="rId23"/>
    <p:sldId id="612" r:id="rId24"/>
    <p:sldId id="613" r:id="rId25"/>
  </p:sldIdLst>
  <p:sldSz cx="9144000" cy="6858000" type="screen4x3"/>
  <p:notesSz cx="6858000" cy="9144000"/>
  <p:defaultTextStyle>
    <a:defPPr>
      <a:defRPr lang="en-AU"/>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a:srgbClr val="009242"/>
    <a:srgbClr val="3333CC"/>
    <a:srgbClr val="EAEA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BFCBB0-9FA3-4B5C-A5B4-EE0B395B8CFD}" v="95" dt="2026-01-14T05:12:22.34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012" autoAdjust="0"/>
    <p:restoredTop sz="88957" autoAdjust="0"/>
  </p:normalViewPr>
  <p:slideViewPr>
    <p:cSldViewPr>
      <p:cViewPr varScale="1">
        <p:scale>
          <a:sx n="47" d="100"/>
          <a:sy n="47" d="100"/>
        </p:scale>
        <p:origin x="559" y="2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00" d="100"/>
        <a:sy n="100" d="100"/>
      </p:scale>
      <p:origin x="0" y="0"/>
    </p:cViewPr>
  </p:sorterViewPr>
  <p:notesViewPr>
    <p:cSldViewPr>
      <p:cViewPr varScale="1">
        <p:scale>
          <a:sx n="101" d="100"/>
          <a:sy n="101" d="100"/>
        </p:scale>
        <p:origin x="-3528"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ny Beatton" userId="4281827448b5c0de" providerId="LiveId" clId="{87A1A46A-D7D6-44C9-A686-0ACC92F0219F}"/>
    <pc:docChg chg="undo redo custSel addSld delSld modSld sldOrd">
      <pc:chgData name="Tony Beatton" userId="4281827448b5c0de" providerId="LiveId" clId="{87A1A46A-D7D6-44C9-A686-0ACC92F0219F}" dt="2026-01-14T04:18:13.724" v="1091" actId="20577"/>
      <pc:docMkLst>
        <pc:docMk/>
      </pc:docMkLst>
      <pc:sldChg chg="addSp modSp mod modNotesTx">
        <pc:chgData name="Tony Beatton" userId="4281827448b5c0de" providerId="LiveId" clId="{87A1A46A-D7D6-44C9-A686-0ACC92F0219F}" dt="2026-01-14T04:18:13.724" v="1091" actId="20577"/>
        <pc:sldMkLst>
          <pc:docMk/>
          <pc:sldMk cId="0" sldId="287"/>
        </pc:sldMkLst>
        <pc:spChg chg="add mod">
          <ac:chgData name="Tony Beatton" userId="4281827448b5c0de" providerId="LiveId" clId="{87A1A46A-D7D6-44C9-A686-0ACC92F0219F}" dt="2026-01-14T04:15:30.305" v="863" actId="113"/>
          <ac:spMkLst>
            <pc:docMk/>
            <pc:sldMk cId="0" sldId="287"/>
            <ac:spMk id="2" creationId="{BA32A556-472B-85C9-E408-75FCC0CF1C7A}"/>
          </ac:spMkLst>
        </pc:spChg>
        <pc:spChg chg="mod">
          <ac:chgData name="Tony Beatton" userId="4281827448b5c0de" providerId="LiveId" clId="{87A1A46A-D7D6-44C9-A686-0ACC92F0219F}" dt="2026-01-14T04:14:49.868" v="815" actId="6549"/>
          <ac:spMkLst>
            <pc:docMk/>
            <pc:sldMk cId="0" sldId="287"/>
            <ac:spMk id="4" creationId="{7A9A37FC-2602-012A-2565-81A9AEF0CCD4}"/>
          </ac:spMkLst>
        </pc:spChg>
      </pc:sldChg>
      <pc:sldChg chg="modSp add mod">
        <pc:chgData name="Tony Beatton" userId="4281827448b5c0de" providerId="LiveId" clId="{87A1A46A-D7D6-44C9-A686-0ACC92F0219F}" dt="2026-01-14T04:12:34.696" v="813" actId="27636"/>
        <pc:sldMkLst>
          <pc:docMk/>
          <pc:sldMk cId="1375838268" sldId="339"/>
        </pc:sldMkLst>
        <pc:spChg chg="mod">
          <ac:chgData name="Tony Beatton" userId="4281827448b5c0de" providerId="LiveId" clId="{87A1A46A-D7D6-44C9-A686-0ACC92F0219F}" dt="2026-01-14T04:12:34.696" v="813" actId="27636"/>
          <ac:spMkLst>
            <pc:docMk/>
            <pc:sldMk cId="1375838268" sldId="339"/>
            <ac:spMk id="3" creationId="{B56AAEDD-E05C-4273-A538-8F0866DFFFD0}"/>
          </ac:spMkLst>
        </pc:spChg>
      </pc:sldChg>
      <pc:sldChg chg="delSp modSp mod ord">
        <pc:chgData name="Tony Beatton" userId="4281827448b5c0de" providerId="LiveId" clId="{87A1A46A-D7D6-44C9-A686-0ACC92F0219F}" dt="2026-01-14T03:55:42.425" v="811"/>
        <pc:sldMkLst>
          <pc:docMk/>
          <pc:sldMk cId="4041224846" sldId="345"/>
        </pc:sldMkLst>
        <pc:spChg chg="mod">
          <ac:chgData name="Tony Beatton" userId="4281827448b5c0de" providerId="LiveId" clId="{87A1A46A-D7D6-44C9-A686-0ACC92F0219F}" dt="2026-01-14T03:38:03.483" v="128" actId="6549"/>
          <ac:spMkLst>
            <pc:docMk/>
            <pc:sldMk cId="4041224846" sldId="345"/>
            <ac:spMk id="2" creationId="{D82B25C7-7160-EC11-5EAA-41BD6753E34E}"/>
          </ac:spMkLst>
        </pc:spChg>
        <pc:spChg chg="del mod">
          <ac:chgData name="Tony Beatton" userId="4281827448b5c0de" providerId="LiveId" clId="{87A1A46A-D7D6-44C9-A686-0ACC92F0219F}" dt="2026-01-14T03:55:34.341" v="809"/>
          <ac:spMkLst>
            <pc:docMk/>
            <pc:sldMk cId="4041224846" sldId="345"/>
            <ac:spMk id="6" creationId="{E1504E2D-4942-4089-CADE-AE3027F0B5CC}"/>
          </ac:spMkLst>
        </pc:spChg>
      </pc:sldChg>
      <pc:sldChg chg="modSp mod">
        <pc:chgData name="Tony Beatton" userId="4281827448b5c0de" providerId="LiveId" clId="{87A1A46A-D7D6-44C9-A686-0ACC92F0219F}" dt="2026-01-14T03:31:52.376" v="7" actId="6549"/>
        <pc:sldMkLst>
          <pc:docMk/>
          <pc:sldMk cId="2422032363" sldId="362"/>
        </pc:sldMkLst>
        <pc:spChg chg="mod">
          <ac:chgData name="Tony Beatton" userId="4281827448b5c0de" providerId="LiveId" clId="{87A1A46A-D7D6-44C9-A686-0ACC92F0219F}" dt="2026-01-14T03:31:39.410" v="0" actId="6549"/>
          <ac:spMkLst>
            <pc:docMk/>
            <pc:sldMk cId="2422032363" sldId="362"/>
            <ac:spMk id="8" creationId="{4403B5C9-6A0B-A276-5FD8-6970C3BE8DF3}"/>
          </ac:spMkLst>
        </pc:spChg>
        <pc:spChg chg="mod">
          <ac:chgData name="Tony Beatton" userId="4281827448b5c0de" providerId="LiveId" clId="{87A1A46A-D7D6-44C9-A686-0ACC92F0219F}" dt="2026-01-14T03:31:52.376" v="7" actId="6549"/>
          <ac:spMkLst>
            <pc:docMk/>
            <pc:sldMk cId="2422032363" sldId="362"/>
            <ac:spMk id="10" creationId="{5D1132F8-8EEB-0DB4-C46B-13BEB060E204}"/>
          </ac:spMkLst>
        </pc:spChg>
      </pc:sldChg>
      <pc:sldChg chg="add">
        <pc:chgData name="Tony Beatton" userId="4281827448b5c0de" providerId="LiveId" clId="{87A1A46A-D7D6-44C9-A686-0ACC92F0219F}" dt="2026-01-14T04:12:34.600" v="812"/>
        <pc:sldMkLst>
          <pc:docMk/>
          <pc:sldMk cId="2271592181" sldId="394"/>
        </pc:sldMkLst>
      </pc:sldChg>
      <pc:sldChg chg="modSp">
        <pc:chgData name="Tony Beatton" userId="4281827448b5c0de" providerId="LiveId" clId="{87A1A46A-D7D6-44C9-A686-0ACC92F0219F}" dt="2026-01-14T03:37:08.745" v="125" actId="6549"/>
        <pc:sldMkLst>
          <pc:docMk/>
          <pc:sldMk cId="2708484363" sldId="589"/>
        </pc:sldMkLst>
        <pc:spChg chg="mod">
          <ac:chgData name="Tony Beatton" userId="4281827448b5c0de" providerId="LiveId" clId="{87A1A46A-D7D6-44C9-A686-0ACC92F0219F}" dt="2026-01-14T03:37:08.745" v="125" actId="6549"/>
          <ac:spMkLst>
            <pc:docMk/>
            <pc:sldMk cId="2708484363" sldId="589"/>
            <ac:spMk id="6" creationId="{1D9D2F30-4F1B-C7C6-B0C2-E56D49CC2B6B}"/>
          </ac:spMkLst>
        </pc:spChg>
      </pc:sldChg>
      <pc:sldChg chg="modSp mod">
        <pc:chgData name="Tony Beatton" userId="4281827448b5c0de" providerId="LiveId" clId="{87A1A46A-D7D6-44C9-A686-0ACC92F0219F}" dt="2026-01-14T03:34:16.721" v="39" actId="6549"/>
        <pc:sldMkLst>
          <pc:docMk/>
          <pc:sldMk cId="4093030129" sldId="590"/>
        </pc:sldMkLst>
        <pc:spChg chg="mod">
          <ac:chgData name="Tony Beatton" userId="4281827448b5c0de" providerId="LiveId" clId="{87A1A46A-D7D6-44C9-A686-0ACC92F0219F}" dt="2026-01-14T03:34:16.721" v="39" actId="6549"/>
          <ac:spMkLst>
            <pc:docMk/>
            <pc:sldMk cId="4093030129" sldId="590"/>
            <ac:spMk id="3" creationId="{69FABA2C-3857-F0D0-EA73-55E7462053B6}"/>
          </ac:spMkLst>
        </pc:spChg>
      </pc:sldChg>
      <pc:sldChg chg="addSp modSp mod">
        <pc:chgData name="Tony Beatton" userId="4281827448b5c0de" providerId="LiveId" clId="{87A1A46A-D7D6-44C9-A686-0ACC92F0219F}" dt="2026-01-14T03:54:02.123" v="766" actId="255"/>
        <pc:sldMkLst>
          <pc:docMk/>
          <pc:sldMk cId="2116714114" sldId="599"/>
        </pc:sldMkLst>
        <pc:spChg chg="mod">
          <ac:chgData name="Tony Beatton" userId="4281827448b5c0de" providerId="LiveId" clId="{87A1A46A-D7D6-44C9-A686-0ACC92F0219F}" dt="2026-01-14T03:54:02.123" v="766" actId="255"/>
          <ac:spMkLst>
            <pc:docMk/>
            <pc:sldMk cId="2116714114" sldId="599"/>
            <ac:spMk id="2" creationId="{D5F20201-8304-D2DF-40E7-61E20CD304A2}"/>
          </ac:spMkLst>
        </pc:spChg>
        <pc:spChg chg="add mod">
          <ac:chgData name="Tony Beatton" userId="4281827448b5c0de" providerId="LiveId" clId="{87A1A46A-D7D6-44C9-A686-0ACC92F0219F}" dt="2026-01-14T03:53:54.466" v="765" actId="20577"/>
          <ac:spMkLst>
            <pc:docMk/>
            <pc:sldMk cId="2116714114" sldId="599"/>
            <ac:spMk id="3" creationId="{9DD2E24B-455F-0B57-6AB0-DDFAA836E0D3}"/>
          </ac:spMkLst>
        </pc:spChg>
      </pc:sldChg>
      <pc:sldChg chg="del">
        <pc:chgData name="Tony Beatton" userId="4281827448b5c0de" providerId="LiveId" clId="{87A1A46A-D7D6-44C9-A686-0ACC92F0219F}" dt="2026-01-14T03:37:48.413" v="126" actId="2696"/>
        <pc:sldMkLst>
          <pc:docMk/>
          <pc:sldMk cId="1036535631" sldId="612"/>
        </pc:sldMkLst>
      </pc:sldChg>
      <pc:sldChg chg="add">
        <pc:chgData name="Tony Beatton" userId="4281827448b5c0de" providerId="LiveId" clId="{87A1A46A-D7D6-44C9-A686-0ACC92F0219F}" dt="2026-01-14T03:37:58.036" v="127"/>
        <pc:sldMkLst>
          <pc:docMk/>
          <pc:sldMk cId="3022630980" sldId="612"/>
        </pc:sldMkLst>
      </pc:sldChg>
      <pc:sldChg chg="del">
        <pc:chgData name="Tony Beatton" userId="4281827448b5c0de" providerId="LiveId" clId="{87A1A46A-D7D6-44C9-A686-0ACC92F0219F}" dt="2026-01-14T03:37:48.413" v="126" actId="2696"/>
        <pc:sldMkLst>
          <pc:docMk/>
          <pc:sldMk cId="1877579335" sldId="613"/>
        </pc:sldMkLst>
      </pc:sldChg>
      <pc:sldChg chg="add">
        <pc:chgData name="Tony Beatton" userId="4281827448b5c0de" providerId="LiveId" clId="{87A1A46A-D7D6-44C9-A686-0ACC92F0219F}" dt="2026-01-14T03:37:58.036" v="127"/>
        <pc:sldMkLst>
          <pc:docMk/>
          <pc:sldMk cId="4053833762" sldId="613"/>
        </pc:sldMkLst>
      </pc:sldChg>
      <pc:sldChg chg="modSp mod">
        <pc:chgData name="Tony Beatton" userId="4281827448b5c0de" providerId="LiveId" clId="{87A1A46A-D7D6-44C9-A686-0ACC92F0219F}" dt="2026-01-14T03:41:24.364" v="141" actId="1076"/>
        <pc:sldMkLst>
          <pc:docMk/>
          <pc:sldMk cId="665749763" sldId="618"/>
        </pc:sldMkLst>
        <pc:spChg chg="mod">
          <ac:chgData name="Tony Beatton" userId="4281827448b5c0de" providerId="LiveId" clId="{87A1A46A-D7D6-44C9-A686-0ACC92F0219F}" dt="2026-01-14T03:41:24.364" v="141" actId="1076"/>
          <ac:spMkLst>
            <pc:docMk/>
            <pc:sldMk cId="665749763" sldId="618"/>
            <ac:spMk id="12" creationId="{0A8C03EE-8D65-1987-2F94-FEC33B372E1E}"/>
          </ac:spMkLst>
        </pc:spChg>
      </pc:sldChg>
      <pc:sldChg chg="modSp mod ord">
        <pc:chgData name="Tony Beatton" userId="4281827448b5c0de" providerId="LiveId" clId="{87A1A46A-D7D6-44C9-A686-0ACC92F0219F}" dt="2026-01-14T03:55:00.155" v="806"/>
        <pc:sldMkLst>
          <pc:docMk/>
          <pc:sldMk cId="2021553692" sldId="620"/>
        </pc:sldMkLst>
        <pc:spChg chg="mod">
          <ac:chgData name="Tony Beatton" userId="4281827448b5c0de" providerId="LiveId" clId="{87A1A46A-D7D6-44C9-A686-0ACC92F0219F}" dt="2026-01-14T03:54:45.043" v="802" actId="6549"/>
          <ac:spMkLst>
            <pc:docMk/>
            <pc:sldMk cId="2021553692" sldId="620"/>
            <ac:spMk id="6" creationId="{F87A5A9A-7917-62DF-578D-F03587A7AFA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5ADF534-6D68-4BB0-1B43-CD1BC88C5371}"/>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en-AU"/>
          </a:p>
        </p:txBody>
      </p:sp>
      <p:sp>
        <p:nvSpPr>
          <p:cNvPr id="3" name="Date Placeholder 2">
            <a:extLst>
              <a:ext uri="{FF2B5EF4-FFF2-40B4-BE49-F238E27FC236}">
                <a16:creationId xmlns:a16="http://schemas.microsoft.com/office/drawing/2014/main" id="{5B07E0E7-A5C8-E1D7-F75D-03691356EC3D}"/>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endParaRPr lang="en-AU"/>
          </a:p>
        </p:txBody>
      </p:sp>
      <p:sp>
        <p:nvSpPr>
          <p:cNvPr id="4" name="Footer Placeholder 3">
            <a:extLst>
              <a:ext uri="{FF2B5EF4-FFF2-40B4-BE49-F238E27FC236}">
                <a16:creationId xmlns:a16="http://schemas.microsoft.com/office/drawing/2014/main" id="{DFDD0904-2DE5-AD4B-4277-C97DAE66AA2B}"/>
              </a:ext>
            </a:extLst>
          </p:cNvPr>
          <p:cNvSpPr>
            <a:spLocks noGrp="1"/>
          </p:cNvSpPr>
          <p:nvPr>
            <p:ph type="ftr" sz="quarter" idx="2"/>
          </p:nvPr>
        </p:nvSpPr>
        <p:spPr>
          <a:xfrm>
            <a:off x="0" y="8685213"/>
            <a:ext cx="3214688"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r>
              <a:rPr lang="en-AU"/>
              <a:t>BSB123 Lecture 01 Course Introduction</a:t>
            </a:r>
          </a:p>
        </p:txBody>
      </p:sp>
      <p:sp>
        <p:nvSpPr>
          <p:cNvPr id="5" name="Slide Number Placeholder 4">
            <a:extLst>
              <a:ext uri="{FF2B5EF4-FFF2-40B4-BE49-F238E27FC236}">
                <a16:creationId xmlns:a16="http://schemas.microsoft.com/office/drawing/2014/main" id="{35E4419B-703C-A7B0-33D3-E2E92222F194}"/>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9945B200-0351-464A-90A8-54952944169C}" type="slidenum">
              <a:rPr lang="en-AU" altLang="en-US"/>
              <a:pPr>
                <a:defRPr/>
              </a:pPr>
              <a:t>‹#›</a:t>
            </a:fld>
            <a:endParaRPr lang="en-AU"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EB3170C8-7C35-A46A-6B14-233B2468505E}"/>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charset="0"/>
              </a:defRPr>
            </a:lvl1pPr>
          </a:lstStyle>
          <a:p>
            <a:pPr>
              <a:defRPr/>
            </a:pPr>
            <a:endParaRPr lang="en-AU"/>
          </a:p>
        </p:txBody>
      </p:sp>
      <p:sp>
        <p:nvSpPr>
          <p:cNvPr id="36867" name="Rectangle 3">
            <a:extLst>
              <a:ext uri="{FF2B5EF4-FFF2-40B4-BE49-F238E27FC236}">
                <a16:creationId xmlns:a16="http://schemas.microsoft.com/office/drawing/2014/main" id="{D4055DD0-4056-A0E5-1647-67F72AB4B2CF}"/>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defRPr>
            </a:lvl1pPr>
          </a:lstStyle>
          <a:p>
            <a:pPr>
              <a:defRPr/>
            </a:pPr>
            <a:endParaRPr lang="en-AU"/>
          </a:p>
        </p:txBody>
      </p:sp>
      <p:sp>
        <p:nvSpPr>
          <p:cNvPr id="2052" name="Rectangle 4">
            <a:extLst>
              <a:ext uri="{FF2B5EF4-FFF2-40B4-BE49-F238E27FC236}">
                <a16:creationId xmlns:a16="http://schemas.microsoft.com/office/drawing/2014/main" id="{04B8CEDC-C452-1064-112B-522626EF2139}"/>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6869" name="Rectangle 5">
            <a:extLst>
              <a:ext uri="{FF2B5EF4-FFF2-40B4-BE49-F238E27FC236}">
                <a16:creationId xmlns:a16="http://schemas.microsoft.com/office/drawing/2014/main" id="{3600DF9F-A81E-D148-13A4-EE2AF89E476A}"/>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p>
        </p:txBody>
      </p:sp>
      <p:sp>
        <p:nvSpPr>
          <p:cNvPr id="36870" name="Rectangle 6">
            <a:extLst>
              <a:ext uri="{FF2B5EF4-FFF2-40B4-BE49-F238E27FC236}">
                <a16:creationId xmlns:a16="http://schemas.microsoft.com/office/drawing/2014/main" id="{5ADAFDBE-8186-C49C-4810-32F005D3A6C3}"/>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defRPr>
            </a:lvl1pPr>
          </a:lstStyle>
          <a:p>
            <a:pPr>
              <a:defRPr/>
            </a:pPr>
            <a:r>
              <a:rPr lang="en-AU"/>
              <a:t>BSB123 Lecture 01 Course Introduction</a:t>
            </a:r>
          </a:p>
        </p:txBody>
      </p:sp>
      <p:sp>
        <p:nvSpPr>
          <p:cNvPr id="36871" name="Rectangle 7">
            <a:extLst>
              <a:ext uri="{FF2B5EF4-FFF2-40B4-BE49-F238E27FC236}">
                <a16:creationId xmlns:a16="http://schemas.microsoft.com/office/drawing/2014/main" id="{44FA555C-F71A-6950-2E91-58BE50D977C2}"/>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A4246D5A-FEEF-4B49-B12E-FBB78B5EC012}" type="slidenum">
              <a:rPr lang="en-AU" altLang="en-US"/>
              <a:pPr>
                <a:defRPr/>
              </a:pPr>
              <a:t>‹#›</a:t>
            </a:fld>
            <a:endParaRPr lang="en-AU" altLang="en-US"/>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aihw.gov.au/reports/overweight-obesity/a-picture-of-overweight-and-obesity-in-australia/summary"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www.worldbank.org/" TargetMode="External"/><Relationship Id="rId5" Type="http://schemas.openxmlformats.org/officeDocument/2006/relationships/hyperlink" Target="https://www.health.gov.au/sites/default/files/documents/2022/03/national-obesity-strategy-2022-2032-at-a-glance-summary-with-a-logic-framework_0.pdf" TargetMode="External"/><Relationship Id="rId4" Type="http://schemas.openxmlformats.org/officeDocument/2006/relationships/hyperlink" Target="https://www.abs.gov.au/statistics/health/health-conditions-and-risks/waist-circumference-and-bmi/2017-18"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a:extLst>
              <a:ext uri="{FF2B5EF4-FFF2-40B4-BE49-F238E27FC236}">
                <a16:creationId xmlns:a16="http://schemas.microsoft.com/office/drawing/2014/main" id="{ABD66358-C73F-8249-A3C5-16DCA083CEF2}"/>
              </a:ext>
            </a:extLst>
          </p:cNvPr>
          <p:cNvSpPr>
            <a:spLocks noGrp="1" noRot="1" noChangeAspect="1" noChangeArrowheads="1" noTextEdit="1"/>
          </p:cNvSpPr>
          <p:nvPr>
            <p:ph type="sldImg"/>
          </p:nvPr>
        </p:nvSpPr>
        <p:spPr>
          <a:ln/>
        </p:spPr>
        <p:txBody>
          <a:bodyPr/>
          <a:lstStyle/>
          <a:p>
            <a:endParaRPr lang="en-AU"/>
          </a:p>
        </p:txBody>
      </p:sp>
      <p:sp>
        <p:nvSpPr>
          <p:cNvPr id="5123" name="Notes Placeholder 2">
            <a:extLst>
              <a:ext uri="{FF2B5EF4-FFF2-40B4-BE49-F238E27FC236}">
                <a16:creationId xmlns:a16="http://schemas.microsoft.com/office/drawing/2014/main" id="{490CD49F-8F17-4B37-0702-67AFC9A7EF3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5124" name="Slide Number Placeholder 3">
            <a:extLst>
              <a:ext uri="{FF2B5EF4-FFF2-40B4-BE49-F238E27FC236}">
                <a16:creationId xmlns:a16="http://schemas.microsoft.com/office/drawing/2014/main" id="{B15A3F85-E297-F2D1-8032-BE0702916D2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4333861D-2B04-4A79-8CF2-460B9DB74796}" type="slidenum">
              <a:rPr lang="en-AU" altLang="en-US" smtClean="0"/>
              <a:pPr>
                <a:spcBef>
                  <a:spcPct val="0"/>
                </a:spcBef>
              </a:pPr>
              <a:t>1</a:t>
            </a:fld>
            <a:endParaRPr lang="en-AU" altLang="en-US" dirty="0"/>
          </a:p>
        </p:txBody>
      </p:sp>
      <p:sp>
        <p:nvSpPr>
          <p:cNvPr id="5125" name="Footer Placeholder 4">
            <a:extLst>
              <a:ext uri="{FF2B5EF4-FFF2-40B4-BE49-F238E27FC236}">
                <a16:creationId xmlns:a16="http://schemas.microsoft.com/office/drawing/2014/main" id="{37380D7E-273C-2F7B-8D62-132194216486}"/>
              </a:ext>
            </a:extLst>
          </p:cNvPr>
          <p:cNvSpPr>
            <a:spLocks noGrp="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r>
              <a:rPr lang="en-AU" altLang="en-US" dirty="0"/>
              <a:t>BSB123 Lecture 01 Course Introduction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US" dirty="0"/>
              <a:t>Properties of OLS under Assumptions </a:t>
            </a:r>
          </a:p>
          <a:p>
            <a:r>
              <a:rPr lang="en-US" dirty="0"/>
              <a:t>OLS estimators are linear functions of the data </a:t>
            </a:r>
          </a:p>
          <a:p>
            <a:r>
              <a:rPr lang="en-US" dirty="0"/>
              <a:t>OLS estimators are unbiased: the mean value of the sampling distribution is equal to the population value of the parameter </a:t>
            </a:r>
          </a:p>
          <a:p>
            <a:r>
              <a:rPr lang="en-US" dirty="0"/>
              <a:t>OLS estimators are efficient: they have the smallest variance of all possible linear estimators of the population regression parameters </a:t>
            </a:r>
          </a:p>
          <a:p>
            <a:r>
              <a:rPr lang="en-US" dirty="0"/>
              <a:t>In short OLS estimators are BLUE – Best Linear Unbiased Estimators. </a:t>
            </a:r>
          </a:p>
          <a:p>
            <a:r>
              <a:rPr lang="en-US" dirty="0"/>
              <a:t>OLS estimators are Normally Distributed</a:t>
            </a:r>
            <a:endParaRPr lang="en-AU" dirty="0"/>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3</a:t>
            </a:fld>
            <a:endParaRPr lang="en-AU" altLang="en-US"/>
          </a:p>
        </p:txBody>
      </p:sp>
    </p:spTree>
    <p:extLst>
      <p:ext uri="{BB962C8B-B14F-4D97-AF65-F5344CB8AC3E}">
        <p14:creationId xmlns:p14="http://schemas.microsoft.com/office/powerpoint/2010/main" val="35260586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Image Placeholder 1">
            <a:extLst>
              <a:ext uri="{FF2B5EF4-FFF2-40B4-BE49-F238E27FC236}">
                <a16:creationId xmlns:a16="http://schemas.microsoft.com/office/drawing/2014/main" id="{A88379BB-BBAD-D488-121A-B4E8989A369D}"/>
              </a:ext>
            </a:extLst>
          </p:cNvPr>
          <p:cNvSpPr>
            <a:spLocks noGrp="1" noRot="1" noChangeAspect="1" noChangeArrowheads="1" noTextEdit="1"/>
          </p:cNvSpPr>
          <p:nvPr>
            <p:ph type="sldImg"/>
          </p:nvPr>
        </p:nvSpPr>
        <p:spPr>
          <a:ln/>
        </p:spPr>
        <p:txBody>
          <a:bodyPr/>
          <a:lstStyle/>
          <a:p>
            <a:endParaRPr lang="en-AU"/>
          </a:p>
        </p:txBody>
      </p:sp>
      <p:sp>
        <p:nvSpPr>
          <p:cNvPr id="3" name="Notes Placeholder 2">
            <a:extLst>
              <a:ext uri="{FF2B5EF4-FFF2-40B4-BE49-F238E27FC236}">
                <a16:creationId xmlns:a16="http://schemas.microsoft.com/office/drawing/2014/main" id="{3C3823CD-7CC1-70BE-8BB9-4C5C30EF3EA3}"/>
              </a:ext>
            </a:extLst>
          </p:cNvPr>
          <p:cNvSpPr>
            <a:spLocks noGrp="1"/>
          </p:cNvSpPr>
          <p:nvPr>
            <p:ph type="body" idx="1"/>
          </p:nvPr>
        </p:nvSpPr>
        <p:spPr/>
        <p:txBody>
          <a:bodyPr/>
          <a:lstStyle/>
          <a:p>
            <a:pPr>
              <a:defRPr/>
            </a:pPr>
            <a:endParaRPr lang="en-US" dirty="0">
              <a:hlinkClick r:id="rId3"/>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AU" b="1" dirty="0">
                <a:solidFill>
                  <a:srgbClr val="00B050"/>
                </a:solidFill>
              </a:rPr>
              <a:t>How can we deal within reverse causality?</a:t>
            </a:r>
          </a:p>
          <a:p>
            <a:pPr>
              <a:defRPr/>
            </a:pPr>
            <a:r>
              <a:rPr lang="en-US" dirty="0">
                <a:hlinkClick r:id="rId3"/>
              </a:rPr>
              <a:t>	Leads and lags? </a:t>
            </a:r>
          </a:p>
          <a:p>
            <a:pPr>
              <a:defRPr/>
            </a:pPr>
            <a:r>
              <a:rPr lang="en-US" dirty="0">
                <a:hlinkClick r:id="rId3"/>
              </a:rPr>
              <a:t>But information from past mental health feeds to current mental health</a:t>
            </a:r>
          </a:p>
          <a:p>
            <a:pPr>
              <a:defRPr/>
            </a:pPr>
            <a:r>
              <a:rPr lang="en-US" dirty="0">
                <a:hlinkClick r:id="rId3"/>
              </a:rPr>
              <a:t>And, we cannot predict the future (leads)</a:t>
            </a:r>
          </a:p>
          <a:p>
            <a:pPr>
              <a:defRPr/>
            </a:pPr>
            <a:endParaRPr lang="en-US" dirty="0">
              <a:hlinkClick r:id="rId3"/>
            </a:endParaRPr>
          </a:p>
          <a:p>
            <a:pPr>
              <a:defRPr/>
            </a:pPr>
            <a:r>
              <a:rPr lang="en-US" dirty="0">
                <a:hlinkClick r:id="rId3"/>
              </a:rPr>
              <a:t>Deal with reverse causality via the design of </a:t>
            </a:r>
            <a:r>
              <a:rPr lang="en-US">
                <a:hlinkClick r:id="rId3"/>
              </a:rPr>
              <a:t>the (natural) experiment.</a:t>
            </a:r>
            <a:endParaRPr lang="en-US" dirty="0">
              <a:hlinkClick r:id="rId3"/>
            </a:endParaRPr>
          </a:p>
          <a:p>
            <a:pPr>
              <a:defRPr/>
            </a:pPr>
            <a:endParaRPr lang="en-US" dirty="0">
              <a:hlinkClick r:id="rId3"/>
            </a:endParaRPr>
          </a:p>
          <a:p>
            <a:pPr>
              <a:defRPr/>
            </a:pPr>
            <a:r>
              <a:rPr lang="en-US" dirty="0">
                <a:hlinkClick r:id="rId3"/>
              </a:rPr>
              <a:t>A picture of overweight and obesity in Australia, Summary - Australian Institute of Health and Welfare (aihw.gov.au)</a:t>
            </a:r>
            <a:endParaRPr lang="en-AU" dirty="0">
              <a:solidFill>
                <a:srgbClr val="111111"/>
              </a:solidFill>
              <a:highlight>
                <a:srgbClr val="FFFFFF"/>
              </a:highlight>
              <a:latin typeface="Roboto" panose="02000000000000000000" pitchFamily="2" charset="0"/>
            </a:endParaRPr>
          </a:p>
          <a:p>
            <a:pPr>
              <a:defRPr/>
            </a:pPr>
            <a:endParaRPr lang="en-US" dirty="0">
              <a:solidFill>
                <a:srgbClr val="111111"/>
              </a:solidFill>
              <a:highlight>
                <a:srgbClr val="FFFFFF"/>
              </a:highlight>
              <a:latin typeface="Roboto" panose="02000000000000000000" pitchFamily="2" charset="0"/>
            </a:endParaRPr>
          </a:p>
          <a:p>
            <a:pPr>
              <a:defRPr/>
            </a:pPr>
            <a:endParaRPr lang="en-US" dirty="0">
              <a:solidFill>
                <a:srgbClr val="111111"/>
              </a:solidFill>
              <a:highlight>
                <a:srgbClr val="FFFFFF"/>
              </a:highlight>
              <a:latin typeface="Roboto" panose="02000000000000000000" pitchFamily="2" charset="0"/>
            </a:endParaRPr>
          </a:p>
          <a:p>
            <a:pPr>
              <a:defRPr/>
            </a:pPr>
            <a:r>
              <a:rPr lang="en-US" dirty="0">
                <a:hlinkClick r:id="rId4"/>
              </a:rPr>
              <a:t>Overweight and obesity, 2017-18 financial year | Australian Bureau of Statistics (abs.gov.au)</a:t>
            </a:r>
            <a:endParaRPr lang="en-US" dirty="0">
              <a:solidFill>
                <a:srgbClr val="111111"/>
              </a:solidFill>
              <a:highlight>
                <a:srgbClr val="FFFFFF"/>
              </a:highlight>
              <a:latin typeface="Roboto" panose="02000000000000000000" pitchFamily="2" charset="0"/>
            </a:endParaRPr>
          </a:p>
          <a:p>
            <a:pPr>
              <a:defRPr/>
            </a:pPr>
            <a:r>
              <a:rPr lang="en-US" b="1" dirty="0">
                <a:solidFill>
                  <a:srgbClr val="000000"/>
                </a:solidFill>
                <a:highlight>
                  <a:srgbClr val="FFFFFF"/>
                </a:highlight>
                <a:latin typeface="Open Sans" panose="020B0606030504020204" pitchFamily="34" charset="0"/>
              </a:rPr>
              <a:t>Key statistics</a:t>
            </a:r>
          </a:p>
          <a:p>
            <a:pPr>
              <a:buFont typeface="Arial" panose="020B0604020202020204" pitchFamily="34" charset="0"/>
              <a:buChar char="•"/>
              <a:defRPr/>
            </a:pPr>
            <a:r>
              <a:rPr lang="en-US" dirty="0">
                <a:solidFill>
                  <a:srgbClr val="000000"/>
                </a:solidFill>
                <a:highlight>
                  <a:srgbClr val="FFFFFF"/>
                </a:highlight>
                <a:latin typeface="Open Sans" panose="020B0606030504020204" pitchFamily="34" charset="0"/>
              </a:rPr>
              <a:t>67% of adults were overweight or obese, an increase from 63% in 2014-15.</a:t>
            </a:r>
          </a:p>
          <a:p>
            <a:pPr>
              <a:buFont typeface="Arial" panose="020B0604020202020204" pitchFamily="34" charset="0"/>
              <a:buChar char="•"/>
              <a:defRPr/>
            </a:pPr>
            <a:r>
              <a:rPr lang="en-US" dirty="0">
                <a:solidFill>
                  <a:srgbClr val="000000"/>
                </a:solidFill>
                <a:highlight>
                  <a:srgbClr val="FFFFFF"/>
                </a:highlight>
                <a:latin typeface="Open Sans" panose="020B0606030504020204" pitchFamily="34" charset="0"/>
              </a:rPr>
              <a:t>A greater proportion of men were overweight or obese than women (75% compared with 60%).</a:t>
            </a:r>
          </a:p>
          <a:p>
            <a:pPr>
              <a:buFont typeface="Arial" panose="020B0604020202020204" pitchFamily="34" charset="0"/>
              <a:buChar char="•"/>
              <a:defRPr/>
            </a:pPr>
            <a:r>
              <a:rPr lang="en-US" dirty="0">
                <a:solidFill>
                  <a:srgbClr val="000000"/>
                </a:solidFill>
                <a:highlight>
                  <a:srgbClr val="FFFFFF"/>
                </a:highlight>
                <a:latin typeface="Open Sans" panose="020B0606030504020204" pitchFamily="34" charset="0"/>
              </a:rPr>
              <a:t>25% of children were overweight or obese.</a:t>
            </a:r>
          </a:p>
          <a:p>
            <a:pPr>
              <a:buFont typeface="Arial" panose="020B0604020202020204" pitchFamily="34" charset="0"/>
              <a:buChar char="•"/>
              <a:defRPr/>
            </a:pPr>
            <a:endParaRPr lang="en-US" dirty="0">
              <a:solidFill>
                <a:srgbClr val="000000"/>
              </a:solidFill>
              <a:highlight>
                <a:srgbClr val="FFFFFF"/>
              </a:highlight>
              <a:latin typeface="Open Sans" panose="020B0606030504020204" pitchFamily="34" charset="0"/>
            </a:endParaRPr>
          </a:p>
          <a:p>
            <a:pPr>
              <a:buFont typeface="Arial" panose="020B0604020202020204" pitchFamily="34" charset="0"/>
              <a:buChar char="•"/>
              <a:defRPr/>
            </a:pPr>
            <a:r>
              <a:rPr lang="en-US" dirty="0">
                <a:hlinkClick r:id="rId5"/>
              </a:rPr>
              <a:t>national-obesity-strategy-2022-2032-at-a-glance-summary-with-a-logic-framework_0.pdf (health.gov.au)</a:t>
            </a:r>
            <a:endParaRPr lang="en-US" dirty="0">
              <a:solidFill>
                <a:srgbClr val="000000"/>
              </a:solidFill>
              <a:highlight>
                <a:srgbClr val="FFFFFF"/>
              </a:highlight>
              <a:latin typeface="Open Sans" panose="020B0606030504020204" pitchFamily="34" charset="0"/>
            </a:endParaRPr>
          </a:p>
          <a:p>
            <a:pPr>
              <a:buFont typeface="Arial" panose="020B0604020202020204" pitchFamily="34" charset="0"/>
              <a:buChar char="•"/>
              <a:defRPr/>
            </a:pPr>
            <a:r>
              <a:rPr lang="en-US" dirty="0"/>
              <a:t>Overweight and obesity have significant financial impacts. In 2018, obesity cost the Australian community $11.8 billion and if nothing is done, may cost an estimated $87.7 billion by 2032.</a:t>
            </a:r>
            <a:endParaRPr lang="en-US" dirty="0">
              <a:solidFill>
                <a:srgbClr val="000000"/>
              </a:solidFill>
              <a:highlight>
                <a:srgbClr val="FFFFFF"/>
              </a:highlight>
              <a:latin typeface="Open Sans" panose="020B0606030504020204" pitchFamily="34" charset="0"/>
            </a:endParaRPr>
          </a:p>
          <a:p>
            <a:pPr>
              <a:defRPr/>
            </a:pPr>
            <a:endParaRPr lang="en-US" dirty="0">
              <a:solidFill>
                <a:srgbClr val="111111"/>
              </a:solidFill>
              <a:highlight>
                <a:srgbClr val="FFFFFF"/>
              </a:highlight>
              <a:latin typeface="Roboto" panose="02000000000000000000" pitchFamily="2" charset="0"/>
            </a:endParaRPr>
          </a:p>
          <a:p>
            <a:pPr>
              <a:defRPr/>
            </a:pPr>
            <a:r>
              <a:rPr lang="en-US" dirty="0">
                <a:solidFill>
                  <a:srgbClr val="333333"/>
                </a:solidFill>
                <a:highlight>
                  <a:srgbClr val="FFFFFF"/>
                </a:highlight>
                <a:latin typeface="Helvetica Neue"/>
              </a:rPr>
              <a:t>The Gross Domestic Product (GDP) in Australia was worth 1723.83 billion US dollars in 2023, according to official data from the World Bank. The GDP value of Australia represents 1.63 percent of the world economy. source: </a:t>
            </a:r>
            <a:r>
              <a:rPr lang="en-US" dirty="0">
                <a:solidFill>
                  <a:srgbClr val="333333"/>
                </a:solidFill>
                <a:highlight>
                  <a:srgbClr val="FFFFFF"/>
                </a:highlight>
                <a:latin typeface="Helvetica Neue"/>
                <a:hlinkClick r:id="rId6"/>
              </a:rPr>
              <a:t>World Bank</a:t>
            </a:r>
            <a:endParaRPr lang="en-US" dirty="0">
              <a:solidFill>
                <a:srgbClr val="333333"/>
              </a:solidFill>
              <a:highlight>
                <a:srgbClr val="FFFFFF"/>
              </a:highlight>
              <a:latin typeface="Helvetica Neue"/>
            </a:endParaRPr>
          </a:p>
          <a:p>
            <a:pPr>
              <a:defRPr/>
            </a:pPr>
            <a:endParaRPr lang="en-AU" dirty="0"/>
          </a:p>
        </p:txBody>
      </p:sp>
      <p:sp>
        <p:nvSpPr>
          <p:cNvPr id="8196" name="Footer Placeholder 3">
            <a:extLst>
              <a:ext uri="{FF2B5EF4-FFF2-40B4-BE49-F238E27FC236}">
                <a16:creationId xmlns:a16="http://schemas.microsoft.com/office/drawing/2014/main" id="{EFAFE1F8-BC33-86A2-197F-06797BC74647}"/>
              </a:ext>
            </a:extLst>
          </p:cNvPr>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AU" altLang="en-US"/>
              <a:t>BSB123 Lecture 01 Course Introduction</a:t>
            </a:r>
          </a:p>
        </p:txBody>
      </p:sp>
      <p:sp>
        <p:nvSpPr>
          <p:cNvPr id="8197" name="Slide Number Placeholder 4">
            <a:extLst>
              <a:ext uri="{FF2B5EF4-FFF2-40B4-BE49-F238E27FC236}">
                <a16:creationId xmlns:a16="http://schemas.microsoft.com/office/drawing/2014/main" id="{8B771FEC-67D9-6B26-5781-237A0252452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489E12A-144F-4465-8748-A25D8D9734FF}" type="slidenum">
              <a:rPr lang="en-AU" altLang="en-US" smtClean="0"/>
              <a:pPr/>
              <a:t>5</a:t>
            </a:fld>
            <a:endParaRPr lang="en-AU"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AU" b="0" i="0" u="none" strike="noStrike" baseline="0" dirty="0">
                <a:latin typeface="+mj-lt"/>
              </a:rPr>
              <a:t>24 (</a:t>
            </a:r>
            <a:r>
              <a:rPr lang="en-AU" b="0" i="1" u="none" strike="noStrike" baseline="0" dirty="0">
                <a:latin typeface="+mj-lt"/>
              </a:rPr>
              <a:t>z = 0</a:t>
            </a:r>
            <a:r>
              <a:rPr lang="en-AU" b="0" i="0" u="none" strike="noStrike" baseline="0" dirty="0">
                <a:latin typeface="+mj-lt"/>
              </a:rPr>
              <a:t>) or 18 (</a:t>
            </a:r>
            <a:r>
              <a:rPr lang="en-AU" b="0" i="1" u="none" strike="noStrike" baseline="0" dirty="0">
                <a:latin typeface="+mj-lt"/>
              </a:rPr>
              <a:t>z = 1</a:t>
            </a:r>
            <a:r>
              <a:rPr lang="en-AU" b="0" i="0" u="none" strike="noStrike" baseline="0" dirty="0">
                <a:latin typeface="+mj-lt"/>
              </a:rPr>
              <a:t>): z could be considered the identifier of the experimentally-treated, z=1 if a child complied and was assigned to a class-size of 24</a:t>
            </a:r>
          </a:p>
          <a:p>
            <a:r>
              <a:rPr lang="en-AU" b="0" i="0" u="none" strike="noStrike" baseline="0" dirty="0">
                <a:latin typeface="+mj-lt"/>
              </a:rPr>
              <a:t>Those who didn’t are the control group.</a:t>
            </a:r>
            <a:endParaRPr lang="en-AU" dirty="0"/>
          </a:p>
          <a:p>
            <a:endParaRPr lang="en-AU" dirty="0"/>
          </a:p>
          <a:p>
            <a:r>
              <a:rPr lang="en-AU" dirty="0"/>
              <a:t>Non-compliers/never takers: </a:t>
            </a:r>
            <a:r>
              <a:rPr lang="en-AU" b="0" i="0" u="sng" strike="noStrike" baseline="0" dirty="0">
                <a:latin typeface="+mj-lt"/>
              </a:rPr>
              <a:t>where </a:t>
            </a:r>
            <a:r>
              <a:rPr lang="en-AU" b="0" i="1" u="sng" strike="noStrike" baseline="0" dirty="0">
                <a:latin typeface="+mj-lt"/>
              </a:rPr>
              <a:t>x ≠ z </a:t>
            </a:r>
            <a:r>
              <a:rPr lang="en-AU" b="0" i="0" u="sng" strike="noStrike" baseline="0" dirty="0">
                <a:latin typeface="+mj-lt"/>
              </a:rPr>
              <a:t>because some parents insisted their children be in small classes;  x is endogenous because these parents are a non-random sample of parents</a:t>
            </a:r>
            <a:endParaRPr lang="en-AU" dirty="0"/>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8</a:t>
            </a:fld>
            <a:endParaRPr lang="en-AU" altLang="en-US"/>
          </a:p>
        </p:txBody>
      </p:sp>
    </p:spTree>
    <p:extLst>
      <p:ext uri="{BB962C8B-B14F-4D97-AF65-F5344CB8AC3E}">
        <p14:creationId xmlns:p14="http://schemas.microsoft.com/office/powerpoint/2010/main" val="3193478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AU" dirty="0"/>
                  <a:t>24-18: </a:t>
                </a:r>
                <a14:m>
                  <m:oMath xmlns:m="http://schemas.openxmlformats.org/officeDocument/2006/math">
                    <m:sSub>
                      <m:sSubPr>
                        <m:ctrlPr>
                          <a:rPr lang="el-GR" sz="1200" i="1" smtClean="0">
                            <a:latin typeface="Cambria Math" panose="02040503050406030204" pitchFamily="18" charset="0"/>
                          </a:rPr>
                        </m:ctrlPr>
                      </m:sSubPr>
                      <m:e>
                        <m:r>
                          <a:rPr lang="el-GR" sz="1200" i="1" smtClean="0">
                            <a:latin typeface="Cambria Math" panose="02040503050406030204" pitchFamily="18" charset="0"/>
                            <a:ea typeface="Cambria Math" panose="02040503050406030204" pitchFamily="18" charset="0"/>
                          </a:rPr>
                          <m:t>𝜃</m:t>
                        </m:r>
                      </m:e>
                      <m:sub>
                        <m:r>
                          <a:rPr lang="en-AU" sz="1200" b="0" i="1" smtClean="0">
                            <a:latin typeface="Cambria Math" panose="02040503050406030204" pitchFamily="18" charset="0"/>
                          </a:rPr>
                          <m:t>1</m:t>
                        </m:r>
                      </m:sub>
                    </m:sSub>
                    <m:r>
                      <a:rPr lang="en-AU" sz="1200" b="0" i="1" smtClean="0">
                        <a:latin typeface="Cambria Math" panose="02040503050406030204" pitchFamily="18" charset="0"/>
                      </a:rPr>
                      <m:t> </m:t>
                    </m:r>
                  </m:oMath>
                </a14:m>
                <a:r>
                  <a:rPr lang="en-US" sz="1200" b="0" i="1" u="none" strike="noStrike" baseline="0" dirty="0">
                    <a:latin typeface="PazoMath-Italic"/>
                  </a:rPr>
                  <a:t> = 6</a:t>
                </a:r>
                <a:r>
                  <a:rPr lang="en-US" sz="1200" b="0" i="0" u="none" strike="noStrike" baseline="0" dirty="0">
                    <a:latin typeface="TTdcss10"/>
                  </a:rPr>
                  <a:t>, but in reality: 0 </a:t>
                </a:r>
                <a:r>
                  <a:rPr lang="en-US" sz="1200" b="0" i="0" u="none" strike="noStrike" baseline="0" dirty="0">
                    <a:latin typeface="cmmi10"/>
                  </a:rPr>
                  <a:t>&lt; </a:t>
                </a:r>
                <a14:m>
                  <m:oMath xmlns:m="http://schemas.openxmlformats.org/officeDocument/2006/math">
                    <m:sSub>
                      <m:sSubPr>
                        <m:ctrlPr>
                          <a:rPr lang="el-GR" i="1">
                            <a:latin typeface="Cambria Math" panose="02040503050406030204" pitchFamily="18" charset="0"/>
                          </a:rPr>
                        </m:ctrlPr>
                      </m:sSubPr>
                      <m:e>
                        <m:r>
                          <a:rPr lang="el-GR" i="1">
                            <a:latin typeface="Cambria Math" panose="02040503050406030204" pitchFamily="18" charset="0"/>
                            <a:ea typeface="Cambria Math" panose="02040503050406030204" pitchFamily="18" charset="0"/>
                          </a:rPr>
                          <m:t>𝜃</m:t>
                        </m:r>
                      </m:e>
                      <m:sub>
                        <m:r>
                          <a:rPr lang="en-AU" i="1">
                            <a:latin typeface="Cambria Math" panose="02040503050406030204" pitchFamily="18" charset="0"/>
                          </a:rPr>
                          <m:t>1</m:t>
                        </m:r>
                      </m:sub>
                    </m:sSub>
                    <m:r>
                      <a:rPr lang="en-AU" i="1">
                        <a:latin typeface="Cambria Math" panose="02040503050406030204" pitchFamily="18" charset="0"/>
                      </a:rPr>
                      <m:t> </m:t>
                    </m:r>
                  </m:oMath>
                </a14:m>
                <a:r>
                  <a:rPr lang="en-US" sz="1200" b="0" i="0" u="none" strike="noStrike" baseline="0" dirty="0">
                    <a:latin typeface="cmmi10"/>
                  </a:rPr>
                  <a:t>&lt; </a:t>
                </a:r>
                <a:r>
                  <a:rPr lang="en-US" sz="1200" b="0" i="0" u="none" strike="noStrike" baseline="0" dirty="0">
                    <a:latin typeface="TTdcss10"/>
                  </a:rPr>
                  <a:t>6</a:t>
                </a:r>
                <a:endParaRPr lang="en-AU" dirty="0"/>
              </a:p>
            </p:txBody>
          </p:sp>
        </mc:Choice>
        <mc:Fallback xmlns="">
          <p:sp>
            <p:nvSpPr>
              <p:cNvPr id="3" name="Notes Placeholder 2"/>
              <p:cNvSpPr>
                <a:spLocks noGrp="1"/>
              </p:cNvSpPr>
              <p:nvPr>
                <p:ph type="body" idx="1"/>
              </p:nvPr>
            </p:nvSpPr>
            <p:spPr/>
            <p:txBody>
              <a:bodyPr/>
              <a:lstStyle/>
              <a:p>
                <a:r>
                  <a:rPr lang="en-AU" dirty="0"/>
                  <a:t>24-18: </a:t>
                </a:r>
                <a:r>
                  <a:rPr lang="el-GR" sz="1200" i="0">
                    <a:latin typeface="Cambria Math" panose="02040503050406030204" pitchFamily="18" charset="0"/>
                    <a:ea typeface="Cambria Math" panose="02040503050406030204" pitchFamily="18" charset="0"/>
                  </a:rPr>
                  <a:t>𝜃_</a:t>
                </a:r>
                <a:r>
                  <a:rPr lang="en-AU" sz="1200" b="0" i="0">
                    <a:latin typeface="Cambria Math" panose="02040503050406030204" pitchFamily="18" charset="0"/>
                  </a:rPr>
                  <a:t>1  </a:t>
                </a:r>
                <a:r>
                  <a:rPr lang="en-US" sz="1200" b="0" i="1" u="none" strike="noStrike" baseline="0" dirty="0">
                    <a:latin typeface="PazoMath-Italic"/>
                  </a:rPr>
                  <a:t> = 6</a:t>
                </a:r>
                <a:r>
                  <a:rPr lang="en-US" sz="1200" b="0" i="0" u="none" strike="noStrike" baseline="0" dirty="0">
                    <a:latin typeface="TTdcss10"/>
                  </a:rPr>
                  <a:t>, but in reality: 0 </a:t>
                </a:r>
                <a:r>
                  <a:rPr lang="en-US" sz="1200" b="0" i="0" u="none" strike="noStrike" baseline="0" dirty="0">
                    <a:latin typeface="cmmi10"/>
                  </a:rPr>
                  <a:t>&lt; </a:t>
                </a:r>
                <a:r>
                  <a:rPr lang="el-GR" i="0">
                    <a:latin typeface="Cambria Math" panose="02040503050406030204" pitchFamily="18" charset="0"/>
                    <a:ea typeface="Cambria Math" panose="02040503050406030204" pitchFamily="18" charset="0"/>
                  </a:rPr>
                  <a:t>𝜃_</a:t>
                </a:r>
                <a:r>
                  <a:rPr lang="en-AU" i="0">
                    <a:latin typeface="Cambria Math" panose="02040503050406030204" pitchFamily="18" charset="0"/>
                  </a:rPr>
                  <a:t>1  </a:t>
                </a:r>
                <a:r>
                  <a:rPr lang="en-US" sz="1200" b="0" i="0" u="none" strike="noStrike" baseline="0" dirty="0">
                    <a:latin typeface="cmmi10"/>
                  </a:rPr>
                  <a:t>&lt; </a:t>
                </a:r>
                <a:r>
                  <a:rPr lang="en-US" sz="1200" b="0" i="0" u="none" strike="noStrike" baseline="0" dirty="0">
                    <a:latin typeface="TTdcss10"/>
                  </a:rPr>
                  <a:t>6</a:t>
                </a:r>
                <a:endParaRPr lang="en-AU" dirty="0"/>
              </a:p>
            </p:txBody>
          </p:sp>
        </mc:Fallback>
      </mc:AlternateContent>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9</a:t>
            </a:fld>
            <a:endParaRPr lang="en-AU" altLang="en-US"/>
          </a:p>
        </p:txBody>
      </p:sp>
    </p:spTree>
    <p:extLst>
      <p:ext uri="{BB962C8B-B14F-4D97-AF65-F5344CB8AC3E}">
        <p14:creationId xmlns:p14="http://schemas.microsoft.com/office/powerpoint/2010/main" val="30916585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AU" dirty="0"/>
              <a:t>The control variable x s are female and age.</a:t>
            </a:r>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14</a:t>
            </a:fld>
            <a:endParaRPr lang="en-AU" altLang="en-US"/>
          </a:p>
        </p:txBody>
      </p:sp>
    </p:spTree>
    <p:extLst>
      <p:ext uri="{BB962C8B-B14F-4D97-AF65-F5344CB8AC3E}">
        <p14:creationId xmlns:p14="http://schemas.microsoft.com/office/powerpoint/2010/main" val="38705798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pPr algn="l"/>
            <a:endParaRPr lang="en-US" b="0" i="0" dirty="0">
              <a:solidFill>
                <a:srgbClr val="282523"/>
              </a:solidFill>
              <a:effectLst/>
              <a:latin typeface="Ginto"/>
            </a:endParaRPr>
          </a:p>
          <a:p>
            <a:pPr algn="l"/>
            <a:r>
              <a:rPr lang="en-US" b="0" i="0" dirty="0">
                <a:solidFill>
                  <a:srgbClr val="282523"/>
                </a:solidFill>
                <a:effectLst/>
                <a:latin typeface="Ginto"/>
              </a:rPr>
              <a:t>When a model is standardized, the coefficients of the regression equation are interpreted in terms of standard deviations rather than the original units of the variables. This means that the coefficients indicate the change in the dependent variable (Y) for a one standard deviation change in the predictor (X).</a:t>
            </a:r>
          </a:p>
          <a:p>
            <a:pPr algn="l"/>
            <a:r>
              <a:rPr lang="en-US" b="0" i="0" dirty="0">
                <a:solidFill>
                  <a:srgbClr val="282523"/>
                </a:solidFill>
                <a:effectLst/>
                <a:latin typeface="Ginto"/>
              </a:rPr>
              <a:t>For instance, if you have a standardized regression coefficient (also known as a beta coefficient) of 0.5 for a variable, it implies that a one standard deviation increase in this predictor variable leads to a 0.5 standard deviation increase in the outcome variable.</a:t>
            </a:r>
          </a:p>
          <a:p>
            <a:pPr algn="l"/>
            <a:r>
              <a:rPr lang="en-US" b="0" i="0" dirty="0">
                <a:solidFill>
                  <a:srgbClr val="282523"/>
                </a:solidFill>
                <a:effectLst/>
                <a:latin typeface="Ginto"/>
              </a:rPr>
              <a:t>Was there a specific regression result you had in mind? We can unpack it together!</a:t>
            </a:r>
          </a:p>
          <a:p>
            <a:endParaRPr lang="en-AU" dirty="0"/>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15</a:t>
            </a:fld>
            <a:endParaRPr lang="en-AU" altLang="en-US"/>
          </a:p>
        </p:txBody>
      </p:sp>
    </p:spTree>
    <p:extLst>
      <p:ext uri="{BB962C8B-B14F-4D97-AF65-F5344CB8AC3E}">
        <p14:creationId xmlns:p14="http://schemas.microsoft.com/office/powerpoint/2010/main" val="29275610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AU" dirty="0" err="1"/>
              <a:t>Ivregress</a:t>
            </a:r>
            <a:r>
              <a:rPr lang="en-AU" dirty="0"/>
              <a:t> </a:t>
            </a:r>
          </a:p>
          <a:p>
            <a:r>
              <a:rPr lang="en-US" dirty="0" err="1"/>
              <a:t>lifesat</a:t>
            </a:r>
            <a:r>
              <a:rPr lang="en-US" dirty="0"/>
              <a:t>	Coef.	Std. Err.	z	P&gt;z	[95% Conf.	Interval]</a:t>
            </a:r>
          </a:p>
          <a:p>
            <a:r>
              <a:rPr lang="en-US" dirty="0"/>
              <a:t>						</a:t>
            </a:r>
          </a:p>
          <a:p>
            <a:r>
              <a:rPr lang="en-US" dirty="0" err="1"/>
              <a:t>mental_health</a:t>
            </a:r>
            <a:r>
              <a:rPr lang="en-US" dirty="0"/>
              <a:t>	-.013729	.0063093	-2.18	0.030	-.0260951	-.0013629</a:t>
            </a:r>
          </a:p>
          <a:p>
            <a:endParaRPr lang="en-US" dirty="0"/>
          </a:p>
          <a:p>
            <a:endParaRPr lang="en-US" dirty="0"/>
          </a:p>
          <a:p>
            <a:r>
              <a:rPr lang="en-US" dirty="0"/>
              <a:t>Non-linear models not covered</a:t>
            </a:r>
          </a:p>
          <a:p>
            <a:endParaRPr lang="en-AU" dirty="0"/>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16</a:t>
            </a:fld>
            <a:endParaRPr lang="en-AU" altLang="en-US"/>
          </a:p>
        </p:txBody>
      </p:sp>
    </p:spTree>
    <p:extLst>
      <p:ext uri="{BB962C8B-B14F-4D97-AF65-F5344CB8AC3E}">
        <p14:creationId xmlns:p14="http://schemas.microsoft.com/office/powerpoint/2010/main" val="1010750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AU" dirty="0"/>
              <a:t>To team or not to team?</a:t>
            </a:r>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17</a:t>
            </a:fld>
            <a:endParaRPr lang="en-AU" altLang="en-US"/>
          </a:p>
        </p:txBody>
      </p:sp>
    </p:spTree>
    <p:extLst>
      <p:ext uri="{BB962C8B-B14F-4D97-AF65-F5344CB8AC3E}">
        <p14:creationId xmlns:p14="http://schemas.microsoft.com/office/powerpoint/2010/main" val="4020241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rPr lang="en-AU" dirty="0" err="1"/>
              <a:t>Ivregress</a:t>
            </a:r>
            <a:r>
              <a:rPr lang="en-AU" dirty="0"/>
              <a:t> </a:t>
            </a:r>
          </a:p>
          <a:p>
            <a:r>
              <a:rPr lang="en-US" dirty="0" err="1"/>
              <a:t>lifesat</a:t>
            </a:r>
            <a:r>
              <a:rPr lang="en-US" dirty="0"/>
              <a:t>	Coef.	Std. Err.	z	P&gt;z	[95% Conf.	Interval]</a:t>
            </a:r>
          </a:p>
          <a:p>
            <a:r>
              <a:rPr lang="en-US" dirty="0"/>
              <a:t>						</a:t>
            </a:r>
          </a:p>
          <a:p>
            <a:r>
              <a:rPr lang="en-US" dirty="0" err="1"/>
              <a:t>mental_health</a:t>
            </a:r>
            <a:r>
              <a:rPr lang="en-US" dirty="0"/>
              <a:t>	-.013729	.0063093	-2.18	0.030	-.0260951	-.0013629</a:t>
            </a:r>
          </a:p>
          <a:p>
            <a:endParaRPr lang="en-US" dirty="0"/>
          </a:p>
          <a:p>
            <a:endParaRPr lang="en-US" dirty="0"/>
          </a:p>
          <a:p>
            <a:r>
              <a:rPr lang="en-US" dirty="0"/>
              <a:t>Non-linear models not covered</a:t>
            </a:r>
          </a:p>
          <a:p>
            <a:endParaRPr lang="en-AU" dirty="0"/>
          </a:p>
        </p:txBody>
      </p:sp>
      <p:sp>
        <p:nvSpPr>
          <p:cNvPr id="4" name="Footer Placeholder 3"/>
          <p:cNvSpPr>
            <a:spLocks noGrp="1"/>
          </p:cNvSpPr>
          <p:nvPr>
            <p:ph type="ftr" sz="quarter" idx="4"/>
          </p:nvPr>
        </p:nvSpPr>
        <p:spPr/>
        <p:txBody>
          <a:bodyPr/>
          <a:lstStyle/>
          <a:p>
            <a:pPr>
              <a:defRPr/>
            </a:pPr>
            <a:r>
              <a:rPr lang="en-AU"/>
              <a:t>BSB123 Lecture 01 Course Introduction</a:t>
            </a:r>
          </a:p>
        </p:txBody>
      </p:sp>
      <p:sp>
        <p:nvSpPr>
          <p:cNvPr id="5" name="Slide Number Placeholder 4"/>
          <p:cNvSpPr>
            <a:spLocks noGrp="1"/>
          </p:cNvSpPr>
          <p:nvPr>
            <p:ph type="sldNum" sz="quarter" idx="5"/>
          </p:nvPr>
        </p:nvSpPr>
        <p:spPr/>
        <p:txBody>
          <a:bodyPr/>
          <a:lstStyle/>
          <a:p>
            <a:pPr>
              <a:defRPr/>
            </a:pPr>
            <a:fld id="{A4246D5A-FEEF-4B49-B12E-FBB78B5EC012}" type="slidenum">
              <a:rPr lang="en-AU" altLang="en-US" smtClean="0"/>
              <a:pPr>
                <a:defRPr/>
              </a:pPr>
              <a:t>18</a:t>
            </a:fld>
            <a:endParaRPr lang="en-AU" altLang="en-US"/>
          </a:p>
        </p:txBody>
      </p:sp>
    </p:spTree>
    <p:extLst>
      <p:ext uri="{BB962C8B-B14F-4D97-AF65-F5344CB8AC3E}">
        <p14:creationId xmlns:p14="http://schemas.microsoft.com/office/powerpoint/2010/main" val="2485305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835260A-5B75-471D-9F17-EF584F81D683}" type="slidenum">
              <a:rPr lang="en-AU" smtClean="0"/>
              <a:t>20</a:t>
            </a:fld>
            <a:endParaRPr lang="en-AU" dirty="0"/>
          </a:p>
        </p:txBody>
      </p:sp>
    </p:spTree>
    <p:extLst>
      <p:ext uri="{BB962C8B-B14F-4D97-AF65-F5344CB8AC3E}">
        <p14:creationId xmlns:p14="http://schemas.microsoft.com/office/powerpoint/2010/main" val="21068193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835260A-5B75-471D-9F17-EF584F81D683}" type="slidenum">
              <a:rPr lang="en-AU" smtClean="0"/>
              <a:t>21</a:t>
            </a:fld>
            <a:endParaRPr lang="en-AU" dirty="0"/>
          </a:p>
        </p:txBody>
      </p:sp>
    </p:spTree>
    <p:extLst>
      <p:ext uri="{BB962C8B-B14F-4D97-AF65-F5344CB8AC3E}">
        <p14:creationId xmlns:p14="http://schemas.microsoft.com/office/powerpoint/2010/main" val="3469283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AU"/>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endParaRPr lang="en-AU"/>
          </a:p>
        </p:txBody>
      </p:sp>
      <p:sp>
        <p:nvSpPr>
          <p:cNvPr id="4" name="Rectangle 4">
            <a:extLst>
              <a:ext uri="{FF2B5EF4-FFF2-40B4-BE49-F238E27FC236}">
                <a16:creationId xmlns:a16="http://schemas.microsoft.com/office/drawing/2014/main" id="{069A8BF8-61BB-AEEF-6D3F-392D097DE93B}"/>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12DF20E8-646D-B1E3-3AEC-5B187E7FC0DC}"/>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12AD5F34-CFCC-1DB0-45D5-644ECA251C3D}"/>
              </a:ext>
            </a:extLst>
          </p:cNvPr>
          <p:cNvSpPr>
            <a:spLocks noGrp="1" noChangeArrowheads="1"/>
          </p:cNvSpPr>
          <p:nvPr>
            <p:ph type="sldNum" sz="quarter" idx="12"/>
          </p:nvPr>
        </p:nvSpPr>
        <p:spPr>
          <a:ln/>
        </p:spPr>
        <p:txBody>
          <a:bodyPr/>
          <a:lstStyle>
            <a:lvl1pPr>
              <a:defRPr/>
            </a:lvl1pPr>
          </a:lstStyle>
          <a:p>
            <a:pPr>
              <a:defRPr/>
            </a:pPr>
            <a:fld id="{92A87A91-B96C-4D42-99E6-6108D660D727}" type="slidenum">
              <a:rPr lang="en-US" altLang="en-US"/>
              <a:pPr>
                <a:defRPr/>
              </a:pPr>
              <a:t>‹#›</a:t>
            </a:fld>
            <a:endParaRPr lang="en-US" altLang="en-US"/>
          </a:p>
        </p:txBody>
      </p:sp>
    </p:spTree>
    <p:extLst>
      <p:ext uri="{BB962C8B-B14F-4D97-AF65-F5344CB8AC3E}">
        <p14:creationId xmlns:p14="http://schemas.microsoft.com/office/powerpoint/2010/main" val="938411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600">
                <a:solidFill>
                  <a:srgbClr val="0066FF"/>
                </a:solidFill>
              </a:defRPr>
            </a:lvl1pPr>
          </a:lstStyle>
          <a:p>
            <a:r>
              <a:rPr lang="en-US" dirty="0"/>
              <a:t>Click to edit Master title style</a:t>
            </a:r>
            <a:endParaRPr lang="en-AU" dirty="0"/>
          </a:p>
        </p:txBody>
      </p:sp>
      <p:sp>
        <p:nvSpPr>
          <p:cNvPr id="3" name="Content Placeholder 2"/>
          <p:cNvSpPr>
            <a:spLocks noGrp="1"/>
          </p:cNvSpPr>
          <p:nvPr>
            <p:ph idx="1"/>
          </p:nvPr>
        </p:nvSpPr>
        <p:spPr/>
        <p:txBody>
          <a:bodyPr/>
          <a:lstStyle>
            <a:lvl1pPr>
              <a:defRPr sz="3200"/>
            </a:lvl1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Rectangle 4">
            <a:extLst>
              <a:ext uri="{FF2B5EF4-FFF2-40B4-BE49-F238E27FC236}">
                <a16:creationId xmlns:a16="http://schemas.microsoft.com/office/drawing/2014/main" id="{7F2F7350-A5A2-0334-EDCD-A3F42E79FD4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E7B2442D-BDEC-A31E-8436-C0B99DAA81E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30D085A5-E21E-50CC-A299-BDFC30E9A9DD}"/>
              </a:ext>
            </a:extLst>
          </p:cNvPr>
          <p:cNvSpPr>
            <a:spLocks noGrp="1" noChangeArrowheads="1"/>
          </p:cNvSpPr>
          <p:nvPr>
            <p:ph type="sldNum" sz="quarter" idx="12"/>
          </p:nvPr>
        </p:nvSpPr>
        <p:spPr>
          <a:ln/>
        </p:spPr>
        <p:txBody>
          <a:bodyPr/>
          <a:lstStyle>
            <a:lvl1pPr>
              <a:defRPr/>
            </a:lvl1pPr>
          </a:lstStyle>
          <a:p>
            <a:pPr>
              <a:defRPr/>
            </a:pPr>
            <a:fld id="{13102EC4-ECBA-422F-9159-C22944D38E99}" type="slidenum">
              <a:rPr lang="en-US" altLang="en-US"/>
              <a:pPr>
                <a:defRPr/>
              </a:pPr>
              <a:t>‹#›</a:t>
            </a:fld>
            <a:endParaRPr lang="en-US" altLang="en-US"/>
          </a:p>
        </p:txBody>
      </p:sp>
    </p:spTree>
    <p:extLst>
      <p:ext uri="{BB962C8B-B14F-4D97-AF65-F5344CB8AC3E}">
        <p14:creationId xmlns:p14="http://schemas.microsoft.com/office/powerpoint/2010/main" val="40869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AU"/>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91C30022-A7B7-359B-2355-2882E57E59D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1D2016CA-91FF-8179-B9D0-E290F0DA0253}"/>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9BB0AD65-EF11-E67C-41AE-AE6C770CDC30}"/>
              </a:ext>
            </a:extLst>
          </p:cNvPr>
          <p:cNvSpPr>
            <a:spLocks noGrp="1" noChangeArrowheads="1"/>
          </p:cNvSpPr>
          <p:nvPr>
            <p:ph type="sldNum" sz="quarter" idx="12"/>
          </p:nvPr>
        </p:nvSpPr>
        <p:spPr>
          <a:ln/>
        </p:spPr>
        <p:txBody>
          <a:bodyPr/>
          <a:lstStyle>
            <a:lvl1pPr>
              <a:defRPr/>
            </a:lvl1pPr>
          </a:lstStyle>
          <a:p>
            <a:pPr>
              <a:defRPr/>
            </a:pPr>
            <a:fld id="{5299671C-E0BF-4DEE-9C3E-B032605556C4}" type="slidenum">
              <a:rPr lang="en-US" altLang="en-US"/>
              <a:pPr>
                <a:defRPr/>
              </a:pPr>
              <a:t>‹#›</a:t>
            </a:fld>
            <a:endParaRPr lang="en-US" altLang="en-US"/>
          </a:p>
        </p:txBody>
      </p:sp>
    </p:spTree>
    <p:extLst>
      <p:ext uri="{BB962C8B-B14F-4D97-AF65-F5344CB8AC3E}">
        <p14:creationId xmlns:p14="http://schemas.microsoft.com/office/powerpoint/2010/main" val="1618612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4">
            <a:extLst>
              <a:ext uri="{FF2B5EF4-FFF2-40B4-BE49-F238E27FC236}">
                <a16:creationId xmlns:a16="http://schemas.microsoft.com/office/drawing/2014/main" id="{08598ECE-F7A7-484F-D9A4-F266D4A9471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6FC5A729-00F2-44F2-5813-1FBAB4A703F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6E7809C5-3F56-4A40-E09C-8B6A83022CD8}"/>
              </a:ext>
            </a:extLst>
          </p:cNvPr>
          <p:cNvSpPr>
            <a:spLocks noGrp="1" noChangeArrowheads="1"/>
          </p:cNvSpPr>
          <p:nvPr>
            <p:ph type="sldNum" sz="quarter" idx="12"/>
          </p:nvPr>
        </p:nvSpPr>
        <p:spPr>
          <a:ln/>
        </p:spPr>
        <p:txBody>
          <a:bodyPr/>
          <a:lstStyle>
            <a:lvl1pPr>
              <a:defRPr/>
            </a:lvl1pPr>
          </a:lstStyle>
          <a:p>
            <a:pPr>
              <a:defRPr/>
            </a:pPr>
            <a:fld id="{9440B674-F9C1-4BCF-A9E9-3ABAD2F5F484}" type="slidenum">
              <a:rPr lang="en-US" altLang="en-US"/>
              <a:pPr>
                <a:defRPr/>
              </a:pPr>
              <a:t>‹#›</a:t>
            </a:fld>
            <a:endParaRPr lang="en-US" altLang="en-US"/>
          </a:p>
        </p:txBody>
      </p:sp>
    </p:spTree>
    <p:extLst>
      <p:ext uri="{BB962C8B-B14F-4D97-AF65-F5344CB8AC3E}">
        <p14:creationId xmlns:p14="http://schemas.microsoft.com/office/powerpoint/2010/main" val="20165892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AU"/>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Rectangle 4">
            <a:extLst>
              <a:ext uri="{FF2B5EF4-FFF2-40B4-BE49-F238E27FC236}">
                <a16:creationId xmlns:a16="http://schemas.microsoft.com/office/drawing/2014/main" id="{A623A5E9-B66E-2BEC-38C1-5FD396CF72BE}"/>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38EAD4E0-D0AC-43A1-94E4-713F5105B0A5}"/>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AD2FB14F-622C-967E-2B3B-DAF7DB3E749D}"/>
              </a:ext>
            </a:extLst>
          </p:cNvPr>
          <p:cNvSpPr>
            <a:spLocks noGrp="1" noChangeArrowheads="1"/>
          </p:cNvSpPr>
          <p:nvPr>
            <p:ph type="sldNum" sz="quarter" idx="12"/>
          </p:nvPr>
        </p:nvSpPr>
        <p:spPr>
          <a:ln/>
        </p:spPr>
        <p:txBody>
          <a:bodyPr/>
          <a:lstStyle>
            <a:lvl1pPr>
              <a:defRPr/>
            </a:lvl1pPr>
          </a:lstStyle>
          <a:p>
            <a:pPr>
              <a:defRPr/>
            </a:pPr>
            <a:fld id="{47D53D93-C206-48E8-8760-FA42EF6E09B4}" type="slidenum">
              <a:rPr lang="en-US" altLang="en-US"/>
              <a:pPr>
                <a:defRPr/>
              </a:pPr>
              <a:t>‹#›</a:t>
            </a:fld>
            <a:endParaRPr lang="en-US" altLang="en-US"/>
          </a:p>
        </p:txBody>
      </p:sp>
    </p:spTree>
    <p:extLst>
      <p:ext uri="{BB962C8B-B14F-4D97-AF65-F5344CB8AC3E}">
        <p14:creationId xmlns:p14="http://schemas.microsoft.com/office/powerpoint/2010/main" val="9772449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Rectangle 4">
            <a:extLst>
              <a:ext uri="{FF2B5EF4-FFF2-40B4-BE49-F238E27FC236}">
                <a16:creationId xmlns:a16="http://schemas.microsoft.com/office/drawing/2014/main" id="{D0CFF87A-1180-06A3-8898-448FF6BB680B}"/>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B4F1F363-7530-F2CD-3CEF-BD6F73401DD9}"/>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565B2660-3B07-7505-CAFD-8FE1251CB13F}"/>
              </a:ext>
            </a:extLst>
          </p:cNvPr>
          <p:cNvSpPr>
            <a:spLocks noGrp="1" noChangeArrowheads="1"/>
          </p:cNvSpPr>
          <p:nvPr>
            <p:ph type="sldNum" sz="quarter" idx="12"/>
          </p:nvPr>
        </p:nvSpPr>
        <p:spPr>
          <a:ln/>
        </p:spPr>
        <p:txBody>
          <a:bodyPr/>
          <a:lstStyle>
            <a:lvl1pPr>
              <a:defRPr/>
            </a:lvl1pPr>
          </a:lstStyle>
          <a:p>
            <a:pPr>
              <a:defRPr/>
            </a:pPr>
            <a:fld id="{02CB8E7F-FD31-417E-B003-9645142B5335}" type="slidenum">
              <a:rPr lang="en-US" altLang="en-US"/>
              <a:pPr>
                <a:defRPr/>
              </a:pPr>
              <a:t>‹#›</a:t>
            </a:fld>
            <a:endParaRPr lang="en-US" altLang="en-US"/>
          </a:p>
        </p:txBody>
      </p:sp>
    </p:spTree>
    <p:extLst>
      <p:ext uri="{BB962C8B-B14F-4D97-AF65-F5344CB8AC3E}">
        <p14:creationId xmlns:p14="http://schemas.microsoft.com/office/powerpoint/2010/main" val="39188465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96CF555F-384F-F126-4C06-6409A94B59F6}"/>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4C0FF58A-9CAE-ADC8-259C-1CDA3AF0628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805BC8BB-B949-6E7D-C9C2-AE35BAAFD0CC}"/>
              </a:ext>
            </a:extLst>
          </p:cNvPr>
          <p:cNvSpPr>
            <a:spLocks noGrp="1" noChangeArrowheads="1"/>
          </p:cNvSpPr>
          <p:nvPr>
            <p:ph type="sldNum" sz="quarter" idx="12"/>
          </p:nvPr>
        </p:nvSpPr>
        <p:spPr>
          <a:ln/>
        </p:spPr>
        <p:txBody>
          <a:bodyPr/>
          <a:lstStyle>
            <a:lvl1pPr>
              <a:defRPr/>
            </a:lvl1pPr>
          </a:lstStyle>
          <a:p>
            <a:pPr>
              <a:defRPr/>
            </a:pPr>
            <a:fld id="{1BF4DAD2-EF8C-45D1-99EF-6F8FF6D5B0B6}" type="slidenum">
              <a:rPr lang="en-US" altLang="en-US"/>
              <a:pPr>
                <a:defRPr/>
              </a:pPr>
              <a:t>‹#›</a:t>
            </a:fld>
            <a:endParaRPr lang="en-US" altLang="en-US"/>
          </a:p>
        </p:txBody>
      </p:sp>
    </p:spTree>
    <p:extLst>
      <p:ext uri="{BB962C8B-B14F-4D97-AF65-F5344CB8AC3E}">
        <p14:creationId xmlns:p14="http://schemas.microsoft.com/office/powerpoint/2010/main" val="42034072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AU"/>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CC6058E-4ECE-AA7F-07CA-13CF23EC199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17C0003B-BED6-34BA-FF8F-36DF888C69C3}"/>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2B18DE99-618E-F2B1-A114-34E6471EA35C}"/>
              </a:ext>
            </a:extLst>
          </p:cNvPr>
          <p:cNvSpPr>
            <a:spLocks noGrp="1" noChangeArrowheads="1"/>
          </p:cNvSpPr>
          <p:nvPr>
            <p:ph type="sldNum" sz="quarter" idx="12"/>
          </p:nvPr>
        </p:nvSpPr>
        <p:spPr>
          <a:ln/>
        </p:spPr>
        <p:txBody>
          <a:bodyPr/>
          <a:lstStyle>
            <a:lvl1pPr>
              <a:defRPr/>
            </a:lvl1pPr>
          </a:lstStyle>
          <a:p>
            <a:pPr>
              <a:defRPr/>
            </a:pPr>
            <a:fld id="{5755308F-4FD3-454C-A6D7-0EFCB97591B8}" type="slidenum">
              <a:rPr lang="en-US" altLang="en-US"/>
              <a:pPr>
                <a:defRPr/>
              </a:pPr>
              <a:t>‹#›</a:t>
            </a:fld>
            <a:endParaRPr lang="en-US" altLang="en-US"/>
          </a:p>
        </p:txBody>
      </p:sp>
    </p:spTree>
    <p:extLst>
      <p:ext uri="{BB962C8B-B14F-4D97-AF65-F5344CB8AC3E}">
        <p14:creationId xmlns:p14="http://schemas.microsoft.com/office/powerpoint/2010/main" val="7894618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AU"/>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AU"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5047F23B-4FF3-1F90-D3CD-093F5E625444}"/>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16B13F5B-AB2A-E49D-D71F-117425A70BE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5ADB1B44-92AF-54A3-9028-330A750F10B4}"/>
              </a:ext>
            </a:extLst>
          </p:cNvPr>
          <p:cNvSpPr>
            <a:spLocks noGrp="1" noChangeArrowheads="1"/>
          </p:cNvSpPr>
          <p:nvPr>
            <p:ph type="sldNum" sz="quarter" idx="12"/>
          </p:nvPr>
        </p:nvSpPr>
        <p:spPr>
          <a:ln/>
        </p:spPr>
        <p:txBody>
          <a:bodyPr/>
          <a:lstStyle>
            <a:lvl1pPr>
              <a:defRPr/>
            </a:lvl1pPr>
          </a:lstStyle>
          <a:p>
            <a:pPr>
              <a:defRPr/>
            </a:pPr>
            <a:fld id="{5A5BDE0C-503D-4DF1-826A-9C3277F9418D}" type="slidenum">
              <a:rPr lang="en-US" altLang="en-US"/>
              <a:pPr>
                <a:defRPr/>
              </a:pPr>
              <a:t>‹#›</a:t>
            </a:fld>
            <a:endParaRPr lang="en-US" altLang="en-US"/>
          </a:p>
        </p:txBody>
      </p:sp>
    </p:spTree>
    <p:extLst>
      <p:ext uri="{BB962C8B-B14F-4D97-AF65-F5344CB8AC3E}">
        <p14:creationId xmlns:p14="http://schemas.microsoft.com/office/powerpoint/2010/main" val="21007573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Rectangle 4">
            <a:extLst>
              <a:ext uri="{FF2B5EF4-FFF2-40B4-BE49-F238E27FC236}">
                <a16:creationId xmlns:a16="http://schemas.microsoft.com/office/drawing/2014/main" id="{14C7FADE-403D-8B84-C109-3C40D3FCEEF4}"/>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833A9BD4-3191-CED6-51B1-DCF6B0854ED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15CD381C-8BF6-44EC-5251-AA882118DA08}"/>
              </a:ext>
            </a:extLst>
          </p:cNvPr>
          <p:cNvSpPr>
            <a:spLocks noGrp="1" noChangeArrowheads="1"/>
          </p:cNvSpPr>
          <p:nvPr>
            <p:ph type="sldNum" sz="quarter" idx="12"/>
          </p:nvPr>
        </p:nvSpPr>
        <p:spPr>
          <a:ln/>
        </p:spPr>
        <p:txBody>
          <a:bodyPr/>
          <a:lstStyle>
            <a:lvl1pPr>
              <a:defRPr/>
            </a:lvl1pPr>
          </a:lstStyle>
          <a:p>
            <a:pPr>
              <a:defRPr/>
            </a:pPr>
            <a:fld id="{D5151894-42DF-46CC-B3C2-5DC34C502E55}" type="slidenum">
              <a:rPr lang="en-US" altLang="en-US"/>
              <a:pPr>
                <a:defRPr/>
              </a:pPr>
              <a:t>‹#›</a:t>
            </a:fld>
            <a:endParaRPr lang="en-US" altLang="en-US"/>
          </a:p>
        </p:txBody>
      </p:sp>
    </p:spTree>
    <p:extLst>
      <p:ext uri="{BB962C8B-B14F-4D97-AF65-F5344CB8AC3E}">
        <p14:creationId xmlns:p14="http://schemas.microsoft.com/office/powerpoint/2010/main" val="3630341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Rectangle 4">
            <a:extLst>
              <a:ext uri="{FF2B5EF4-FFF2-40B4-BE49-F238E27FC236}">
                <a16:creationId xmlns:a16="http://schemas.microsoft.com/office/drawing/2014/main" id="{80F8DB26-A266-111A-2E73-F27616A3C8A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748A616-1C5A-D780-38B5-7DB4DED5685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5061099-75A1-ABC5-CAC6-981D22F8BC33}"/>
              </a:ext>
            </a:extLst>
          </p:cNvPr>
          <p:cNvSpPr>
            <a:spLocks noGrp="1" noChangeArrowheads="1"/>
          </p:cNvSpPr>
          <p:nvPr>
            <p:ph type="sldNum" sz="quarter" idx="12"/>
          </p:nvPr>
        </p:nvSpPr>
        <p:spPr>
          <a:ln/>
        </p:spPr>
        <p:txBody>
          <a:bodyPr/>
          <a:lstStyle>
            <a:lvl1pPr>
              <a:defRPr/>
            </a:lvl1pPr>
          </a:lstStyle>
          <a:p>
            <a:pPr>
              <a:defRPr/>
            </a:pPr>
            <a:fld id="{F22B2BDB-2AB2-472E-8C93-86E3148BF2C9}" type="slidenum">
              <a:rPr lang="en-US" altLang="en-US"/>
              <a:pPr>
                <a:defRPr/>
              </a:pPr>
              <a:t>‹#›</a:t>
            </a:fld>
            <a:endParaRPr lang="en-US" altLang="en-US"/>
          </a:p>
        </p:txBody>
      </p:sp>
    </p:spTree>
    <p:extLst>
      <p:ext uri="{BB962C8B-B14F-4D97-AF65-F5344CB8AC3E}">
        <p14:creationId xmlns:p14="http://schemas.microsoft.com/office/powerpoint/2010/main" val="41404753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AU"/>
          </a:p>
        </p:txBody>
      </p:sp>
      <p:sp>
        <p:nvSpPr>
          <p:cNvPr id="3" name="Table Placeholder 2"/>
          <p:cNvSpPr>
            <a:spLocks noGrp="1"/>
          </p:cNvSpPr>
          <p:nvPr>
            <p:ph type="tbl" idx="1"/>
          </p:nvPr>
        </p:nvSpPr>
        <p:spPr>
          <a:xfrm>
            <a:off x="457200" y="1600200"/>
            <a:ext cx="8229600" cy="4525963"/>
          </a:xfrm>
        </p:spPr>
        <p:txBody>
          <a:bodyPr/>
          <a:lstStyle/>
          <a:p>
            <a:pPr lvl="0"/>
            <a:endParaRPr lang="en-AU" noProof="0"/>
          </a:p>
        </p:txBody>
      </p:sp>
      <p:sp>
        <p:nvSpPr>
          <p:cNvPr id="4" name="Rectangle 4">
            <a:extLst>
              <a:ext uri="{FF2B5EF4-FFF2-40B4-BE49-F238E27FC236}">
                <a16:creationId xmlns:a16="http://schemas.microsoft.com/office/drawing/2014/main" id="{3CB4449C-B44C-15BC-460D-1A675863674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B12CC690-FB1D-633A-53BE-9D0847156EE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4271620B-294B-2F41-191A-6CD8802ACD0C}"/>
              </a:ext>
            </a:extLst>
          </p:cNvPr>
          <p:cNvSpPr>
            <a:spLocks noGrp="1" noChangeArrowheads="1"/>
          </p:cNvSpPr>
          <p:nvPr>
            <p:ph type="sldNum" sz="quarter" idx="12"/>
          </p:nvPr>
        </p:nvSpPr>
        <p:spPr>
          <a:ln/>
        </p:spPr>
        <p:txBody>
          <a:bodyPr/>
          <a:lstStyle>
            <a:lvl1pPr>
              <a:defRPr/>
            </a:lvl1pPr>
          </a:lstStyle>
          <a:p>
            <a:pPr>
              <a:defRPr/>
            </a:pPr>
            <a:fld id="{25375817-B655-47F8-83ED-B0486F668B9F}" type="slidenum">
              <a:rPr lang="en-US" altLang="en-US"/>
              <a:pPr>
                <a:defRPr/>
              </a:pPr>
              <a:t>‹#›</a:t>
            </a:fld>
            <a:endParaRPr lang="en-US" altLang="en-US"/>
          </a:p>
        </p:txBody>
      </p:sp>
    </p:spTree>
    <p:extLst>
      <p:ext uri="{BB962C8B-B14F-4D97-AF65-F5344CB8AC3E}">
        <p14:creationId xmlns:p14="http://schemas.microsoft.com/office/powerpoint/2010/main" val="1915642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reserve="1">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457200" y="1600200"/>
            <a:ext cx="82296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457200" y="3938588"/>
            <a:ext cx="82296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4">
            <a:extLst>
              <a:ext uri="{FF2B5EF4-FFF2-40B4-BE49-F238E27FC236}">
                <a16:creationId xmlns:a16="http://schemas.microsoft.com/office/drawing/2014/main" id="{2DEF0483-33F4-1296-91D2-9FCE8975013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BA8934B1-B958-2AA8-4079-06EC84B6CD1C}"/>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EE73B1AD-429D-C613-ECF1-34EF5F225901}"/>
              </a:ext>
            </a:extLst>
          </p:cNvPr>
          <p:cNvSpPr>
            <a:spLocks noGrp="1" noChangeArrowheads="1"/>
          </p:cNvSpPr>
          <p:nvPr>
            <p:ph type="sldNum" sz="quarter" idx="12"/>
          </p:nvPr>
        </p:nvSpPr>
        <p:spPr>
          <a:ln/>
        </p:spPr>
        <p:txBody>
          <a:bodyPr/>
          <a:lstStyle>
            <a:lvl1pPr>
              <a:defRPr/>
            </a:lvl1pPr>
          </a:lstStyle>
          <a:p>
            <a:pPr>
              <a:defRPr/>
            </a:pPr>
            <a:fld id="{D7FD5777-ED87-4708-AEE2-DE2CF11A1133}" type="slidenum">
              <a:rPr lang="en-US" altLang="en-US"/>
              <a:pPr>
                <a:defRPr/>
              </a:pPr>
              <a:t>‹#›</a:t>
            </a:fld>
            <a:endParaRPr lang="en-US" altLang="en-US"/>
          </a:p>
        </p:txBody>
      </p:sp>
    </p:spTree>
    <p:extLst>
      <p:ext uri="{BB962C8B-B14F-4D97-AF65-F5344CB8AC3E}">
        <p14:creationId xmlns:p14="http://schemas.microsoft.com/office/powerpoint/2010/main" val="33037829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D8E27F9-F986-B85A-C429-D14A36265894}"/>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1BFC1817-15E0-C836-4423-2D3A49F67FC1}"/>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63492" name="Rectangle 4">
            <a:extLst>
              <a:ext uri="{FF2B5EF4-FFF2-40B4-BE49-F238E27FC236}">
                <a16:creationId xmlns:a16="http://schemas.microsoft.com/office/drawing/2014/main" id="{C3081952-E756-9908-C0B8-CD4A28C9DB43}"/>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charset="0"/>
              </a:defRPr>
            </a:lvl1pPr>
          </a:lstStyle>
          <a:p>
            <a:pPr>
              <a:defRPr/>
            </a:pPr>
            <a:endParaRPr lang="en-US"/>
          </a:p>
        </p:txBody>
      </p:sp>
      <p:sp>
        <p:nvSpPr>
          <p:cNvPr id="63493" name="Rectangle 5">
            <a:extLst>
              <a:ext uri="{FF2B5EF4-FFF2-40B4-BE49-F238E27FC236}">
                <a16:creationId xmlns:a16="http://schemas.microsoft.com/office/drawing/2014/main" id="{CEDCAD99-4E9B-4074-4997-292B1BC2A1D3}"/>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charset="0"/>
              </a:defRPr>
            </a:lvl1pPr>
          </a:lstStyle>
          <a:p>
            <a:pPr>
              <a:defRPr/>
            </a:pPr>
            <a:endParaRPr lang="en-US"/>
          </a:p>
        </p:txBody>
      </p:sp>
      <p:sp>
        <p:nvSpPr>
          <p:cNvPr id="63494" name="Rectangle 6">
            <a:extLst>
              <a:ext uri="{FF2B5EF4-FFF2-40B4-BE49-F238E27FC236}">
                <a16:creationId xmlns:a16="http://schemas.microsoft.com/office/drawing/2014/main" id="{AB69631C-E6BE-AC9C-CF44-4C27093D7716}"/>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2CFEAABA-50D0-4EA9-B80B-E07977D5C3B1}"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Lst>
  <p:hf hdr="0" ftr="0" dt="0"/>
  <p:txStyles>
    <p:titleStyle>
      <a:lvl1pPr algn="ctr" rtl="0" eaLnBrk="0" fontAlgn="base" hangingPunct="0">
        <a:spcBef>
          <a:spcPct val="0"/>
        </a:spcBef>
        <a:spcAft>
          <a:spcPct val="0"/>
        </a:spcAft>
        <a:defRPr sz="4400" b="1">
          <a:solidFill>
            <a:schemeClr val="tx2"/>
          </a:solidFill>
          <a:latin typeface="+mj-lt"/>
          <a:ea typeface="+mj-ea"/>
          <a:cs typeface="+mj-cs"/>
        </a:defRPr>
      </a:lvl1pPr>
      <a:lvl2pPr algn="ctr" rtl="0" eaLnBrk="0" fontAlgn="base" hangingPunct="0">
        <a:spcBef>
          <a:spcPct val="0"/>
        </a:spcBef>
        <a:spcAft>
          <a:spcPct val="0"/>
        </a:spcAft>
        <a:defRPr sz="4400" b="1">
          <a:solidFill>
            <a:schemeClr val="tx2"/>
          </a:solidFill>
          <a:latin typeface="Arial" charset="0"/>
        </a:defRPr>
      </a:lvl2pPr>
      <a:lvl3pPr algn="ctr" rtl="0" eaLnBrk="0" fontAlgn="base" hangingPunct="0">
        <a:spcBef>
          <a:spcPct val="0"/>
        </a:spcBef>
        <a:spcAft>
          <a:spcPct val="0"/>
        </a:spcAft>
        <a:defRPr sz="4400" b="1">
          <a:solidFill>
            <a:schemeClr val="tx2"/>
          </a:solidFill>
          <a:latin typeface="Arial" charset="0"/>
        </a:defRPr>
      </a:lvl3pPr>
      <a:lvl4pPr algn="ctr" rtl="0" eaLnBrk="0" fontAlgn="base" hangingPunct="0">
        <a:spcBef>
          <a:spcPct val="0"/>
        </a:spcBef>
        <a:spcAft>
          <a:spcPct val="0"/>
        </a:spcAft>
        <a:defRPr sz="4400" b="1">
          <a:solidFill>
            <a:schemeClr val="tx2"/>
          </a:solidFill>
          <a:latin typeface="Arial" charset="0"/>
        </a:defRPr>
      </a:lvl4pPr>
      <a:lvl5pPr algn="ctr" rtl="0" eaLnBrk="0" fontAlgn="base" hangingPunct="0">
        <a:spcBef>
          <a:spcPct val="0"/>
        </a:spcBef>
        <a:spcAft>
          <a:spcPct val="0"/>
        </a:spcAft>
        <a:defRPr sz="4400" b="1">
          <a:solidFill>
            <a:schemeClr val="tx2"/>
          </a:solidFill>
          <a:latin typeface="Arial" charset="0"/>
        </a:defRPr>
      </a:lvl5pPr>
      <a:lvl6pPr marL="457200" algn="ctr" rtl="0" fontAlgn="base">
        <a:spcBef>
          <a:spcPct val="0"/>
        </a:spcBef>
        <a:spcAft>
          <a:spcPct val="0"/>
        </a:spcAft>
        <a:defRPr sz="4400" b="1">
          <a:solidFill>
            <a:schemeClr val="tx2"/>
          </a:solidFill>
          <a:latin typeface="Arial" charset="0"/>
        </a:defRPr>
      </a:lvl6pPr>
      <a:lvl7pPr marL="914400" algn="ctr" rtl="0" fontAlgn="base">
        <a:spcBef>
          <a:spcPct val="0"/>
        </a:spcBef>
        <a:spcAft>
          <a:spcPct val="0"/>
        </a:spcAft>
        <a:defRPr sz="4400" b="1">
          <a:solidFill>
            <a:schemeClr val="tx2"/>
          </a:solidFill>
          <a:latin typeface="Arial" charset="0"/>
        </a:defRPr>
      </a:lvl7pPr>
      <a:lvl8pPr marL="1371600" algn="ctr" rtl="0" fontAlgn="base">
        <a:spcBef>
          <a:spcPct val="0"/>
        </a:spcBef>
        <a:spcAft>
          <a:spcPct val="0"/>
        </a:spcAft>
        <a:defRPr sz="4400" b="1">
          <a:solidFill>
            <a:schemeClr val="tx2"/>
          </a:solidFill>
          <a:latin typeface="Arial" charset="0"/>
        </a:defRPr>
      </a:lvl8pPr>
      <a:lvl9pPr marL="1828800" algn="ctr" rtl="0" fontAlgn="base">
        <a:spcBef>
          <a:spcPct val="0"/>
        </a:spcBef>
        <a:spcAft>
          <a:spcPct val="0"/>
        </a:spcAft>
        <a:defRPr sz="4400" b="1">
          <a:solidFill>
            <a:schemeClr val="tx2"/>
          </a:solidFill>
          <a:latin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e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ideas.repec.org/a/eee/eecrev/v109y2018icp275-288.html" TargetMode="External"/><Relationship Id="rId3" Type="http://schemas.openxmlformats.org/officeDocument/2006/relationships/hyperlink" Target="http://www.acara.edu.au/reporting/nrosia2009,%20accessed%2023%20November%202020" TargetMode="External"/><Relationship Id="rId7" Type="http://schemas.openxmlformats.org/officeDocument/2006/relationships/hyperlink" Target="https://www.sciencedirect.com/science/journal/09275371/52/supp/C"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hyperlink" Target="https://ideas.repec.org/p/cep/cepdps/dp1456.html" TargetMode="External"/><Relationship Id="rId5" Type="http://schemas.openxmlformats.org/officeDocument/2006/relationships/hyperlink" Target="https://www.lifecoursecentre.org.au/research/journal-articles/working-paper-series/age-in-cohort-school-indiscipline-and-crime-regression-discontinuity-estimates-for-queensland/" TargetMode="External"/><Relationship Id="rId10" Type="http://schemas.openxmlformats.org/officeDocument/2006/relationships/hyperlink" Target="https://cabinet.qld.gov.au/documents/2010/Feb/Flying%20Start%20for%20Children%20Discussion%20Paper/Attachments/discussion%20paper%20flying%20start.pdf" TargetMode="External"/><Relationship Id="rId4" Type="http://schemas.openxmlformats.org/officeDocument/2006/relationships/hyperlink" Target="https://www-sciencedirect-com.ezproxy.library.uq.edu.au/science/article/pii/S0167268120302420?via%3Dihub#bib0005" TargetMode="External"/><Relationship Id="rId9" Type="http://schemas.openxmlformats.org/officeDocument/2006/relationships/hyperlink" Target="https://ideas.repec.org/s/eee/eecrev.html"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scholar.google.com.au/citations?user=VO7wZJIAAAAJ&amp;hl=en&amp;oi=sra" TargetMode="External"/><Relationship Id="rId7" Type="http://schemas.openxmlformats.org/officeDocument/2006/relationships/hyperlink" Target="http://dx.doi.org/10.1787/9789264130852-en"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www.ncbi.nlm.nih.gov/entrez/eutils/elink.fcgi?dbfrom=pubmed&amp;retmode=ref&amp;cmd=prlinks&amp;id=30625242" TargetMode="External"/><Relationship Id="rId5" Type="http://schemas.openxmlformats.org/officeDocument/2006/relationships/hyperlink" Target="https://www.sciencedirect.com/science/article/pii/S0272775716301765" TargetMode="External"/><Relationship Id="rId4" Type="http://schemas.openxmlformats.org/officeDocument/2006/relationships/hyperlink" Target="https://scholar.google.com.au/citations?user=S_HjSK4AAAAJ&amp;hl=en&amp;oi=sra"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Slide Number Placeholder 5">
            <a:extLst>
              <a:ext uri="{FF2B5EF4-FFF2-40B4-BE49-F238E27FC236}">
                <a16:creationId xmlns:a16="http://schemas.microsoft.com/office/drawing/2014/main" id="{18FCBE98-6F9B-FAC2-C400-D04A1297EB0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A4AA81E0-56DC-4F68-A7D2-DB938191D15F}" type="slidenum">
              <a:rPr lang="en-US" altLang="en-US" sz="1400" smtClean="0"/>
              <a:pPr>
                <a:spcBef>
                  <a:spcPct val="0"/>
                </a:spcBef>
                <a:buFontTx/>
                <a:buNone/>
              </a:pPr>
              <a:t>1</a:t>
            </a:fld>
            <a:endParaRPr lang="en-US" altLang="en-US" sz="1400" dirty="0"/>
          </a:p>
        </p:txBody>
      </p:sp>
      <p:sp>
        <p:nvSpPr>
          <p:cNvPr id="4099" name="Rectangle 4">
            <a:extLst>
              <a:ext uri="{FF2B5EF4-FFF2-40B4-BE49-F238E27FC236}">
                <a16:creationId xmlns:a16="http://schemas.microsoft.com/office/drawing/2014/main" id="{1A0A4262-8329-AEE4-B213-5EFF0B7DC416}"/>
              </a:ext>
            </a:extLst>
          </p:cNvPr>
          <p:cNvSpPr>
            <a:spLocks noChangeArrowheads="1"/>
          </p:cNvSpPr>
          <p:nvPr/>
        </p:nvSpPr>
        <p:spPr bwMode="auto">
          <a:xfrm>
            <a:off x="755650" y="476250"/>
            <a:ext cx="7561263" cy="5905500"/>
          </a:xfrm>
          <a:prstGeom prst="rect">
            <a:avLst/>
          </a:prstGeom>
          <a:solidFill>
            <a:schemeClr val="bg1"/>
          </a:solidFill>
          <a:ln w="76200">
            <a:solidFill>
              <a:schemeClr val="hlink"/>
            </a:solidFill>
            <a:miter lim="800000"/>
            <a:headEnd/>
            <a:tailEnd/>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dirty="0"/>
          </a:p>
        </p:txBody>
      </p:sp>
      <p:sp>
        <p:nvSpPr>
          <p:cNvPr id="4100" name="Rectangle 2">
            <a:extLst>
              <a:ext uri="{FF2B5EF4-FFF2-40B4-BE49-F238E27FC236}">
                <a16:creationId xmlns:a16="http://schemas.microsoft.com/office/drawing/2014/main" id="{8F964A7D-6015-A8AC-9FB1-D91F9D76E85B}"/>
              </a:ext>
            </a:extLst>
          </p:cNvPr>
          <p:cNvSpPr>
            <a:spLocks noGrp="1" noChangeArrowheads="1"/>
          </p:cNvSpPr>
          <p:nvPr>
            <p:ph type="ctrTitle"/>
          </p:nvPr>
        </p:nvSpPr>
        <p:spPr>
          <a:xfrm>
            <a:off x="973138" y="2312988"/>
            <a:ext cx="7054850" cy="2116137"/>
          </a:xfrm>
        </p:spPr>
        <p:txBody>
          <a:bodyPr/>
          <a:lstStyle/>
          <a:p>
            <a:pPr eaLnBrk="1" hangingPunct="1"/>
            <a:r>
              <a:rPr lang="en-AU" altLang="en-US" b="0" dirty="0">
                <a:solidFill>
                  <a:srgbClr val="3333CC"/>
                </a:solidFill>
                <a:latin typeface="Arial Black" panose="020B0A04020102020204" pitchFamily="34" charset="0"/>
              </a:rPr>
              <a:t>Using Data Analysis</a:t>
            </a:r>
            <a:br>
              <a:rPr lang="en-AU" altLang="en-US" b="0" dirty="0">
                <a:solidFill>
                  <a:srgbClr val="3333CC"/>
                </a:solidFill>
                <a:latin typeface="Arial Black" panose="020B0A04020102020204" pitchFamily="34" charset="0"/>
              </a:rPr>
            </a:br>
            <a:r>
              <a:rPr lang="en-AU" altLang="en-US" b="0" dirty="0">
                <a:solidFill>
                  <a:srgbClr val="3333CC"/>
                </a:solidFill>
                <a:latin typeface="Arial Black" panose="020B0A04020102020204" pitchFamily="34" charset="0"/>
              </a:rPr>
              <a:t>to</a:t>
            </a:r>
            <a:br>
              <a:rPr lang="en-AU" altLang="en-US" b="0" dirty="0">
                <a:solidFill>
                  <a:srgbClr val="3333CC"/>
                </a:solidFill>
                <a:latin typeface="Arial Black" panose="020B0A04020102020204" pitchFamily="34" charset="0"/>
              </a:rPr>
            </a:br>
            <a:r>
              <a:rPr lang="en-AU" altLang="en-US" b="0" dirty="0">
                <a:solidFill>
                  <a:srgbClr val="3333CC"/>
                </a:solidFill>
                <a:latin typeface="Arial Black" panose="020B0A04020102020204" pitchFamily="34" charset="0"/>
              </a:rPr>
              <a:t>Address </a:t>
            </a:r>
            <a:br>
              <a:rPr lang="en-AU" altLang="en-US" b="0" dirty="0">
                <a:solidFill>
                  <a:srgbClr val="3333CC"/>
                </a:solidFill>
                <a:latin typeface="Arial Black" panose="020B0A04020102020204" pitchFamily="34" charset="0"/>
              </a:rPr>
            </a:br>
            <a:r>
              <a:rPr lang="en-AU" altLang="en-US" b="0" dirty="0">
                <a:solidFill>
                  <a:srgbClr val="3333CC"/>
                </a:solidFill>
                <a:latin typeface="Arial Black" panose="020B0A04020102020204" pitchFamily="34" charset="0"/>
              </a:rPr>
              <a:t>Important Social Questions</a:t>
            </a:r>
          </a:p>
        </p:txBody>
      </p:sp>
      <p:sp>
        <p:nvSpPr>
          <p:cNvPr id="4101" name="Rectangle 3">
            <a:extLst>
              <a:ext uri="{FF2B5EF4-FFF2-40B4-BE49-F238E27FC236}">
                <a16:creationId xmlns:a16="http://schemas.microsoft.com/office/drawing/2014/main" id="{AE808126-C6E1-DE3C-89B8-43B2696B4163}"/>
              </a:ext>
            </a:extLst>
          </p:cNvPr>
          <p:cNvSpPr>
            <a:spLocks noGrp="1" noChangeArrowheads="1"/>
          </p:cNvSpPr>
          <p:nvPr>
            <p:ph type="subTitle" idx="1"/>
          </p:nvPr>
        </p:nvSpPr>
        <p:spPr>
          <a:xfrm>
            <a:off x="1285875" y="4286250"/>
            <a:ext cx="6661150" cy="1857375"/>
          </a:xfrm>
        </p:spPr>
        <p:txBody>
          <a:bodyPr/>
          <a:lstStyle/>
          <a:p>
            <a:pPr eaLnBrk="1" hangingPunct="1"/>
            <a:endParaRPr lang="en-AU" altLang="en-US" dirty="0">
              <a:solidFill>
                <a:schemeClr val="accent2"/>
              </a:solidFill>
              <a:latin typeface="Arial Black" panose="020B0A04020102020204" pitchFamily="34" charset="0"/>
            </a:endParaRPr>
          </a:p>
          <a:p>
            <a:pPr eaLnBrk="1" hangingPunct="1"/>
            <a:endParaRPr lang="en-AU" altLang="en-US" dirty="0">
              <a:solidFill>
                <a:schemeClr val="accent2"/>
              </a:solidFill>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Number Placeholder 5">
            <a:extLst>
              <a:ext uri="{FF2B5EF4-FFF2-40B4-BE49-F238E27FC236}">
                <a16:creationId xmlns:a16="http://schemas.microsoft.com/office/drawing/2014/main" id="{5466E8BD-9DCE-72F7-73B0-0886D08C483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B09AB14E-C9BD-4D2A-B0EA-756679E22655}" type="slidenum">
              <a:rPr lang="en-US" altLang="en-US" sz="1400" smtClean="0"/>
              <a:pPr>
                <a:spcBef>
                  <a:spcPct val="0"/>
                </a:spcBef>
                <a:buFontTx/>
                <a:buNone/>
              </a:pPr>
              <a:t>2</a:t>
            </a:fld>
            <a:endParaRPr lang="en-US" altLang="en-US" sz="1400" dirty="0"/>
          </a:p>
        </p:txBody>
      </p:sp>
      <p:sp>
        <p:nvSpPr>
          <p:cNvPr id="6148" name="Rectangle 9">
            <a:extLst>
              <a:ext uri="{FF2B5EF4-FFF2-40B4-BE49-F238E27FC236}">
                <a16:creationId xmlns:a16="http://schemas.microsoft.com/office/drawing/2014/main" id="{F3176BDD-396B-2921-B8F5-A5B408C633D0}"/>
              </a:ext>
            </a:extLst>
          </p:cNvPr>
          <p:cNvSpPr>
            <a:spLocks noChangeArrowheads="1"/>
          </p:cNvSpPr>
          <p:nvPr/>
        </p:nvSpPr>
        <p:spPr bwMode="auto">
          <a:xfrm>
            <a:off x="1258888" y="2997200"/>
            <a:ext cx="648176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en-US" sz="4400" b="1" dirty="0">
                <a:solidFill>
                  <a:schemeClr val="accent2"/>
                </a:solidFill>
                <a:latin typeface="Comic Sans MS" panose="030F0702030302020204" pitchFamily="66" charset="0"/>
              </a:rPr>
              <a:t>and now </a:t>
            </a:r>
          </a:p>
          <a:p>
            <a:pPr algn="ctr" eaLnBrk="1" hangingPunct="1">
              <a:spcBef>
                <a:spcPct val="0"/>
              </a:spcBef>
              <a:buFontTx/>
              <a:buNone/>
            </a:pPr>
            <a:r>
              <a:rPr lang="en-US" altLang="en-US" sz="4400" b="1" dirty="0">
                <a:solidFill>
                  <a:schemeClr val="accent2"/>
                </a:solidFill>
                <a:latin typeface="Comic Sans MS" panose="030F0702030302020204" pitchFamily="66" charset="0"/>
              </a:rPr>
              <a:t>Experiments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42E4F6-7664-0584-E076-70AEE3883037}"/>
                  </a:ext>
                </a:extLst>
              </p:cNvPr>
              <p:cNvSpPr>
                <a:spLocks noGrp="1"/>
              </p:cNvSpPr>
              <p:nvPr>
                <p:ph idx="1"/>
              </p:nvPr>
            </p:nvSpPr>
            <p:spPr>
              <a:xfrm>
                <a:off x="715244" y="1439764"/>
                <a:ext cx="4320480" cy="432048"/>
              </a:xfrm>
            </p:spPr>
            <p:txBody>
              <a:bodyPr/>
              <a:lstStyle/>
              <a:p>
                <a:pPr marL="0" indent="0">
                  <a:buNone/>
                </a:pPr>
                <a14:m>
                  <m:oMath xmlns:m="http://schemas.openxmlformats.org/officeDocument/2006/math">
                    <m:sSub>
                      <m:sSubPr>
                        <m:ctrlPr>
                          <a:rPr lang="en-AU" sz="1800" b="1" i="1" smtClean="0">
                            <a:solidFill>
                              <a:schemeClr val="tx1"/>
                            </a:solidFill>
                            <a:latin typeface="Cambria Math" panose="02040503050406030204" pitchFamily="18" charset="0"/>
                          </a:rPr>
                        </m:ctrlPr>
                      </m:sSubPr>
                      <m:e>
                        <m:r>
                          <a:rPr lang="en-AU" sz="1800" b="1" i="1" smtClean="0">
                            <a:solidFill>
                              <a:schemeClr val="tx1"/>
                            </a:solidFill>
                            <a:latin typeface="Cambria Math" panose="02040503050406030204" pitchFamily="18" charset="0"/>
                          </a:rPr>
                          <m:t>𝑯𝒆𝒂𝒍𝒕𝒉</m:t>
                        </m:r>
                      </m:e>
                      <m:sub>
                        <m:r>
                          <a:rPr lang="en-AU" sz="1800" b="1" i="1" smtClean="0">
                            <a:solidFill>
                              <a:schemeClr val="tx1"/>
                            </a:solidFill>
                            <a:latin typeface="Cambria Math" panose="02040503050406030204" pitchFamily="18" charset="0"/>
                          </a:rPr>
                          <m:t>𝒊</m:t>
                        </m:r>
                      </m:sub>
                    </m:sSub>
                    <m:r>
                      <a:rPr lang="en-AU" sz="1800" b="1" i="1" smtClean="0">
                        <a:solidFill>
                          <a:schemeClr val="tx1"/>
                        </a:solidFill>
                        <a:latin typeface="Cambria Math" panose="02040503050406030204" pitchFamily="18" charset="0"/>
                      </a:rPr>
                      <m:t>= </m:t>
                    </m:r>
                    <m:sSub>
                      <m:sSubPr>
                        <m:ctrlPr>
                          <a:rPr lang="en-AU" sz="1800" b="1" i="1" smtClean="0">
                            <a:solidFill>
                              <a:schemeClr val="tx1"/>
                            </a:solidFill>
                            <a:latin typeface="Cambria Math" panose="02040503050406030204" pitchFamily="18" charset="0"/>
                            <a:ea typeface="Cambria Math" panose="02040503050406030204" pitchFamily="18" charset="0"/>
                          </a:rPr>
                        </m:ctrlPr>
                      </m:sSubPr>
                      <m:e>
                        <m:acc>
                          <m:accPr>
                            <m:chr m:val="̂"/>
                            <m:ctrlPr>
                              <a:rPr lang="en-AU" sz="1800" b="1" i="1">
                                <a:solidFill>
                                  <a:schemeClr val="tx1"/>
                                </a:solidFill>
                                <a:latin typeface="Cambria Math" panose="02040503050406030204" pitchFamily="18" charset="0"/>
                              </a:rPr>
                            </m:ctrlPr>
                          </m:accPr>
                          <m:e>
                            <m:r>
                              <a:rPr lang="en-AU" sz="1800" b="1" i="1">
                                <a:solidFill>
                                  <a:schemeClr val="tx1"/>
                                </a:solidFill>
                                <a:latin typeface="Cambria Math" panose="02040503050406030204" pitchFamily="18" charset="0"/>
                                <a:ea typeface="Cambria Math" panose="02040503050406030204" pitchFamily="18" charset="0"/>
                              </a:rPr>
                              <m:t>𝜷</m:t>
                            </m:r>
                          </m:e>
                        </m:acc>
                      </m:e>
                      <m:sub>
                        <m:r>
                          <a:rPr lang="en-AU" sz="1800" b="1" i="1" smtClean="0">
                            <a:solidFill>
                              <a:schemeClr val="tx1"/>
                            </a:solidFill>
                            <a:latin typeface="Cambria Math" panose="02040503050406030204" pitchFamily="18" charset="0"/>
                            <a:ea typeface="Cambria Math" panose="02040503050406030204" pitchFamily="18" charset="0"/>
                          </a:rPr>
                          <m:t>𝟏</m:t>
                        </m:r>
                      </m:sub>
                    </m:sSub>
                    <m:r>
                      <a:rPr lang="en-AU" sz="1800" b="1" i="1" smtClean="0">
                        <a:solidFill>
                          <a:schemeClr val="tx1"/>
                        </a:solidFill>
                        <a:latin typeface="Cambria Math" panose="02040503050406030204" pitchFamily="18" charset="0"/>
                      </a:rPr>
                      <m:t>+</m:t>
                    </m:r>
                    <m:sSub>
                      <m:sSubPr>
                        <m:ctrlPr>
                          <a:rPr lang="en-AU" sz="1800" b="1" i="1" smtClean="0">
                            <a:solidFill>
                              <a:schemeClr val="tx1"/>
                            </a:solidFill>
                            <a:latin typeface="Cambria Math" panose="02040503050406030204" pitchFamily="18" charset="0"/>
                          </a:rPr>
                        </m:ctrlPr>
                      </m:sSubPr>
                      <m:e>
                        <m:sSub>
                          <m:sSubPr>
                            <m:ctrlPr>
                              <a:rPr lang="en-AU" sz="1800" b="1" i="1">
                                <a:solidFill>
                                  <a:schemeClr val="tx1"/>
                                </a:solidFill>
                                <a:latin typeface="Cambria Math" panose="02040503050406030204" pitchFamily="18" charset="0"/>
                                <a:ea typeface="Cambria Math" panose="02040503050406030204" pitchFamily="18" charset="0"/>
                              </a:rPr>
                            </m:ctrlPr>
                          </m:sSubPr>
                          <m:e>
                            <m:acc>
                              <m:accPr>
                                <m:chr m:val="̂"/>
                                <m:ctrlPr>
                                  <a:rPr lang="en-AU" sz="1800" b="1" i="1">
                                    <a:solidFill>
                                      <a:schemeClr val="tx1"/>
                                    </a:solidFill>
                                    <a:latin typeface="Cambria Math" panose="02040503050406030204" pitchFamily="18" charset="0"/>
                                  </a:rPr>
                                </m:ctrlPr>
                              </m:accPr>
                              <m:e>
                                <m:r>
                                  <a:rPr lang="en-AU" sz="1800" b="1" i="1">
                                    <a:solidFill>
                                      <a:schemeClr val="tx1"/>
                                    </a:solidFill>
                                    <a:latin typeface="Cambria Math" panose="02040503050406030204" pitchFamily="18" charset="0"/>
                                    <a:ea typeface="Cambria Math" panose="02040503050406030204" pitchFamily="18" charset="0"/>
                                  </a:rPr>
                                  <m:t>𝜷</m:t>
                                </m:r>
                              </m:e>
                            </m:acc>
                          </m:e>
                          <m:sub>
                            <m:r>
                              <a:rPr lang="en-AU" sz="1800" b="1" i="1" smtClean="0">
                                <a:solidFill>
                                  <a:schemeClr val="tx1"/>
                                </a:solidFill>
                                <a:latin typeface="Cambria Math" panose="02040503050406030204" pitchFamily="18" charset="0"/>
                                <a:ea typeface="Cambria Math" panose="02040503050406030204" pitchFamily="18" charset="0"/>
                              </a:rPr>
                              <m:t>𝟐</m:t>
                            </m:r>
                          </m:sub>
                        </m:sSub>
                        <m:r>
                          <a:rPr lang="en-AU" sz="1800" b="1" i="1" smtClean="0">
                            <a:solidFill>
                              <a:schemeClr val="tx1"/>
                            </a:solidFill>
                            <a:latin typeface="Cambria Math" panose="02040503050406030204" pitchFamily="18" charset="0"/>
                          </a:rPr>
                          <m:t>𝑩𝑴𝑰</m:t>
                        </m:r>
                      </m:e>
                      <m:sub>
                        <m:r>
                          <a:rPr lang="en-AU" sz="1800" b="1" i="1" smtClean="0">
                            <a:solidFill>
                              <a:schemeClr val="tx1"/>
                            </a:solidFill>
                            <a:latin typeface="Cambria Math" panose="02040503050406030204" pitchFamily="18" charset="0"/>
                          </a:rPr>
                          <m:t>𝒊</m:t>
                        </m:r>
                      </m:sub>
                    </m:sSub>
                  </m:oMath>
                </a14:m>
                <a:r>
                  <a:rPr lang="en-AU" sz="1800" b="1" dirty="0">
                    <a:solidFill>
                      <a:schemeClr val="tx1"/>
                    </a:solidFill>
                  </a:rPr>
                  <a:t> </a:t>
                </a:r>
                <a:r>
                  <a:rPr lang="en-AU" sz="1800" dirty="0">
                    <a:solidFill>
                      <a:schemeClr val="tx1"/>
                    </a:solidFill>
                  </a:rPr>
                  <a:t>+</a:t>
                </a:r>
                <a:r>
                  <a:rPr lang="en-AU" sz="1800" b="1" dirty="0">
                    <a:solidFill>
                      <a:schemeClr val="tx1"/>
                    </a:solidFill>
                  </a:rPr>
                  <a:t>  </a:t>
                </a:r>
                <a14:m>
                  <m:oMath xmlns:m="http://schemas.openxmlformats.org/officeDocument/2006/math">
                    <m:sSub>
                      <m:sSubPr>
                        <m:ctrlPr>
                          <a:rPr lang="en-AU" sz="1800" b="1" i="1" smtClean="0">
                            <a:solidFill>
                              <a:schemeClr val="tx1"/>
                            </a:solidFill>
                            <a:latin typeface="Cambria Math" panose="02040503050406030204" pitchFamily="18" charset="0"/>
                            <a:ea typeface="Cambria Math" panose="02040503050406030204" pitchFamily="18" charset="0"/>
                          </a:rPr>
                        </m:ctrlPr>
                      </m:sSubPr>
                      <m:e>
                        <m:r>
                          <a:rPr lang="en-AU" sz="1800" b="1" i="1" smtClean="0">
                            <a:solidFill>
                              <a:schemeClr val="tx1"/>
                            </a:solidFill>
                            <a:latin typeface="Cambria Math" panose="02040503050406030204" pitchFamily="18" charset="0"/>
                            <a:ea typeface="Cambria Math" panose="02040503050406030204" pitchFamily="18" charset="0"/>
                          </a:rPr>
                          <m:t>𝒆</m:t>
                        </m:r>
                      </m:e>
                      <m:sub>
                        <m:r>
                          <a:rPr lang="en-AU" sz="1800" b="1" i="1" smtClean="0">
                            <a:solidFill>
                              <a:schemeClr val="tx1"/>
                            </a:solidFill>
                            <a:latin typeface="Cambria Math" panose="02040503050406030204" pitchFamily="18" charset="0"/>
                            <a:ea typeface="Cambria Math" panose="02040503050406030204" pitchFamily="18" charset="0"/>
                          </a:rPr>
                          <m:t>𝒊</m:t>
                        </m:r>
                      </m:sub>
                    </m:sSub>
                  </m:oMath>
                </a14:m>
                <a:endParaRPr lang="en-AU" sz="1800" dirty="0"/>
              </a:p>
            </p:txBody>
          </p:sp>
        </mc:Choice>
        <mc:Fallback xmlns="">
          <p:sp>
            <p:nvSpPr>
              <p:cNvPr id="3" name="Content Placeholder 2">
                <a:extLst>
                  <a:ext uri="{FF2B5EF4-FFF2-40B4-BE49-F238E27FC236}">
                    <a16:creationId xmlns:a16="http://schemas.microsoft.com/office/drawing/2014/main" id="{BE42E4F6-7664-0584-E076-70AEE3883037}"/>
                  </a:ext>
                </a:extLst>
              </p:cNvPr>
              <p:cNvSpPr>
                <a:spLocks noGrp="1" noRot="1" noChangeAspect="1" noMove="1" noResize="1" noEditPoints="1" noAdjustHandles="1" noChangeArrowheads="1" noChangeShapeType="1" noTextEdit="1"/>
              </p:cNvSpPr>
              <p:nvPr>
                <p:ph idx="1"/>
              </p:nvPr>
            </p:nvSpPr>
            <p:spPr>
              <a:xfrm>
                <a:off x="715244" y="1439764"/>
                <a:ext cx="4320480" cy="432048"/>
              </a:xfrm>
              <a:blipFill>
                <a:blip r:embed="rId3"/>
                <a:stretch>
                  <a:fillRect t="-2817" b="-11268"/>
                </a:stretch>
              </a:blipFill>
            </p:spPr>
            <p:txBody>
              <a:bodyPr/>
              <a:lstStyle/>
              <a:p>
                <a:r>
                  <a:rPr lang="en-AU">
                    <a:noFill/>
                  </a:rPr>
                  <a:t> </a:t>
                </a:r>
              </a:p>
            </p:txBody>
          </p:sp>
        </mc:Fallback>
      </mc:AlternateContent>
      <p:sp>
        <p:nvSpPr>
          <p:cNvPr id="4" name="Slide Number Placeholder 3">
            <a:extLst>
              <a:ext uri="{FF2B5EF4-FFF2-40B4-BE49-F238E27FC236}">
                <a16:creationId xmlns:a16="http://schemas.microsoft.com/office/drawing/2014/main" id="{E5B2FADB-988D-F41D-0DB1-83ACEC0F520A}"/>
              </a:ext>
            </a:extLst>
          </p:cNvPr>
          <p:cNvSpPr>
            <a:spLocks noGrp="1"/>
          </p:cNvSpPr>
          <p:nvPr>
            <p:ph type="sldNum" sz="quarter" idx="12"/>
          </p:nvPr>
        </p:nvSpPr>
        <p:spPr/>
        <p:txBody>
          <a:bodyPr/>
          <a:lstStyle/>
          <a:p>
            <a:pPr>
              <a:defRPr/>
            </a:pPr>
            <a:fld id="{13102EC4-ECBA-422F-9159-C22944D38E99}" type="slidenum">
              <a:rPr lang="en-US" altLang="en-US" smtClean="0"/>
              <a:pPr>
                <a:defRPr/>
              </a:pPr>
              <a:t>3</a:t>
            </a:fld>
            <a:endParaRPr lang="en-US" altLang="en-US" dirty="0"/>
          </a:p>
        </p:txBody>
      </p:sp>
      <p:sp>
        <p:nvSpPr>
          <p:cNvPr id="6" name="TextBox 5">
            <a:extLst>
              <a:ext uri="{FF2B5EF4-FFF2-40B4-BE49-F238E27FC236}">
                <a16:creationId xmlns:a16="http://schemas.microsoft.com/office/drawing/2014/main" id="{04CF2797-EA9E-4947-0967-B4A5A56A6DB5}"/>
              </a:ext>
            </a:extLst>
          </p:cNvPr>
          <p:cNvSpPr txBox="1"/>
          <p:nvPr/>
        </p:nvSpPr>
        <p:spPr>
          <a:xfrm>
            <a:off x="715244" y="1023284"/>
            <a:ext cx="4572000" cy="369332"/>
          </a:xfrm>
          <a:prstGeom prst="rect">
            <a:avLst/>
          </a:prstGeom>
          <a:noFill/>
        </p:spPr>
        <p:txBody>
          <a:bodyPr wrap="square">
            <a:spAutoFit/>
          </a:bodyPr>
          <a:lstStyle/>
          <a:p>
            <a:r>
              <a:rPr lang="en-AU" i="1" dirty="0"/>
              <a:t>E(health|BMI) = </a:t>
            </a:r>
            <a:r>
              <a:rPr lang="el-GR" i="1" dirty="0"/>
              <a:t>β</a:t>
            </a:r>
            <a:r>
              <a:rPr lang="en-AU" i="1" baseline="-25000" dirty="0"/>
              <a:t>1</a:t>
            </a:r>
            <a:r>
              <a:rPr lang="el-GR" i="1" dirty="0"/>
              <a:t> +β</a:t>
            </a:r>
            <a:r>
              <a:rPr lang="en-AU" i="1" baseline="-25000" dirty="0"/>
              <a:t>2</a:t>
            </a:r>
            <a:r>
              <a:rPr lang="en-AU" i="1" dirty="0"/>
              <a:t> BMI + Ɛ</a:t>
            </a:r>
          </a:p>
        </p:txBody>
      </p:sp>
      <p:sp>
        <p:nvSpPr>
          <p:cNvPr id="7" name="TextBox 6">
            <a:extLst>
              <a:ext uri="{FF2B5EF4-FFF2-40B4-BE49-F238E27FC236}">
                <a16:creationId xmlns:a16="http://schemas.microsoft.com/office/drawing/2014/main" id="{7A71477C-7D68-C790-5C34-BE8AE43B5339}"/>
              </a:ext>
            </a:extLst>
          </p:cNvPr>
          <p:cNvSpPr txBox="1"/>
          <p:nvPr/>
        </p:nvSpPr>
        <p:spPr>
          <a:xfrm>
            <a:off x="715244" y="2092583"/>
            <a:ext cx="7848872" cy="2031325"/>
          </a:xfrm>
          <a:prstGeom prst="rect">
            <a:avLst/>
          </a:prstGeom>
          <a:noFill/>
          <a:ln>
            <a:solidFill>
              <a:schemeClr val="tx1"/>
            </a:solidFill>
          </a:ln>
        </p:spPr>
        <p:txBody>
          <a:bodyPr wrap="square" rtlCol="0">
            <a:spAutoFit/>
          </a:bodyPr>
          <a:lstStyle/>
          <a:p>
            <a:r>
              <a:rPr lang="en-AU" b="1" dirty="0"/>
              <a:t>Regression Assumptions:</a:t>
            </a:r>
          </a:p>
          <a:p>
            <a:pPr marL="342900" indent="-342900">
              <a:buAutoNum type="arabicPeriod"/>
            </a:pPr>
            <a:r>
              <a:rPr lang="en-US" dirty="0"/>
              <a:t>Mean of the random error term is equal to zero</a:t>
            </a:r>
          </a:p>
          <a:p>
            <a:pPr marL="342900" indent="-342900">
              <a:buFontTx/>
              <a:buAutoNum type="arabicPeriod"/>
            </a:pPr>
            <a:r>
              <a:rPr lang="en-US" dirty="0"/>
              <a:t>Error terms are normally distributed </a:t>
            </a:r>
          </a:p>
          <a:p>
            <a:pPr marL="342900" indent="-342900">
              <a:buAutoNum type="arabicPeriod"/>
            </a:pPr>
            <a:r>
              <a:rPr lang="en-US" dirty="0"/>
              <a:t>Variance of the error term, </a:t>
            </a:r>
            <a:r>
              <a:rPr lang="el-GR" dirty="0"/>
              <a:t>σ</a:t>
            </a:r>
            <a:r>
              <a:rPr lang="en-US" baseline="30000" dirty="0"/>
              <a:t>2, </a:t>
            </a:r>
            <a:r>
              <a:rPr lang="en-US" dirty="0"/>
              <a:t> is the same for all X: </a:t>
            </a:r>
          </a:p>
          <a:p>
            <a:r>
              <a:rPr lang="en-US" dirty="0"/>
              <a:t>	heteroskedasticity</a:t>
            </a:r>
          </a:p>
          <a:p>
            <a:pPr marL="342900" indent="-342900">
              <a:buAutoNum type="arabicPeriod"/>
            </a:pPr>
            <a:endParaRPr lang="en-US" dirty="0">
              <a:solidFill>
                <a:srgbClr val="0066FF"/>
              </a:solidFill>
            </a:endParaRPr>
          </a:p>
          <a:p>
            <a:r>
              <a:rPr lang="en-US" dirty="0" err="1"/>
              <a:t>i.e</a:t>
            </a:r>
            <a:r>
              <a:rPr lang="en-US" dirty="0"/>
              <a:t>….      Assumptions 1-3 written as Ɛ</a:t>
            </a:r>
            <a:r>
              <a:rPr lang="en-US" baseline="-25000" dirty="0"/>
              <a:t> i </a:t>
            </a:r>
            <a:r>
              <a:rPr lang="en-US" dirty="0"/>
              <a:t>~ N (0, </a:t>
            </a:r>
            <a:r>
              <a:rPr lang="el-GR" dirty="0"/>
              <a:t>σ</a:t>
            </a:r>
            <a:r>
              <a:rPr lang="en-AU" baseline="30000" dirty="0"/>
              <a:t>2</a:t>
            </a:r>
            <a:r>
              <a:rPr lang="en-US" dirty="0"/>
              <a:t> )</a:t>
            </a:r>
          </a:p>
        </p:txBody>
      </p:sp>
      <p:sp>
        <p:nvSpPr>
          <p:cNvPr id="2" name="TextBox 1">
            <a:extLst>
              <a:ext uri="{FF2B5EF4-FFF2-40B4-BE49-F238E27FC236}">
                <a16:creationId xmlns:a16="http://schemas.microsoft.com/office/drawing/2014/main" id="{A17FCE07-AF3A-5B25-93A3-2896EA834ED6}"/>
              </a:ext>
            </a:extLst>
          </p:cNvPr>
          <p:cNvSpPr txBox="1"/>
          <p:nvPr/>
        </p:nvSpPr>
        <p:spPr>
          <a:xfrm>
            <a:off x="616430" y="4434383"/>
            <a:ext cx="7904728" cy="1477328"/>
          </a:xfrm>
          <a:prstGeom prst="rect">
            <a:avLst/>
          </a:prstGeom>
          <a:noFill/>
          <a:ln>
            <a:solidFill>
              <a:schemeClr val="tx1"/>
            </a:solidFill>
          </a:ln>
        </p:spPr>
        <p:txBody>
          <a:bodyPr wrap="none" rtlCol="0">
            <a:spAutoFit/>
          </a:bodyPr>
          <a:lstStyle/>
          <a:p>
            <a:r>
              <a:rPr lang="en-US" dirty="0"/>
              <a:t>4. Zero correlation between error terms for X</a:t>
            </a:r>
            <a:r>
              <a:rPr lang="en-US" baseline="-25000" dirty="0"/>
              <a:t>i </a:t>
            </a:r>
            <a:r>
              <a:rPr lang="en-US" dirty="0"/>
              <a:t>and </a:t>
            </a:r>
            <a:r>
              <a:rPr lang="en-US" dirty="0" err="1"/>
              <a:t>X</a:t>
            </a:r>
            <a:r>
              <a:rPr lang="en-US" baseline="-25000" dirty="0" err="1"/>
              <a:t>j</a:t>
            </a:r>
            <a:r>
              <a:rPr lang="en-US" baseline="-25000" dirty="0"/>
              <a:t> </a:t>
            </a:r>
          </a:p>
          <a:p>
            <a:r>
              <a:rPr lang="en-US" dirty="0"/>
              <a:t>5. Error term &amp; the explanatory variable(s) are uncorrelated: </a:t>
            </a:r>
            <a:r>
              <a:rPr lang="en-US" dirty="0" err="1"/>
              <a:t>Cov</a:t>
            </a:r>
            <a:r>
              <a:rPr lang="en-US" dirty="0"/>
              <a:t>(</a:t>
            </a:r>
            <a:r>
              <a:rPr lang="en-US" dirty="0" err="1"/>
              <a:t>Ɛ</a:t>
            </a:r>
            <a:r>
              <a:rPr lang="en-US" baseline="-25000" dirty="0" err="1"/>
              <a:t>i</a:t>
            </a:r>
            <a:r>
              <a:rPr lang="en-US" dirty="0"/>
              <a:t> ,X</a:t>
            </a:r>
            <a:r>
              <a:rPr lang="en-US" baseline="-25000" dirty="0"/>
              <a:t>i </a:t>
            </a:r>
            <a:r>
              <a:rPr lang="en-US" dirty="0"/>
              <a:t>) = 0:</a:t>
            </a:r>
          </a:p>
          <a:p>
            <a:r>
              <a:rPr lang="en-US" dirty="0">
                <a:solidFill>
                  <a:srgbClr val="0066FF"/>
                </a:solidFill>
              </a:rPr>
              <a:t>	</a:t>
            </a:r>
            <a:r>
              <a:rPr lang="en-US" b="1" dirty="0">
                <a:solidFill>
                  <a:srgbClr val="0066FF"/>
                </a:solidFill>
              </a:rPr>
              <a:t>endogeneity</a:t>
            </a:r>
            <a:r>
              <a:rPr lang="en-US" b="1" dirty="0"/>
              <a:t> </a:t>
            </a:r>
          </a:p>
          <a:p>
            <a:r>
              <a:rPr lang="en-US" dirty="0"/>
              <a:t>6. Regression model correctly specified (e.g. as a linear relationship)</a:t>
            </a:r>
          </a:p>
          <a:p>
            <a:endParaRPr lang="en-AU" dirty="0"/>
          </a:p>
        </p:txBody>
      </p:sp>
      <p:sp>
        <p:nvSpPr>
          <p:cNvPr id="5" name="TextBox 4">
            <a:extLst>
              <a:ext uri="{FF2B5EF4-FFF2-40B4-BE49-F238E27FC236}">
                <a16:creationId xmlns:a16="http://schemas.microsoft.com/office/drawing/2014/main" id="{3BD0895B-7CCC-73EE-22F8-D9837DF4C571}"/>
              </a:ext>
            </a:extLst>
          </p:cNvPr>
          <p:cNvSpPr txBox="1"/>
          <p:nvPr/>
        </p:nvSpPr>
        <p:spPr>
          <a:xfrm flipH="1">
            <a:off x="899592" y="6156012"/>
            <a:ext cx="6912767" cy="369332"/>
          </a:xfrm>
          <a:prstGeom prst="rect">
            <a:avLst/>
          </a:prstGeom>
          <a:noFill/>
        </p:spPr>
        <p:txBody>
          <a:bodyPr wrap="square" rtlCol="0">
            <a:spAutoFit/>
          </a:bodyPr>
          <a:lstStyle/>
          <a:p>
            <a:pPr algn="ctr"/>
            <a:r>
              <a:rPr lang="en-US" dirty="0">
                <a:solidFill>
                  <a:srgbClr val="0066FF"/>
                </a:solidFill>
              </a:rPr>
              <a:t>OLS estimators are </a:t>
            </a:r>
            <a:r>
              <a:rPr lang="en-US" b="1" dirty="0">
                <a:solidFill>
                  <a:srgbClr val="0066FF"/>
                </a:solidFill>
              </a:rPr>
              <a:t>BLUE</a:t>
            </a:r>
            <a:r>
              <a:rPr lang="en-US" dirty="0">
                <a:solidFill>
                  <a:srgbClr val="0066FF"/>
                </a:solidFill>
              </a:rPr>
              <a:t> – Best Linear Unbiased Estimators</a:t>
            </a:r>
            <a:endParaRPr lang="en-AU" dirty="0">
              <a:solidFill>
                <a:srgbClr val="0066FF"/>
              </a:solidFill>
            </a:endParaRPr>
          </a:p>
        </p:txBody>
      </p:sp>
      <p:sp>
        <p:nvSpPr>
          <p:cNvPr id="9" name="TextBox 8">
            <a:extLst>
              <a:ext uri="{FF2B5EF4-FFF2-40B4-BE49-F238E27FC236}">
                <a16:creationId xmlns:a16="http://schemas.microsoft.com/office/drawing/2014/main" id="{4D4D9D9E-7D0B-AAD8-50D6-86A310B74172}"/>
              </a:ext>
            </a:extLst>
          </p:cNvPr>
          <p:cNvSpPr txBox="1"/>
          <p:nvPr/>
        </p:nvSpPr>
        <p:spPr>
          <a:xfrm>
            <a:off x="827584" y="340114"/>
            <a:ext cx="7200800" cy="584775"/>
          </a:xfrm>
          <a:prstGeom prst="rect">
            <a:avLst/>
          </a:prstGeom>
          <a:noFill/>
        </p:spPr>
        <p:txBody>
          <a:bodyPr wrap="square">
            <a:spAutoFit/>
          </a:bodyPr>
          <a:lstStyle/>
          <a:p>
            <a:r>
              <a:rPr lang="en-AU" sz="3200" b="1" dirty="0">
                <a:solidFill>
                  <a:srgbClr val="0066FF"/>
                </a:solidFill>
              </a:rPr>
              <a:t>Recall regression assumptions</a:t>
            </a:r>
            <a:endParaRPr lang="en-AU" sz="3200" dirty="0">
              <a:solidFill>
                <a:srgbClr val="0066FF"/>
              </a:solidFill>
            </a:endParaRPr>
          </a:p>
        </p:txBody>
      </p:sp>
    </p:spTree>
    <p:extLst>
      <p:ext uri="{BB962C8B-B14F-4D97-AF65-F5344CB8AC3E}">
        <p14:creationId xmlns:p14="http://schemas.microsoft.com/office/powerpoint/2010/main" val="548409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D30071F-56CF-222D-B0F6-B2A979224227}"/>
              </a:ext>
            </a:extLst>
          </p:cNvPr>
          <p:cNvSpPr>
            <a:spLocks noGrp="1"/>
          </p:cNvSpPr>
          <p:nvPr>
            <p:ph type="sldNum" sz="quarter" idx="12"/>
          </p:nvPr>
        </p:nvSpPr>
        <p:spPr/>
        <p:txBody>
          <a:bodyPr/>
          <a:lstStyle/>
          <a:p>
            <a:pPr>
              <a:defRPr/>
            </a:pPr>
            <a:fld id="{1BF4DAD2-EF8C-45D1-99EF-6F8FF6D5B0B6}" type="slidenum">
              <a:rPr lang="en-US" altLang="en-US" smtClean="0"/>
              <a:pPr>
                <a:defRPr/>
              </a:pPr>
              <a:t>4</a:t>
            </a:fld>
            <a:endParaRPr lang="en-US" altLang="en-US"/>
          </a:p>
        </p:txBody>
      </p:sp>
      <p:sp>
        <p:nvSpPr>
          <p:cNvPr id="3" name="Rectangle 2">
            <a:extLst>
              <a:ext uri="{FF2B5EF4-FFF2-40B4-BE49-F238E27FC236}">
                <a16:creationId xmlns:a16="http://schemas.microsoft.com/office/drawing/2014/main" id="{0920B102-AFA8-C6B6-BFC3-83176339F781}"/>
              </a:ext>
            </a:extLst>
          </p:cNvPr>
          <p:cNvSpPr txBox="1">
            <a:spLocks noChangeArrowheads="1"/>
          </p:cNvSpPr>
          <p:nvPr/>
        </p:nvSpPr>
        <p:spPr>
          <a:xfrm>
            <a:off x="713958" y="104252"/>
            <a:ext cx="6264696" cy="576064"/>
          </a:xfrm>
          <a:prstGeom prst="rect">
            <a:avLst/>
          </a:prstGeom>
        </p:spPr>
        <p:txBody>
          <a:bodyPr/>
          <a:lstStyle>
            <a:lvl1pPr algn="ctr" rtl="0" eaLnBrk="0" fontAlgn="base" hangingPunct="0">
              <a:spcBef>
                <a:spcPct val="0"/>
              </a:spcBef>
              <a:spcAft>
                <a:spcPct val="0"/>
              </a:spcAft>
              <a:defRPr sz="4400" b="1">
                <a:solidFill>
                  <a:schemeClr val="tx2"/>
                </a:solidFill>
                <a:latin typeface="+mj-lt"/>
                <a:ea typeface="+mj-ea"/>
                <a:cs typeface="+mj-cs"/>
              </a:defRPr>
            </a:lvl1pPr>
            <a:lvl2pPr algn="ctr" rtl="0" eaLnBrk="0" fontAlgn="base" hangingPunct="0">
              <a:spcBef>
                <a:spcPct val="0"/>
              </a:spcBef>
              <a:spcAft>
                <a:spcPct val="0"/>
              </a:spcAft>
              <a:defRPr sz="4400" b="1">
                <a:solidFill>
                  <a:schemeClr val="tx2"/>
                </a:solidFill>
                <a:latin typeface="Arial" charset="0"/>
              </a:defRPr>
            </a:lvl2pPr>
            <a:lvl3pPr algn="ctr" rtl="0" eaLnBrk="0" fontAlgn="base" hangingPunct="0">
              <a:spcBef>
                <a:spcPct val="0"/>
              </a:spcBef>
              <a:spcAft>
                <a:spcPct val="0"/>
              </a:spcAft>
              <a:defRPr sz="4400" b="1">
                <a:solidFill>
                  <a:schemeClr val="tx2"/>
                </a:solidFill>
                <a:latin typeface="Arial" charset="0"/>
              </a:defRPr>
            </a:lvl3pPr>
            <a:lvl4pPr algn="ctr" rtl="0" eaLnBrk="0" fontAlgn="base" hangingPunct="0">
              <a:spcBef>
                <a:spcPct val="0"/>
              </a:spcBef>
              <a:spcAft>
                <a:spcPct val="0"/>
              </a:spcAft>
              <a:defRPr sz="4400" b="1">
                <a:solidFill>
                  <a:schemeClr val="tx2"/>
                </a:solidFill>
                <a:latin typeface="Arial" charset="0"/>
              </a:defRPr>
            </a:lvl4pPr>
            <a:lvl5pPr algn="ctr" rtl="0" eaLnBrk="0" fontAlgn="base" hangingPunct="0">
              <a:spcBef>
                <a:spcPct val="0"/>
              </a:spcBef>
              <a:spcAft>
                <a:spcPct val="0"/>
              </a:spcAft>
              <a:defRPr sz="4400" b="1">
                <a:solidFill>
                  <a:schemeClr val="tx2"/>
                </a:solidFill>
                <a:latin typeface="Arial" charset="0"/>
              </a:defRPr>
            </a:lvl5pPr>
            <a:lvl6pPr marL="457200" algn="ctr" rtl="0" fontAlgn="base">
              <a:spcBef>
                <a:spcPct val="0"/>
              </a:spcBef>
              <a:spcAft>
                <a:spcPct val="0"/>
              </a:spcAft>
              <a:defRPr sz="4400" b="1">
                <a:solidFill>
                  <a:schemeClr val="tx2"/>
                </a:solidFill>
                <a:latin typeface="Arial" charset="0"/>
              </a:defRPr>
            </a:lvl6pPr>
            <a:lvl7pPr marL="914400" algn="ctr" rtl="0" fontAlgn="base">
              <a:spcBef>
                <a:spcPct val="0"/>
              </a:spcBef>
              <a:spcAft>
                <a:spcPct val="0"/>
              </a:spcAft>
              <a:defRPr sz="4400" b="1">
                <a:solidFill>
                  <a:schemeClr val="tx2"/>
                </a:solidFill>
                <a:latin typeface="Arial" charset="0"/>
              </a:defRPr>
            </a:lvl7pPr>
            <a:lvl8pPr marL="1371600" algn="ctr" rtl="0" fontAlgn="base">
              <a:spcBef>
                <a:spcPct val="0"/>
              </a:spcBef>
              <a:spcAft>
                <a:spcPct val="0"/>
              </a:spcAft>
              <a:defRPr sz="4400" b="1">
                <a:solidFill>
                  <a:schemeClr val="tx2"/>
                </a:solidFill>
                <a:latin typeface="Arial" charset="0"/>
              </a:defRPr>
            </a:lvl8pPr>
            <a:lvl9pPr marL="1828800" algn="ctr" rtl="0" fontAlgn="base">
              <a:spcBef>
                <a:spcPct val="0"/>
              </a:spcBef>
              <a:spcAft>
                <a:spcPct val="0"/>
              </a:spcAft>
              <a:defRPr sz="4400" b="1">
                <a:solidFill>
                  <a:schemeClr val="tx2"/>
                </a:solidFill>
                <a:latin typeface="Arial" charset="0"/>
              </a:defRPr>
            </a:lvl9pPr>
          </a:lstStyle>
          <a:p>
            <a:pPr algn="l" eaLnBrk="1" hangingPunct="1"/>
            <a:r>
              <a:rPr lang="en-US" altLang="en-US" sz="3200" kern="0" dirty="0">
                <a:solidFill>
                  <a:schemeClr val="bg2">
                    <a:lumMod val="50000"/>
                  </a:schemeClr>
                </a:solidFill>
              </a:rPr>
              <a:t>Instrument Variables</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E5E82125-1331-B0E4-EAE4-C8ADE536983C}"/>
                  </a:ext>
                </a:extLst>
              </p:cNvPr>
              <p:cNvSpPr txBox="1">
                <a:spLocks/>
              </p:cNvSpPr>
              <p:nvPr/>
            </p:nvSpPr>
            <p:spPr>
              <a:xfrm>
                <a:off x="4319972" y="827334"/>
                <a:ext cx="3281978" cy="369332"/>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marL="0" indent="0">
                  <a:buFontTx/>
                  <a:buNone/>
                </a:pPr>
                <a14:m>
                  <m:oMath xmlns:m="http://schemas.openxmlformats.org/officeDocument/2006/math">
                    <m:sSub>
                      <m:sSubPr>
                        <m:ctrlPr>
                          <a:rPr lang="en-AU" sz="1800" b="1" i="1" kern="0" smtClean="0">
                            <a:latin typeface="Cambria Math" panose="02040503050406030204" pitchFamily="18" charset="0"/>
                          </a:rPr>
                        </m:ctrlPr>
                      </m:sSubPr>
                      <m:e>
                        <m:r>
                          <a:rPr lang="en-AU" sz="1800" b="1" i="1" kern="0" smtClean="0">
                            <a:latin typeface="Cambria Math" panose="02040503050406030204" pitchFamily="18" charset="0"/>
                          </a:rPr>
                          <m:t>𝑯𝒆𝒂𝒍𝒕𝒉</m:t>
                        </m:r>
                      </m:e>
                      <m:sub>
                        <m:r>
                          <a:rPr lang="en-AU" sz="1800" b="1" i="1" kern="0" smtClean="0">
                            <a:latin typeface="Cambria Math" panose="02040503050406030204" pitchFamily="18" charset="0"/>
                          </a:rPr>
                          <m:t>𝒊</m:t>
                        </m:r>
                      </m:sub>
                    </m:sSub>
                    <m:r>
                      <a:rPr lang="en-AU" sz="1800" b="1" i="1" kern="0" smtClean="0">
                        <a:latin typeface="Cambria Math" panose="02040503050406030204" pitchFamily="18" charset="0"/>
                      </a:rPr>
                      <m:t>= </m:t>
                    </m:r>
                    <m:sSub>
                      <m:sSubPr>
                        <m:ctrlPr>
                          <a:rPr lang="en-AU" sz="1800" b="1" i="1" kern="0" smtClean="0">
                            <a:latin typeface="Cambria Math" panose="02040503050406030204" pitchFamily="18" charset="0"/>
                            <a:ea typeface="Cambria Math" panose="02040503050406030204" pitchFamily="18" charset="0"/>
                          </a:rPr>
                        </m:ctrlPr>
                      </m:sSubPr>
                      <m:e>
                        <m:acc>
                          <m:accPr>
                            <m:chr m:val="̂"/>
                            <m:ctrlPr>
                              <a:rPr lang="en-AU" sz="1800" b="1" i="1" kern="0">
                                <a:latin typeface="Cambria Math" panose="02040503050406030204" pitchFamily="18" charset="0"/>
                              </a:rPr>
                            </m:ctrlPr>
                          </m:accPr>
                          <m:e>
                            <m:r>
                              <a:rPr lang="en-AU" sz="1800" b="1" i="1" kern="0">
                                <a:latin typeface="Cambria Math" panose="02040503050406030204" pitchFamily="18" charset="0"/>
                                <a:ea typeface="Cambria Math" panose="02040503050406030204" pitchFamily="18" charset="0"/>
                              </a:rPr>
                              <m:t>𝜷</m:t>
                            </m:r>
                          </m:e>
                        </m:acc>
                      </m:e>
                      <m:sub>
                        <m:r>
                          <a:rPr lang="en-AU" sz="1800" b="1" i="1" kern="0" smtClean="0">
                            <a:latin typeface="Cambria Math" panose="02040503050406030204" pitchFamily="18" charset="0"/>
                            <a:ea typeface="Cambria Math" panose="02040503050406030204" pitchFamily="18" charset="0"/>
                          </a:rPr>
                          <m:t>𝟏</m:t>
                        </m:r>
                      </m:sub>
                    </m:sSub>
                    <m:r>
                      <a:rPr lang="en-AU" sz="1800" b="1" i="1" kern="0" smtClean="0">
                        <a:latin typeface="Cambria Math" panose="02040503050406030204" pitchFamily="18" charset="0"/>
                      </a:rPr>
                      <m:t>+</m:t>
                    </m:r>
                    <m:sSub>
                      <m:sSubPr>
                        <m:ctrlPr>
                          <a:rPr lang="en-AU" sz="1800" b="1" i="1" kern="0" smtClean="0">
                            <a:solidFill>
                              <a:srgbClr val="00B050"/>
                            </a:solidFill>
                            <a:latin typeface="Cambria Math" panose="02040503050406030204" pitchFamily="18" charset="0"/>
                          </a:rPr>
                        </m:ctrlPr>
                      </m:sSubPr>
                      <m:e>
                        <m:sSub>
                          <m:sSubPr>
                            <m:ctrlPr>
                              <a:rPr lang="en-AU" sz="1800" b="1" i="1" kern="0">
                                <a:latin typeface="Cambria Math" panose="02040503050406030204" pitchFamily="18" charset="0"/>
                                <a:ea typeface="Cambria Math" panose="02040503050406030204" pitchFamily="18" charset="0"/>
                              </a:rPr>
                            </m:ctrlPr>
                          </m:sSubPr>
                          <m:e>
                            <m:acc>
                              <m:accPr>
                                <m:chr m:val="̂"/>
                                <m:ctrlPr>
                                  <a:rPr lang="en-AU" sz="1800" b="1" i="1" kern="0">
                                    <a:latin typeface="Cambria Math" panose="02040503050406030204" pitchFamily="18" charset="0"/>
                                  </a:rPr>
                                </m:ctrlPr>
                              </m:accPr>
                              <m:e>
                                <m:r>
                                  <a:rPr lang="en-AU" sz="1800" b="1" i="1" kern="0">
                                    <a:latin typeface="Cambria Math" panose="02040503050406030204" pitchFamily="18" charset="0"/>
                                    <a:ea typeface="Cambria Math" panose="02040503050406030204" pitchFamily="18" charset="0"/>
                                  </a:rPr>
                                  <m:t>𝜷</m:t>
                                </m:r>
                              </m:e>
                            </m:acc>
                          </m:e>
                          <m:sub>
                            <m:r>
                              <a:rPr lang="en-AU" sz="1800" b="1" i="1" kern="0" smtClean="0">
                                <a:latin typeface="Cambria Math" panose="02040503050406030204" pitchFamily="18" charset="0"/>
                                <a:ea typeface="Cambria Math" panose="02040503050406030204" pitchFamily="18" charset="0"/>
                              </a:rPr>
                              <m:t>𝟐</m:t>
                            </m:r>
                          </m:sub>
                        </m:sSub>
                        <m:r>
                          <a:rPr lang="en-AU" sz="1800" b="1" i="1" kern="0" smtClean="0">
                            <a:solidFill>
                              <a:srgbClr val="00B050"/>
                            </a:solidFill>
                            <a:latin typeface="Cambria Math" panose="02040503050406030204" pitchFamily="18" charset="0"/>
                          </a:rPr>
                          <m:t>𝑩𝑴𝑰</m:t>
                        </m:r>
                      </m:e>
                      <m:sub>
                        <m:r>
                          <a:rPr lang="en-AU" sz="1800" b="1" i="1" kern="0" smtClean="0">
                            <a:solidFill>
                              <a:srgbClr val="00B050"/>
                            </a:solidFill>
                            <a:latin typeface="Cambria Math" panose="02040503050406030204" pitchFamily="18" charset="0"/>
                          </a:rPr>
                          <m:t>𝒊</m:t>
                        </m:r>
                      </m:sub>
                    </m:sSub>
                  </m:oMath>
                </a14:m>
                <a:r>
                  <a:rPr lang="en-AU" sz="1800" b="1" kern="0" dirty="0"/>
                  <a:t> </a:t>
                </a:r>
                <a:r>
                  <a:rPr lang="en-AU" sz="1800" kern="0" dirty="0"/>
                  <a:t>+</a:t>
                </a:r>
                <a:r>
                  <a:rPr lang="en-AU" sz="1800" b="1" kern="0" dirty="0"/>
                  <a:t>  </a:t>
                </a:r>
                <a14:m>
                  <m:oMath xmlns:m="http://schemas.openxmlformats.org/officeDocument/2006/math">
                    <m:sSub>
                      <m:sSubPr>
                        <m:ctrlPr>
                          <a:rPr lang="en-AU" sz="1800" b="1" i="1" kern="0" smtClean="0">
                            <a:solidFill>
                              <a:srgbClr val="FF0000"/>
                            </a:solidFill>
                            <a:latin typeface="Cambria Math" panose="02040503050406030204" pitchFamily="18" charset="0"/>
                            <a:ea typeface="Cambria Math" panose="02040503050406030204" pitchFamily="18" charset="0"/>
                          </a:rPr>
                        </m:ctrlPr>
                      </m:sSubPr>
                      <m:e>
                        <m:r>
                          <a:rPr lang="en-AU" sz="1800" b="1" i="1" kern="0" smtClean="0">
                            <a:solidFill>
                              <a:srgbClr val="FF0000"/>
                            </a:solidFill>
                            <a:latin typeface="Cambria Math" panose="02040503050406030204" pitchFamily="18" charset="0"/>
                            <a:ea typeface="Cambria Math" panose="02040503050406030204" pitchFamily="18" charset="0"/>
                          </a:rPr>
                          <m:t>𝒆</m:t>
                        </m:r>
                      </m:e>
                      <m:sub>
                        <m:r>
                          <a:rPr lang="en-AU" sz="1800" b="1" i="1" kern="0" smtClean="0">
                            <a:solidFill>
                              <a:srgbClr val="FF0000"/>
                            </a:solidFill>
                            <a:latin typeface="Cambria Math" panose="02040503050406030204" pitchFamily="18" charset="0"/>
                            <a:ea typeface="Cambria Math" panose="02040503050406030204" pitchFamily="18" charset="0"/>
                          </a:rPr>
                          <m:t>𝒊</m:t>
                        </m:r>
                      </m:sub>
                    </m:sSub>
                  </m:oMath>
                </a14:m>
                <a:endParaRPr lang="en-AU" sz="1800" kern="0" dirty="0"/>
              </a:p>
            </p:txBody>
          </p:sp>
        </mc:Choice>
        <mc:Fallback xmlns="">
          <p:sp>
            <p:nvSpPr>
              <p:cNvPr id="5" name="Content Placeholder 2">
                <a:extLst>
                  <a:ext uri="{FF2B5EF4-FFF2-40B4-BE49-F238E27FC236}">
                    <a16:creationId xmlns:a16="http://schemas.microsoft.com/office/drawing/2014/main" id="{E5E82125-1331-B0E4-EAE4-C8ADE536983C}"/>
                  </a:ext>
                </a:extLst>
              </p:cNvPr>
              <p:cNvSpPr txBox="1">
                <a:spLocks noRot="1" noChangeAspect="1" noMove="1" noResize="1" noEditPoints="1" noAdjustHandles="1" noChangeArrowheads="1" noChangeShapeType="1" noTextEdit="1"/>
              </p:cNvSpPr>
              <p:nvPr/>
            </p:nvSpPr>
            <p:spPr>
              <a:xfrm>
                <a:off x="4319972" y="827334"/>
                <a:ext cx="3281978" cy="369332"/>
              </a:xfrm>
              <a:prstGeom prst="rect">
                <a:avLst/>
              </a:prstGeom>
              <a:blipFill>
                <a:blip r:embed="rId2"/>
                <a:stretch>
                  <a:fillRect t="-5000" b="-31667"/>
                </a:stretch>
              </a:blipFill>
            </p:spPr>
            <p:txBody>
              <a:bodyPr/>
              <a:lstStyle/>
              <a:p>
                <a:r>
                  <a:rPr lang="en-AU">
                    <a:noFill/>
                  </a:rPr>
                  <a:t> </a:t>
                </a:r>
              </a:p>
            </p:txBody>
          </p:sp>
        </mc:Fallback>
      </mc:AlternateContent>
      <p:sp>
        <p:nvSpPr>
          <p:cNvPr id="6" name="TextBox 5">
            <a:extLst>
              <a:ext uri="{FF2B5EF4-FFF2-40B4-BE49-F238E27FC236}">
                <a16:creationId xmlns:a16="http://schemas.microsoft.com/office/drawing/2014/main" id="{F517DB26-DB20-9D3E-A7C6-98896D8CE993}"/>
              </a:ext>
            </a:extLst>
          </p:cNvPr>
          <p:cNvSpPr txBox="1"/>
          <p:nvPr/>
        </p:nvSpPr>
        <p:spPr>
          <a:xfrm>
            <a:off x="715244" y="827334"/>
            <a:ext cx="4572000" cy="369332"/>
          </a:xfrm>
          <a:prstGeom prst="rect">
            <a:avLst/>
          </a:prstGeom>
          <a:noFill/>
        </p:spPr>
        <p:txBody>
          <a:bodyPr wrap="square">
            <a:spAutoFit/>
          </a:bodyPr>
          <a:lstStyle/>
          <a:p>
            <a:r>
              <a:rPr lang="en-AU" i="1" dirty="0"/>
              <a:t>E(</a:t>
            </a:r>
            <a:r>
              <a:rPr lang="en-AU" i="1" dirty="0" err="1"/>
              <a:t>health|BMI</a:t>
            </a:r>
            <a:r>
              <a:rPr lang="en-AU" i="1" dirty="0"/>
              <a:t>) = </a:t>
            </a:r>
            <a:r>
              <a:rPr lang="el-GR" i="1" dirty="0"/>
              <a:t>β</a:t>
            </a:r>
            <a:r>
              <a:rPr lang="en-AU" i="1" baseline="-25000" dirty="0"/>
              <a:t>1</a:t>
            </a:r>
            <a:r>
              <a:rPr lang="el-GR" i="1" dirty="0"/>
              <a:t> +β</a:t>
            </a:r>
            <a:r>
              <a:rPr lang="en-AU" i="1" baseline="-25000" dirty="0"/>
              <a:t>2</a:t>
            </a:r>
            <a:r>
              <a:rPr lang="en-AU" i="1" dirty="0"/>
              <a:t> BMI + Ɛ</a:t>
            </a:r>
          </a:p>
        </p:txBody>
      </p:sp>
      <p:sp>
        <p:nvSpPr>
          <p:cNvPr id="7" name="TextBox 6">
            <a:extLst>
              <a:ext uri="{FF2B5EF4-FFF2-40B4-BE49-F238E27FC236}">
                <a16:creationId xmlns:a16="http://schemas.microsoft.com/office/drawing/2014/main" id="{30E1D96F-70E5-08E8-D3E1-003A648ACBCC}"/>
              </a:ext>
            </a:extLst>
          </p:cNvPr>
          <p:cNvSpPr txBox="1"/>
          <p:nvPr/>
        </p:nvSpPr>
        <p:spPr>
          <a:xfrm>
            <a:off x="695171" y="1215607"/>
            <a:ext cx="7601172" cy="1200329"/>
          </a:xfrm>
          <a:prstGeom prst="rect">
            <a:avLst/>
          </a:prstGeom>
          <a:noFill/>
        </p:spPr>
        <p:txBody>
          <a:bodyPr wrap="square" rtlCol="0">
            <a:spAutoFit/>
          </a:bodyPr>
          <a:lstStyle/>
          <a:p>
            <a:r>
              <a:rPr lang="en-AU" dirty="0"/>
              <a:t>Recall our linear model assumptions:</a:t>
            </a:r>
          </a:p>
          <a:p>
            <a:r>
              <a:rPr lang="en-AU" dirty="0"/>
              <a:t>We discussed </a:t>
            </a:r>
            <a:r>
              <a:rPr lang="en-US" dirty="0">
                <a:solidFill>
                  <a:srgbClr val="0066FF"/>
                </a:solidFill>
              </a:rPr>
              <a:t>heteroskedasticity</a:t>
            </a:r>
            <a:r>
              <a:rPr lang="en-US" dirty="0"/>
              <a:t> and how to account for it in Stata: </a:t>
            </a:r>
            <a:r>
              <a:rPr lang="en-US" dirty="0" err="1"/>
              <a:t>vce</a:t>
            </a:r>
            <a:r>
              <a:rPr lang="en-US" dirty="0"/>
              <a:t>(robust)</a:t>
            </a:r>
          </a:p>
          <a:p>
            <a:endParaRPr lang="en-AU" dirty="0"/>
          </a:p>
        </p:txBody>
      </p:sp>
      <p:sp>
        <p:nvSpPr>
          <p:cNvPr id="8" name="TextBox 7">
            <a:extLst>
              <a:ext uri="{FF2B5EF4-FFF2-40B4-BE49-F238E27FC236}">
                <a16:creationId xmlns:a16="http://schemas.microsoft.com/office/drawing/2014/main" id="{4403B5C9-6A0B-A276-5FD8-6970C3BE8DF3}"/>
              </a:ext>
            </a:extLst>
          </p:cNvPr>
          <p:cNvSpPr txBox="1"/>
          <p:nvPr/>
        </p:nvSpPr>
        <p:spPr>
          <a:xfrm>
            <a:off x="713958" y="2231762"/>
            <a:ext cx="7906332" cy="923330"/>
          </a:xfrm>
          <a:prstGeom prst="rect">
            <a:avLst/>
          </a:prstGeom>
          <a:noFill/>
          <a:ln>
            <a:solidFill>
              <a:schemeClr val="tx1"/>
            </a:solidFill>
          </a:ln>
        </p:spPr>
        <p:txBody>
          <a:bodyPr wrap="none" rtlCol="0">
            <a:spAutoFit/>
          </a:bodyPr>
          <a:lstStyle/>
          <a:p>
            <a:r>
              <a:rPr lang="en-US" dirty="0"/>
              <a:t>4. Zero correlation between error terms for X</a:t>
            </a:r>
            <a:r>
              <a:rPr lang="en-US" baseline="-25000" dirty="0"/>
              <a:t>i </a:t>
            </a:r>
            <a:r>
              <a:rPr lang="en-US" dirty="0"/>
              <a:t>and </a:t>
            </a:r>
            <a:r>
              <a:rPr lang="en-US" dirty="0" err="1"/>
              <a:t>X</a:t>
            </a:r>
            <a:r>
              <a:rPr lang="en-US" baseline="-25000" dirty="0" err="1"/>
              <a:t>j</a:t>
            </a:r>
            <a:r>
              <a:rPr lang="en-US" baseline="-25000" dirty="0"/>
              <a:t> </a:t>
            </a:r>
          </a:p>
          <a:p>
            <a:r>
              <a:rPr lang="en-US" dirty="0"/>
              <a:t>5. Error term &amp; the explanatory variable(s) are uncorrelated: </a:t>
            </a:r>
            <a:r>
              <a:rPr lang="en-US" i="1" dirty="0" err="1"/>
              <a:t>Cov</a:t>
            </a:r>
            <a:r>
              <a:rPr lang="en-US" dirty="0"/>
              <a:t>(</a:t>
            </a:r>
            <a:r>
              <a:rPr lang="en-US" i="1" dirty="0" err="1"/>
              <a:t>Ɛ</a:t>
            </a:r>
            <a:r>
              <a:rPr lang="en-US" i="1" baseline="-25000" dirty="0" err="1"/>
              <a:t>i</a:t>
            </a:r>
            <a:r>
              <a:rPr lang="en-US" i="1" dirty="0"/>
              <a:t> ,X</a:t>
            </a:r>
            <a:r>
              <a:rPr lang="en-US" i="1" baseline="-25000" dirty="0"/>
              <a:t>i </a:t>
            </a:r>
            <a:r>
              <a:rPr lang="en-US" dirty="0"/>
              <a:t>) = 0:</a:t>
            </a:r>
          </a:p>
          <a:p>
            <a:r>
              <a:rPr lang="en-US" dirty="0">
                <a:solidFill>
                  <a:srgbClr val="0066FF"/>
                </a:solidFill>
              </a:rPr>
              <a:t>	endogeneity</a:t>
            </a:r>
            <a:r>
              <a:rPr lang="en-US" dirty="0"/>
              <a:t> </a:t>
            </a:r>
            <a:endParaRPr lang="en-AU" dirty="0"/>
          </a:p>
        </p:txBody>
      </p:sp>
      <p:sp>
        <p:nvSpPr>
          <p:cNvPr id="10" name="TextBox 9">
            <a:extLst>
              <a:ext uri="{FF2B5EF4-FFF2-40B4-BE49-F238E27FC236}">
                <a16:creationId xmlns:a16="http://schemas.microsoft.com/office/drawing/2014/main" id="{5D1132F8-8EEB-0DB4-C46B-13BEB060E204}"/>
              </a:ext>
            </a:extLst>
          </p:cNvPr>
          <p:cNvSpPr txBox="1"/>
          <p:nvPr/>
        </p:nvSpPr>
        <p:spPr>
          <a:xfrm>
            <a:off x="695171" y="3360390"/>
            <a:ext cx="7904728" cy="2862322"/>
          </a:xfrm>
          <a:prstGeom prst="rect">
            <a:avLst/>
          </a:prstGeom>
          <a:noFill/>
        </p:spPr>
        <p:txBody>
          <a:bodyPr wrap="square">
            <a:spAutoFit/>
          </a:bodyPr>
          <a:lstStyle/>
          <a:p>
            <a:pPr algn="l"/>
            <a:r>
              <a:rPr lang="en-AU" dirty="0"/>
              <a:t>Instrumental variable (IV) methods deal with the endogeneity of a</a:t>
            </a:r>
          </a:p>
          <a:p>
            <a:pPr algn="l"/>
            <a:r>
              <a:rPr lang="en-AU" dirty="0"/>
              <a:t>regressor within a regression framework.</a:t>
            </a:r>
          </a:p>
          <a:p>
            <a:endParaRPr lang="en-AU" dirty="0"/>
          </a:p>
          <a:p>
            <a:r>
              <a:rPr lang="en-AU" dirty="0"/>
              <a:t>An instrument is a variable that affects the endogenous variable, but not the outcome other than through its effect on the endogenous variable (</a:t>
            </a:r>
            <a:r>
              <a:rPr lang="en-AU" b="1" dirty="0"/>
              <a:t>exclusion restriction</a:t>
            </a:r>
            <a:r>
              <a:rPr lang="en-AU" dirty="0"/>
              <a:t>) .</a:t>
            </a:r>
          </a:p>
          <a:p>
            <a:endParaRPr lang="en-AU" dirty="0"/>
          </a:p>
          <a:p>
            <a:pPr algn="l"/>
            <a:r>
              <a:rPr lang="en-AU" dirty="0"/>
              <a:t>Reasons for IV: 	omitted variable bias; reverse causality, and; 	measurement error.</a:t>
            </a:r>
          </a:p>
          <a:p>
            <a:r>
              <a:rPr lang="en-AU" dirty="0"/>
              <a:t>	</a:t>
            </a:r>
          </a:p>
        </p:txBody>
      </p:sp>
    </p:spTree>
    <p:extLst>
      <p:ext uri="{BB962C8B-B14F-4D97-AF65-F5344CB8AC3E}">
        <p14:creationId xmlns:p14="http://schemas.microsoft.com/office/powerpoint/2010/main" val="2422032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a:extLst>
              <a:ext uri="{FF2B5EF4-FFF2-40B4-BE49-F238E27FC236}">
                <a16:creationId xmlns:a16="http://schemas.microsoft.com/office/drawing/2014/main" id="{D9544F82-959B-E1FB-229F-9422C7BD891C}"/>
              </a:ext>
            </a:extLst>
          </p:cNvPr>
          <p:cNvSpPr>
            <a:spLocks noGrp="1" noChangeArrowheads="1"/>
          </p:cNvSpPr>
          <p:nvPr>
            <p:ph type="title"/>
          </p:nvPr>
        </p:nvSpPr>
        <p:spPr>
          <a:xfrm>
            <a:off x="457200" y="0"/>
            <a:ext cx="8229600" cy="850106"/>
          </a:xfrm>
        </p:spPr>
        <p:txBody>
          <a:bodyPr/>
          <a:lstStyle/>
          <a:p>
            <a:pPr algn="l"/>
            <a:r>
              <a:rPr lang="en-AU" altLang="en-US" sz="3200" dirty="0"/>
              <a:t>Reverse Causality</a:t>
            </a:r>
          </a:p>
        </p:txBody>
      </p:sp>
      <p:sp>
        <p:nvSpPr>
          <p:cNvPr id="7172" name="Slide Number Placeholder 3">
            <a:extLst>
              <a:ext uri="{FF2B5EF4-FFF2-40B4-BE49-F238E27FC236}">
                <a16:creationId xmlns:a16="http://schemas.microsoft.com/office/drawing/2014/main" id="{7E8A9900-E296-7EE3-5C3F-0EF9C753F874}"/>
              </a:ext>
            </a:extLst>
          </p:cNvPr>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E775A5D-EF89-4539-B63D-58187757724E}" type="slidenum">
              <a:rPr lang="en-US" altLang="en-US" smtClean="0"/>
              <a:pPr/>
              <a:t>5</a:t>
            </a:fld>
            <a:endParaRPr lang="en-US" altLang="en-US"/>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A9A37FC-2602-012A-2565-81A9AEF0CCD4}"/>
                  </a:ext>
                </a:extLst>
              </p:cNvPr>
              <p:cNvSpPr txBox="1"/>
              <p:nvPr/>
            </p:nvSpPr>
            <p:spPr>
              <a:xfrm>
                <a:off x="457200" y="850106"/>
                <a:ext cx="8229600" cy="4000647"/>
              </a:xfrm>
              <a:prstGeom prst="rect">
                <a:avLst/>
              </a:prstGeom>
              <a:noFill/>
            </p:spPr>
            <p:txBody>
              <a:bodyPr wrap="square">
                <a:spAutoFit/>
              </a:bodyPr>
              <a:lstStyle/>
              <a:p>
                <a:pPr algn="l"/>
                <a:r>
                  <a:rPr lang="en-AU" sz="1800" b="0" i="0" u="none" strike="noStrike" baseline="0" dirty="0">
                    <a:cs typeface="Arial" panose="020B0604020202020204" pitchFamily="34" charset="0"/>
                  </a:rPr>
                  <a:t>Suppose that the </a:t>
                </a:r>
                <a:r>
                  <a:rPr lang="en-AU" sz="1800" b="1" i="0" u="none" strike="noStrike" baseline="0" dirty="0">
                    <a:cs typeface="Arial" panose="020B0604020202020204" pitchFamily="34" charset="0"/>
                  </a:rPr>
                  <a:t>causal relationship </a:t>
                </a:r>
                <a:r>
                  <a:rPr lang="en-AU" sz="1800" b="0" i="0" u="none" strike="noStrike" baseline="0" dirty="0">
                    <a:cs typeface="Arial" panose="020B0604020202020204" pitchFamily="34" charset="0"/>
                  </a:rPr>
                  <a:t>between ‘mental health’ (MH) and  physical ‘health’ is:</a:t>
                </a:r>
              </a:p>
              <a:p>
                <a:pPr algn="l"/>
                <a:endParaRPr lang="en-AU" sz="1800" b="0" i="0" u="none" strike="noStrike" baseline="0" dirty="0">
                  <a:cs typeface="Arial" panose="020B0604020202020204" pitchFamily="34" charset="0"/>
                </a:endParaRPr>
              </a:p>
              <a:p>
                <a:pPr algn="l"/>
                <a:r>
                  <a:rPr lang="en-AU" sz="1800" b="0" i="0" u="none" strike="noStrike" baseline="0" dirty="0">
                    <a:cs typeface="Arial" panose="020B0604020202020204" pitchFamily="34" charset="0"/>
                  </a:rPr>
                  <a:t>While mental health has an effect on physical health, there is also a reverse causal relationship; physical illness can lead to mentally ill people: </a:t>
                </a:r>
              </a:p>
              <a:p>
                <a:pPr algn="l"/>
                <a:r>
                  <a:rPr lang="en-AU" dirty="0">
                    <a:cs typeface="Arial" panose="020B0604020202020204" pitchFamily="34" charset="0"/>
                  </a:rPr>
                  <a:t>			</a:t>
                </a:r>
                <a:r>
                  <a:rPr lang="en-AU" sz="1800" b="1" i="1" u="none" strike="noStrike" baseline="0" dirty="0">
                    <a:cs typeface="Arial" panose="020B0604020202020204" pitchFamily="34" charset="0"/>
                  </a:rPr>
                  <a:t>MH = </a:t>
                </a:r>
                <a:r>
                  <a:rPr lang="en-AU" b="1" i="1" dirty="0">
                    <a:cs typeface="Arial" panose="020B0604020202020204" pitchFamily="34" charset="0"/>
                  </a:rPr>
                  <a:t>α(health)</a:t>
                </a:r>
                <a:r>
                  <a:rPr lang="en-AU" sz="1800" b="1" i="1" u="none" strike="noStrike" baseline="0" dirty="0">
                    <a:cs typeface="Arial" panose="020B0604020202020204" pitchFamily="34" charset="0"/>
                  </a:rPr>
                  <a:t> + u      </a:t>
                </a:r>
                <a:r>
                  <a:rPr lang="en-AU" sz="1800" u="none" strike="noStrike" baseline="0" dirty="0">
                    <a:cs typeface="Arial" panose="020B0604020202020204" pitchFamily="34" charset="0"/>
                  </a:rPr>
                  <a:t>(2)</a:t>
                </a:r>
              </a:p>
              <a:p>
                <a:pPr algn="l"/>
                <a:r>
                  <a:rPr lang="en-AU" sz="1800" b="0" i="0" u="none" strike="noStrike" baseline="0" dirty="0">
                    <a:cs typeface="Arial" panose="020B0604020202020204" pitchFamily="34" charset="0"/>
                  </a:rPr>
                  <a:t>	where other causal effects on </a:t>
                </a:r>
                <a:r>
                  <a:rPr lang="en-AU" sz="1800" b="0" i="1" u="none" strike="noStrike" baseline="0" dirty="0">
                    <a:cs typeface="Arial" panose="020B0604020202020204" pitchFamily="34" charset="0"/>
                  </a:rPr>
                  <a:t>MH</a:t>
                </a:r>
                <a:r>
                  <a:rPr lang="en-AU" sz="1800" b="0" i="0" u="none" strike="noStrike" baseline="0" dirty="0">
                    <a:cs typeface="Arial" panose="020B0604020202020204" pitchFamily="34" charset="0"/>
                  </a:rPr>
                  <a:t> and </a:t>
                </a:r>
                <a:r>
                  <a:rPr lang="en-AU" sz="1800" b="0" i="1" u="none" strike="noStrike" baseline="0" dirty="0">
                    <a:cs typeface="Arial" panose="020B0604020202020204" pitchFamily="34" charset="0"/>
                  </a:rPr>
                  <a:t>Health</a:t>
                </a:r>
                <a:r>
                  <a:rPr lang="en-AU" sz="1800" b="0" i="0" u="none" strike="noStrike" baseline="0" dirty="0">
                    <a:cs typeface="Arial" panose="020B0604020202020204" pitchFamily="34" charset="0"/>
                  </a:rPr>
                  <a:t> have been omitted for simplicity.</a:t>
                </a:r>
              </a:p>
              <a:p>
                <a:pPr algn="l"/>
                <a:r>
                  <a:rPr lang="en-AU" sz="1800" b="0" i="0" u="none" strike="noStrike" baseline="0" dirty="0">
                    <a:cs typeface="Arial" panose="020B0604020202020204" pitchFamily="34" charset="0"/>
                  </a:rPr>
                  <a:t>Substituting equation (1) into (2): </a:t>
                </a:r>
                <a14:m>
                  <m:oMath xmlns:m="http://schemas.openxmlformats.org/officeDocument/2006/math">
                    <m:r>
                      <a:rPr lang="en-AU" sz="2400" b="0" i="1" u="none" strike="noStrike" baseline="0" smtClean="0">
                        <a:latin typeface="Cambria Math" panose="02040503050406030204" pitchFamily="18" charset="0"/>
                      </a:rPr>
                      <m:t>𝑀𝐻</m:t>
                    </m:r>
                    <m:r>
                      <a:rPr lang="en-AU" sz="2400" b="0" i="1" u="none" strike="noStrike" baseline="0" smtClean="0">
                        <a:latin typeface="Cambria Math" panose="02040503050406030204" pitchFamily="18" charset="0"/>
                      </a:rPr>
                      <m:t>=</m:t>
                    </m:r>
                    <m:f>
                      <m:fPr>
                        <m:ctrlPr>
                          <a:rPr lang="en-AU" sz="2400" b="0" i="1" u="none" strike="noStrike" baseline="0" smtClean="0">
                            <a:latin typeface="Cambria Math" panose="02040503050406030204" pitchFamily="18" charset="0"/>
                          </a:rPr>
                        </m:ctrlPr>
                      </m:fPr>
                      <m:num>
                        <m:r>
                          <a:rPr lang="en-AU" sz="2400" b="0" i="1" u="none" strike="noStrike" baseline="0" smtClean="0">
                            <a:latin typeface="Cambria Math" panose="02040503050406030204" pitchFamily="18" charset="0"/>
                          </a:rPr>
                          <m:t>𝑈</m:t>
                        </m:r>
                        <m:r>
                          <a:rPr lang="en-AU" sz="2400" b="0" i="1" u="none" strike="noStrike" baseline="0" smtClean="0">
                            <a:latin typeface="Cambria Math" panose="02040503050406030204" pitchFamily="18" charset="0"/>
                          </a:rPr>
                          <m:t> + ∝</m:t>
                        </m:r>
                        <m:r>
                          <a:rPr lang="el-GR" sz="2400" b="0" i="1" u="none" strike="noStrike" baseline="0" smtClean="0">
                            <a:latin typeface="Cambria Math" panose="02040503050406030204" pitchFamily="18" charset="0"/>
                            <a:ea typeface="Cambria Math" panose="02040503050406030204" pitchFamily="18" charset="0"/>
                          </a:rPr>
                          <m:t>𝜀</m:t>
                        </m:r>
                        <m:r>
                          <a:rPr lang="en-AU" sz="2400" b="0" i="1" u="none" strike="noStrike" baseline="0" smtClean="0">
                            <a:latin typeface="Cambria Math" panose="02040503050406030204" pitchFamily="18" charset="0"/>
                          </a:rPr>
                          <m:t> </m:t>
                        </m:r>
                      </m:num>
                      <m:den>
                        <m:r>
                          <a:rPr lang="en-AU" sz="2400" b="0" i="1" u="none" strike="noStrike" baseline="0" smtClean="0">
                            <a:latin typeface="Cambria Math" panose="02040503050406030204" pitchFamily="18" charset="0"/>
                          </a:rPr>
                          <m:t>1 − </m:t>
                        </m:r>
                        <m:r>
                          <a:rPr lang="en-AU" sz="2400" b="0" i="1" u="none" strike="noStrike" baseline="0" smtClean="0">
                            <a:latin typeface="Cambria Math" panose="02040503050406030204" pitchFamily="18" charset="0"/>
                            <a:ea typeface="Cambria Math" panose="02040503050406030204" pitchFamily="18" charset="0"/>
                          </a:rPr>
                          <m:t>𝛼𝛽</m:t>
                        </m:r>
                      </m:den>
                    </m:f>
                  </m:oMath>
                </a14:m>
                <a:endParaRPr lang="en-AU" sz="2400" b="0" i="1" u="none" strike="noStrike" baseline="0" dirty="0">
                  <a:cs typeface="Arial" panose="020B0604020202020204" pitchFamily="34" charset="0"/>
                </a:endParaRPr>
              </a:p>
              <a:p>
                <a:r>
                  <a:rPr lang="en-AU" sz="1800" b="0" i="0" u="none" strike="noStrike" baseline="0" dirty="0">
                    <a:cs typeface="Arial" panose="020B0604020202020204" pitchFamily="34" charset="0"/>
                  </a:rPr>
                  <a:t>which shows that in the regression</a:t>
                </a:r>
                <a:r>
                  <a:rPr lang="en-AU" i="1" dirty="0">
                    <a:cs typeface="Arial" panose="020B0604020202020204" pitchFamily="34" charset="0"/>
                  </a:rPr>
                  <a:t>, </a:t>
                </a:r>
                <a14:m>
                  <m:oMath xmlns:m="http://schemas.openxmlformats.org/officeDocument/2006/math">
                    <m:sSub>
                      <m:sSubPr>
                        <m:ctrlPr>
                          <a:rPr lang="en-AU" sz="1800" b="1" i="1" smtClean="0">
                            <a:solidFill>
                              <a:schemeClr val="tx1"/>
                            </a:solidFill>
                            <a:latin typeface="Cambria Math" panose="02040503050406030204" pitchFamily="18" charset="0"/>
                          </a:rPr>
                        </m:ctrlPr>
                      </m:sSubPr>
                      <m:e>
                        <m:r>
                          <a:rPr lang="en-AU" sz="1800" b="1" i="1" smtClean="0">
                            <a:solidFill>
                              <a:schemeClr val="tx1"/>
                            </a:solidFill>
                            <a:latin typeface="Cambria Math" panose="02040503050406030204" pitchFamily="18" charset="0"/>
                          </a:rPr>
                          <m:t>𝑯𝒆𝒂𝒍𝒕𝒉</m:t>
                        </m:r>
                      </m:e>
                      <m:sub>
                        <m:r>
                          <a:rPr lang="en-AU" sz="1800" b="1" i="1" smtClean="0">
                            <a:solidFill>
                              <a:schemeClr val="tx1"/>
                            </a:solidFill>
                            <a:latin typeface="Cambria Math" panose="02040503050406030204" pitchFamily="18" charset="0"/>
                          </a:rPr>
                          <m:t>𝒊</m:t>
                        </m:r>
                      </m:sub>
                    </m:sSub>
                    <m:r>
                      <a:rPr lang="en-AU" sz="1800" b="1" i="1" smtClean="0">
                        <a:solidFill>
                          <a:schemeClr val="tx1"/>
                        </a:solidFill>
                        <a:latin typeface="Cambria Math" panose="02040503050406030204" pitchFamily="18" charset="0"/>
                      </a:rPr>
                      <m:t>= </m:t>
                    </m:r>
                    <m:sSub>
                      <m:sSubPr>
                        <m:ctrlPr>
                          <a:rPr lang="en-AU" sz="1800" b="1" i="1" smtClean="0">
                            <a:solidFill>
                              <a:schemeClr val="tx1"/>
                            </a:solidFill>
                            <a:latin typeface="Cambria Math" panose="02040503050406030204" pitchFamily="18" charset="0"/>
                          </a:rPr>
                        </m:ctrlPr>
                      </m:sSubPr>
                      <m:e>
                        <m:sSub>
                          <m:sSubPr>
                            <m:ctrlPr>
                              <a:rPr lang="en-AU" sz="1800" b="1" i="1">
                                <a:solidFill>
                                  <a:schemeClr val="tx1"/>
                                </a:solidFill>
                                <a:latin typeface="Cambria Math" panose="02040503050406030204" pitchFamily="18" charset="0"/>
                                <a:ea typeface="Cambria Math" panose="02040503050406030204" pitchFamily="18" charset="0"/>
                              </a:rPr>
                            </m:ctrlPr>
                          </m:sSubPr>
                          <m:e>
                            <m:acc>
                              <m:accPr>
                                <m:chr m:val="̂"/>
                                <m:ctrlPr>
                                  <a:rPr lang="en-AU" sz="1800" b="1" i="1">
                                    <a:solidFill>
                                      <a:schemeClr val="tx1"/>
                                    </a:solidFill>
                                    <a:latin typeface="Cambria Math" panose="02040503050406030204" pitchFamily="18" charset="0"/>
                                  </a:rPr>
                                </m:ctrlPr>
                              </m:accPr>
                              <m:e>
                                <m:r>
                                  <a:rPr lang="en-AU" sz="1800" b="1" i="1">
                                    <a:solidFill>
                                      <a:schemeClr val="tx1"/>
                                    </a:solidFill>
                                    <a:latin typeface="Cambria Math" panose="02040503050406030204" pitchFamily="18" charset="0"/>
                                    <a:ea typeface="Cambria Math" panose="02040503050406030204" pitchFamily="18" charset="0"/>
                                  </a:rPr>
                                  <m:t>𝜷</m:t>
                                </m:r>
                              </m:e>
                            </m:acc>
                          </m:e>
                          <m:sub/>
                        </m:sSub>
                        <m:r>
                          <a:rPr lang="en-AU" sz="1800" b="1" i="1" smtClean="0">
                            <a:solidFill>
                              <a:schemeClr val="tx1"/>
                            </a:solidFill>
                            <a:latin typeface="Cambria Math" panose="02040503050406030204" pitchFamily="18" charset="0"/>
                            <a:ea typeface="Cambria Math" panose="02040503050406030204" pitchFamily="18" charset="0"/>
                          </a:rPr>
                          <m:t>𝑴𝑯</m:t>
                        </m:r>
                      </m:e>
                      <m:sub>
                        <m:r>
                          <a:rPr lang="en-AU" sz="1800" b="1" i="1" smtClean="0">
                            <a:solidFill>
                              <a:schemeClr val="tx1"/>
                            </a:solidFill>
                            <a:latin typeface="Cambria Math" panose="02040503050406030204" pitchFamily="18" charset="0"/>
                          </a:rPr>
                          <m:t>𝒊</m:t>
                        </m:r>
                      </m:sub>
                    </m:sSub>
                  </m:oMath>
                </a14:m>
                <a:r>
                  <a:rPr lang="en-AU" sz="1800" b="1" dirty="0">
                    <a:solidFill>
                      <a:schemeClr val="tx1"/>
                    </a:solidFill>
                  </a:rPr>
                  <a:t> +  </a:t>
                </a:r>
                <a14:m>
                  <m:oMath xmlns:m="http://schemas.openxmlformats.org/officeDocument/2006/math">
                    <m:sSub>
                      <m:sSubPr>
                        <m:ctrlPr>
                          <a:rPr lang="en-AU" sz="1800" b="1" i="1" smtClean="0">
                            <a:solidFill>
                              <a:schemeClr val="tx1"/>
                            </a:solidFill>
                            <a:latin typeface="Cambria Math" panose="02040503050406030204" pitchFamily="18" charset="0"/>
                            <a:ea typeface="Cambria Math" panose="02040503050406030204" pitchFamily="18" charset="0"/>
                          </a:rPr>
                        </m:ctrlPr>
                      </m:sSubPr>
                      <m:e>
                        <m:r>
                          <a:rPr lang="el-GR" sz="1800" b="1" i="1" smtClean="0">
                            <a:solidFill>
                              <a:schemeClr val="tx1"/>
                            </a:solidFill>
                            <a:latin typeface="Cambria Math" panose="02040503050406030204" pitchFamily="18" charset="0"/>
                            <a:ea typeface="Cambria Math" panose="02040503050406030204" pitchFamily="18" charset="0"/>
                          </a:rPr>
                          <m:t>𝜺</m:t>
                        </m:r>
                      </m:e>
                      <m:sub>
                        <m:r>
                          <a:rPr lang="en-AU" sz="1800" b="1" i="1" smtClean="0">
                            <a:solidFill>
                              <a:schemeClr val="tx1"/>
                            </a:solidFill>
                            <a:latin typeface="Cambria Math" panose="02040503050406030204" pitchFamily="18" charset="0"/>
                            <a:ea typeface="Cambria Math" panose="02040503050406030204" pitchFamily="18" charset="0"/>
                          </a:rPr>
                          <m:t>𝒊</m:t>
                        </m:r>
                      </m:sub>
                    </m:sSub>
                  </m:oMath>
                </a14:m>
                <a:r>
                  <a:rPr lang="en-AU" i="1" dirty="0">
                    <a:cs typeface="Arial" panose="020B0604020202020204" pitchFamily="34" charset="0"/>
                  </a:rPr>
                  <a:t>,  </a:t>
                </a:r>
                <a:r>
                  <a:rPr lang="en-AU" sz="1800" b="0" i="0" u="none" strike="noStrike" baseline="0" dirty="0">
                    <a:cs typeface="Arial" panose="020B0604020202020204" pitchFamily="34" charset="0"/>
                  </a:rPr>
                  <a:t>MH will be correlated with </a:t>
                </a:r>
                <a:r>
                  <a:rPr lang="el-GR" sz="1800" b="0" i="0" u="none" strike="noStrike" baseline="0" dirty="0">
                    <a:cs typeface="Arial" panose="020B0604020202020204" pitchFamily="34" charset="0"/>
                  </a:rPr>
                  <a:t>ε</a:t>
                </a:r>
                <a:r>
                  <a:rPr lang="en-AU" sz="1800" b="0" i="1" u="none" strike="noStrike" baseline="0" dirty="0">
                    <a:cs typeface="Arial" panose="020B0604020202020204" pitchFamily="34" charset="0"/>
                  </a:rPr>
                  <a:t> </a:t>
                </a:r>
                <a:r>
                  <a:rPr lang="en-AU" sz="1800" b="0" i="0" u="none" strike="noStrike" baseline="0" dirty="0">
                    <a:cs typeface="Arial" panose="020B0604020202020204" pitchFamily="34" charset="0"/>
                  </a:rPr>
                  <a:t>(the error term, </a:t>
                </a:r>
                <a:r>
                  <a:rPr lang="el-GR" sz="1800" b="0" i="0" u="none" strike="noStrike" baseline="0" dirty="0">
                    <a:cs typeface="Arial" panose="020B0604020202020204" pitchFamily="34" charset="0"/>
                  </a:rPr>
                  <a:t>ε</a:t>
                </a:r>
                <a:r>
                  <a:rPr lang="en-AU" sz="1800" b="0" i="0" u="none" strike="noStrike" baseline="0" dirty="0">
                    <a:cs typeface="Arial" panose="020B0604020202020204" pitchFamily="34" charset="0"/>
                  </a:rPr>
                  <a:t>,</a:t>
                </a:r>
                <a:r>
                  <a:rPr lang="en-AU" sz="1800" b="0" i="1" u="none" strike="noStrike" baseline="0" dirty="0">
                    <a:cs typeface="Arial" panose="020B0604020202020204" pitchFamily="34" charset="0"/>
                  </a:rPr>
                  <a:t>  </a:t>
                </a:r>
                <a:r>
                  <a:rPr lang="en-AU" sz="1800" b="0" i="0" u="none" strike="noStrike" baseline="0" dirty="0">
                    <a:cs typeface="Arial" panose="020B0604020202020204" pitchFamily="34" charset="0"/>
                  </a:rPr>
                  <a:t>affects </a:t>
                </a:r>
                <a:r>
                  <a:rPr lang="en-AU" sz="1800" b="0" i="1" u="none" strike="noStrike" baseline="0" dirty="0">
                    <a:cs typeface="Arial" panose="020B0604020202020204" pitchFamily="34" charset="0"/>
                  </a:rPr>
                  <a:t>Health</a:t>
                </a:r>
                <a:r>
                  <a:rPr lang="en-AU" sz="1800" b="0" i="0" u="none" strike="noStrike" baseline="0" dirty="0">
                    <a:cs typeface="Arial" panose="020B0604020202020204" pitchFamily="34" charset="0"/>
                  </a:rPr>
                  <a:t>, and health affects </a:t>
                </a:r>
                <a:r>
                  <a:rPr lang="en-AU" sz="1800" b="0" i="1" u="none" strike="noStrike" baseline="0" dirty="0">
                    <a:cs typeface="Arial" panose="020B0604020202020204" pitchFamily="34" charset="0"/>
                  </a:rPr>
                  <a:t>MH</a:t>
                </a:r>
                <a:r>
                  <a:rPr lang="en-AU" sz="1800" b="0" i="0" u="none" strike="noStrike" baseline="0" dirty="0">
                    <a:cs typeface="Arial" panose="020B0604020202020204" pitchFamily="34" charset="0"/>
                  </a:rPr>
                  <a:t>, thus </a:t>
                </a:r>
                <a:r>
                  <a:rPr lang="en-AU" sz="1800" b="0" i="1" u="none" strike="noStrike" baseline="0" dirty="0">
                    <a:cs typeface="Arial" panose="020B0604020202020204" pitchFamily="34" charset="0"/>
                  </a:rPr>
                  <a:t>MH </a:t>
                </a:r>
                <a:r>
                  <a:rPr lang="en-AU" sz="1800" b="0" i="0" u="none" strike="noStrike" baseline="0" dirty="0">
                    <a:cs typeface="Arial" panose="020B0604020202020204" pitchFamily="34" charset="0"/>
                  </a:rPr>
                  <a:t>will be correlated with </a:t>
                </a:r>
                <a:r>
                  <a:rPr lang="el-GR" sz="1800" b="0" i="0" u="none" strike="noStrike" baseline="0" dirty="0">
                    <a:cs typeface="Arial" panose="020B0604020202020204" pitchFamily="34" charset="0"/>
                  </a:rPr>
                  <a:t>ε</a:t>
                </a:r>
                <a:r>
                  <a:rPr lang="en-AU" sz="1800" b="0" i="0" u="none" strike="noStrike" baseline="0" dirty="0">
                    <a:cs typeface="Arial" panose="020B0604020202020204" pitchFamily="34" charset="0"/>
                  </a:rPr>
                  <a:t>);  </a:t>
                </a:r>
                <a:r>
                  <a:rPr lang="en-US" b="1" dirty="0">
                    <a:solidFill>
                      <a:srgbClr val="0066FF"/>
                    </a:solidFill>
                    <a:cs typeface="Arial" panose="020B0604020202020204" pitchFamily="34" charset="0"/>
                  </a:rPr>
                  <a:t>endogeneity</a:t>
                </a:r>
                <a:r>
                  <a:rPr lang="en-US" b="1" dirty="0">
                    <a:cs typeface="Arial" panose="020B0604020202020204" pitchFamily="34" charset="0"/>
                  </a:rPr>
                  <a:t> </a:t>
                </a:r>
              </a:p>
              <a:p>
                <a:pPr algn="l"/>
                <a:endParaRPr lang="en-AU" dirty="0"/>
              </a:p>
            </p:txBody>
          </p:sp>
        </mc:Choice>
        <mc:Fallback xmlns="">
          <p:sp>
            <p:nvSpPr>
              <p:cNvPr id="4" name="TextBox 3">
                <a:extLst>
                  <a:ext uri="{FF2B5EF4-FFF2-40B4-BE49-F238E27FC236}">
                    <a16:creationId xmlns:a16="http://schemas.microsoft.com/office/drawing/2014/main" id="{7A9A37FC-2602-012A-2565-81A9AEF0CCD4}"/>
                  </a:ext>
                </a:extLst>
              </p:cNvPr>
              <p:cNvSpPr txBox="1">
                <a:spLocks noRot="1" noChangeAspect="1" noMove="1" noResize="1" noEditPoints="1" noAdjustHandles="1" noChangeArrowheads="1" noChangeShapeType="1" noTextEdit="1"/>
              </p:cNvSpPr>
              <p:nvPr/>
            </p:nvSpPr>
            <p:spPr>
              <a:xfrm>
                <a:off x="457200" y="850106"/>
                <a:ext cx="8229600" cy="4000647"/>
              </a:xfrm>
              <a:prstGeom prst="rect">
                <a:avLst/>
              </a:prstGeom>
              <a:blipFill>
                <a:blip r:embed="rId3"/>
                <a:stretch>
                  <a:fillRect l="-593" t="-761"/>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57D379C-B9BD-D462-9441-7008F32EC527}"/>
                  </a:ext>
                </a:extLst>
              </p:cNvPr>
              <p:cNvSpPr>
                <a:spLocks noGrp="1"/>
              </p:cNvSpPr>
              <p:nvPr>
                <p:ph idx="1"/>
              </p:nvPr>
            </p:nvSpPr>
            <p:spPr>
              <a:xfrm>
                <a:off x="2771800" y="1197557"/>
                <a:ext cx="4320480" cy="432048"/>
              </a:xfrm>
            </p:spPr>
            <p:txBody>
              <a:bodyPr/>
              <a:lstStyle/>
              <a:p>
                <a:pPr marL="0" indent="0">
                  <a:buNone/>
                </a:pPr>
                <a14:m>
                  <m:oMath xmlns:m="http://schemas.openxmlformats.org/officeDocument/2006/math">
                    <m:sSub>
                      <m:sSubPr>
                        <m:ctrlPr>
                          <a:rPr lang="en-AU" sz="1800" b="1" i="1" smtClean="0">
                            <a:solidFill>
                              <a:schemeClr val="tx1"/>
                            </a:solidFill>
                            <a:latin typeface="Cambria Math" panose="02040503050406030204" pitchFamily="18" charset="0"/>
                          </a:rPr>
                        </m:ctrlPr>
                      </m:sSubPr>
                      <m:e>
                        <m:r>
                          <a:rPr lang="en-AU" sz="1800" b="1" i="1" smtClean="0">
                            <a:solidFill>
                              <a:schemeClr val="tx1"/>
                            </a:solidFill>
                            <a:latin typeface="Cambria Math" panose="02040503050406030204" pitchFamily="18" charset="0"/>
                          </a:rPr>
                          <m:t>𝑯𝒆𝒂𝒍𝒕𝒉</m:t>
                        </m:r>
                      </m:e>
                      <m:sub>
                        <m:r>
                          <a:rPr lang="en-AU" sz="1800" b="1" i="1" smtClean="0">
                            <a:solidFill>
                              <a:schemeClr val="tx1"/>
                            </a:solidFill>
                            <a:latin typeface="Cambria Math" panose="02040503050406030204" pitchFamily="18" charset="0"/>
                          </a:rPr>
                          <m:t>𝒊</m:t>
                        </m:r>
                      </m:sub>
                    </m:sSub>
                    <m:r>
                      <a:rPr lang="en-AU" sz="1800" b="1" i="1" smtClean="0">
                        <a:solidFill>
                          <a:schemeClr val="tx1"/>
                        </a:solidFill>
                        <a:latin typeface="Cambria Math" panose="02040503050406030204" pitchFamily="18" charset="0"/>
                      </a:rPr>
                      <m:t>= </m:t>
                    </m:r>
                    <m:sSub>
                      <m:sSubPr>
                        <m:ctrlPr>
                          <a:rPr lang="en-AU" sz="1800" b="1" i="1" smtClean="0">
                            <a:solidFill>
                              <a:schemeClr val="tx1"/>
                            </a:solidFill>
                            <a:latin typeface="Cambria Math" panose="02040503050406030204" pitchFamily="18" charset="0"/>
                          </a:rPr>
                        </m:ctrlPr>
                      </m:sSubPr>
                      <m:e>
                        <m:r>
                          <a:rPr lang="el-GR" sz="1800" b="1" i="1" smtClean="0">
                            <a:solidFill>
                              <a:schemeClr val="tx1"/>
                            </a:solidFill>
                            <a:latin typeface="Cambria Math" panose="02040503050406030204" pitchFamily="18" charset="0"/>
                          </a:rPr>
                          <m:t>𝜷</m:t>
                        </m:r>
                        <m:r>
                          <a:rPr lang="en-AU" sz="1800" b="1" i="1" smtClean="0">
                            <a:solidFill>
                              <a:schemeClr val="tx1"/>
                            </a:solidFill>
                            <a:latin typeface="Cambria Math" panose="02040503050406030204" pitchFamily="18" charset="0"/>
                            <a:ea typeface="Cambria Math" panose="02040503050406030204" pitchFamily="18" charset="0"/>
                          </a:rPr>
                          <m:t>𝑴𝑯</m:t>
                        </m:r>
                      </m:e>
                      <m:sub>
                        <m:r>
                          <a:rPr lang="en-AU" sz="1800" b="1" i="1" smtClean="0">
                            <a:solidFill>
                              <a:schemeClr val="tx1"/>
                            </a:solidFill>
                            <a:latin typeface="Cambria Math" panose="02040503050406030204" pitchFamily="18" charset="0"/>
                          </a:rPr>
                          <m:t>𝒊</m:t>
                        </m:r>
                      </m:sub>
                    </m:sSub>
                  </m:oMath>
                </a14:m>
                <a:r>
                  <a:rPr lang="en-AU" sz="1800" b="1" dirty="0">
                    <a:solidFill>
                      <a:schemeClr val="tx1"/>
                    </a:solidFill>
                  </a:rPr>
                  <a:t> +  </a:t>
                </a:r>
                <a14:m>
                  <m:oMath xmlns:m="http://schemas.openxmlformats.org/officeDocument/2006/math">
                    <m:sSub>
                      <m:sSubPr>
                        <m:ctrlPr>
                          <a:rPr lang="en-AU" sz="1800" b="1" i="1" smtClean="0">
                            <a:solidFill>
                              <a:schemeClr val="tx1"/>
                            </a:solidFill>
                            <a:latin typeface="Cambria Math" panose="02040503050406030204" pitchFamily="18" charset="0"/>
                            <a:ea typeface="Cambria Math" panose="02040503050406030204" pitchFamily="18" charset="0"/>
                          </a:rPr>
                        </m:ctrlPr>
                      </m:sSubPr>
                      <m:e>
                        <m:r>
                          <a:rPr lang="el-GR" sz="1800" b="1" i="1" smtClean="0">
                            <a:solidFill>
                              <a:schemeClr val="tx1"/>
                            </a:solidFill>
                            <a:latin typeface="Cambria Math" panose="02040503050406030204" pitchFamily="18" charset="0"/>
                            <a:ea typeface="Cambria Math" panose="02040503050406030204" pitchFamily="18" charset="0"/>
                          </a:rPr>
                          <m:t>𝜺</m:t>
                        </m:r>
                      </m:e>
                      <m:sub>
                        <m:r>
                          <a:rPr lang="en-AU" sz="1800" b="1" i="1" smtClean="0">
                            <a:solidFill>
                              <a:schemeClr val="tx1"/>
                            </a:solidFill>
                            <a:latin typeface="Cambria Math" panose="02040503050406030204" pitchFamily="18" charset="0"/>
                            <a:ea typeface="Cambria Math" panose="02040503050406030204" pitchFamily="18" charset="0"/>
                          </a:rPr>
                          <m:t>𝒊</m:t>
                        </m:r>
                      </m:sub>
                    </m:sSub>
                  </m:oMath>
                </a14:m>
                <a:r>
                  <a:rPr lang="en-AU" sz="1800" b="1" dirty="0"/>
                  <a:t> </a:t>
                </a:r>
                <a:r>
                  <a:rPr lang="en-AU" sz="1800" dirty="0"/>
                  <a:t>	(1)</a:t>
                </a:r>
              </a:p>
            </p:txBody>
          </p:sp>
        </mc:Choice>
        <mc:Fallback xmlns="">
          <p:sp>
            <p:nvSpPr>
              <p:cNvPr id="6" name="Content Placeholder 2">
                <a:extLst>
                  <a:ext uri="{FF2B5EF4-FFF2-40B4-BE49-F238E27FC236}">
                    <a16:creationId xmlns:a16="http://schemas.microsoft.com/office/drawing/2014/main" id="{B57D379C-B9BD-D462-9441-7008F32EC527}"/>
                  </a:ext>
                </a:extLst>
              </p:cNvPr>
              <p:cNvSpPr>
                <a:spLocks noGrp="1" noRot="1" noChangeAspect="1" noMove="1" noResize="1" noEditPoints="1" noAdjustHandles="1" noChangeArrowheads="1" noChangeShapeType="1" noTextEdit="1"/>
              </p:cNvSpPr>
              <p:nvPr>
                <p:ph idx="1"/>
              </p:nvPr>
            </p:nvSpPr>
            <p:spPr>
              <a:xfrm>
                <a:off x="2771800" y="1197557"/>
                <a:ext cx="4320480" cy="432048"/>
              </a:xfrm>
              <a:blipFill>
                <a:blip r:embed="rId4"/>
                <a:stretch>
                  <a:fillRect t="-7042" b="-7042"/>
                </a:stretch>
              </a:blipFill>
            </p:spPr>
            <p:txBody>
              <a:bodyPr/>
              <a:lstStyle/>
              <a:p>
                <a:r>
                  <a:rPr lang="en-AU">
                    <a:noFill/>
                  </a:rPr>
                  <a:t> </a:t>
                </a:r>
              </a:p>
            </p:txBody>
          </p:sp>
        </mc:Fallback>
      </mc:AlternateContent>
      <p:sp>
        <p:nvSpPr>
          <p:cNvPr id="2" name="TextBox 1">
            <a:extLst>
              <a:ext uri="{FF2B5EF4-FFF2-40B4-BE49-F238E27FC236}">
                <a16:creationId xmlns:a16="http://schemas.microsoft.com/office/drawing/2014/main" id="{BA32A556-472B-85C9-E408-75FCC0CF1C7A}"/>
              </a:ext>
            </a:extLst>
          </p:cNvPr>
          <p:cNvSpPr txBox="1"/>
          <p:nvPr/>
        </p:nvSpPr>
        <p:spPr>
          <a:xfrm>
            <a:off x="1619672" y="4725144"/>
            <a:ext cx="4839786" cy="369332"/>
          </a:xfrm>
          <a:prstGeom prst="rect">
            <a:avLst/>
          </a:prstGeom>
          <a:noFill/>
        </p:spPr>
        <p:txBody>
          <a:bodyPr wrap="none" rtlCol="0">
            <a:spAutoFit/>
          </a:bodyPr>
          <a:lstStyle/>
          <a:p>
            <a:r>
              <a:rPr lang="en-AU" b="1" dirty="0">
                <a:solidFill>
                  <a:srgbClr val="00B050"/>
                </a:solidFill>
              </a:rPr>
              <a:t>How can we deal within reverse causality?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Title 1">
            <a:extLst>
              <a:ext uri="{FF2B5EF4-FFF2-40B4-BE49-F238E27FC236}">
                <a16:creationId xmlns:a16="http://schemas.microsoft.com/office/drawing/2014/main" id="{EA8C6250-82EB-BFF6-2F8A-381FDE31F673}"/>
              </a:ext>
            </a:extLst>
          </p:cNvPr>
          <p:cNvSpPr>
            <a:spLocks noGrp="1" noChangeArrowheads="1"/>
          </p:cNvSpPr>
          <p:nvPr>
            <p:ph type="title"/>
          </p:nvPr>
        </p:nvSpPr>
        <p:spPr>
          <a:xfrm>
            <a:off x="426820" y="136525"/>
            <a:ext cx="7983755" cy="636786"/>
          </a:xfrm>
        </p:spPr>
        <p:txBody>
          <a:bodyPr/>
          <a:lstStyle/>
          <a:p>
            <a:pPr algn="l"/>
            <a:r>
              <a:rPr lang="en-AU" altLang="en-US" sz="3200" dirty="0"/>
              <a:t>Measurement Error</a:t>
            </a:r>
          </a:p>
        </p:txBody>
      </p:sp>
      <p:sp>
        <p:nvSpPr>
          <p:cNvPr id="9221" name="Slide Number Placeholder 3">
            <a:extLst>
              <a:ext uri="{FF2B5EF4-FFF2-40B4-BE49-F238E27FC236}">
                <a16:creationId xmlns:a16="http://schemas.microsoft.com/office/drawing/2014/main" id="{D4FA2859-8382-0996-BB66-B58171A8E1EF}"/>
              </a:ext>
            </a:extLst>
          </p:cNvPr>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964A9454-4AE2-4E3B-A83B-5EAA74655DA3}" type="slidenum">
              <a:rPr lang="en-US" altLang="en-US" smtClean="0"/>
              <a:pPr/>
              <a:t>6</a:t>
            </a:fld>
            <a:endParaRPr lang="en-US" altLang="en-US"/>
          </a:p>
        </p:txBody>
      </p:sp>
      <p:sp>
        <p:nvSpPr>
          <p:cNvPr id="4" name="TextBox 3">
            <a:extLst>
              <a:ext uri="{FF2B5EF4-FFF2-40B4-BE49-F238E27FC236}">
                <a16:creationId xmlns:a16="http://schemas.microsoft.com/office/drawing/2014/main" id="{520EAC9C-6F31-5887-FE04-B59871DCA424}"/>
              </a:ext>
            </a:extLst>
          </p:cNvPr>
          <p:cNvSpPr txBox="1"/>
          <p:nvPr/>
        </p:nvSpPr>
        <p:spPr>
          <a:xfrm>
            <a:off x="611560" y="1052736"/>
            <a:ext cx="7799015" cy="3693319"/>
          </a:xfrm>
          <a:prstGeom prst="rect">
            <a:avLst/>
          </a:prstGeom>
          <a:noFill/>
        </p:spPr>
        <p:txBody>
          <a:bodyPr wrap="square">
            <a:spAutoFit/>
          </a:bodyPr>
          <a:lstStyle/>
          <a:p>
            <a:pPr algn="l"/>
            <a:r>
              <a:rPr lang="en-AU" b="0" i="0" u="none" strike="noStrike" baseline="0" dirty="0">
                <a:latin typeface="+mj-lt"/>
              </a:rPr>
              <a:t>Data contains errors. </a:t>
            </a:r>
            <a:endParaRPr lang="en-AU" dirty="0">
              <a:latin typeface="+mj-lt"/>
            </a:endParaRPr>
          </a:p>
          <a:p>
            <a:pPr algn="l"/>
            <a:r>
              <a:rPr lang="en-AU" b="0" i="0" u="none" strike="noStrike" baseline="0" dirty="0">
                <a:latin typeface="+mj-lt"/>
              </a:rPr>
              <a:t>e.g. If we are interested in:  </a:t>
            </a:r>
          </a:p>
          <a:p>
            <a:pPr algn="l"/>
            <a:endParaRPr lang="en-AU" dirty="0">
              <a:latin typeface="+mj-lt"/>
            </a:endParaRPr>
          </a:p>
          <a:p>
            <a:pPr algn="l"/>
            <a:r>
              <a:rPr lang="en-AU" b="0" i="0" u="none" strike="noStrike" baseline="0" dirty="0">
                <a:latin typeface="+mj-lt"/>
              </a:rPr>
              <a:t>but we do not observe</a:t>
            </a:r>
            <a:r>
              <a:rPr lang="en-AU" b="0" i="1" u="none" strike="noStrike" baseline="0" dirty="0">
                <a:latin typeface="+mj-lt"/>
              </a:rPr>
              <a:t> W</a:t>
            </a:r>
            <a:r>
              <a:rPr lang="en-AU" b="0" i="0" u="none" strike="noStrike" baseline="0" dirty="0">
                <a:latin typeface="+mj-lt"/>
              </a:rPr>
              <a:t>, but instead observe some </a:t>
            </a:r>
            <a:r>
              <a:rPr lang="en-AU" b="0" i="1" u="none" strike="noStrike" baseline="0" dirty="0">
                <a:latin typeface="+mj-lt"/>
              </a:rPr>
              <a:t>x</a:t>
            </a:r>
            <a:r>
              <a:rPr lang="en-AU" b="0" i="0" u="none" strike="noStrike" baseline="0" dirty="0">
                <a:latin typeface="+mj-lt"/>
              </a:rPr>
              <a:t>, which is</a:t>
            </a:r>
          </a:p>
          <a:p>
            <a:pPr algn="l"/>
            <a:r>
              <a:rPr lang="en-AU" b="0" i="0" u="none" strike="noStrike" baseline="0" dirty="0">
                <a:latin typeface="+mj-lt"/>
              </a:rPr>
              <a:t>related to </a:t>
            </a:r>
            <a:r>
              <a:rPr lang="en-AU" b="0" i="1" u="none" strike="noStrike" baseline="0" dirty="0">
                <a:latin typeface="+mj-lt"/>
              </a:rPr>
              <a:t>W </a:t>
            </a:r>
            <a:r>
              <a:rPr lang="en-AU" b="0" i="0" u="none" strike="noStrike" baseline="0" dirty="0">
                <a:latin typeface="+mj-lt"/>
              </a:rPr>
              <a:t>: 	 </a:t>
            </a:r>
          </a:p>
          <a:p>
            <a:pPr algn="l"/>
            <a:endParaRPr lang="en-AU" b="0" i="0" u="none" strike="noStrike" baseline="0" dirty="0">
              <a:latin typeface="+mj-lt"/>
            </a:endParaRPr>
          </a:p>
          <a:p>
            <a:pPr algn="l"/>
            <a:r>
              <a:rPr lang="en-AU" b="0" i="0" u="none" strike="noStrike" baseline="0" dirty="0">
                <a:latin typeface="+mj-lt"/>
              </a:rPr>
              <a:t>where </a:t>
            </a:r>
            <a:r>
              <a:rPr lang="en-AU" b="0" i="1" u="none" strike="noStrike" baseline="0" dirty="0">
                <a:latin typeface="+mj-lt"/>
              </a:rPr>
              <a:t>u</a:t>
            </a:r>
            <a:r>
              <a:rPr lang="en-AU" b="0" i="0" u="none" strike="noStrike" baseline="0" dirty="0">
                <a:latin typeface="+mj-lt"/>
              </a:rPr>
              <a:t> represents </a:t>
            </a:r>
            <a:r>
              <a:rPr lang="en-AU" b="1" i="1" u="none" strike="noStrike" baseline="0" dirty="0">
                <a:latin typeface="+mj-lt"/>
              </a:rPr>
              <a:t>measurement error </a:t>
            </a:r>
            <a:r>
              <a:rPr lang="en-AU" b="0" i="0" u="none" strike="noStrike" baseline="0" dirty="0">
                <a:latin typeface="+mj-lt"/>
              </a:rPr>
              <a:t>(noise).</a:t>
            </a:r>
          </a:p>
          <a:p>
            <a:pPr algn="l"/>
            <a:endParaRPr lang="en-AU" b="0" i="0" u="none" strike="noStrike" baseline="0" dirty="0">
              <a:latin typeface="+mj-lt"/>
            </a:endParaRPr>
          </a:p>
          <a:p>
            <a:pPr algn="l"/>
            <a:r>
              <a:rPr lang="en-AU" b="0" i="0" u="none" strike="noStrike" baseline="0" dirty="0">
                <a:latin typeface="+mj-lt"/>
              </a:rPr>
              <a:t>Substituting one equation into the other gives:</a:t>
            </a:r>
          </a:p>
          <a:p>
            <a:pPr algn="l"/>
            <a:endParaRPr lang="en-AU" dirty="0">
              <a:latin typeface="+mj-lt"/>
            </a:endParaRPr>
          </a:p>
          <a:p>
            <a:pPr algn="l"/>
            <a:endParaRPr lang="en-AU" dirty="0">
              <a:latin typeface="+mj-lt"/>
            </a:endParaRPr>
          </a:p>
          <a:p>
            <a:pPr algn="l"/>
            <a:r>
              <a:rPr lang="en-AU" b="0" i="0" u="none" strike="noStrike" baseline="0" dirty="0">
                <a:latin typeface="+mj-lt"/>
              </a:rPr>
              <a:t>which evidences that in the regression </a:t>
            </a:r>
            <a:r>
              <a:rPr lang="en-AU" b="0" i="1" u="none" strike="noStrike" baseline="0" dirty="0">
                <a:latin typeface="+mj-lt"/>
              </a:rPr>
              <a:t>y = </a:t>
            </a:r>
            <a:r>
              <a:rPr lang="el-GR" b="0" i="1" u="none" strike="noStrike" baseline="0" dirty="0">
                <a:latin typeface="+mj-lt"/>
              </a:rPr>
              <a:t>β</a:t>
            </a:r>
            <a:r>
              <a:rPr lang="en-AU" b="0" i="1" u="none" strike="noStrike" baseline="0" dirty="0">
                <a:latin typeface="+mj-lt"/>
              </a:rPr>
              <a:t>x + v, x </a:t>
            </a:r>
            <a:r>
              <a:rPr lang="en-AU" b="0" i="0" u="none" strike="noStrike" baseline="0" dirty="0">
                <a:latin typeface="+mj-lt"/>
              </a:rPr>
              <a:t>will be correlated</a:t>
            </a:r>
          </a:p>
          <a:p>
            <a:pPr algn="l"/>
            <a:r>
              <a:rPr lang="en-AU" b="0" i="0" u="none" strike="noStrike" baseline="0" dirty="0">
                <a:latin typeface="+mj-lt"/>
              </a:rPr>
              <a:t>with </a:t>
            </a:r>
            <a:r>
              <a:rPr lang="en-AU" b="0" i="1" u="none" strike="noStrike" baseline="0" dirty="0">
                <a:latin typeface="+mj-lt"/>
              </a:rPr>
              <a:t>v</a:t>
            </a:r>
            <a:r>
              <a:rPr lang="en-AU" b="0" i="0" u="none" strike="noStrike" baseline="0" dirty="0">
                <a:latin typeface="+mj-lt"/>
              </a:rPr>
              <a:t> (u affects x, and v = </a:t>
            </a:r>
            <a:r>
              <a:rPr lang="el-GR" b="0" i="0" u="none" strike="noStrike" baseline="0" dirty="0">
                <a:latin typeface="+mj-lt"/>
                <a:cs typeface="Arial" panose="020B0604020202020204" pitchFamily="34" charset="0"/>
              </a:rPr>
              <a:t>ε</a:t>
            </a:r>
            <a:r>
              <a:rPr lang="en-AU" b="0" i="0" u="none" strike="noStrike" baseline="0" dirty="0">
                <a:latin typeface="+mj-lt"/>
                <a:cs typeface="Arial" panose="020B0604020202020204" pitchFamily="34" charset="0"/>
              </a:rPr>
              <a:t> - </a:t>
            </a:r>
            <a:r>
              <a:rPr lang="en-AU" b="0" i="1" u="none" strike="noStrike" baseline="0" dirty="0">
                <a:latin typeface="+mj-lt"/>
              </a:rPr>
              <a:t>u</a:t>
            </a:r>
            <a:r>
              <a:rPr lang="el-GR" b="0" i="1" u="none" strike="noStrike" baseline="0" dirty="0">
                <a:latin typeface="+mj-lt"/>
              </a:rPr>
              <a:t> β </a:t>
            </a:r>
            <a:r>
              <a:rPr lang="en-AU" b="0" i="0" u="none" strike="noStrike" baseline="0" dirty="0">
                <a:latin typeface="+mj-lt"/>
              </a:rPr>
              <a:t>, thus</a:t>
            </a:r>
            <a:r>
              <a:rPr lang="en-AU" b="0" i="1" u="none" strike="noStrike" baseline="0" dirty="0">
                <a:latin typeface="+mj-lt"/>
              </a:rPr>
              <a:t> x </a:t>
            </a:r>
            <a:r>
              <a:rPr lang="en-AU" b="0" i="0" u="none" strike="noStrike" baseline="0" dirty="0">
                <a:latin typeface="+mj-lt"/>
              </a:rPr>
              <a:t>will be correlated with </a:t>
            </a:r>
            <a:r>
              <a:rPr lang="en-AU" b="0" i="1" u="none" strike="noStrike" baseline="0" dirty="0">
                <a:latin typeface="+mj-lt"/>
              </a:rPr>
              <a:t>v</a:t>
            </a:r>
            <a:r>
              <a:rPr lang="en-AU" b="0" i="0" u="none" strike="noStrike" baseline="0" dirty="0">
                <a:latin typeface="+mj-lt"/>
              </a:rPr>
              <a:t>).</a:t>
            </a:r>
            <a:endParaRPr lang="en-AU" dirty="0">
              <a:latin typeface="+mj-lt"/>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F41F4C9-0FB5-FA8E-CBE6-E52074B20EBA}"/>
                  </a:ext>
                </a:extLst>
              </p:cNvPr>
              <p:cNvSpPr txBox="1"/>
              <p:nvPr/>
            </p:nvSpPr>
            <p:spPr>
              <a:xfrm>
                <a:off x="3635896" y="1384396"/>
                <a:ext cx="13631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i="1" smtClean="0">
                              <a:latin typeface="Cambria Math" panose="02040503050406030204" pitchFamily="18" charset="0"/>
                            </a:rPr>
                          </m:ctrlPr>
                        </m:sSubPr>
                        <m:e>
                          <m:r>
                            <a:rPr lang="en-AU" b="0" i="1" smtClean="0">
                              <a:latin typeface="Cambria Math" panose="02040503050406030204" pitchFamily="18" charset="0"/>
                            </a:rPr>
                            <m:t>𝑌</m:t>
                          </m:r>
                        </m:e>
                        <m:sub>
                          <m:r>
                            <a:rPr lang="en-AU" b="0" i="1" smtClean="0">
                              <a:latin typeface="Cambria Math" panose="02040503050406030204" pitchFamily="18" charset="0"/>
                            </a:rPr>
                            <m:t>𝑖</m:t>
                          </m:r>
                        </m:sub>
                      </m:sSub>
                      <m:r>
                        <a:rPr lang="en-AU" i="1" smtClean="0">
                          <a:latin typeface="Cambria Math" panose="02040503050406030204" pitchFamily="18" charset="0"/>
                        </a:rPr>
                        <m:t>=</m:t>
                      </m:r>
                      <m:r>
                        <a:rPr lang="el-GR" i="1" smtClean="0">
                          <a:latin typeface="Cambria Math" panose="02040503050406030204" pitchFamily="18" charset="0"/>
                        </a:rPr>
                        <m:t>𝛽</m:t>
                      </m:r>
                      <m:sSub>
                        <m:sSubPr>
                          <m:ctrlPr>
                            <a:rPr lang="el-GR" i="1" smtClean="0">
                              <a:latin typeface="Cambria Math" panose="02040503050406030204" pitchFamily="18" charset="0"/>
                            </a:rPr>
                          </m:ctrlPr>
                        </m:sSubPr>
                        <m:e>
                          <m:r>
                            <a:rPr lang="en-AU" b="0" i="1" smtClean="0">
                              <a:latin typeface="Cambria Math" panose="02040503050406030204" pitchFamily="18" charset="0"/>
                            </a:rPr>
                            <m:t>𝑊</m:t>
                          </m:r>
                        </m:e>
                        <m:sub>
                          <m:r>
                            <a:rPr lang="en-AU" b="0" i="1" smtClean="0">
                              <a:latin typeface="Cambria Math" panose="02040503050406030204" pitchFamily="18" charset="0"/>
                            </a:rPr>
                            <m:t>𝑖</m:t>
                          </m:r>
                        </m:sub>
                      </m:sSub>
                      <m:r>
                        <a:rPr lang="en-AU" b="0" i="1" smtClean="0">
                          <a:latin typeface="Cambria Math" panose="02040503050406030204" pitchFamily="18" charset="0"/>
                        </a:rPr>
                        <m:t>+</m:t>
                      </m:r>
                      <m:r>
                        <a:rPr lang="el-GR" b="0" i="1" smtClean="0">
                          <a:latin typeface="Cambria Math" panose="02040503050406030204" pitchFamily="18" charset="0"/>
                        </a:rPr>
                        <m:t>𝜀</m:t>
                      </m:r>
                    </m:oMath>
                  </m:oMathPara>
                </a14:m>
                <a:endParaRPr lang="en-AU" i="1" dirty="0"/>
              </a:p>
            </p:txBody>
          </p:sp>
        </mc:Choice>
        <mc:Fallback xmlns="">
          <p:sp>
            <p:nvSpPr>
              <p:cNvPr id="2" name="TextBox 1">
                <a:extLst>
                  <a:ext uri="{FF2B5EF4-FFF2-40B4-BE49-F238E27FC236}">
                    <a16:creationId xmlns:a16="http://schemas.microsoft.com/office/drawing/2014/main" id="{6F41F4C9-0FB5-FA8E-CBE6-E52074B20EBA}"/>
                  </a:ext>
                </a:extLst>
              </p:cNvPr>
              <p:cNvSpPr txBox="1">
                <a:spLocks noRot="1" noChangeAspect="1" noMove="1" noResize="1" noEditPoints="1" noAdjustHandles="1" noChangeArrowheads="1" noChangeShapeType="1" noTextEdit="1"/>
              </p:cNvSpPr>
              <p:nvPr/>
            </p:nvSpPr>
            <p:spPr>
              <a:xfrm>
                <a:off x="3635896" y="1384396"/>
                <a:ext cx="1363194" cy="276999"/>
              </a:xfrm>
              <a:prstGeom prst="rect">
                <a:avLst/>
              </a:prstGeom>
              <a:blipFill>
                <a:blip r:embed="rId2"/>
                <a:stretch>
                  <a:fillRect l="-2232" b="-3478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D8CDF45-92C0-2EAE-B441-8A60456185C5}"/>
                  </a:ext>
                </a:extLst>
              </p:cNvPr>
              <p:cNvSpPr txBox="1"/>
              <p:nvPr/>
            </p:nvSpPr>
            <p:spPr>
              <a:xfrm>
                <a:off x="3282916" y="2281571"/>
                <a:ext cx="12395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𝑖</m:t>
                          </m:r>
                        </m:sub>
                      </m:sSub>
                      <m:r>
                        <a:rPr lang="en-AU" i="1" smtClean="0">
                          <a:latin typeface="Cambria Math" panose="02040503050406030204" pitchFamily="18" charset="0"/>
                        </a:rPr>
                        <m:t>=</m:t>
                      </m:r>
                      <m:sSub>
                        <m:sSubPr>
                          <m:ctrlPr>
                            <a:rPr lang="el-GR" i="1" smtClean="0">
                              <a:latin typeface="Cambria Math" panose="02040503050406030204" pitchFamily="18" charset="0"/>
                            </a:rPr>
                          </m:ctrlPr>
                        </m:sSubPr>
                        <m:e>
                          <m:r>
                            <a:rPr lang="en-AU" b="0" i="1" smtClean="0">
                              <a:latin typeface="Cambria Math" panose="02040503050406030204" pitchFamily="18" charset="0"/>
                            </a:rPr>
                            <m:t>𝑊</m:t>
                          </m:r>
                        </m:e>
                        <m:sub>
                          <m:r>
                            <a:rPr lang="en-AU" b="0" i="1" smtClean="0">
                              <a:latin typeface="Cambria Math" panose="02040503050406030204" pitchFamily="18" charset="0"/>
                            </a:rPr>
                            <m:t>𝑖</m:t>
                          </m:r>
                        </m:sub>
                      </m:sSub>
                      <m:r>
                        <a:rPr lang="en-AU" b="0" i="1" smtClean="0">
                          <a:latin typeface="Cambria Math" panose="02040503050406030204" pitchFamily="18" charset="0"/>
                        </a:rPr>
                        <m:t>+</m:t>
                      </m:r>
                      <m:r>
                        <a:rPr lang="en-AU" b="0" i="1" smtClean="0">
                          <a:latin typeface="Cambria Math" panose="02040503050406030204" pitchFamily="18" charset="0"/>
                        </a:rPr>
                        <m:t>𝑢</m:t>
                      </m:r>
                    </m:oMath>
                  </m:oMathPara>
                </a14:m>
                <a:endParaRPr lang="en-AU" i="1" dirty="0"/>
              </a:p>
            </p:txBody>
          </p:sp>
        </mc:Choice>
        <mc:Fallback xmlns="">
          <p:sp>
            <p:nvSpPr>
              <p:cNvPr id="5" name="TextBox 4">
                <a:extLst>
                  <a:ext uri="{FF2B5EF4-FFF2-40B4-BE49-F238E27FC236}">
                    <a16:creationId xmlns:a16="http://schemas.microsoft.com/office/drawing/2014/main" id="{DD8CDF45-92C0-2EAE-B441-8A60456185C5}"/>
                  </a:ext>
                </a:extLst>
              </p:cNvPr>
              <p:cNvSpPr txBox="1">
                <a:spLocks noRot="1" noChangeAspect="1" noMove="1" noResize="1" noEditPoints="1" noAdjustHandles="1" noChangeArrowheads="1" noChangeShapeType="1" noTextEdit="1"/>
              </p:cNvSpPr>
              <p:nvPr/>
            </p:nvSpPr>
            <p:spPr>
              <a:xfrm>
                <a:off x="3282916" y="2281571"/>
                <a:ext cx="1239505" cy="276999"/>
              </a:xfrm>
              <a:prstGeom prst="rect">
                <a:avLst/>
              </a:prstGeom>
              <a:blipFill>
                <a:blip r:embed="rId3"/>
                <a:stretch>
                  <a:fillRect l="-1970" r="-1478" b="-19565"/>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7FD1E6E-65E3-688C-1A97-83A4CC55B133}"/>
                  </a:ext>
                </a:extLst>
              </p:cNvPr>
              <p:cNvSpPr txBox="1"/>
              <p:nvPr/>
            </p:nvSpPr>
            <p:spPr>
              <a:xfrm>
                <a:off x="2339752" y="3648905"/>
                <a:ext cx="283443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i="1" smtClean="0">
                              <a:latin typeface="Cambria Math" panose="02040503050406030204" pitchFamily="18" charset="0"/>
                            </a:rPr>
                          </m:ctrlPr>
                        </m:sSubPr>
                        <m:e>
                          <m:r>
                            <a:rPr lang="en-AU" b="0" i="1" smtClean="0">
                              <a:latin typeface="Cambria Math" panose="02040503050406030204" pitchFamily="18" charset="0"/>
                            </a:rPr>
                            <m:t>𝑌</m:t>
                          </m:r>
                        </m:e>
                        <m:sub>
                          <m:r>
                            <a:rPr lang="en-AU" b="0" i="1" smtClean="0">
                              <a:latin typeface="Cambria Math" panose="02040503050406030204" pitchFamily="18" charset="0"/>
                            </a:rPr>
                            <m:t>𝑖</m:t>
                          </m:r>
                        </m:sub>
                      </m:sSub>
                      <m:r>
                        <a:rPr lang="en-AU" i="1" smtClean="0">
                          <a:latin typeface="Cambria Math" panose="02040503050406030204" pitchFamily="18" charset="0"/>
                        </a:rPr>
                        <m:t>=</m:t>
                      </m:r>
                      <m:r>
                        <a:rPr lang="el-GR" i="1" smtClean="0">
                          <a:latin typeface="Cambria Math" panose="02040503050406030204" pitchFamily="18" charset="0"/>
                        </a:rPr>
                        <m:t>𝛽</m:t>
                      </m:r>
                      <m:sSub>
                        <m:sSubPr>
                          <m:ctrlPr>
                            <a:rPr lang="el-GR"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𝑖</m:t>
                          </m:r>
                        </m:sub>
                      </m:sSub>
                      <m:r>
                        <a:rPr lang="en-AU" b="0" i="1" smtClean="0">
                          <a:latin typeface="Cambria Math" panose="02040503050406030204" pitchFamily="18" charset="0"/>
                        </a:rPr>
                        <m:t>−</m:t>
                      </m:r>
                      <m:r>
                        <m:rPr>
                          <m:sty m:val="p"/>
                        </m:rPr>
                        <a:rPr lang="el-GR" b="0" i="1" smtClean="0">
                          <a:latin typeface="Cambria Math" panose="02040503050406030204" pitchFamily="18" charset="0"/>
                        </a:rPr>
                        <m:t>β</m:t>
                      </m:r>
                      <m:r>
                        <a:rPr lang="en-AU" b="0" i="1" smtClean="0">
                          <a:latin typeface="Cambria Math" panose="02040503050406030204" pitchFamily="18" charset="0"/>
                        </a:rPr>
                        <m:t>𝑢</m:t>
                      </m:r>
                      <m:r>
                        <a:rPr lang="en-AU" b="0" i="1" smtClean="0">
                          <a:latin typeface="Cambria Math" panose="02040503050406030204" pitchFamily="18" charset="0"/>
                        </a:rPr>
                        <m:t>+</m:t>
                      </m:r>
                      <m:r>
                        <a:rPr lang="el-GR" b="0" i="1" smtClean="0">
                          <a:latin typeface="Cambria Math" panose="02040503050406030204" pitchFamily="18" charset="0"/>
                        </a:rPr>
                        <m:t>𝜀</m:t>
                      </m:r>
                      <m:r>
                        <a:rPr lang="en-AU" b="0" i="1" smtClean="0">
                          <a:latin typeface="Cambria Math" panose="02040503050406030204" pitchFamily="18" charset="0"/>
                        </a:rPr>
                        <m:t>= </m:t>
                      </m:r>
                      <m:r>
                        <m:rPr>
                          <m:sty m:val="p"/>
                        </m:rPr>
                        <a:rPr lang="el-GR" b="0" i="1" smtClean="0">
                          <a:latin typeface="Cambria Math" panose="02040503050406030204" pitchFamily="18" charset="0"/>
                        </a:rPr>
                        <m:t>β</m:t>
                      </m:r>
                      <m:r>
                        <a:rPr lang="en-AU" b="0" i="1" smtClean="0">
                          <a:latin typeface="Cambria Math" panose="02040503050406030204" pitchFamily="18" charset="0"/>
                        </a:rPr>
                        <m:t>𝑥</m:t>
                      </m:r>
                      <m:r>
                        <a:rPr lang="en-AU" b="0" i="1" smtClean="0">
                          <a:latin typeface="Cambria Math" panose="02040503050406030204" pitchFamily="18" charset="0"/>
                        </a:rPr>
                        <m:t>+</m:t>
                      </m:r>
                      <m:r>
                        <a:rPr lang="en-AU" b="0" i="1" smtClean="0">
                          <a:latin typeface="Cambria Math" panose="02040503050406030204" pitchFamily="18" charset="0"/>
                        </a:rPr>
                        <m:t>𝑣</m:t>
                      </m:r>
                    </m:oMath>
                  </m:oMathPara>
                </a14:m>
                <a:endParaRPr lang="en-AU" i="1" dirty="0"/>
              </a:p>
            </p:txBody>
          </p:sp>
        </mc:Choice>
        <mc:Fallback xmlns="">
          <p:sp>
            <p:nvSpPr>
              <p:cNvPr id="7" name="TextBox 6">
                <a:extLst>
                  <a:ext uri="{FF2B5EF4-FFF2-40B4-BE49-F238E27FC236}">
                    <a16:creationId xmlns:a16="http://schemas.microsoft.com/office/drawing/2014/main" id="{17FD1E6E-65E3-688C-1A97-83A4CC55B133}"/>
                  </a:ext>
                </a:extLst>
              </p:cNvPr>
              <p:cNvSpPr txBox="1">
                <a:spLocks noRot="1" noChangeAspect="1" noMove="1" noResize="1" noEditPoints="1" noAdjustHandles="1" noChangeArrowheads="1" noChangeShapeType="1" noTextEdit="1"/>
              </p:cNvSpPr>
              <p:nvPr/>
            </p:nvSpPr>
            <p:spPr>
              <a:xfrm>
                <a:off x="2339752" y="3648905"/>
                <a:ext cx="2834430" cy="276999"/>
              </a:xfrm>
              <a:prstGeom prst="rect">
                <a:avLst/>
              </a:prstGeom>
              <a:blipFill>
                <a:blip r:embed="rId4"/>
                <a:stretch>
                  <a:fillRect l="-1505" t="-2222" r="-430" b="-37778"/>
                </a:stretch>
              </a:blipFill>
            </p:spPr>
            <p:txBody>
              <a:bodyPr/>
              <a:lstStyle/>
              <a:p>
                <a:r>
                  <a:rPr lang="en-AU">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Title 1">
            <a:extLst>
              <a:ext uri="{FF2B5EF4-FFF2-40B4-BE49-F238E27FC236}">
                <a16:creationId xmlns:a16="http://schemas.microsoft.com/office/drawing/2014/main" id="{EA8C6250-82EB-BFF6-2F8A-381FDE31F673}"/>
              </a:ext>
            </a:extLst>
          </p:cNvPr>
          <p:cNvSpPr>
            <a:spLocks noGrp="1" noChangeArrowheads="1"/>
          </p:cNvSpPr>
          <p:nvPr>
            <p:ph type="title"/>
          </p:nvPr>
        </p:nvSpPr>
        <p:spPr>
          <a:xfrm>
            <a:off x="426820" y="136525"/>
            <a:ext cx="7983755" cy="636786"/>
          </a:xfrm>
        </p:spPr>
        <p:txBody>
          <a:bodyPr/>
          <a:lstStyle/>
          <a:p>
            <a:pPr algn="l"/>
            <a:r>
              <a:rPr lang="en-AU" altLang="en-US" sz="3200" dirty="0"/>
              <a:t>Measurement Error</a:t>
            </a:r>
          </a:p>
        </p:txBody>
      </p:sp>
      <p:sp>
        <p:nvSpPr>
          <p:cNvPr id="9221" name="Slide Number Placeholder 3">
            <a:extLst>
              <a:ext uri="{FF2B5EF4-FFF2-40B4-BE49-F238E27FC236}">
                <a16:creationId xmlns:a16="http://schemas.microsoft.com/office/drawing/2014/main" id="{D4FA2859-8382-0996-BB66-B58171A8E1EF}"/>
              </a:ext>
            </a:extLst>
          </p:cNvPr>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964A9454-4AE2-4E3B-A83B-5EAA74655DA3}" type="slidenum">
              <a:rPr lang="en-US" altLang="en-US" smtClean="0"/>
              <a:pPr/>
              <a:t>7</a:t>
            </a:fld>
            <a:endParaRPr lang="en-US" altLang="en-US"/>
          </a:p>
        </p:txBody>
      </p:sp>
      <p:sp>
        <p:nvSpPr>
          <p:cNvPr id="4" name="TextBox 3">
            <a:extLst>
              <a:ext uri="{FF2B5EF4-FFF2-40B4-BE49-F238E27FC236}">
                <a16:creationId xmlns:a16="http://schemas.microsoft.com/office/drawing/2014/main" id="{520EAC9C-6F31-5887-FE04-B59871DCA424}"/>
              </a:ext>
            </a:extLst>
          </p:cNvPr>
          <p:cNvSpPr txBox="1"/>
          <p:nvPr/>
        </p:nvSpPr>
        <p:spPr>
          <a:xfrm>
            <a:off x="611560" y="1031562"/>
            <a:ext cx="7799015" cy="369332"/>
          </a:xfrm>
          <a:prstGeom prst="rect">
            <a:avLst/>
          </a:prstGeom>
          <a:noFill/>
        </p:spPr>
        <p:txBody>
          <a:bodyPr wrap="square">
            <a:spAutoFit/>
          </a:bodyPr>
          <a:lstStyle/>
          <a:p>
            <a:pPr algn="l"/>
            <a:r>
              <a:rPr lang="en-AU" sz="1800" b="0" i="0" u="none" strike="noStrike" baseline="0" dirty="0">
                <a:latin typeface="TTdcss10"/>
              </a:rPr>
              <a:t>With a single mismeasured regressor an OLS estimate converges to:</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9FABA2C-3857-F0D0-EA73-55E7462053B6}"/>
                  </a:ext>
                </a:extLst>
              </p:cNvPr>
              <p:cNvSpPr txBox="1"/>
              <p:nvPr/>
            </p:nvSpPr>
            <p:spPr>
              <a:xfrm>
                <a:off x="611559" y="3217559"/>
                <a:ext cx="7799015" cy="3154325"/>
              </a:xfrm>
              <a:prstGeom prst="rect">
                <a:avLst/>
              </a:prstGeom>
              <a:noFill/>
            </p:spPr>
            <p:txBody>
              <a:bodyPr wrap="square">
                <a:spAutoFit/>
              </a:bodyPr>
              <a:lstStyle/>
              <a:p>
                <a:pPr algn="l"/>
                <a:r>
                  <a:rPr lang="en-AU" b="0" i="0" u="none" strike="noStrike" baseline="0" dirty="0">
                    <a:latin typeface="+mj-lt"/>
                  </a:rPr>
                  <a:t>Asymptotically </a:t>
                </a:r>
                <a14:m>
                  <m:oMath xmlns:m="http://schemas.openxmlformats.org/officeDocument/2006/math">
                    <m:acc>
                      <m:accPr>
                        <m:chr m:val="̂"/>
                        <m:ctrlPr>
                          <a:rPr lang="en-AU" b="0" i="1" smtClean="0">
                            <a:latin typeface="Cambria Math" panose="02040503050406030204" pitchFamily="18" charset="0"/>
                            <a:ea typeface="Cambria Math" panose="02040503050406030204" pitchFamily="18" charset="0"/>
                          </a:rPr>
                        </m:ctrlPr>
                      </m:accPr>
                      <m:e>
                        <m:r>
                          <a:rPr lang="en-AU" b="0" i="1" smtClean="0">
                            <a:latin typeface="Cambria Math" panose="02040503050406030204" pitchFamily="18" charset="0"/>
                            <a:ea typeface="Cambria Math" panose="02040503050406030204" pitchFamily="18" charset="0"/>
                          </a:rPr>
                          <m:t>𝛽</m:t>
                        </m:r>
                      </m:e>
                    </m:acc>
                    <m:r>
                      <a:rPr lang="en-AU" b="0" i="1" smtClean="0">
                        <a:latin typeface="Cambria Math" panose="02040503050406030204" pitchFamily="18" charset="0"/>
                        <a:ea typeface="Cambria Math" panose="02040503050406030204" pitchFamily="18" charset="0"/>
                      </a:rPr>
                      <m:t> </m:t>
                    </m:r>
                  </m:oMath>
                </a14:m>
                <a:r>
                  <a:rPr lang="en-AU" b="0" i="1" u="none" strike="noStrike" baseline="0" dirty="0">
                    <a:latin typeface="+mj-lt"/>
                  </a:rPr>
                  <a:t> </a:t>
                </a:r>
                <a:r>
                  <a:rPr lang="en-AU" b="0" i="0" u="none" strike="noStrike" baseline="0" dirty="0">
                    <a:latin typeface="+mj-lt"/>
                  </a:rPr>
                  <a:t>is downward biased toward zero; </a:t>
                </a:r>
                <a:r>
                  <a:rPr lang="en-AU" b="1" i="0" u="none" strike="noStrike" baseline="0" dirty="0">
                    <a:latin typeface="+mj-lt"/>
                  </a:rPr>
                  <a:t>attenuation bias</a:t>
                </a:r>
                <a:r>
                  <a:rPr lang="en-AU" b="0" i="0" u="none" strike="noStrike" baseline="0" dirty="0">
                    <a:latin typeface="+mj-lt"/>
                  </a:rPr>
                  <a:t>.</a:t>
                </a:r>
              </a:p>
              <a:p>
                <a:pPr algn="ctr"/>
                <a:r>
                  <a:rPr lang="en-AU" dirty="0">
                    <a:latin typeface="+mj-lt"/>
                  </a:rPr>
                  <a:t>Therefore,  the OLS is not </a:t>
                </a:r>
                <a:r>
                  <a:rPr lang="en-US" b="1" dirty="0">
                    <a:solidFill>
                      <a:srgbClr val="0066FF"/>
                    </a:solidFill>
                  </a:rPr>
                  <a:t>BLUE</a:t>
                </a:r>
                <a:endParaRPr lang="en-AU" b="0" i="0" u="none" strike="noStrike" baseline="0" dirty="0">
                  <a:latin typeface="+mj-lt"/>
                </a:endParaRPr>
              </a:p>
              <a:p>
                <a:pPr algn="l"/>
                <a:endParaRPr lang="en-AU" b="0" i="0" u="none" strike="noStrike" baseline="0" dirty="0">
                  <a:latin typeface="+mj-lt"/>
                </a:endParaRPr>
              </a:p>
              <a:p>
                <a:pPr algn="l"/>
                <a:r>
                  <a:rPr lang="en-AU" b="0" i="0" u="none" strike="noStrike" baseline="0" dirty="0">
                    <a:latin typeface="+mj-lt"/>
                  </a:rPr>
                  <a:t>With more than one regressor the coefficient on the mismeasured regressor and the coefficients on the well-measured regressors are inconsistent.</a:t>
                </a:r>
              </a:p>
              <a:p>
                <a:pPr algn="l"/>
                <a:endParaRPr lang="en-AU" b="0" i="0" u="none" strike="noStrike" baseline="0" dirty="0">
                  <a:latin typeface="+mj-lt"/>
                </a:endParaRPr>
              </a:p>
              <a:p>
                <a:pPr algn="l"/>
                <a:r>
                  <a:rPr lang="en-AU" dirty="0">
                    <a:latin typeface="+mj-lt"/>
                  </a:rPr>
                  <a:t>In general, </a:t>
                </a:r>
                <a:r>
                  <a:rPr lang="en-AU" b="0" i="0" u="none" strike="noStrike" baseline="0" dirty="0">
                    <a:latin typeface="+mj-lt"/>
                  </a:rPr>
                  <a:t>mild to moderate measurement error is ignored.</a:t>
                </a:r>
              </a:p>
              <a:p>
                <a:pPr algn="l"/>
                <a:endParaRPr lang="en-AU" dirty="0">
                  <a:latin typeface="+mj-lt"/>
                </a:endParaRPr>
              </a:p>
              <a:p>
                <a:pPr algn="l"/>
                <a:r>
                  <a:rPr lang="en-AU" b="0" i="0" u="none" strike="noStrike" baseline="0" dirty="0">
                    <a:latin typeface="+mj-lt"/>
                  </a:rPr>
                  <a:t>More generally (economists) try to </a:t>
                </a:r>
                <a:r>
                  <a:rPr lang="en-AU" b="0" i="0" u="none" strike="noStrike" baseline="0" dirty="0" err="1">
                    <a:latin typeface="+mj-lt"/>
                  </a:rPr>
                  <a:t>idenify</a:t>
                </a:r>
                <a:r>
                  <a:rPr lang="en-AU" b="0" i="0" u="none" strike="noStrike" baseline="0" dirty="0">
                    <a:latin typeface="+mj-lt"/>
                  </a:rPr>
                  <a:t> an instrument to correct for the problem.</a:t>
                </a:r>
              </a:p>
            </p:txBody>
          </p:sp>
        </mc:Choice>
        <mc:Fallback xmlns="">
          <p:sp>
            <p:nvSpPr>
              <p:cNvPr id="3" name="TextBox 2">
                <a:extLst>
                  <a:ext uri="{FF2B5EF4-FFF2-40B4-BE49-F238E27FC236}">
                    <a16:creationId xmlns:a16="http://schemas.microsoft.com/office/drawing/2014/main" id="{69FABA2C-3857-F0D0-EA73-55E7462053B6}"/>
                  </a:ext>
                </a:extLst>
              </p:cNvPr>
              <p:cNvSpPr txBox="1">
                <a:spLocks noRot="1" noChangeAspect="1" noMove="1" noResize="1" noEditPoints="1" noAdjustHandles="1" noChangeArrowheads="1" noChangeShapeType="1" noTextEdit="1"/>
              </p:cNvSpPr>
              <p:nvPr/>
            </p:nvSpPr>
            <p:spPr>
              <a:xfrm>
                <a:off x="611559" y="3217559"/>
                <a:ext cx="7799015" cy="3154325"/>
              </a:xfrm>
              <a:prstGeom prst="rect">
                <a:avLst/>
              </a:prstGeom>
              <a:blipFill>
                <a:blip r:embed="rId2"/>
                <a:stretch>
                  <a:fillRect l="-625" t="-774" b="-2321"/>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3DC697-B2BB-4A36-0196-CFB62D717D87}"/>
                  </a:ext>
                </a:extLst>
              </p:cNvPr>
              <p:cNvSpPr txBox="1"/>
              <p:nvPr/>
            </p:nvSpPr>
            <p:spPr>
              <a:xfrm>
                <a:off x="2987824" y="1400894"/>
                <a:ext cx="1787412" cy="61260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𝑙𝑖𝑚</m:t>
                      </m:r>
                      <m:acc>
                        <m:accPr>
                          <m:chr m:val="̂"/>
                          <m:ctrlPr>
                            <a:rPr lang="en-AU" b="0" i="1" smtClean="0">
                              <a:latin typeface="Cambria Math" panose="02040503050406030204" pitchFamily="18" charset="0"/>
                              <a:ea typeface="Cambria Math" panose="02040503050406030204" pitchFamily="18" charset="0"/>
                            </a:rPr>
                          </m:ctrlPr>
                        </m:accPr>
                        <m:e>
                          <m:r>
                            <a:rPr lang="en-AU" b="0" i="1" smtClean="0">
                              <a:latin typeface="Cambria Math" panose="02040503050406030204" pitchFamily="18" charset="0"/>
                              <a:ea typeface="Cambria Math" panose="02040503050406030204" pitchFamily="18" charset="0"/>
                            </a:rPr>
                            <m:t>𝛽</m:t>
                          </m:r>
                        </m:e>
                      </m:acc>
                      <m:r>
                        <a:rPr lang="pt-BR" i="1" smtClean="0">
                          <a:latin typeface="Cambria Math" panose="02040503050406030204" pitchFamily="18" charset="0"/>
                        </a:rPr>
                        <m:t>=</m:t>
                      </m:r>
                      <m:f>
                        <m:fPr>
                          <m:ctrlPr>
                            <a:rPr lang="pt-BR" i="1" smtClean="0">
                              <a:latin typeface="Cambria Math" panose="02040503050406030204" pitchFamily="18" charset="0"/>
                            </a:rPr>
                          </m:ctrlPr>
                        </m:fPr>
                        <m:num>
                          <m:sSubSup>
                            <m:sSubSupPr>
                              <m:ctrlPr>
                                <a:rPr lang="pt-BR" i="1" smtClean="0">
                                  <a:latin typeface="Cambria Math" panose="02040503050406030204" pitchFamily="18" charset="0"/>
                                </a:rPr>
                              </m:ctrlPr>
                            </m:sSubSupPr>
                            <m:e>
                              <m:r>
                                <a:rPr lang="pt-BR" i="1">
                                  <a:latin typeface="Cambria Math" panose="02040503050406030204" pitchFamily="18" charset="0"/>
                                  <a:ea typeface="Cambria Math" panose="02040503050406030204" pitchFamily="18" charset="0"/>
                                </a:rPr>
                                <m:t>𝜎</m:t>
                              </m:r>
                            </m:e>
                            <m:sub>
                              <m:r>
                                <a:rPr lang="en-AU" b="0" i="1" smtClean="0">
                                  <a:latin typeface="Cambria Math" panose="02040503050406030204" pitchFamily="18" charset="0"/>
                                </a:rPr>
                                <m:t>𝑤</m:t>
                              </m:r>
                            </m:sub>
                            <m:sup>
                              <m:r>
                                <a:rPr lang="en-AU" b="0" i="1" smtClean="0">
                                  <a:latin typeface="Cambria Math" panose="02040503050406030204" pitchFamily="18" charset="0"/>
                                </a:rPr>
                                <m:t>2</m:t>
                              </m:r>
                            </m:sup>
                          </m:sSubSup>
                        </m:num>
                        <m:den>
                          <m:sSubSup>
                            <m:sSubSupPr>
                              <m:ctrlPr>
                                <a:rPr lang="pt-BR" i="1">
                                  <a:latin typeface="Cambria Math" panose="02040503050406030204" pitchFamily="18" charset="0"/>
                                </a:rPr>
                              </m:ctrlPr>
                            </m:sSubSupPr>
                            <m:e>
                              <m:r>
                                <a:rPr lang="pt-BR" i="1">
                                  <a:latin typeface="Cambria Math" panose="02040503050406030204" pitchFamily="18" charset="0"/>
                                  <a:ea typeface="Cambria Math" panose="02040503050406030204" pitchFamily="18" charset="0"/>
                                </a:rPr>
                                <m:t>𝜎</m:t>
                              </m:r>
                            </m:e>
                            <m:sub>
                              <m:r>
                                <a:rPr lang="en-AU" i="1">
                                  <a:latin typeface="Cambria Math" panose="02040503050406030204" pitchFamily="18" charset="0"/>
                                </a:rPr>
                                <m:t>𝑤</m:t>
                              </m:r>
                            </m:sub>
                            <m:sup>
                              <m:r>
                                <a:rPr lang="en-AU" i="1">
                                  <a:latin typeface="Cambria Math" panose="02040503050406030204" pitchFamily="18" charset="0"/>
                                </a:rPr>
                                <m:t>2</m:t>
                              </m:r>
                            </m:sup>
                          </m:sSubSup>
                          <m:r>
                            <a:rPr lang="en-AU" b="0"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ea typeface="Cambria Math" panose="02040503050406030204" pitchFamily="18" charset="0"/>
                                </a:rPr>
                                <m:t>𝜎</m:t>
                              </m:r>
                            </m:e>
                            <m:sub>
                              <m:r>
                                <a:rPr lang="en-AU" b="0" i="1" smtClean="0">
                                  <a:latin typeface="Cambria Math" panose="02040503050406030204" pitchFamily="18" charset="0"/>
                                  <a:ea typeface="Cambria Math" panose="02040503050406030204" pitchFamily="18" charset="0"/>
                                </a:rPr>
                                <m:t>𝑢</m:t>
                              </m:r>
                            </m:sub>
                            <m:sup>
                              <m:r>
                                <a:rPr lang="en-AU" i="1">
                                  <a:latin typeface="Cambria Math" panose="02040503050406030204" pitchFamily="18" charset="0"/>
                                </a:rPr>
                                <m:t>2</m:t>
                              </m:r>
                            </m:sup>
                          </m:sSubSup>
                        </m:den>
                      </m:f>
                    </m:oMath>
                  </m:oMathPara>
                </a14:m>
                <a:endParaRPr lang="en-AU" dirty="0"/>
              </a:p>
            </p:txBody>
          </p:sp>
        </mc:Choice>
        <mc:Fallback xmlns="">
          <p:sp>
            <p:nvSpPr>
              <p:cNvPr id="5" name="TextBox 4">
                <a:extLst>
                  <a:ext uri="{FF2B5EF4-FFF2-40B4-BE49-F238E27FC236}">
                    <a16:creationId xmlns:a16="http://schemas.microsoft.com/office/drawing/2014/main" id="{D13DC697-B2BB-4A36-0196-CFB62D717D87}"/>
                  </a:ext>
                </a:extLst>
              </p:cNvPr>
              <p:cNvSpPr txBox="1">
                <a:spLocks noRot="1" noChangeAspect="1" noMove="1" noResize="1" noEditPoints="1" noAdjustHandles="1" noChangeArrowheads="1" noChangeShapeType="1" noTextEdit="1"/>
              </p:cNvSpPr>
              <p:nvPr/>
            </p:nvSpPr>
            <p:spPr>
              <a:xfrm>
                <a:off x="2987824" y="1400894"/>
                <a:ext cx="1787412" cy="612604"/>
              </a:xfrm>
              <a:prstGeom prst="rect">
                <a:avLst/>
              </a:prstGeom>
              <a:blipFill>
                <a:blip r:embed="rId3"/>
                <a:stretch>
                  <a:fillRect b="-1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0FC4BE5-F98C-13B6-5C99-A4420ED65EEF}"/>
                  </a:ext>
                </a:extLst>
              </p:cNvPr>
              <p:cNvSpPr txBox="1"/>
              <p:nvPr/>
            </p:nvSpPr>
            <p:spPr>
              <a:xfrm>
                <a:off x="827583" y="2420888"/>
                <a:ext cx="7582991" cy="646331"/>
              </a:xfrm>
              <a:prstGeom prst="rect">
                <a:avLst/>
              </a:prstGeom>
              <a:noFill/>
            </p:spPr>
            <p:txBody>
              <a:bodyPr wrap="square" rtlCol="0">
                <a:spAutoFit/>
              </a:bodyPr>
              <a:lstStyle/>
              <a:p>
                <a:r>
                  <a:rPr lang="en-AU" dirty="0"/>
                  <a:t>Where </a:t>
                </a:r>
                <a14:m>
                  <m:oMath xmlns:m="http://schemas.openxmlformats.org/officeDocument/2006/math">
                    <m:sSubSup>
                      <m:sSubSupPr>
                        <m:ctrlPr>
                          <a:rPr lang="pt-BR" i="1" smtClean="0">
                            <a:latin typeface="Cambria Math" panose="02040503050406030204" pitchFamily="18" charset="0"/>
                          </a:rPr>
                        </m:ctrlPr>
                      </m:sSubSupPr>
                      <m:e>
                        <m:r>
                          <a:rPr lang="pt-BR" i="1">
                            <a:latin typeface="Cambria Math" panose="02040503050406030204" pitchFamily="18" charset="0"/>
                            <a:ea typeface="Cambria Math" panose="02040503050406030204" pitchFamily="18" charset="0"/>
                          </a:rPr>
                          <m:t>𝜎</m:t>
                        </m:r>
                      </m:e>
                      <m:sub>
                        <m:r>
                          <a:rPr lang="en-AU" b="0" i="1" smtClean="0">
                            <a:latin typeface="Cambria Math" panose="02040503050406030204" pitchFamily="18" charset="0"/>
                          </a:rPr>
                          <m:t>𝑤</m:t>
                        </m:r>
                      </m:sub>
                      <m:sup>
                        <m:r>
                          <a:rPr lang="en-AU" b="0" i="1" smtClean="0">
                            <a:latin typeface="Cambria Math" panose="02040503050406030204" pitchFamily="18" charset="0"/>
                          </a:rPr>
                          <m:t>2</m:t>
                        </m:r>
                      </m:sup>
                    </m:sSubSup>
                  </m:oMath>
                </a14:m>
                <a:r>
                  <a:rPr lang="en-AU" dirty="0"/>
                  <a:t> and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ea typeface="Cambria Math" panose="02040503050406030204" pitchFamily="18" charset="0"/>
                          </a:rPr>
                          <m:t>𝜎</m:t>
                        </m:r>
                      </m:e>
                      <m:sub>
                        <m:r>
                          <a:rPr lang="en-AU" i="1">
                            <a:latin typeface="Cambria Math" panose="02040503050406030204" pitchFamily="18" charset="0"/>
                            <a:ea typeface="Cambria Math" panose="02040503050406030204" pitchFamily="18" charset="0"/>
                          </a:rPr>
                          <m:t>𝑢</m:t>
                        </m:r>
                      </m:sub>
                      <m:sup>
                        <m:r>
                          <a:rPr lang="en-AU" i="1">
                            <a:latin typeface="Cambria Math" panose="02040503050406030204" pitchFamily="18" charset="0"/>
                          </a:rPr>
                          <m:t>2</m:t>
                        </m:r>
                      </m:sup>
                    </m:sSubSup>
                  </m:oMath>
                </a14:m>
                <a:r>
                  <a:rPr lang="en-AU" dirty="0"/>
                  <a:t> are the variances of the true unobserved regressor  and the measurement error, respectively </a:t>
                </a:r>
              </a:p>
            </p:txBody>
          </p:sp>
        </mc:Choice>
        <mc:Fallback xmlns="">
          <p:sp>
            <p:nvSpPr>
              <p:cNvPr id="7" name="TextBox 6">
                <a:extLst>
                  <a:ext uri="{FF2B5EF4-FFF2-40B4-BE49-F238E27FC236}">
                    <a16:creationId xmlns:a16="http://schemas.microsoft.com/office/drawing/2014/main" id="{E0FC4BE5-F98C-13B6-5C99-A4420ED65EEF}"/>
                  </a:ext>
                </a:extLst>
              </p:cNvPr>
              <p:cNvSpPr txBox="1">
                <a:spLocks noRot="1" noChangeAspect="1" noMove="1" noResize="1" noEditPoints="1" noAdjustHandles="1" noChangeArrowheads="1" noChangeShapeType="1" noTextEdit="1"/>
              </p:cNvSpPr>
              <p:nvPr/>
            </p:nvSpPr>
            <p:spPr>
              <a:xfrm>
                <a:off x="827583" y="2420888"/>
                <a:ext cx="7582991" cy="646331"/>
              </a:xfrm>
              <a:prstGeom prst="rect">
                <a:avLst/>
              </a:prstGeom>
              <a:blipFill>
                <a:blip r:embed="rId4"/>
                <a:stretch>
                  <a:fillRect l="-723" t="-4717" b="-14151"/>
                </a:stretch>
              </a:blipFill>
            </p:spPr>
            <p:txBody>
              <a:bodyPr/>
              <a:lstStyle/>
              <a:p>
                <a:r>
                  <a:rPr lang="en-AU">
                    <a:noFill/>
                  </a:rPr>
                  <a:t> </a:t>
                </a:r>
              </a:p>
            </p:txBody>
          </p:sp>
        </mc:Fallback>
      </mc:AlternateContent>
    </p:spTree>
    <p:extLst>
      <p:ext uri="{BB962C8B-B14F-4D97-AF65-F5344CB8AC3E}">
        <p14:creationId xmlns:p14="http://schemas.microsoft.com/office/powerpoint/2010/main" val="40930301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01A68-A353-4C08-1E54-1D4B84433395}"/>
              </a:ext>
            </a:extLst>
          </p:cNvPr>
          <p:cNvSpPr>
            <a:spLocks noGrp="1"/>
          </p:cNvSpPr>
          <p:nvPr>
            <p:ph type="title"/>
          </p:nvPr>
        </p:nvSpPr>
        <p:spPr>
          <a:xfrm>
            <a:off x="457200" y="136525"/>
            <a:ext cx="8075240" cy="562074"/>
          </a:xfrm>
        </p:spPr>
        <p:txBody>
          <a:bodyPr/>
          <a:lstStyle/>
          <a:p>
            <a:pPr algn="l"/>
            <a:r>
              <a:rPr lang="en-AU" sz="3200" dirty="0"/>
              <a:t>IV Example 1</a:t>
            </a:r>
          </a:p>
        </p:txBody>
      </p:sp>
      <p:sp>
        <p:nvSpPr>
          <p:cNvPr id="4" name="Slide Number Placeholder 3">
            <a:extLst>
              <a:ext uri="{FF2B5EF4-FFF2-40B4-BE49-F238E27FC236}">
                <a16:creationId xmlns:a16="http://schemas.microsoft.com/office/drawing/2014/main" id="{B9520030-867C-D5BD-9C09-AC1ED89B16FC}"/>
              </a:ext>
            </a:extLst>
          </p:cNvPr>
          <p:cNvSpPr>
            <a:spLocks noGrp="1"/>
          </p:cNvSpPr>
          <p:nvPr>
            <p:ph type="sldNum" sz="quarter" idx="12"/>
          </p:nvPr>
        </p:nvSpPr>
        <p:spPr/>
        <p:txBody>
          <a:bodyPr/>
          <a:lstStyle/>
          <a:p>
            <a:pPr>
              <a:defRPr/>
            </a:pPr>
            <a:fld id="{13102EC4-ECBA-422F-9159-C22944D38E99}" type="slidenum">
              <a:rPr lang="en-US" altLang="en-US" smtClean="0"/>
              <a:pPr>
                <a:defRPr/>
              </a:pPr>
              <a:t>8</a:t>
            </a:fld>
            <a:endParaRPr lang="en-US" alt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D9D2F30-4F1B-C7C6-B0C2-E56D49CC2B6B}"/>
                  </a:ext>
                </a:extLst>
              </p:cNvPr>
              <p:cNvSpPr txBox="1"/>
              <p:nvPr/>
            </p:nvSpPr>
            <p:spPr>
              <a:xfrm>
                <a:off x="457200" y="908720"/>
                <a:ext cx="8075240" cy="5109091"/>
              </a:xfrm>
              <a:prstGeom prst="rect">
                <a:avLst/>
              </a:prstGeom>
              <a:noFill/>
            </p:spPr>
            <p:txBody>
              <a:bodyPr wrap="square">
                <a:spAutoFit/>
              </a:bodyPr>
              <a:lstStyle/>
              <a:p>
                <a:pPr algn="l"/>
                <a:r>
                  <a:rPr lang="en-AU" b="0" i="0" u="none" strike="noStrike" baseline="0" dirty="0">
                    <a:latin typeface="+mj-lt"/>
                  </a:rPr>
                  <a:t>Consider a social experiment concerning class sizes (x), where</a:t>
                </a:r>
              </a:p>
              <a:p>
                <a:pPr algn="l"/>
                <a:r>
                  <a:rPr lang="en-AU" b="0" i="0" u="none" strike="noStrike" baseline="0" dirty="0">
                    <a:latin typeface="+mj-lt"/>
                  </a:rPr>
                  <a:t>children were randomly assigned to be in classes sized 24 (</a:t>
                </a:r>
                <a:r>
                  <a:rPr lang="en-AU" b="0" i="1" u="none" strike="noStrike" baseline="0" dirty="0">
                    <a:latin typeface="+mj-lt"/>
                  </a:rPr>
                  <a:t>z = 0</a:t>
                </a:r>
                <a:r>
                  <a:rPr lang="en-AU" b="0" i="0" u="none" strike="noStrike" baseline="0" dirty="0">
                    <a:latin typeface="+mj-lt"/>
                  </a:rPr>
                  <a:t>) or 18 (</a:t>
                </a:r>
                <a:r>
                  <a:rPr lang="en-AU" b="0" i="1" u="none" strike="noStrike" baseline="0" dirty="0">
                    <a:latin typeface="+mj-lt"/>
                  </a:rPr>
                  <a:t>z = 1</a:t>
                </a:r>
                <a:r>
                  <a:rPr lang="en-AU" b="0" i="0" u="none" strike="noStrike" baseline="0" dirty="0">
                    <a:latin typeface="+mj-lt"/>
                  </a:rPr>
                  <a:t>), and the outcome of interest is children’s test scores (</a:t>
                </a:r>
                <a:r>
                  <a:rPr lang="en-AU" b="0" i="1" u="none" strike="noStrike" baseline="0" dirty="0">
                    <a:latin typeface="+mj-lt"/>
                  </a:rPr>
                  <a:t>y</a:t>
                </a:r>
                <a:r>
                  <a:rPr lang="en-AU" b="0" i="0" u="none" strike="noStrike" baseline="0" dirty="0">
                    <a:latin typeface="+mj-lt"/>
                  </a:rPr>
                  <a:t>).</a:t>
                </a:r>
              </a:p>
              <a:p>
                <a:pPr algn="l"/>
                <a:endParaRPr lang="en-AU" b="0" i="0" u="none" strike="noStrike" baseline="0" dirty="0">
                  <a:latin typeface="+mj-lt"/>
                </a:endParaRPr>
              </a:p>
              <a:p>
                <a:pPr algn="l"/>
                <a:r>
                  <a:rPr lang="en-AU" b="0" i="0" u="none" strike="noStrike" baseline="0" dirty="0">
                    <a:latin typeface="+mj-lt"/>
                  </a:rPr>
                  <a:t>The relationship between actual class size (x) and test scores is</a:t>
                </a:r>
              </a:p>
              <a:p>
                <a:pPr algn="l"/>
                <a:endParaRPr lang="en-AU" b="0" i="1" u="none" strike="noStrike" baseline="0" dirty="0">
                  <a:latin typeface="+mj-lt"/>
                </a:endParaRPr>
              </a:p>
              <a:p>
                <a:pPr algn="l"/>
                <a:endParaRPr lang="en-AU" b="0" i="0" u="none" strike="noStrike" baseline="0" dirty="0">
                  <a:latin typeface="+mj-lt"/>
                </a:endParaRPr>
              </a:p>
              <a:p>
                <a:pPr algn="l"/>
                <a:r>
                  <a:rPr lang="en-AU" b="0" i="0" u="sng" strike="noStrike" baseline="0" dirty="0">
                    <a:latin typeface="+mj-lt"/>
                  </a:rPr>
                  <a:t>where </a:t>
                </a:r>
                <a:r>
                  <a:rPr lang="en-AU" b="0" i="1" u="sng" strike="noStrike" baseline="0" dirty="0">
                    <a:latin typeface="+mj-lt"/>
                  </a:rPr>
                  <a:t>x ≠ z </a:t>
                </a:r>
                <a:r>
                  <a:rPr lang="en-AU" b="0" i="0" u="sng" strike="noStrike" baseline="0" dirty="0">
                    <a:latin typeface="+mj-lt"/>
                  </a:rPr>
                  <a:t>because some parents insisted their children be in small classes;  x is endogenous because these parents are a non-random sample of parents</a:t>
                </a:r>
                <a:r>
                  <a:rPr lang="en-AU" b="0" i="0" u="none" strike="noStrike" baseline="0" dirty="0">
                    <a:latin typeface="+mj-lt"/>
                  </a:rPr>
                  <a:t>.</a:t>
                </a:r>
              </a:p>
              <a:p>
                <a:pPr algn="l"/>
                <a:endParaRPr lang="en-AU" b="0" i="0" u="none" strike="noStrike" baseline="0" dirty="0">
                  <a:latin typeface="+mj-lt"/>
                </a:endParaRPr>
              </a:p>
              <a:p>
                <a:pPr algn="l"/>
                <a:r>
                  <a:rPr lang="en-AU" b="0" i="0" u="none" strike="noStrike" baseline="0" dirty="0">
                    <a:latin typeface="+mj-lt"/>
                  </a:rPr>
                  <a:t>The </a:t>
                </a:r>
                <a:r>
                  <a:rPr lang="en-AU" b="1" i="0" u="none" strike="noStrike" baseline="0" dirty="0">
                    <a:latin typeface="+mj-lt"/>
                  </a:rPr>
                  <a:t>reduced form model </a:t>
                </a:r>
                <a:r>
                  <a:rPr lang="en-AU" b="0" i="0" u="none" strike="noStrike" baseline="0" dirty="0">
                    <a:latin typeface="+mj-lt"/>
                  </a:rPr>
                  <a:t>gives the direct impact of being assigned</a:t>
                </a:r>
              </a:p>
              <a:p>
                <a:pPr algn="l"/>
                <a:r>
                  <a:rPr lang="en-AU" b="0" i="0" u="none" strike="noStrike" baseline="0" dirty="0">
                    <a:latin typeface="+mj-lt"/>
                  </a:rPr>
                  <a:t>to (but not necessarily in) a small class on test scores:</a:t>
                </a:r>
              </a:p>
              <a:p>
                <a:pPr algn="l"/>
                <a:endParaRPr lang="en-AU" b="0" i="0" u="none" strike="noStrike" baseline="0" dirty="0">
                  <a:latin typeface="+mj-lt"/>
                </a:endParaRPr>
              </a:p>
              <a:p>
                <a:pPr/>
                <a14:m>
                  <m:oMathPara xmlns:m="http://schemas.openxmlformats.org/officeDocument/2006/math">
                    <m:oMathParaPr>
                      <m:jc m:val="centerGroup"/>
                    </m:oMathParaPr>
                    <m:oMath xmlns:m="http://schemas.openxmlformats.org/officeDocument/2006/math">
                      <m:sSub>
                        <m:sSubPr>
                          <m:ctrlPr>
                            <a:rPr lang="en-AU" sz="2000" i="1" smtClean="0">
                              <a:latin typeface="Cambria Math" panose="02040503050406030204" pitchFamily="18" charset="0"/>
                            </a:rPr>
                          </m:ctrlPr>
                        </m:sSubPr>
                        <m:e>
                          <m:r>
                            <a:rPr lang="en-AU" sz="2000" b="0" i="1" smtClean="0">
                              <a:latin typeface="Cambria Math" panose="02040503050406030204" pitchFamily="18" charset="0"/>
                            </a:rPr>
                            <m:t>𝑌</m:t>
                          </m:r>
                        </m:e>
                        <m:sub>
                          <m:r>
                            <a:rPr lang="en-AU" sz="2000" b="0" i="1" smtClean="0">
                              <a:latin typeface="Cambria Math" panose="02040503050406030204" pitchFamily="18" charset="0"/>
                            </a:rPr>
                            <m:t>𝑖</m:t>
                          </m:r>
                        </m:sub>
                      </m:sSub>
                      <m:r>
                        <a:rPr lang="en-AU" sz="2000" i="1" smtClean="0">
                          <a:latin typeface="Cambria Math" panose="02040503050406030204" pitchFamily="18" charset="0"/>
                        </a:rPr>
                        <m:t>=</m:t>
                      </m:r>
                      <m:sSub>
                        <m:sSubPr>
                          <m:ctrlPr>
                            <a:rPr lang="el-GR" sz="2000" i="1" smtClean="0">
                              <a:latin typeface="Cambria Math" panose="02040503050406030204" pitchFamily="18" charset="0"/>
                            </a:rPr>
                          </m:ctrlPr>
                        </m:sSubPr>
                        <m:e>
                          <m:r>
                            <m:rPr>
                              <m:sty m:val="p"/>
                            </m:rPr>
                            <a:rPr lang="el-GR" sz="2000" i="1" smtClean="0">
                              <a:latin typeface="Cambria Math" panose="02040503050406030204" pitchFamily="18" charset="0"/>
                            </a:rPr>
                            <m:t>π</m:t>
                          </m:r>
                        </m:e>
                        <m:sub>
                          <m:r>
                            <a:rPr lang="en-AU" sz="2000" b="0" i="1" smtClean="0">
                              <a:latin typeface="Cambria Math" panose="02040503050406030204" pitchFamily="18" charset="0"/>
                            </a:rPr>
                            <m:t>0</m:t>
                          </m:r>
                        </m:sub>
                      </m:sSub>
                      <m:r>
                        <a:rPr lang="en-AU" sz="2000" b="0" i="1" smtClean="0">
                          <a:latin typeface="Cambria Math" panose="02040503050406030204" pitchFamily="18" charset="0"/>
                        </a:rPr>
                        <m:t>+</m:t>
                      </m:r>
                      <m:sSub>
                        <m:sSubPr>
                          <m:ctrlPr>
                            <a:rPr lang="el-GR" sz="2000" i="1">
                              <a:latin typeface="Cambria Math" panose="02040503050406030204" pitchFamily="18" charset="0"/>
                            </a:rPr>
                          </m:ctrlPr>
                        </m:sSubPr>
                        <m:e>
                          <m:r>
                            <m:rPr>
                              <m:sty m:val="p"/>
                            </m:rPr>
                            <a:rPr lang="el-GR" sz="2000" i="1">
                              <a:latin typeface="Cambria Math" panose="02040503050406030204" pitchFamily="18" charset="0"/>
                            </a:rPr>
                            <m:t>π</m:t>
                          </m:r>
                        </m:e>
                        <m:sub>
                          <m:r>
                            <a:rPr lang="en-AU" sz="2000" b="0" i="1" smtClean="0">
                              <a:latin typeface="Cambria Math" panose="02040503050406030204" pitchFamily="18" charset="0"/>
                            </a:rPr>
                            <m:t>1</m:t>
                          </m:r>
                        </m:sub>
                      </m:sSub>
                      <m:r>
                        <a:rPr lang="en-AU" sz="2000" b="0" i="1" smtClean="0">
                          <a:latin typeface="Cambria Math" panose="02040503050406030204" pitchFamily="18" charset="0"/>
                        </a:rPr>
                        <m:t>𝑥</m:t>
                      </m:r>
                      <m:r>
                        <a:rPr lang="en-AU" sz="2000" b="0" i="1" smtClean="0">
                          <a:latin typeface="Cambria Math" panose="02040503050406030204" pitchFamily="18" charset="0"/>
                        </a:rPr>
                        <m:t>+</m:t>
                      </m:r>
                      <m:r>
                        <a:rPr lang="en-AU" sz="2000" b="0" i="1" smtClean="0">
                          <a:latin typeface="Cambria Math" panose="02040503050406030204" pitchFamily="18" charset="0"/>
                        </a:rPr>
                        <m:t>𝑣</m:t>
                      </m:r>
                    </m:oMath>
                  </m:oMathPara>
                </a14:m>
                <a:endParaRPr lang="en-AU" sz="2000" i="1" dirty="0">
                  <a:latin typeface="+mj-lt"/>
                </a:endParaRPr>
              </a:p>
              <a:p>
                <a:pPr algn="l"/>
                <a:endParaRPr lang="en-AU" b="0" i="0" u="none" strike="noStrike" baseline="0" dirty="0">
                  <a:latin typeface="+mj-lt"/>
                </a:endParaRPr>
              </a:p>
              <a:p>
                <a:r>
                  <a:rPr lang="en-AU" b="0" i="0" u="none" strike="noStrike" baseline="0" dirty="0">
                    <a:latin typeface="+mj-lt"/>
                  </a:rPr>
                  <a:t>where </a:t>
                </a:r>
                <a14:m>
                  <m:oMath xmlns:m="http://schemas.openxmlformats.org/officeDocument/2006/math">
                    <m:sSub>
                      <m:sSubPr>
                        <m:ctrlPr>
                          <a:rPr lang="el-GR" i="1" smtClean="0">
                            <a:latin typeface="Cambria Math" panose="02040503050406030204" pitchFamily="18" charset="0"/>
                          </a:rPr>
                        </m:ctrlPr>
                      </m:sSubPr>
                      <m:e>
                        <m:r>
                          <a:rPr lang="el-GR" i="1">
                            <a:latin typeface="Cambria Math" panose="02040503050406030204" pitchFamily="18" charset="0"/>
                          </a:rPr>
                          <m:t>𝜋</m:t>
                        </m:r>
                      </m:e>
                      <m:sub>
                        <m:r>
                          <a:rPr lang="en-AU" b="0" i="1" smtClean="0">
                            <a:latin typeface="Cambria Math" panose="02040503050406030204" pitchFamily="18" charset="0"/>
                          </a:rPr>
                          <m:t>1</m:t>
                        </m:r>
                      </m:sub>
                    </m:sSub>
                    <m:r>
                      <a:rPr lang="en-AU" b="0" i="1" smtClean="0">
                        <a:latin typeface="Cambria Math" panose="02040503050406030204" pitchFamily="18" charset="0"/>
                      </a:rPr>
                      <m:t> </m:t>
                    </m:r>
                  </m:oMath>
                </a14:m>
                <a:r>
                  <a:rPr lang="en-AU" b="0" i="0" u="none" strike="noStrike" baseline="0" dirty="0">
                    <a:latin typeface="+mj-lt"/>
                  </a:rPr>
                  <a:t>is of direct policy interest. </a:t>
                </a:r>
                <a14:m>
                  <m:oMath xmlns:m="http://schemas.openxmlformats.org/officeDocument/2006/math">
                    <m:sSub>
                      <m:sSubPr>
                        <m:ctrlPr>
                          <a:rPr lang="el-GR" i="1">
                            <a:latin typeface="Cambria Math" panose="02040503050406030204" pitchFamily="18" charset="0"/>
                          </a:rPr>
                        </m:ctrlPr>
                      </m:sSubPr>
                      <m:e>
                        <m:r>
                          <a:rPr lang="el-GR" i="1">
                            <a:latin typeface="Cambria Math" panose="02040503050406030204" pitchFamily="18" charset="0"/>
                          </a:rPr>
                          <m:t>𝜋</m:t>
                        </m:r>
                      </m:e>
                      <m:sub>
                        <m:r>
                          <a:rPr lang="en-AU" i="1">
                            <a:latin typeface="Cambria Math" panose="02040503050406030204" pitchFamily="18" charset="0"/>
                          </a:rPr>
                          <m:t>1</m:t>
                        </m:r>
                      </m:sub>
                    </m:sSub>
                    <m:r>
                      <a:rPr lang="en-AU" i="1">
                        <a:latin typeface="Cambria Math" panose="02040503050406030204" pitchFamily="18" charset="0"/>
                      </a:rPr>
                      <m:t> </m:t>
                    </m:r>
                  </m:oMath>
                </a14:m>
                <a:r>
                  <a:rPr lang="en-AU" b="0" i="0" u="none" strike="noStrike" baseline="0" dirty="0">
                    <a:latin typeface="+mj-lt"/>
                  </a:rPr>
                  <a:t>can be consistently estimated using OLS if </a:t>
                </a:r>
                <a:r>
                  <a:rPr lang="en-AU" b="0" i="1" u="none" strike="noStrike" baseline="0" dirty="0">
                    <a:latin typeface="+mj-lt"/>
                  </a:rPr>
                  <a:t>z</a:t>
                </a:r>
                <a:r>
                  <a:rPr lang="en-AU" b="0" i="0" u="none" strike="noStrike" baseline="0" dirty="0">
                    <a:latin typeface="+mj-lt"/>
                  </a:rPr>
                  <a:t> is </a:t>
                </a:r>
                <a:r>
                  <a:rPr lang="en-AU" b="1" i="0" u="none" strike="noStrike" baseline="0" dirty="0">
                    <a:latin typeface="+mj-lt"/>
                  </a:rPr>
                  <a:t>random</a:t>
                </a:r>
                <a:r>
                  <a:rPr lang="en-AU" b="0" i="0" u="none" strike="noStrike" baseline="0" dirty="0">
                    <a:latin typeface="+mj-lt"/>
                  </a:rPr>
                  <a:t>. But, because parents interfere in class selection </a:t>
                </a:r>
                <a14:m>
                  <m:oMath xmlns:m="http://schemas.openxmlformats.org/officeDocument/2006/math">
                    <m:sSub>
                      <m:sSubPr>
                        <m:ctrlPr>
                          <a:rPr lang="el-GR" i="1">
                            <a:latin typeface="Cambria Math" panose="02040503050406030204" pitchFamily="18" charset="0"/>
                          </a:rPr>
                        </m:ctrlPr>
                      </m:sSubPr>
                      <m:e>
                        <m:r>
                          <a:rPr lang="el-GR" i="1">
                            <a:latin typeface="Cambria Math" panose="02040503050406030204" pitchFamily="18" charset="0"/>
                          </a:rPr>
                          <m:t>𝜋</m:t>
                        </m:r>
                      </m:e>
                      <m:sub>
                        <m:r>
                          <a:rPr lang="en-AU" i="1">
                            <a:latin typeface="Cambria Math" panose="02040503050406030204" pitchFamily="18" charset="0"/>
                          </a:rPr>
                          <m:t>1</m:t>
                        </m:r>
                      </m:sub>
                    </m:sSub>
                    <m:r>
                      <a:rPr lang="en-AU" i="1">
                        <a:latin typeface="Cambria Math" panose="02040503050406030204" pitchFamily="18" charset="0"/>
                      </a:rPr>
                      <m:t> </m:t>
                    </m:r>
                  </m:oMath>
                </a14:m>
                <a:r>
                  <a:rPr lang="en-AU" b="0" i="0" u="none" strike="noStrike" baseline="0" dirty="0">
                    <a:latin typeface="+mj-lt"/>
                  </a:rPr>
                  <a:t>is biased.</a:t>
                </a:r>
                <a:endParaRPr lang="en-AU" dirty="0">
                  <a:latin typeface="+mj-lt"/>
                </a:endParaRPr>
              </a:p>
            </p:txBody>
          </p:sp>
        </mc:Choice>
        <mc:Fallback xmlns="">
          <p:sp>
            <p:nvSpPr>
              <p:cNvPr id="6" name="TextBox 5">
                <a:extLst>
                  <a:ext uri="{FF2B5EF4-FFF2-40B4-BE49-F238E27FC236}">
                    <a16:creationId xmlns:a16="http://schemas.microsoft.com/office/drawing/2014/main" id="{1D9D2F30-4F1B-C7C6-B0C2-E56D49CC2B6B}"/>
                  </a:ext>
                </a:extLst>
              </p:cNvPr>
              <p:cNvSpPr txBox="1">
                <a:spLocks noRot="1" noChangeAspect="1" noMove="1" noResize="1" noEditPoints="1" noAdjustHandles="1" noChangeArrowheads="1" noChangeShapeType="1" noTextEdit="1"/>
              </p:cNvSpPr>
              <p:nvPr/>
            </p:nvSpPr>
            <p:spPr>
              <a:xfrm>
                <a:off x="457200" y="908720"/>
                <a:ext cx="8075240" cy="5109091"/>
              </a:xfrm>
              <a:prstGeom prst="rect">
                <a:avLst/>
              </a:prstGeom>
              <a:blipFill>
                <a:blip r:embed="rId3"/>
                <a:stretch>
                  <a:fillRect l="-604" t="-597" r="-981" b="-955"/>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40B69AC-8BD2-9515-1F5F-AF0227B3FEC9}"/>
                  </a:ext>
                </a:extLst>
              </p:cNvPr>
              <p:cNvSpPr txBox="1"/>
              <p:nvPr/>
            </p:nvSpPr>
            <p:spPr>
              <a:xfrm>
                <a:off x="2267744" y="2492896"/>
                <a:ext cx="199362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sz="2000" i="1" smtClean="0">
                              <a:latin typeface="Cambria Math" panose="02040503050406030204" pitchFamily="18" charset="0"/>
                            </a:rPr>
                          </m:ctrlPr>
                        </m:sSubPr>
                        <m:e>
                          <m:r>
                            <a:rPr lang="en-AU" sz="2000" b="0" i="1" smtClean="0">
                              <a:latin typeface="Cambria Math" panose="02040503050406030204" pitchFamily="18" charset="0"/>
                            </a:rPr>
                            <m:t>𝑌</m:t>
                          </m:r>
                        </m:e>
                        <m:sub>
                          <m:r>
                            <a:rPr lang="en-AU" sz="2000" b="0" i="1" smtClean="0">
                              <a:latin typeface="Cambria Math" panose="02040503050406030204" pitchFamily="18" charset="0"/>
                            </a:rPr>
                            <m:t>𝑖</m:t>
                          </m:r>
                        </m:sub>
                      </m:sSub>
                      <m:r>
                        <a:rPr lang="en-AU" sz="2000" i="1" smtClean="0">
                          <a:latin typeface="Cambria Math" panose="02040503050406030204" pitchFamily="18" charset="0"/>
                        </a:rPr>
                        <m:t>=</m:t>
                      </m:r>
                      <m:sSub>
                        <m:sSubPr>
                          <m:ctrlPr>
                            <a:rPr lang="el-GR" sz="2000" i="1" smtClean="0">
                              <a:latin typeface="Cambria Math" panose="02040503050406030204" pitchFamily="18" charset="0"/>
                            </a:rPr>
                          </m:ctrlPr>
                        </m:sSubPr>
                        <m:e>
                          <m:r>
                            <a:rPr lang="el-GR" sz="2000" i="1">
                              <a:latin typeface="Cambria Math" panose="02040503050406030204" pitchFamily="18" charset="0"/>
                            </a:rPr>
                            <m:t>𝛽</m:t>
                          </m:r>
                        </m:e>
                        <m:sub>
                          <m:r>
                            <a:rPr lang="en-AU" sz="2000" b="0" i="1" smtClean="0">
                              <a:latin typeface="Cambria Math" panose="02040503050406030204" pitchFamily="18" charset="0"/>
                            </a:rPr>
                            <m:t>0</m:t>
                          </m:r>
                        </m:sub>
                      </m:sSub>
                      <m:r>
                        <a:rPr lang="en-AU" sz="2000" b="0" i="1" smtClean="0">
                          <a:latin typeface="Cambria Math" panose="02040503050406030204" pitchFamily="18" charset="0"/>
                        </a:rPr>
                        <m:t>+</m:t>
                      </m:r>
                      <m:sSub>
                        <m:sSubPr>
                          <m:ctrlPr>
                            <a:rPr lang="el-GR" sz="2000" i="1">
                              <a:latin typeface="Cambria Math" panose="02040503050406030204" pitchFamily="18" charset="0"/>
                            </a:rPr>
                          </m:ctrlPr>
                        </m:sSubPr>
                        <m:e>
                          <m:r>
                            <a:rPr lang="el-GR" sz="2000" i="1">
                              <a:latin typeface="Cambria Math" panose="02040503050406030204" pitchFamily="18" charset="0"/>
                            </a:rPr>
                            <m:t>𝛽</m:t>
                          </m:r>
                        </m:e>
                        <m:sub>
                          <m:r>
                            <a:rPr lang="en-AU" sz="2000" b="0" i="1" smtClean="0">
                              <a:latin typeface="Cambria Math" panose="02040503050406030204" pitchFamily="18" charset="0"/>
                            </a:rPr>
                            <m:t>1</m:t>
                          </m:r>
                        </m:sub>
                      </m:sSub>
                      <m:r>
                        <a:rPr lang="en-AU" sz="2000" b="0" i="1" smtClean="0">
                          <a:latin typeface="Cambria Math" panose="02040503050406030204" pitchFamily="18" charset="0"/>
                        </a:rPr>
                        <m:t>𝑥</m:t>
                      </m:r>
                      <m:r>
                        <a:rPr lang="en-AU" sz="2000" b="0" i="1" smtClean="0">
                          <a:latin typeface="Cambria Math" panose="02040503050406030204" pitchFamily="18" charset="0"/>
                        </a:rPr>
                        <m:t>+</m:t>
                      </m:r>
                      <m:r>
                        <a:rPr lang="el-GR" sz="2000" b="0" i="1" smtClean="0">
                          <a:latin typeface="Cambria Math" panose="02040503050406030204" pitchFamily="18" charset="0"/>
                        </a:rPr>
                        <m:t>𝜀</m:t>
                      </m:r>
                    </m:oMath>
                  </m:oMathPara>
                </a14:m>
                <a:endParaRPr lang="en-AU" sz="2000" i="1" dirty="0"/>
              </a:p>
            </p:txBody>
          </p:sp>
        </mc:Choice>
        <mc:Fallback xmlns="">
          <p:sp>
            <p:nvSpPr>
              <p:cNvPr id="3" name="TextBox 2">
                <a:extLst>
                  <a:ext uri="{FF2B5EF4-FFF2-40B4-BE49-F238E27FC236}">
                    <a16:creationId xmlns:a16="http://schemas.microsoft.com/office/drawing/2014/main" id="{940B69AC-8BD2-9515-1F5F-AF0227B3FEC9}"/>
                  </a:ext>
                </a:extLst>
              </p:cNvPr>
              <p:cNvSpPr txBox="1">
                <a:spLocks noRot="1" noChangeAspect="1" noMove="1" noResize="1" noEditPoints="1" noAdjustHandles="1" noChangeArrowheads="1" noChangeShapeType="1" noTextEdit="1"/>
              </p:cNvSpPr>
              <p:nvPr/>
            </p:nvSpPr>
            <p:spPr>
              <a:xfrm>
                <a:off x="2267744" y="2492896"/>
                <a:ext cx="1993623" cy="307777"/>
              </a:xfrm>
              <a:prstGeom prst="rect">
                <a:avLst/>
              </a:prstGeom>
              <a:blipFill>
                <a:blip r:embed="rId4"/>
                <a:stretch>
                  <a:fillRect l="-2141" r="-612" b="-38000"/>
                </a:stretch>
              </a:blipFill>
            </p:spPr>
            <p:txBody>
              <a:bodyPr/>
              <a:lstStyle/>
              <a:p>
                <a:r>
                  <a:rPr lang="en-AU">
                    <a:noFill/>
                  </a:rPr>
                  <a:t> </a:t>
                </a:r>
              </a:p>
            </p:txBody>
          </p:sp>
        </mc:Fallback>
      </mc:AlternateContent>
    </p:spTree>
    <p:extLst>
      <p:ext uri="{BB962C8B-B14F-4D97-AF65-F5344CB8AC3E}">
        <p14:creationId xmlns:p14="http://schemas.microsoft.com/office/powerpoint/2010/main" val="27084843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01A68-A353-4C08-1E54-1D4B84433395}"/>
              </a:ext>
            </a:extLst>
          </p:cNvPr>
          <p:cNvSpPr>
            <a:spLocks noGrp="1"/>
          </p:cNvSpPr>
          <p:nvPr>
            <p:ph type="title"/>
          </p:nvPr>
        </p:nvSpPr>
        <p:spPr>
          <a:xfrm>
            <a:off x="457200" y="136525"/>
            <a:ext cx="8075240" cy="562074"/>
          </a:xfrm>
        </p:spPr>
        <p:txBody>
          <a:bodyPr/>
          <a:lstStyle/>
          <a:p>
            <a:pPr algn="l"/>
            <a:r>
              <a:rPr lang="en-AU" sz="3200" dirty="0"/>
              <a:t>IV Example 1</a:t>
            </a:r>
          </a:p>
        </p:txBody>
      </p:sp>
      <p:sp>
        <p:nvSpPr>
          <p:cNvPr id="4" name="Slide Number Placeholder 3">
            <a:extLst>
              <a:ext uri="{FF2B5EF4-FFF2-40B4-BE49-F238E27FC236}">
                <a16:creationId xmlns:a16="http://schemas.microsoft.com/office/drawing/2014/main" id="{B9520030-867C-D5BD-9C09-AC1ED89B16FC}"/>
              </a:ext>
            </a:extLst>
          </p:cNvPr>
          <p:cNvSpPr>
            <a:spLocks noGrp="1"/>
          </p:cNvSpPr>
          <p:nvPr>
            <p:ph type="sldNum" sz="quarter" idx="12"/>
          </p:nvPr>
        </p:nvSpPr>
        <p:spPr/>
        <p:txBody>
          <a:bodyPr/>
          <a:lstStyle/>
          <a:p>
            <a:pPr>
              <a:defRPr/>
            </a:pPr>
            <a:fld id="{13102EC4-ECBA-422F-9159-C22944D38E99}" type="slidenum">
              <a:rPr lang="en-US" altLang="en-US" smtClean="0"/>
              <a:pPr>
                <a:defRPr/>
              </a:pPr>
              <a:t>9</a:t>
            </a:fld>
            <a:endParaRPr lang="en-US" altLang="en-US"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D9D2F30-4F1B-C7C6-B0C2-E56D49CC2B6B}"/>
                  </a:ext>
                </a:extLst>
              </p:cNvPr>
              <p:cNvSpPr txBox="1"/>
              <p:nvPr/>
            </p:nvSpPr>
            <p:spPr>
              <a:xfrm>
                <a:off x="457200" y="908720"/>
                <a:ext cx="8075240" cy="2585323"/>
              </a:xfrm>
              <a:prstGeom prst="rect">
                <a:avLst/>
              </a:prstGeom>
              <a:noFill/>
            </p:spPr>
            <p:txBody>
              <a:bodyPr wrap="square">
                <a:spAutoFit/>
              </a:bodyPr>
              <a:lstStyle/>
              <a:p>
                <a:pPr algn="l"/>
                <a:r>
                  <a:rPr lang="en-US" b="0" i="0" u="none" strike="noStrike" baseline="0" dirty="0">
                    <a:latin typeface="+mn-lt"/>
                  </a:rPr>
                  <a:t>The first stage model (also called the reduced form model for x) gives the impact of random assignment on class size:</a:t>
                </a:r>
              </a:p>
              <a:p>
                <a:pPr algn="l"/>
                <a:endParaRPr lang="en-US" dirty="0">
                  <a:latin typeface="+mn-lt"/>
                </a:endParaRPr>
              </a:p>
              <a:p>
                <a:r>
                  <a:rPr lang="en-US" b="0" i="0" u="none" strike="noStrike" baseline="0" dirty="0">
                    <a:latin typeface="+mn-lt"/>
                  </a:rPr>
                  <a:t>If random assignment was perfect </a:t>
                </a:r>
                <a14:m>
                  <m:oMath xmlns:m="http://schemas.openxmlformats.org/officeDocument/2006/math">
                    <m:sSub>
                      <m:sSubPr>
                        <m:ctrlPr>
                          <a:rPr lang="el-GR" i="1" smtClean="0">
                            <a:latin typeface="Cambria Math" panose="02040503050406030204" pitchFamily="18" charset="0"/>
                          </a:rPr>
                        </m:ctrlPr>
                      </m:sSubPr>
                      <m:e>
                        <m:r>
                          <a:rPr lang="el-GR" i="1" smtClean="0">
                            <a:latin typeface="Cambria Math" panose="02040503050406030204" pitchFamily="18" charset="0"/>
                            <a:ea typeface="Cambria Math" panose="02040503050406030204" pitchFamily="18" charset="0"/>
                          </a:rPr>
                          <m:t>𝜃</m:t>
                        </m:r>
                      </m:e>
                      <m:sub>
                        <m:r>
                          <a:rPr lang="en-AU" b="0" i="1" smtClean="0">
                            <a:latin typeface="Cambria Math" panose="02040503050406030204" pitchFamily="18" charset="0"/>
                          </a:rPr>
                          <m:t>1</m:t>
                        </m:r>
                      </m:sub>
                    </m:sSub>
                    <m:r>
                      <a:rPr lang="en-AU" b="0" i="1" smtClean="0">
                        <a:latin typeface="Cambria Math" panose="02040503050406030204" pitchFamily="18" charset="0"/>
                      </a:rPr>
                      <m:t> </m:t>
                    </m:r>
                  </m:oMath>
                </a14:m>
                <a:r>
                  <a:rPr lang="en-US" b="0" i="1" u="none" strike="noStrike" baseline="0" dirty="0">
                    <a:latin typeface="+mn-lt"/>
                  </a:rPr>
                  <a:t> = 6</a:t>
                </a:r>
                <a:r>
                  <a:rPr lang="en-US" b="0" i="0" u="none" strike="noStrike" baseline="0" dirty="0">
                    <a:latin typeface="+mn-lt"/>
                  </a:rPr>
                  <a:t>, but in reality 0 &lt; </a:t>
                </a:r>
                <a14:m>
                  <m:oMath xmlns:m="http://schemas.openxmlformats.org/officeDocument/2006/math">
                    <m:sSub>
                      <m:sSubPr>
                        <m:ctrlPr>
                          <a:rPr lang="el-GR" i="1">
                            <a:latin typeface="Cambria Math" panose="02040503050406030204" pitchFamily="18" charset="0"/>
                          </a:rPr>
                        </m:ctrlPr>
                      </m:sSubPr>
                      <m:e>
                        <m:r>
                          <a:rPr lang="el-GR" i="1">
                            <a:latin typeface="Cambria Math" panose="02040503050406030204" pitchFamily="18" charset="0"/>
                            <a:ea typeface="Cambria Math" panose="02040503050406030204" pitchFamily="18" charset="0"/>
                          </a:rPr>
                          <m:t>𝜃</m:t>
                        </m:r>
                      </m:e>
                      <m:sub>
                        <m:r>
                          <a:rPr lang="en-AU" i="1">
                            <a:latin typeface="Cambria Math" panose="02040503050406030204" pitchFamily="18" charset="0"/>
                          </a:rPr>
                          <m:t>1</m:t>
                        </m:r>
                      </m:sub>
                    </m:sSub>
                    <m:r>
                      <a:rPr lang="en-AU" i="1">
                        <a:latin typeface="Cambria Math" panose="02040503050406030204" pitchFamily="18" charset="0"/>
                      </a:rPr>
                      <m:t> </m:t>
                    </m:r>
                  </m:oMath>
                </a14:m>
                <a:r>
                  <a:rPr lang="en-US" b="0" i="0" u="none" strike="noStrike" baseline="0" dirty="0">
                    <a:latin typeface="+mn-lt"/>
                  </a:rPr>
                  <a:t>&lt; 6.</a:t>
                </a:r>
              </a:p>
              <a:p>
                <a:endParaRPr lang="en-US" dirty="0">
                  <a:latin typeface="+mn-lt"/>
                </a:endParaRPr>
              </a:p>
              <a:p>
                <a:r>
                  <a:rPr lang="en-US" dirty="0">
                    <a:latin typeface="+mn-lt"/>
                  </a:rPr>
                  <a:t>So, construct a</a:t>
                </a:r>
                <a:r>
                  <a:rPr lang="en-US" b="0" i="0" u="none" strike="noStrike" baseline="0" dirty="0">
                    <a:latin typeface="+mn-lt"/>
                  </a:rPr>
                  <a:t>n IV estimator by noticing:</a:t>
                </a:r>
              </a:p>
              <a:p>
                <a:endParaRPr lang="en-US" dirty="0">
                  <a:latin typeface="+mn-lt"/>
                </a:endParaRPr>
              </a:p>
              <a:p>
                <a:r>
                  <a:rPr lang="en-US" b="0" i="0" u="none" strike="noStrike" baseline="0" dirty="0">
                    <a:latin typeface="+mn-lt"/>
                  </a:rPr>
                  <a:t>and that both </a:t>
                </a:r>
                <a14:m>
                  <m:oMath xmlns:m="http://schemas.openxmlformats.org/officeDocument/2006/math">
                    <m:sSub>
                      <m:sSubPr>
                        <m:ctrlPr>
                          <a:rPr lang="el-GR" i="1" smtClean="0">
                            <a:latin typeface="Cambria Math" panose="02040503050406030204" pitchFamily="18" charset="0"/>
                          </a:rPr>
                        </m:ctrlPr>
                      </m:sSubPr>
                      <m:e>
                        <m:r>
                          <m:rPr>
                            <m:sty m:val="p"/>
                          </m:rPr>
                          <a:rPr lang="el-GR" i="1">
                            <a:latin typeface="Cambria Math" panose="02040503050406030204" pitchFamily="18" charset="0"/>
                          </a:rPr>
                          <m:t>π</m:t>
                        </m:r>
                      </m:e>
                      <m:sub>
                        <m:r>
                          <a:rPr lang="en-AU" i="1">
                            <a:latin typeface="Cambria Math" panose="02040503050406030204" pitchFamily="18" charset="0"/>
                          </a:rPr>
                          <m:t>1</m:t>
                        </m:r>
                      </m:sub>
                    </m:sSub>
                    <m:r>
                      <a:rPr lang="en-AU" i="1">
                        <a:latin typeface="Cambria Math" panose="02040503050406030204" pitchFamily="18" charset="0"/>
                      </a:rPr>
                      <m:t> </m:t>
                    </m:r>
                  </m:oMath>
                </a14:m>
                <a:r>
                  <a:rPr lang="en-US" b="0" i="0" u="none" strike="noStrike" baseline="0" dirty="0">
                    <a:latin typeface="+mn-lt"/>
                  </a:rPr>
                  <a:t> and </a:t>
                </a:r>
                <a14:m>
                  <m:oMath xmlns:m="http://schemas.openxmlformats.org/officeDocument/2006/math">
                    <m:sSub>
                      <m:sSubPr>
                        <m:ctrlPr>
                          <a:rPr lang="el-GR" i="1">
                            <a:latin typeface="Cambria Math" panose="02040503050406030204" pitchFamily="18" charset="0"/>
                          </a:rPr>
                        </m:ctrlPr>
                      </m:sSubPr>
                      <m:e>
                        <m:r>
                          <a:rPr lang="el-GR" i="1">
                            <a:latin typeface="Cambria Math" panose="02040503050406030204" pitchFamily="18" charset="0"/>
                            <a:ea typeface="Cambria Math" panose="02040503050406030204" pitchFamily="18" charset="0"/>
                          </a:rPr>
                          <m:t>𝜃</m:t>
                        </m:r>
                      </m:e>
                      <m:sub>
                        <m:r>
                          <a:rPr lang="en-AU" i="1">
                            <a:latin typeface="Cambria Math" panose="02040503050406030204" pitchFamily="18" charset="0"/>
                          </a:rPr>
                          <m:t>1</m:t>
                        </m:r>
                      </m:sub>
                    </m:sSub>
                    <m:r>
                      <a:rPr lang="en-AU" i="1">
                        <a:latin typeface="Cambria Math" panose="02040503050406030204" pitchFamily="18" charset="0"/>
                      </a:rPr>
                      <m:t> </m:t>
                    </m:r>
                  </m:oMath>
                </a14:m>
                <a:r>
                  <a:rPr lang="en-US" b="0" i="0" u="none" strike="noStrike" baseline="0" dirty="0">
                    <a:latin typeface="+mn-lt"/>
                  </a:rPr>
                  <a:t>can be consistently estimated because of the exogeneity of z. Therefore:</a:t>
                </a:r>
                <a:endParaRPr lang="en-AU" dirty="0">
                  <a:latin typeface="+mn-lt"/>
                </a:endParaRPr>
              </a:p>
            </p:txBody>
          </p:sp>
        </mc:Choice>
        <mc:Fallback xmlns="">
          <p:sp>
            <p:nvSpPr>
              <p:cNvPr id="6" name="TextBox 5">
                <a:extLst>
                  <a:ext uri="{FF2B5EF4-FFF2-40B4-BE49-F238E27FC236}">
                    <a16:creationId xmlns:a16="http://schemas.microsoft.com/office/drawing/2014/main" id="{1D9D2F30-4F1B-C7C6-B0C2-E56D49CC2B6B}"/>
                  </a:ext>
                </a:extLst>
              </p:cNvPr>
              <p:cNvSpPr txBox="1">
                <a:spLocks noRot="1" noChangeAspect="1" noMove="1" noResize="1" noEditPoints="1" noAdjustHandles="1" noChangeArrowheads="1" noChangeShapeType="1" noTextEdit="1"/>
              </p:cNvSpPr>
              <p:nvPr/>
            </p:nvSpPr>
            <p:spPr>
              <a:xfrm>
                <a:off x="457200" y="908720"/>
                <a:ext cx="8075240" cy="2585323"/>
              </a:xfrm>
              <a:prstGeom prst="rect">
                <a:avLst/>
              </a:prstGeom>
              <a:blipFill>
                <a:blip r:embed="rId3"/>
                <a:stretch>
                  <a:fillRect l="-604" t="-1179" b="-283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40B69AC-8BD2-9515-1F5F-AF0227B3FEC9}"/>
                  </a:ext>
                </a:extLst>
              </p:cNvPr>
              <p:cNvSpPr txBox="1"/>
              <p:nvPr/>
            </p:nvSpPr>
            <p:spPr>
              <a:xfrm>
                <a:off x="5195158" y="1239584"/>
                <a:ext cx="200381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AU" sz="2000" b="0" i="1" smtClean="0">
                          <a:latin typeface="Cambria Math" panose="02040503050406030204" pitchFamily="18" charset="0"/>
                        </a:rPr>
                        <m:t>𝑥</m:t>
                      </m:r>
                      <m:r>
                        <a:rPr lang="en-AU" sz="2000" b="0" i="1" smtClean="0">
                          <a:latin typeface="Cambria Math" panose="02040503050406030204" pitchFamily="18" charset="0"/>
                        </a:rPr>
                        <m:t>= </m:t>
                      </m:r>
                      <m:sSub>
                        <m:sSubPr>
                          <m:ctrlPr>
                            <a:rPr lang="el-GR" sz="2000" i="1" smtClean="0">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0</m:t>
                          </m:r>
                        </m:sub>
                      </m:sSub>
                      <m:r>
                        <a:rPr lang="en-AU" sz="2000" b="0" i="1" smtClean="0">
                          <a:latin typeface="Cambria Math" panose="02040503050406030204" pitchFamily="18" charset="0"/>
                        </a:rPr>
                        <m:t>+</m:t>
                      </m:r>
                      <m:sSub>
                        <m:sSubPr>
                          <m:ctrlPr>
                            <a:rPr lang="el-GR" sz="2000" i="1">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1</m:t>
                          </m:r>
                        </m:sub>
                      </m:sSub>
                      <m:r>
                        <a:rPr lang="en-AU" sz="2000" b="0" i="1" smtClean="0">
                          <a:latin typeface="Cambria Math" panose="02040503050406030204" pitchFamily="18" charset="0"/>
                        </a:rPr>
                        <m:t>𝑧</m:t>
                      </m:r>
                      <m:r>
                        <a:rPr lang="en-AU" sz="2000" b="0" i="1" smtClean="0">
                          <a:latin typeface="Cambria Math" panose="02040503050406030204" pitchFamily="18" charset="0"/>
                        </a:rPr>
                        <m:t>+</m:t>
                      </m:r>
                      <m:r>
                        <a:rPr lang="en-AU" sz="2000" b="0" i="1" smtClean="0">
                          <a:latin typeface="Cambria Math" panose="02040503050406030204" pitchFamily="18" charset="0"/>
                        </a:rPr>
                        <m:t>𝑢</m:t>
                      </m:r>
                    </m:oMath>
                  </m:oMathPara>
                </a14:m>
                <a:endParaRPr lang="en-AU" sz="2000" dirty="0"/>
              </a:p>
            </p:txBody>
          </p:sp>
        </mc:Choice>
        <mc:Fallback xmlns="">
          <p:sp>
            <p:nvSpPr>
              <p:cNvPr id="3" name="TextBox 2">
                <a:extLst>
                  <a:ext uri="{FF2B5EF4-FFF2-40B4-BE49-F238E27FC236}">
                    <a16:creationId xmlns:a16="http://schemas.microsoft.com/office/drawing/2014/main" id="{940B69AC-8BD2-9515-1F5F-AF0227B3FEC9}"/>
                  </a:ext>
                </a:extLst>
              </p:cNvPr>
              <p:cNvSpPr txBox="1">
                <a:spLocks noRot="1" noChangeAspect="1" noMove="1" noResize="1" noEditPoints="1" noAdjustHandles="1" noChangeArrowheads="1" noChangeShapeType="1" noTextEdit="1"/>
              </p:cNvSpPr>
              <p:nvPr/>
            </p:nvSpPr>
            <p:spPr>
              <a:xfrm>
                <a:off x="5195158" y="1239584"/>
                <a:ext cx="2003818" cy="307777"/>
              </a:xfrm>
              <a:prstGeom prst="rect">
                <a:avLst/>
              </a:prstGeom>
              <a:blipFill>
                <a:blip r:embed="rId4"/>
                <a:stretch>
                  <a:fillRect l="-912" r="-608" b="-19608"/>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16516D3-F04D-F895-0578-C9C6EFE48C7E}"/>
                  </a:ext>
                </a:extLst>
              </p:cNvPr>
              <p:cNvSpPr txBox="1"/>
              <p:nvPr/>
            </p:nvSpPr>
            <p:spPr>
              <a:xfrm>
                <a:off x="4853334" y="2186003"/>
                <a:ext cx="2687466" cy="5843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l-GR" sz="2000" i="1" smtClean="0">
                              <a:latin typeface="Cambria Math" panose="02040503050406030204" pitchFamily="18" charset="0"/>
                            </a:rPr>
                          </m:ctrlPr>
                        </m:sSubPr>
                        <m:e>
                          <m:r>
                            <m:rPr>
                              <m:sty m:val="p"/>
                            </m:rPr>
                            <a:rPr lang="el-GR" sz="2000" i="1">
                              <a:latin typeface="Cambria Math" panose="02040503050406030204" pitchFamily="18" charset="0"/>
                            </a:rPr>
                            <m:t>π</m:t>
                          </m:r>
                        </m:e>
                        <m:sub>
                          <m:r>
                            <a:rPr lang="en-AU" sz="2000" i="1">
                              <a:latin typeface="Cambria Math" panose="02040503050406030204" pitchFamily="18" charset="0"/>
                            </a:rPr>
                            <m:t>1</m:t>
                          </m:r>
                        </m:sub>
                      </m:sSub>
                      <m:r>
                        <a:rPr lang="en-AU" sz="2000" b="0" i="1" smtClean="0">
                          <a:latin typeface="Cambria Math" panose="02040503050406030204" pitchFamily="18" charset="0"/>
                        </a:rPr>
                        <m:t>= </m:t>
                      </m:r>
                      <m:sSub>
                        <m:sSubPr>
                          <m:ctrlPr>
                            <a:rPr lang="el-GR" sz="2000" i="1" smtClean="0">
                              <a:latin typeface="Cambria Math" panose="02040503050406030204" pitchFamily="18" charset="0"/>
                            </a:rPr>
                          </m:ctrlPr>
                        </m:sSubPr>
                        <m:e>
                          <m:f>
                            <m:fPr>
                              <m:ctrlPr>
                                <a:rPr lang="en-AU" sz="2000" i="1" smtClean="0">
                                  <a:latin typeface="Cambria Math" panose="02040503050406030204" pitchFamily="18" charset="0"/>
                                </a:rPr>
                              </m:ctrlPr>
                            </m:fPr>
                            <m:num>
                              <m:r>
                                <a:rPr lang="en-AU" sz="2000" i="1" smtClean="0">
                                  <a:latin typeface="Cambria Math" panose="02040503050406030204" pitchFamily="18" charset="0"/>
                                </a:rPr>
                                <m:t>𝑑𝑦</m:t>
                              </m:r>
                            </m:num>
                            <m:den>
                              <m:r>
                                <a:rPr lang="en-AU" sz="2000" i="1" smtClean="0">
                                  <a:latin typeface="Cambria Math" panose="02040503050406030204" pitchFamily="18" charset="0"/>
                                </a:rPr>
                                <m:t>𝑑𝑥</m:t>
                              </m:r>
                            </m:den>
                          </m:f>
                          <m:r>
                            <a:rPr lang="en-AU" sz="2000" b="0" i="1" smtClean="0">
                              <a:latin typeface="Cambria Math" panose="02040503050406030204" pitchFamily="18" charset="0"/>
                            </a:rPr>
                            <m:t>∗</m:t>
                          </m:r>
                          <m:f>
                            <m:fPr>
                              <m:ctrlPr>
                                <a:rPr lang="en-AU" sz="2000" b="0" i="1" smtClean="0">
                                  <a:latin typeface="Cambria Math" panose="02040503050406030204" pitchFamily="18" charset="0"/>
                                </a:rPr>
                              </m:ctrlPr>
                            </m:fPr>
                            <m:num>
                              <m:r>
                                <a:rPr lang="en-AU" sz="2000" b="0" i="1" smtClean="0">
                                  <a:latin typeface="Cambria Math" panose="02040503050406030204" pitchFamily="18" charset="0"/>
                                </a:rPr>
                                <m:t>𝑑𝑥</m:t>
                              </m:r>
                            </m:num>
                            <m:den>
                              <m:r>
                                <a:rPr lang="en-AU" sz="2000" b="0" i="1" smtClean="0">
                                  <a:latin typeface="Cambria Math" panose="02040503050406030204" pitchFamily="18" charset="0"/>
                                </a:rPr>
                                <m:t>𝑑𝑧</m:t>
                              </m:r>
                            </m:den>
                          </m:f>
                          <m:r>
                            <a:rPr lang="en-AU" sz="2000" b="0" i="1" smtClean="0">
                              <a:latin typeface="Cambria Math" panose="02040503050406030204" pitchFamily="18" charset="0"/>
                            </a:rPr>
                            <m:t>=</m:t>
                          </m:r>
                          <m:sSub>
                            <m:sSubPr>
                              <m:ctrlPr>
                                <a:rPr lang="el-GR" sz="2000" i="1">
                                  <a:latin typeface="Cambria Math" panose="02040503050406030204" pitchFamily="18" charset="0"/>
                                </a:rPr>
                              </m:ctrlPr>
                            </m:sSubPr>
                            <m:e>
                              <m:r>
                                <a:rPr lang="el-GR" sz="2000" i="1">
                                  <a:latin typeface="Cambria Math" panose="02040503050406030204" pitchFamily="18" charset="0"/>
                                </a:rPr>
                                <m:t>𝛽</m:t>
                              </m:r>
                            </m:e>
                            <m:sub>
                              <m:r>
                                <a:rPr lang="en-AU" sz="2000" i="1">
                                  <a:latin typeface="Cambria Math" panose="02040503050406030204" pitchFamily="18" charset="0"/>
                                </a:rPr>
                                <m:t>1</m:t>
                              </m:r>
                            </m:sub>
                          </m:sSub>
                          <m:r>
                            <a:rPr lang="en-AU" sz="2000" b="0" i="1" smtClean="0">
                              <a:latin typeface="Cambria Math" panose="02040503050406030204" pitchFamily="18" charset="0"/>
                            </a:rPr>
                            <m:t> ∗</m:t>
                          </m:r>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1</m:t>
                          </m:r>
                        </m:sub>
                      </m:sSub>
                    </m:oMath>
                  </m:oMathPara>
                </a14:m>
                <a:endParaRPr lang="en-AU" sz="2000" dirty="0"/>
              </a:p>
            </p:txBody>
          </p:sp>
        </mc:Choice>
        <mc:Fallback xmlns="">
          <p:sp>
            <p:nvSpPr>
              <p:cNvPr id="5" name="TextBox 4">
                <a:extLst>
                  <a:ext uri="{FF2B5EF4-FFF2-40B4-BE49-F238E27FC236}">
                    <a16:creationId xmlns:a16="http://schemas.microsoft.com/office/drawing/2014/main" id="{A16516D3-F04D-F895-0578-C9C6EFE48C7E}"/>
                  </a:ext>
                </a:extLst>
              </p:cNvPr>
              <p:cNvSpPr txBox="1">
                <a:spLocks noRot="1" noChangeAspect="1" noMove="1" noResize="1" noEditPoints="1" noAdjustHandles="1" noChangeArrowheads="1" noChangeShapeType="1" noTextEdit="1"/>
              </p:cNvSpPr>
              <p:nvPr/>
            </p:nvSpPr>
            <p:spPr>
              <a:xfrm>
                <a:off x="4853334" y="2186003"/>
                <a:ext cx="2687466" cy="584391"/>
              </a:xfrm>
              <a:prstGeom prst="rect">
                <a:avLst/>
              </a:prstGeom>
              <a:blipFill>
                <a:blip r:embed="rId5"/>
                <a:stretch>
                  <a:fillRect/>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2B779F0-DF83-5206-C2C0-E25029958076}"/>
                  </a:ext>
                </a:extLst>
              </p:cNvPr>
              <p:cNvSpPr txBox="1"/>
              <p:nvPr/>
            </p:nvSpPr>
            <p:spPr>
              <a:xfrm>
                <a:off x="554190" y="3718259"/>
                <a:ext cx="7574701" cy="7410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AU" sz="2000" b="1" i="1" smtClean="0">
                              <a:latin typeface="Cambria Math" panose="02040503050406030204" pitchFamily="18" charset="0"/>
                            </a:rPr>
                          </m:ctrlPr>
                        </m:sSubSupPr>
                        <m:e>
                          <m:r>
                            <a:rPr lang="el-GR" sz="2000" b="1" i="1">
                              <a:latin typeface="Cambria Math" panose="02040503050406030204" pitchFamily="18" charset="0"/>
                            </a:rPr>
                            <m:t>𝜷</m:t>
                          </m:r>
                        </m:e>
                        <m:sub>
                          <m:r>
                            <a:rPr lang="en-AU" sz="2000" b="1" i="1" smtClean="0">
                              <a:latin typeface="Cambria Math" panose="02040503050406030204" pitchFamily="18" charset="0"/>
                            </a:rPr>
                            <m:t>𝟏</m:t>
                          </m:r>
                        </m:sub>
                        <m:sup>
                          <m:r>
                            <a:rPr lang="en-AU" sz="2000" b="1" i="1" smtClean="0">
                              <a:latin typeface="Cambria Math" panose="02040503050406030204" pitchFamily="18" charset="0"/>
                            </a:rPr>
                            <m:t>𝑰𝑽</m:t>
                          </m:r>
                        </m:sup>
                      </m:sSubSup>
                      <m:sSub>
                        <m:sSubPr>
                          <m:ctrlPr>
                            <a:rPr lang="el-GR" sz="2000" b="1" i="1" smtClean="0">
                              <a:latin typeface="Cambria Math" panose="02040503050406030204" pitchFamily="18" charset="0"/>
                            </a:rPr>
                          </m:ctrlPr>
                        </m:sSubPr>
                        <m:e>
                          <m:r>
                            <a:rPr lang="en-AU" sz="2000" b="1" i="1" smtClean="0">
                              <a:latin typeface="Cambria Math" panose="02040503050406030204" pitchFamily="18" charset="0"/>
                            </a:rPr>
                            <m:t>=</m:t>
                          </m:r>
                          <m:sSub>
                            <m:sSubPr>
                              <m:ctrlPr>
                                <a:rPr lang="el-GR" sz="2000" b="1" i="1">
                                  <a:latin typeface="Cambria Math" panose="02040503050406030204" pitchFamily="18" charset="0"/>
                                </a:rPr>
                              </m:ctrlPr>
                            </m:sSubPr>
                            <m:e>
                              <m:f>
                                <m:fPr>
                                  <m:ctrlPr>
                                    <a:rPr lang="el-GR" sz="2000" b="1" i="1" smtClean="0">
                                      <a:latin typeface="Cambria Math" panose="02040503050406030204" pitchFamily="18" charset="0"/>
                                    </a:rPr>
                                  </m:ctrlPr>
                                </m:fPr>
                                <m:num>
                                  <m:acc>
                                    <m:accPr>
                                      <m:chr m:val="̂"/>
                                      <m:ctrlPr>
                                        <a:rPr lang="el-GR" sz="2000" b="1" i="1" smtClean="0">
                                          <a:latin typeface="Cambria Math" panose="02040503050406030204" pitchFamily="18" charset="0"/>
                                        </a:rPr>
                                      </m:ctrlPr>
                                    </m:accPr>
                                    <m:e>
                                      <m:sSub>
                                        <m:sSubPr>
                                          <m:ctrlPr>
                                            <a:rPr lang="el-GR" sz="2000" b="1" i="1" smtClean="0">
                                              <a:latin typeface="Cambria Math" panose="02040503050406030204" pitchFamily="18" charset="0"/>
                                            </a:rPr>
                                          </m:ctrlPr>
                                        </m:sSubPr>
                                        <m:e>
                                          <m:r>
                                            <a:rPr lang="el-GR" sz="2000" b="1" i="1" smtClean="0">
                                              <a:latin typeface="Cambria Math" panose="02040503050406030204" pitchFamily="18" charset="0"/>
                                              <a:ea typeface="Cambria Math" panose="02040503050406030204" pitchFamily="18" charset="0"/>
                                            </a:rPr>
                                            <m:t>𝝅</m:t>
                                          </m:r>
                                        </m:e>
                                        <m:sub>
                                          <m:r>
                                            <a:rPr lang="en-AU" sz="2000" b="1" i="1" smtClean="0">
                                              <a:latin typeface="Cambria Math" panose="02040503050406030204" pitchFamily="18" charset="0"/>
                                            </a:rPr>
                                            <m:t>𝟏</m:t>
                                          </m:r>
                                        </m:sub>
                                      </m:sSub>
                                    </m:e>
                                  </m:acc>
                                </m:num>
                                <m:den>
                                  <m:acc>
                                    <m:accPr>
                                      <m:chr m:val="̂"/>
                                      <m:ctrlPr>
                                        <a:rPr lang="el-GR" sz="2000" b="1" i="1" smtClean="0">
                                          <a:latin typeface="Cambria Math" panose="02040503050406030204" pitchFamily="18" charset="0"/>
                                        </a:rPr>
                                      </m:ctrlPr>
                                    </m:accPr>
                                    <m:e>
                                      <m:sSub>
                                        <m:sSubPr>
                                          <m:ctrlPr>
                                            <a:rPr lang="el-GR" sz="2000" b="1" i="1" smtClean="0">
                                              <a:latin typeface="Cambria Math" panose="02040503050406030204" pitchFamily="18" charset="0"/>
                                            </a:rPr>
                                          </m:ctrlPr>
                                        </m:sSubPr>
                                        <m:e>
                                          <m:r>
                                            <a:rPr lang="el-GR" sz="2000" b="1" i="1" smtClean="0">
                                              <a:latin typeface="Cambria Math" panose="02040503050406030204" pitchFamily="18" charset="0"/>
                                              <a:ea typeface="Cambria Math" panose="02040503050406030204" pitchFamily="18" charset="0"/>
                                            </a:rPr>
                                            <m:t>𝜽</m:t>
                                          </m:r>
                                        </m:e>
                                        <m:sub>
                                          <m:r>
                                            <a:rPr lang="en-AU" sz="2000" b="1" i="1" smtClean="0">
                                              <a:latin typeface="Cambria Math" panose="02040503050406030204" pitchFamily="18" charset="0"/>
                                            </a:rPr>
                                            <m:t>𝟏</m:t>
                                          </m:r>
                                        </m:sub>
                                      </m:sSub>
                                    </m:e>
                                  </m:acc>
                                </m:den>
                              </m:f>
                              <m:r>
                                <a:rPr lang="en-AU" sz="2000" b="1" i="1" smtClean="0">
                                  <a:latin typeface="Cambria Math" panose="02040503050406030204" pitchFamily="18" charset="0"/>
                                </a:rPr>
                                <m:t>=</m:t>
                              </m:r>
                              <m:f>
                                <m:fPr>
                                  <m:ctrlPr>
                                    <a:rPr lang="en-AU" sz="2000" b="1" i="1" smtClean="0">
                                      <a:latin typeface="Cambria Math" panose="02040503050406030204" pitchFamily="18" charset="0"/>
                                    </a:rPr>
                                  </m:ctrlPr>
                                </m:fPr>
                                <m:num>
                                  <m:r>
                                    <a:rPr lang="en-AU" sz="2000" b="1" i="1" smtClean="0">
                                      <a:latin typeface="Cambria Math" panose="02040503050406030204" pitchFamily="18" charset="0"/>
                                    </a:rPr>
                                    <m:t>𝒆𝒇𝒇𝒆𝒄𝒕</m:t>
                                  </m:r>
                                  <m:r>
                                    <a:rPr lang="en-AU" sz="2000" b="1" i="1" smtClean="0">
                                      <a:latin typeface="Cambria Math" panose="02040503050406030204" pitchFamily="18" charset="0"/>
                                    </a:rPr>
                                    <m:t> </m:t>
                                  </m:r>
                                  <m:r>
                                    <a:rPr lang="en-AU" sz="2000" b="1" i="1" smtClean="0">
                                      <a:latin typeface="Cambria Math" panose="02040503050406030204" pitchFamily="18" charset="0"/>
                                    </a:rPr>
                                    <m:t>𝒐𝒇</m:t>
                                  </m:r>
                                  <m:r>
                                    <a:rPr lang="en-AU" sz="2000" b="1" i="1" smtClean="0">
                                      <a:latin typeface="Cambria Math" panose="02040503050406030204" pitchFamily="18" charset="0"/>
                                    </a:rPr>
                                    <m:t> </m:t>
                                  </m:r>
                                  <m:r>
                                    <a:rPr lang="en-AU" sz="2000" b="1" i="1" smtClean="0">
                                      <a:latin typeface="Cambria Math" panose="02040503050406030204" pitchFamily="18" charset="0"/>
                                    </a:rPr>
                                    <m:t>𝒊𝒏𝒔𝒕𝒓𝒖𝒎𝒆𝒏𝒕</m:t>
                                  </m:r>
                                  <m:r>
                                    <a:rPr lang="en-AU" sz="2000" b="1" i="1" smtClean="0">
                                      <a:latin typeface="Cambria Math" panose="02040503050406030204" pitchFamily="18" charset="0"/>
                                    </a:rPr>
                                    <m:t> </m:t>
                                  </m:r>
                                  <m:r>
                                    <a:rPr lang="en-AU" sz="2000" b="1" i="1" smtClean="0">
                                      <a:latin typeface="Cambria Math" panose="02040503050406030204" pitchFamily="18" charset="0"/>
                                    </a:rPr>
                                    <m:t>𝒐𝒏</m:t>
                                  </m:r>
                                  <m:r>
                                    <a:rPr lang="en-AU" sz="2000" b="1" i="1" smtClean="0">
                                      <a:latin typeface="Cambria Math" panose="02040503050406030204" pitchFamily="18" charset="0"/>
                                    </a:rPr>
                                    <m:t> </m:t>
                                  </m:r>
                                  <m:r>
                                    <a:rPr lang="en-AU" sz="2000" b="1" i="1" smtClean="0">
                                      <a:latin typeface="Cambria Math" panose="02040503050406030204" pitchFamily="18" charset="0"/>
                                    </a:rPr>
                                    <m:t>𝒐𝒖𝒕𝒄𝒐𝒎𝒆</m:t>
                                  </m:r>
                                </m:num>
                                <m:den>
                                  <m:r>
                                    <a:rPr lang="en-AU" sz="2000" b="1" i="1" smtClean="0">
                                      <a:latin typeface="Cambria Math" panose="02040503050406030204" pitchFamily="18" charset="0"/>
                                    </a:rPr>
                                    <m:t>𝒆𝒇𝒇𝒆𝒄𝒕</m:t>
                                  </m:r>
                                  <m:r>
                                    <a:rPr lang="en-AU" sz="2000" b="1" i="1" smtClean="0">
                                      <a:latin typeface="Cambria Math" panose="02040503050406030204" pitchFamily="18" charset="0"/>
                                    </a:rPr>
                                    <m:t> </m:t>
                                  </m:r>
                                  <m:r>
                                    <a:rPr lang="en-AU" sz="2000" b="1" i="1" smtClean="0">
                                      <a:latin typeface="Cambria Math" panose="02040503050406030204" pitchFamily="18" charset="0"/>
                                    </a:rPr>
                                    <m:t>𝒐𝒇</m:t>
                                  </m:r>
                                  <m:r>
                                    <a:rPr lang="en-AU" sz="2000" b="1" i="1" smtClean="0">
                                      <a:latin typeface="Cambria Math" panose="02040503050406030204" pitchFamily="18" charset="0"/>
                                    </a:rPr>
                                    <m:t> </m:t>
                                  </m:r>
                                  <m:r>
                                    <a:rPr lang="en-AU" sz="2000" b="1" i="1" smtClean="0">
                                      <a:latin typeface="Cambria Math" panose="02040503050406030204" pitchFamily="18" charset="0"/>
                                    </a:rPr>
                                    <m:t>𝒊𝒏𝒔𝒕𝒓𝒖𝒎𝒆𝒏𝒕</m:t>
                                  </m:r>
                                  <m:r>
                                    <a:rPr lang="en-AU" sz="2000" b="1" i="1" smtClean="0">
                                      <a:latin typeface="Cambria Math" panose="02040503050406030204" pitchFamily="18" charset="0"/>
                                    </a:rPr>
                                    <m:t> </m:t>
                                  </m:r>
                                  <m:r>
                                    <a:rPr lang="en-AU" sz="2000" b="1" i="1" smtClean="0">
                                      <a:latin typeface="Cambria Math" panose="02040503050406030204" pitchFamily="18" charset="0"/>
                                    </a:rPr>
                                    <m:t>𝒐𝒏</m:t>
                                  </m:r>
                                  <m:r>
                                    <a:rPr lang="en-AU" sz="2000" b="1" i="1" smtClean="0">
                                      <a:latin typeface="Cambria Math" panose="02040503050406030204" pitchFamily="18" charset="0"/>
                                    </a:rPr>
                                    <m:t> </m:t>
                                  </m:r>
                                  <m:r>
                                    <a:rPr lang="en-AU" sz="2000" b="1" i="1" smtClean="0">
                                      <a:latin typeface="Cambria Math" panose="02040503050406030204" pitchFamily="18" charset="0"/>
                                    </a:rPr>
                                    <m:t>𝒆𝒏𝒅𝒐𝒈𝒆𝒏𝒐𝒖𝒔</m:t>
                                  </m:r>
                                  <m:r>
                                    <a:rPr lang="en-AU" sz="2000" b="1" i="1" smtClean="0">
                                      <a:latin typeface="Cambria Math" panose="02040503050406030204" pitchFamily="18" charset="0"/>
                                    </a:rPr>
                                    <m:t> </m:t>
                                  </m:r>
                                  <m:r>
                                    <a:rPr lang="en-AU" sz="2000" b="1" i="1" smtClean="0">
                                      <a:latin typeface="Cambria Math" panose="02040503050406030204" pitchFamily="18" charset="0"/>
                                    </a:rPr>
                                    <m:t>𝒗𝒂𝒓𝒊𝒂𝒃𝒍𝒆</m:t>
                                  </m:r>
                                </m:den>
                              </m:f>
                            </m:e>
                            <m:sub/>
                          </m:sSub>
                        </m:e>
                        <m:sub/>
                      </m:sSub>
                    </m:oMath>
                  </m:oMathPara>
                </a14:m>
                <a:endParaRPr lang="en-AU" sz="2000" b="1" dirty="0"/>
              </a:p>
            </p:txBody>
          </p:sp>
        </mc:Choice>
        <mc:Fallback xmlns="">
          <p:sp>
            <p:nvSpPr>
              <p:cNvPr id="9" name="TextBox 8">
                <a:extLst>
                  <a:ext uri="{FF2B5EF4-FFF2-40B4-BE49-F238E27FC236}">
                    <a16:creationId xmlns:a16="http://schemas.microsoft.com/office/drawing/2014/main" id="{92B779F0-DF83-5206-C2C0-E25029958076}"/>
                  </a:ext>
                </a:extLst>
              </p:cNvPr>
              <p:cNvSpPr txBox="1">
                <a:spLocks noRot="1" noChangeAspect="1" noMove="1" noResize="1" noEditPoints="1" noAdjustHandles="1" noChangeArrowheads="1" noChangeShapeType="1" noTextEdit="1"/>
              </p:cNvSpPr>
              <p:nvPr/>
            </p:nvSpPr>
            <p:spPr>
              <a:xfrm>
                <a:off x="554190" y="3718259"/>
                <a:ext cx="7574701" cy="741037"/>
              </a:xfrm>
              <a:prstGeom prst="rect">
                <a:avLst/>
              </a:prstGeom>
              <a:blipFill>
                <a:blip r:embed="rId6"/>
                <a:stretch>
                  <a:fillRect/>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5154521-1A35-E33A-1267-15095EEF6A9B}"/>
                  </a:ext>
                </a:extLst>
              </p:cNvPr>
              <p:cNvSpPr txBox="1"/>
              <p:nvPr/>
            </p:nvSpPr>
            <p:spPr>
              <a:xfrm>
                <a:off x="554190" y="4658503"/>
                <a:ext cx="7978250" cy="657681"/>
              </a:xfrm>
              <a:prstGeom prst="rect">
                <a:avLst/>
              </a:prstGeom>
              <a:noFill/>
            </p:spPr>
            <p:txBody>
              <a:bodyPr wrap="square">
                <a:spAutoFit/>
              </a:bodyPr>
              <a:lstStyle/>
              <a:p>
                <a:r>
                  <a:rPr lang="en-US" sz="1800" b="0" i="0" u="none" strike="noStrike" baseline="0" dirty="0">
                    <a:latin typeface="TTdcss10"/>
                  </a:rPr>
                  <a:t>	where </a:t>
                </a:r>
                <a14:m>
                  <m:oMath xmlns:m="http://schemas.openxmlformats.org/officeDocument/2006/math">
                    <m:acc>
                      <m:accPr>
                        <m:chr m:val="̂"/>
                        <m:ctrlPr>
                          <a:rPr lang="el-GR" sz="1800" b="0" i="1" u="none" strike="noStrike" baseline="0" dirty="0" smtClean="0">
                            <a:latin typeface="Cambria Math" panose="02040503050406030204" pitchFamily="18" charset="0"/>
                          </a:rPr>
                        </m:ctrlPr>
                      </m:accPr>
                      <m:e>
                        <m:sSub>
                          <m:sSubPr>
                            <m:ctrlPr>
                              <a:rPr lang="el-GR" sz="1800" b="0" i="1" u="none" strike="noStrike" baseline="0" dirty="0" smtClean="0">
                                <a:latin typeface="Cambria Math" panose="02040503050406030204" pitchFamily="18" charset="0"/>
                              </a:rPr>
                            </m:ctrlPr>
                          </m:sSubPr>
                          <m:e>
                            <m:r>
                              <a:rPr lang="el-GR" i="1" dirty="0">
                                <a:latin typeface="Cambria Math" panose="02040503050406030204" pitchFamily="18" charset="0"/>
                              </a:rPr>
                              <m:t>𝜋</m:t>
                            </m:r>
                          </m:e>
                          <m:sub>
                            <m:r>
                              <a:rPr lang="en-AU" sz="1800" b="0" i="1" u="none" strike="noStrike" baseline="0" dirty="0" smtClean="0">
                                <a:latin typeface="Cambria Math" panose="02040503050406030204" pitchFamily="18" charset="0"/>
                              </a:rPr>
                              <m:t>1</m:t>
                            </m:r>
                          </m:sub>
                        </m:sSub>
                      </m:e>
                    </m:acc>
                  </m:oMath>
                </a14:m>
                <a:r>
                  <a:rPr lang="en-US" dirty="0">
                    <a:latin typeface="TTdcss10"/>
                  </a:rPr>
                  <a:t> and  </a:t>
                </a:r>
                <a14:m>
                  <m:oMath xmlns:m="http://schemas.openxmlformats.org/officeDocument/2006/math">
                    <m:acc>
                      <m:accPr>
                        <m:chr m:val="̂"/>
                        <m:ctrlPr>
                          <a:rPr lang="el-GR" i="1" dirty="0">
                            <a:latin typeface="Cambria Math" panose="02040503050406030204" pitchFamily="18" charset="0"/>
                          </a:rPr>
                        </m:ctrlPr>
                      </m:accPr>
                      <m:e>
                        <m:sSub>
                          <m:sSubPr>
                            <m:ctrlPr>
                              <a:rPr lang="el-GR" i="1" dirty="0">
                                <a:latin typeface="Cambria Math" panose="02040503050406030204" pitchFamily="18" charset="0"/>
                              </a:rPr>
                            </m:ctrlPr>
                          </m:sSubPr>
                          <m:e>
                            <m:r>
                              <a:rPr lang="el-GR" i="1">
                                <a:latin typeface="Cambria Math" panose="02040503050406030204" pitchFamily="18" charset="0"/>
                                <a:ea typeface="Cambria Math" panose="02040503050406030204" pitchFamily="18" charset="0"/>
                              </a:rPr>
                              <m:t>𝜃</m:t>
                            </m:r>
                          </m:e>
                          <m:sub>
                            <m:r>
                              <a:rPr lang="en-AU" i="1" dirty="0">
                                <a:latin typeface="Cambria Math" panose="02040503050406030204" pitchFamily="18" charset="0"/>
                              </a:rPr>
                              <m:t>1</m:t>
                            </m:r>
                          </m:sub>
                        </m:sSub>
                      </m:e>
                    </m:acc>
                    <m:r>
                      <a:rPr lang="en-AU" i="1" dirty="0">
                        <a:latin typeface="Cambria Math" panose="02040503050406030204" pitchFamily="18" charset="0"/>
                      </a:rPr>
                      <m:t> </m:t>
                    </m:r>
                  </m:oMath>
                </a14:m>
                <a:r>
                  <a:rPr lang="en-US" sz="1100" b="0" i="0" u="none" strike="noStrike" baseline="0" dirty="0">
                    <a:latin typeface="TTdcss10"/>
                  </a:rPr>
                  <a:t> </a:t>
                </a:r>
                <a:r>
                  <a:rPr lang="en-US" sz="1800" b="0" i="0" u="none" strike="noStrike" baseline="0" dirty="0">
                    <a:latin typeface="TTdcss10"/>
                  </a:rPr>
                  <a:t>come from OLS estimation of the reduced form and</a:t>
                </a:r>
              </a:p>
              <a:p>
                <a:pPr algn="l"/>
                <a:r>
                  <a:rPr lang="en-US" sz="1800" b="0" i="0" u="none" strike="noStrike" baseline="0" dirty="0">
                    <a:latin typeface="TTdcss10"/>
                  </a:rPr>
                  <a:t>first stage models, respectively. This procedure is called </a:t>
                </a:r>
                <a:r>
                  <a:rPr lang="en-US" sz="1800" b="1" i="0" u="none" strike="noStrike" baseline="0" dirty="0">
                    <a:latin typeface="TTdcssbx10"/>
                  </a:rPr>
                  <a:t>Indirect Least Squares</a:t>
                </a:r>
                <a:r>
                  <a:rPr lang="en-US" sz="1800" b="0" i="0" u="none" strike="noStrike" baseline="0" dirty="0">
                    <a:latin typeface="TTdcss10"/>
                  </a:rPr>
                  <a:t>.</a:t>
                </a:r>
                <a:endParaRPr lang="en-AU" dirty="0"/>
              </a:p>
            </p:txBody>
          </p:sp>
        </mc:Choice>
        <mc:Fallback xmlns="">
          <p:sp>
            <p:nvSpPr>
              <p:cNvPr id="11" name="TextBox 10">
                <a:extLst>
                  <a:ext uri="{FF2B5EF4-FFF2-40B4-BE49-F238E27FC236}">
                    <a16:creationId xmlns:a16="http://schemas.microsoft.com/office/drawing/2014/main" id="{C5154521-1A35-E33A-1267-15095EEF6A9B}"/>
                  </a:ext>
                </a:extLst>
              </p:cNvPr>
              <p:cNvSpPr txBox="1">
                <a:spLocks noRot="1" noChangeAspect="1" noMove="1" noResize="1" noEditPoints="1" noAdjustHandles="1" noChangeArrowheads="1" noChangeShapeType="1" noTextEdit="1"/>
              </p:cNvSpPr>
              <p:nvPr/>
            </p:nvSpPr>
            <p:spPr>
              <a:xfrm>
                <a:off x="554190" y="4658503"/>
                <a:ext cx="7978250" cy="657681"/>
              </a:xfrm>
              <a:prstGeom prst="rect">
                <a:avLst/>
              </a:prstGeom>
              <a:blipFill>
                <a:blip r:embed="rId7"/>
                <a:stretch>
                  <a:fillRect l="-688" t="-2778" b="-13889"/>
                </a:stretch>
              </a:blipFill>
            </p:spPr>
            <p:txBody>
              <a:bodyPr/>
              <a:lstStyle/>
              <a:p>
                <a:r>
                  <a:rPr lang="en-AU">
                    <a:noFill/>
                  </a:rPr>
                  <a:t> </a:t>
                </a:r>
              </a:p>
            </p:txBody>
          </p:sp>
        </mc:Fallback>
      </mc:AlternateContent>
    </p:spTree>
    <p:extLst>
      <p:ext uri="{BB962C8B-B14F-4D97-AF65-F5344CB8AC3E}">
        <p14:creationId xmlns:p14="http://schemas.microsoft.com/office/powerpoint/2010/main" val="28951719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AD019-EF39-0C62-0D20-D0B2FB8B9ED8}"/>
              </a:ext>
            </a:extLst>
          </p:cNvPr>
          <p:cNvSpPr>
            <a:spLocks noGrp="1"/>
          </p:cNvSpPr>
          <p:nvPr>
            <p:ph type="title"/>
          </p:nvPr>
        </p:nvSpPr>
        <p:spPr>
          <a:xfrm>
            <a:off x="457200" y="188640"/>
            <a:ext cx="8229600" cy="634082"/>
          </a:xfrm>
        </p:spPr>
        <p:txBody>
          <a:bodyPr/>
          <a:lstStyle/>
          <a:p>
            <a:pPr algn="l"/>
            <a:r>
              <a:rPr lang="en-AU" sz="3200" dirty="0"/>
              <a:t>Instrument (IV) Requirements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9D24F51-C1FD-42F2-C355-89AE97267871}"/>
                  </a:ext>
                </a:extLst>
              </p:cNvPr>
              <p:cNvSpPr>
                <a:spLocks noGrp="1"/>
              </p:cNvSpPr>
              <p:nvPr>
                <p:ph idx="1"/>
              </p:nvPr>
            </p:nvSpPr>
            <p:spPr>
              <a:xfrm>
                <a:off x="457200" y="1166019"/>
                <a:ext cx="8229600" cy="3703142"/>
              </a:xfrm>
            </p:spPr>
            <p:txBody>
              <a:bodyPr/>
              <a:lstStyle/>
              <a:p>
                <a:pPr marL="0" indent="0" algn="l">
                  <a:buNone/>
                </a:pPr>
                <a:r>
                  <a:rPr lang="en-US" sz="1800" b="0" i="0" u="none" strike="noStrike" baseline="0" dirty="0"/>
                  <a:t>IV methods work by introducing a variable z that instruments for the endogenous variable </a:t>
                </a:r>
                <a:r>
                  <a:rPr lang="en-US" sz="1800" b="0" i="0" u="none" strike="noStrike" baseline="0" dirty="0" err="1"/>
                  <a:t>xK</a:t>
                </a:r>
                <a:r>
                  <a:rPr lang="en-US" sz="1800" b="0" i="0" u="none" strike="noStrike" baseline="0" dirty="0"/>
                  <a:t> .</a:t>
                </a:r>
              </a:p>
              <a:p>
                <a:pPr marL="0" indent="0" algn="l">
                  <a:buNone/>
                </a:pPr>
                <a:r>
                  <a:rPr lang="en-US" sz="1800" b="0" i="0" u="none" strike="noStrike" baseline="0" dirty="0"/>
                  <a:t>The instrument z must satisfy two fundamental conditions:</a:t>
                </a:r>
              </a:p>
              <a:p>
                <a:pPr lvl="1">
                  <a:buFont typeface="+mj-lt"/>
                  <a:buAutoNum type="arabicPeriod"/>
                </a:pPr>
                <a:r>
                  <a:rPr lang="en-US" sz="1800" b="1" i="0" u="none" strike="noStrike" baseline="0" dirty="0"/>
                  <a:t>Exogeneity</a:t>
                </a:r>
                <a:r>
                  <a:rPr lang="en-US" sz="1800" b="0" i="0" u="none" strike="noStrike" baseline="0" dirty="0"/>
                  <a:t>: </a:t>
                </a:r>
                <a:r>
                  <a:rPr lang="en-US" sz="1800" b="0" i="1" u="none" strike="noStrike" baseline="0" dirty="0" err="1"/>
                  <a:t>cov</a:t>
                </a:r>
                <a:r>
                  <a:rPr lang="en-US" sz="1800" b="0" i="0" u="none" strike="noStrike" baseline="0" dirty="0"/>
                  <a:t> (</a:t>
                </a:r>
                <a:r>
                  <a:rPr lang="en-US" sz="1800" b="0" i="1" u="none" strike="noStrike" baseline="0" dirty="0"/>
                  <a:t>z, u</a:t>
                </a:r>
                <a:r>
                  <a:rPr lang="en-US" sz="1800" b="0" i="0" u="none" strike="noStrike" baseline="0" dirty="0"/>
                  <a:t>) = 0, where </a:t>
                </a:r>
                <a:r>
                  <a:rPr lang="en-US" sz="1800" b="0" i="1" u="none" strike="noStrike" baseline="0" dirty="0"/>
                  <a:t>u </a:t>
                </a:r>
                <a:r>
                  <a:rPr lang="en-US" sz="1800" b="0" i="0" u="none" strike="noStrike" baseline="0" dirty="0"/>
                  <a:t>is the error term in </a:t>
                </a:r>
                <a:r>
                  <a:rPr lang="en-AU" sz="1800" b="0" i="0" u="none" strike="noStrike" baseline="0" dirty="0"/>
                  <a:t>the equation of interest:</a:t>
                </a:r>
              </a:p>
              <a:p>
                <a:pPr marL="457200" lvl="1" indent="0">
                  <a:buNone/>
                </a:pPr>
                <a:endParaRPr lang="en-US" sz="1800" b="0" i="0" u="none" strike="noStrike" baseline="0" dirty="0"/>
              </a:p>
              <a:p>
                <a:pPr marL="457200" lvl="1" indent="0">
                  <a:buNone/>
                </a:pPr>
                <a:r>
                  <a:rPr lang="en-US" sz="1800" b="0" i="0" u="none" strike="noStrike" baseline="0" dirty="0"/>
                  <a:t>Requirement 1. requires that z be uncorrelated with the error term in the outcome equation. In other words, a valid instrument only has an effect on outcome through its effect on the endogenous variable (</a:t>
                </a:r>
                <a:r>
                  <a:rPr lang="en-US" sz="1800" b="1" i="0" u="none" strike="noStrike" baseline="0" dirty="0"/>
                  <a:t>exclusion restriction</a:t>
                </a:r>
                <a:r>
                  <a:rPr lang="en-US" sz="1800" b="0" i="0" u="none" strike="noStrike" baseline="0" dirty="0"/>
                  <a:t>).</a:t>
                </a:r>
                <a:endParaRPr lang="en-AU" sz="2000" dirty="0"/>
              </a:p>
              <a:p>
                <a:pPr marL="457200" lvl="1" indent="0">
                  <a:buNone/>
                </a:pPr>
                <a:endParaRPr lang="en-AU" sz="1800" dirty="0">
                  <a:ea typeface="+mn-ea"/>
                  <a:cs typeface="+mn-cs"/>
                </a:endParaRPr>
              </a:p>
              <a:p>
                <a:pPr lvl="1">
                  <a:buFont typeface="+mj-lt"/>
                  <a:buAutoNum type="arabicPeriod"/>
                </a:pPr>
                <a:endParaRPr lang="en-AU" sz="1800" dirty="0"/>
              </a:p>
              <a:p>
                <a:pPr marL="800100" lvl="1" indent="-342900">
                  <a:buFont typeface="+mj-lt"/>
                  <a:buAutoNum type="arabicPeriod" startAt="2"/>
                </a:pPr>
                <a:r>
                  <a:rPr lang="en-US" sz="1800" b="1" i="0" u="none" strike="noStrike" baseline="0" dirty="0"/>
                  <a:t>Relevance</a:t>
                </a:r>
                <a:r>
                  <a:rPr lang="en-US" sz="1800" b="0" i="0" u="none" strike="noStrike" baseline="0" dirty="0"/>
                  <a:t>:                                              , where </a:t>
                </a:r>
                <a14:m>
                  <m:oMath xmlns:m="http://schemas.openxmlformats.org/officeDocument/2006/math">
                    <m:sSub>
                      <m:sSubPr>
                        <m:ctrlPr>
                          <a:rPr lang="en-AU" sz="2000" b="0" i="1" smtClean="0">
                            <a:latin typeface="Cambria Math" panose="02040503050406030204" pitchFamily="18" charset="0"/>
                          </a:rPr>
                        </m:ctrlPr>
                      </m:sSubPr>
                      <m:e>
                        <m:r>
                          <a:rPr lang="en-AU" sz="2000" b="0" i="1" smtClean="0">
                            <a:latin typeface="Cambria Math" panose="02040503050406030204" pitchFamily="18" charset="0"/>
                          </a:rPr>
                          <m:t>𝑥</m:t>
                        </m:r>
                      </m:e>
                      <m:sub>
                        <m:r>
                          <a:rPr lang="en-AU" sz="2000" b="0" i="1" smtClean="0">
                            <a:latin typeface="Cambria Math" panose="02040503050406030204" pitchFamily="18" charset="0"/>
                          </a:rPr>
                          <m:t>−</m:t>
                        </m:r>
                        <m:r>
                          <a:rPr lang="en-AU" sz="2000" b="0" i="1" smtClean="0">
                            <a:latin typeface="Cambria Math" panose="02040503050406030204" pitchFamily="18" charset="0"/>
                          </a:rPr>
                          <m:t>𝑘</m:t>
                        </m:r>
                      </m:sub>
                    </m:sSub>
                  </m:oMath>
                </a14:m>
                <a:r>
                  <a:rPr lang="en-US" sz="2000" b="0" i="0" u="none" strike="noStrike" baseline="0" dirty="0"/>
                  <a:t> =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b="0" i="1" smtClean="0">
                            <a:latin typeface="Cambria Math" panose="02040503050406030204" pitchFamily="18" charset="0"/>
                          </a:rPr>
                          <m:t>1</m:t>
                        </m:r>
                      </m:sub>
                    </m:sSub>
                  </m:oMath>
                </a14:m>
                <a:r>
                  <a:rPr lang="en-US" sz="2000" dirty="0"/>
                  <a:t> ,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b="0" i="1" smtClean="0">
                            <a:latin typeface="Cambria Math" panose="02040503050406030204" pitchFamily="18" charset="0"/>
                          </a:rPr>
                          <m:t>2</m:t>
                        </m:r>
                      </m:sub>
                    </m:sSub>
                  </m:oMath>
                </a14:m>
                <a:r>
                  <a:rPr lang="en-US" sz="2000" dirty="0"/>
                  <a:t>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b="0" i="1" smtClean="0">
                            <a:latin typeface="Cambria Math" panose="02040503050406030204" pitchFamily="18" charset="0"/>
                          </a:rPr>
                          <m:t>3</m:t>
                        </m:r>
                      </m:sub>
                    </m:sSub>
                  </m:oMath>
                </a14:m>
                <a:r>
                  <a:rPr lang="en-US" sz="2000" dirty="0"/>
                  <a:t> …..</a:t>
                </a:r>
                <a:r>
                  <a:rPr lang="en-AU" sz="2000" dirty="0"/>
                  <a:t>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i="1">
                            <a:latin typeface="Cambria Math" panose="02040503050406030204" pitchFamily="18" charset="0"/>
                          </a:rPr>
                          <m:t>−</m:t>
                        </m:r>
                        <m:r>
                          <a:rPr lang="en-AU" sz="2000" i="1">
                            <a:latin typeface="Cambria Math" panose="02040503050406030204" pitchFamily="18" charset="0"/>
                          </a:rPr>
                          <m:t>𝑘</m:t>
                        </m:r>
                      </m:sub>
                    </m:sSub>
                    <m:r>
                      <a:rPr lang="en-AU" sz="2000" b="0" i="1" smtClean="0">
                        <a:latin typeface="Cambria Math" panose="02040503050406030204" pitchFamily="18" charset="0"/>
                      </a:rPr>
                      <m:t> </m:t>
                    </m:r>
                  </m:oMath>
                </a14:m>
                <a:r>
                  <a:rPr lang="en-US" sz="1800" b="0" i="0" u="none" strike="noStrike" baseline="0" dirty="0"/>
                  <a:t>represents all the </a:t>
                </a:r>
                <a:r>
                  <a:rPr lang="en-US" sz="1800" i="0" u="none" strike="noStrike" baseline="0" dirty="0"/>
                  <a:t>exogenous regressors </a:t>
                </a:r>
                <a:r>
                  <a:rPr lang="en-US" sz="1800" b="0" i="0" u="none" strike="noStrike" baseline="0" dirty="0"/>
                  <a:t>and </a:t>
                </a:r>
                <a14:m>
                  <m:oMath xmlns:m="http://schemas.openxmlformats.org/officeDocument/2006/math">
                    <m:r>
                      <a:rPr lang="en-AU" sz="1800" i="1">
                        <a:latin typeface="Cambria Math" panose="02040503050406030204" pitchFamily="18" charset="0"/>
                      </a:rPr>
                      <m:t>𝐿</m:t>
                    </m:r>
                    <m:d>
                      <m:dPr>
                        <m:ctrlPr>
                          <a:rPr lang="en-AU" sz="1800" i="1">
                            <a:latin typeface="Cambria Math" panose="02040503050406030204" pitchFamily="18" charset="0"/>
                          </a:rPr>
                        </m:ctrlPr>
                      </m:dPr>
                      <m:e>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𝑘</m:t>
                            </m:r>
                          </m:sub>
                        </m:sSub>
                        <m:r>
                          <a:rPr lang="en-AU" sz="1800" i="1">
                            <a:latin typeface="Cambria Math" panose="02040503050406030204" pitchFamily="18" charset="0"/>
                          </a:rPr>
                          <m:t>|</m:t>
                        </m:r>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m:t>
                            </m:r>
                            <m:r>
                              <a:rPr lang="en-AU" sz="1800" i="1">
                                <a:latin typeface="Cambria Math" panose="02040503050406030204" pitchFamily="18" charset="0"/>
                              </a:rPr>
                              <m:t>𝑘</m:t>
                            </m:r>
                          </m:sub>
                        </m:sSub>
                      </m:e>
                    </m:d>
                    <m:r>
                      <a:rPr lang="en-AU" sz="1800" i="1">
                        <a:latin typeface="Cambria Math" panose="02040503050406030204" pitchFamily="18" charset="0"/>
                      </a:rPr>
                      <m:t> </m:t>
                    </m:r>
                  </m:oMath>
                </a14:m>
                <a:r>
                  <a:rPr lang="en-US" sz="1800" b="0" i="0" u="none" strike="noStrike" baseline="0" dirty="0"/>
                  <a:t>is a linear projection of</a:t>
                </a:r>
                <a:r>
                  <a:rPr lang="en-AU" sz="180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𝑘</m:t>
                        </m:r>
                      </m:sub>
                    </m:sSub>
                  </m:oMath>
                </a14:m>
                <a:r>
                  <a:rPr lang="en-US" sz="1800" b="0" i="0" u="none" strike="noStrike" baseline="0" dirty="0"/>
                  <a:t> on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m:t>
                        </m:r>
                        <m:r>
                          <a:rPr lang="en-AU" sz="1800" i="1">
                            <a:latin typeface="Cambria Math" panose="02040503050406030204" pitchFamily="18" charset="0"/>
                          </a:rPr>
                          <m:t>𝑘</m:t>
                        </m:r>
                      </m:sub>
                    </m:sSub>
                  </m:oMath>
                </a14:m>
                <a:endParaRPr lang="en-US" sz="1800" b="0" i="0" u="none" strike="noStrike" baseline="0" dirty="0"/>
              </a:p>
              <a:p>
                <a:pPr marL="0" indent="0" algn="l">
                  <a:buNone/>
                </a:pPr>
                <a:endParaRPr lang="en-US" sz="1800" b="0" i="0" u="none" strike="noStrike" baseline="0" dirty="0"/>
              </a:p>
            </p:txBody>
          </p:sp>
        </mc:Choice>
        <mc:Fallback xmlns="">
          <p:sp>
            <p:nvSpPr>
              <p:cNvPr id="3" name="Content Placeholder 2">
                <a:extLst>
                  <a:ext uri="{FF2B5EF4-FFF2-40B4-BE49-F238E27FC236}">
                    <a16:creationId xmlns:a16="http://schemas.microsoft.com/office/drawing/2014/main" id="{39D24F51-C1FD-42F2-C355-89AE97267871}"/>
                  </a:ext>
                </a:extLst>
              </p:cNvPr>
              <p:cNvSpPr>
                <a:spLocks noGrp="1" noRot="1" noChangeAspect="1" noMove="1" noResize="1" noEditPoints="1" noAdjustHandles="1" noChangeArrowheads="1" noChangeShapeType="1" noTextEdit="1"/>
              </p:cNvSpPr>
              <p:nvPr>
                <p:ph idx="1"/>
              </p:nvPr>
            </p:nvSpPr>
            <p:spPr>
              <a:xfrm>
                <a:off x="457200" y="1166019"/>
                <a:ext cx="8229600" cy="3703142"/>
              </a:xfrm>
              <a:blipFill>
                <a:blip r:embed="rId2"/>
                <a:stretch>
                  <a:fillRect l="-593" t="-822" b="-28125"/>
                </a:stretch>
              </a:blipFill>
            </p:spPr>
            <p:txBody>
              <a:bodyPr/>
              <a:lstStyle/>
              <a:p>
                <a:r>
                  <a:rPr lang="en-AU">
                    <a:noFill/>
                  </a:rPr>
                  <a:t> </a:t>
                </a:r>
              </a:p>
            </p:txBody>
          </p:sp>
        </mc:Fallback>
      </mc:AlternateContent>
      <p:sp>
        <p:nvSpPr>
          <p:cNvPr id="4" name="Slide Number Placeholder 3">
            <a:extLst>
              <a:ext uri="{FF2B5EF4-FFF2-40B4-BE49-F238E27FC236}">
                <a16:creationId xmlns:a16="http://schemas.microsoft.com/office/drawing/2014/main" id="{C15AD9F8-03BC-F253-7110-C8EDFB87FBC1}"/>
              </a:ext>
            </a:extLst>
          </p:cNvPr>
          <p:cNvSpPr>
            <a:spLocks noGrp="1"/>
          </p:cNvSpPr>
          <p:nvPr>
            <p:ph type="sldNum" sz="quarter" idx="12"/>
          </p:nvPr>
        </p:nvSpPr>
        <p:spPr/>
        <p:txBody>
          <a:bodyPr/>
          <a:lstStyle/>
          <a:p>
            <a:pPr>
              <a:defRPr/>
            </a:pPr>
            <a:fld id="{13102EC4-ECBA-422F-9159-C22944D38E99}" type="slidenum">
              <a:rPr lang="en-US" altLang="en-US" smtClean="0"/>
              <a:pPr>
                <a:defRPr/>
              </a:pPr>
              <a:t>10</a:t>
            </a:fld>
            <a:endParaRPr lang="en-US" alt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0262D2B-736E-8BFD-15F9-4B96AB470144}"/>
                  </a:ext>
                </a:extLst>
              </p:cNvPr>
              <p:cNvSpPr txBox="1"/>
              <p:nvPr/>
            </p:nvSpPr>
            <p:spPr>
              <a:xfrm>
                <a:off x="2771800" y="4884911"/>
                <a:ext cx="2577244" cy="276999"/>
              </a:xfrm>
              <a:prstGeom prst="rect">
                <a:avLst/>
              </a:prstGeom>
              <a:noFill/>
            </p:spPr>
            <p:txBody>
              <a:bodyPr wrap="none" lIns="0" tIns="0" rIns="0" bIns="0" rtlCol="0">
                <a:spAutoFit/>
              </a:bodyPr>
              <a:lstStyle/>
              <a:p>
                <a:r>
                  <a:rPr lang="en-AU" dirty="0">
                    <a:latin typeface="+mn-lt"/>
                  </a:rPr>
                  <a:t>Cov </a:t>
                </a:r>
                <a14:m>
                  <m:oMath xmlns:m="http://schemas.openxmlformats.org/officeDocument/2006/math">
                    <m:d>
                      <m:dPr>
                        <m:begChr m:val="["/>
                        <m:endChr m:val="]"/>
                        <m:ctrlPr>
                          <a:rPr lang="en-AU" i="1" smtClean="0">
                            <a:latin typeface="Cambria Math" panose="02040503050406030204" pitchFamily="18" charset="0"/>
                          </a:rPr>
                        </m:ctrlPr>
                      </m:dPr>
                      <m:e>
                        <m:r>
                          <a:rPr lang="en-AU" b="0" i="1" smtClean="0">
                            <a:latin typeface="Cambria Math" panose="02040503050406030204" pitchFamily="18" charset="0"/>
                          </a:rPr>
                          <m:t>𝑧</m:t>
                        </m:r>
                        <m:r>
                          <a:rPr lang="en-AU" b="0" i="1" smtClean="0">
                            <a:latin typeface="Cambria Math" panose="02040503050406030204" pitchFamily="18" charset="0"/>
                          </a:rPr>
                          <m:t>,</m:t>
                        </m:r>
                        <m:sSub>
                          <m:sSubPr>
                            <m:ctrlPr>
                              <a:rPr lang="en-AU"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𝐾</m:t>
                            </m:r>
                          </m:sub>
                        </m:sSub>
                        <m:r>
                          <a:rPr lang="en-AU" b="0" i="1" smtClean="0">
                            <a:latin typeface="Cambria Math" panose="02040503050406030204" pitchFamily="18" charset="0"/>
                          </a:rPr>
                          <m:t>| </m:t>
                        </m:r>
                        <m:r>
                          <a:rPr lang="en-AU" b="0" i="1" smtClean="0">
                            <a:latin typeface="Cambria Math" panose="02040503050406030204" pitchFamily="18" charset="0"/>
                          </a:rPr>
                          <m:t>𝐿</m:t>
                        </m:r>
                        <m:d>
                          <m:dPr>
                            <m:ctrlPr>
                              <a:rPr lang="en-AU" b="0" i="1" smtClean="0">
                                <a:latin typeface="Cambria Math" panose="02040503050406030204" pitchFamily="18" charset="0"/>
                              </a:rPr>
                            </m:ctrlPr>
                          </m:d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𝑘</m:t>
                                </m:r>
                              </m:sub>
                            </m:sSub>
                            <m:r>
                              <a:rPr lang="en-AU" b="0" i="1" smtClean="0">
                                <a:latin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b="0" i="1" smtClean="0">
                                    <a:latin typeface="Cambria Math" panose="02040503050406030204" pitchFamily="18" charset="0"/>
                                  </a:rPr>
                                  <m:t>−</m:t>
                                </m:r>
                                <m:r>
                                  <a:rPr lang="en-AU" i="1">
                                    <a:latin typeface="Cambria Math" panose="02040503050406030204" pitchFamily="18" charset="0"/>
                                  </a:rPr>
                                  <m:t>𝑘</m:t>
                                </m:r>
                              </m:sub>
                            </m:sSub>
                          </m:e>
                        </m:d>
                      </m:e>
                    </m:d>
                  </m:oMath>
                </a14:m>
                <a:r>
                  <a:rPr lang="en-AU" dirty="0">
                    <a:latin typeface="+mn-lt"/>
                  </a:rPr>
                  <a:t> ≠ 0</a:t>
                </a:r>
              </a:p>
            </p:txBody>
          </p:sp>
        </mc:Choice>
        <mc:Fallback xmlns="">
          <p:sp>
            <p:nvSpPr>
              <p:cNvPr id="5" name="TextBox 4">
                <a:extLst>
                  <a:ext uri="{FF2B5EF4-FFF2-40B4-BE49-F238E27FC236}">
                    <a16:creationId xmlns:a16="http://schemas.microsoft.com/office/drawing/2014/main" id="{C0262D2B-736E-8BFD-15F9-4B96AB470144}"/>
                  </a:ext>
                </a:extLst>
              </p:cNvPr>
              <p:cNvSpPr txBox="1">
                <a:spLocks noRot="1" noChangeAspect="1" noMove="1" noResize="1" noEditPoints="1" noAdjustHandles="1" noChangeArrowheads="1" noChangeShapeType="1" noTextEdit="1"/>
              </p:cNvSpPr>
              <p:nvPr/>
            </p:nvSpPr>
            <p:spPr>
              <a:xfrm>
                <a:off x="2771800" y="4884911"/>
                <a:ext cx="2577244" cy="276999"/>
              </a:xfrm>
              <a:prstGeom prst="rect">
                <a:avLst/>
              </a:prstGeom>
              <a:blipFill>
                <a:blip r:embed="rId3"/>
                <a:stretch>
                  <a:fillRect l="-5687" t="-28261" r="-4502" b="-50000"/>
                </a:stretch>
              </a:blipFill>
            </p:spPr>
            <p:txBody>
              <a:bodyPr/>
              <a:lstStyle/>
              <a:p>
                <a:r>
                  <a:rPr lang="en-AU">
                    <a:noFill/>
                  </a:rPr>
                  <a:t> </a:t>
                </a:r>
              </a:p>
            </p:txBody>
          </p:sp>
        </mc:Fallback>
      </mc:AlternateContent>
    </p:spTree>
    <p:extLst>
      <p:ext uri="{BB962C8B-B14F-4D97-AF65-F5344CB8AC3E}">
        <p14:creationId xmlns:p14="http://schemas.microsoft.com/office/powerpoint/2010/main" val="13444636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AD019-EF39-0C62-0D20-D0B2FB8B9ED8}"/>
              </a:ext>
            </a:extLst>
          </p:cNvPr>
          <p:cNvSpPr>
            <a:spLocks noGrp="1"/>
          </p:cNvSpPr>
          <p:nvPr>
            <p:ph type="title"/>
          </p:nvPr>
        </p:nvSpPr>
        <p:spPr>
          <a:xfrm>
            <a:off x="457200" y="188640"/>
            <a:ext cx="8229600" cy="634082"/>
          </a:xfrm>
        </p:spPr>
        <p:txBody>
          <a:bodyPr/>
          <a:lstStyle/>
          <a:p>
            <a:pPr algn="l"/>
            <a:r>
              <a:rPr lang="en-AU" sz="3200" dirty="0"/>
              <a:t>Instrument (IV) Requirements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9D24F51-C1FD-42F2-C355-89AE97267871}"/>
                  </a:ext>
                </a:extLst>
              </p:cNvPr>
              <p:cNvSpPr>
                <a:spLocks noGrp="1"/>
              </p:cNvSpPr>
              <p:nvPr>
                <p:ph idx="1"/>
              </p:nvPr>
            </p:nvSpPr>
            <p:spPr>
              <a:xfrm>
                <a:off x="472925" y="908720"/>
                <a:ext cx="8229600" cy="3703142"/>
              </a:xfrm>
            </p:spPr>
            <p:txBody>
              <a:bodyPr/>
              <a:lstStyle/>
              <a:p>
                <a:pPr marL="0" indent="0" algn="l">
                  <a:buNone/>
                </a:pPr>
                <a:r>
                  <a:rPr lang="en-US" sz="1800" b="0" i="0" u="none" strike="noStrike" baseline="0" dirty="0"/>
                  <a:t>IV methods work by introducing a variable z that instruments for the endogenous variable </a:t>
                </a:r>
                <a:r>
                  <a:rPr lang="en-US" sz="1800" b="0" i="0" u="none" strike="noStrike" baseline="0" dirty="0" err="1"/>
                  <a:t>xK</a:t>
                </a:r>
                <a:r>
                  <a:rPr lang="en-US" sz="1800" b="0" i="0" u="none" strike="noStrike" baseline="0" dirty="0"/>
                  <a:t> .</a:t>
                </a:r>
              </a:p>
              <a:p>
                <a:pPr marL="0" indent="0" algn="l">
                  <a:buNone/>
                </a:pPr>
                <a:r>
                  <a:rPr lang="en-US" sz="1800" b="0" i="0" u="none" strike="noStrike" baseline="0" dirty="0"/>
                  <a:t>The instrument z must satisfy two fundamental conditions:</a:t>
                </a:r>
              </a:p>
              <a:p>
                <a:pPr marL="800100" lvl="1" indent="-342900">
                  <a:buFont typeface="+mj-lt"/>
                  <a:buAutoNum type="arabicPeriod" startAt="2"/>
                </a:pPr>
                <a:r>
                  <a:rPr lang="en-US" sz="1800" b="1" i="0" u="none" strike="noStrike" baseline="0" dirty="0"/>
                  <a:t>Relevance</a:t>
                </a:r>
                <a:r>
                  <a:rPr lang="en-US" sz="1800" b="0" i="0" u="none" strike="noStrike" baseline="0" dirty="0"/>
                  <a:t>:                                              , where </a:t>
                </a:r>
                <a14:m>
                  <m:oMath xmlns:m="http://schemas.openxmlformats.org/officeDocument/2006/math">
                    <m:sSub>
                      <m:sSubPr>
                        <m:ctrlPr>
                          <a:rPr lang="en-AU" sz="2000" b="0" i="1" smtClean="0">
                            <a:latin typeface="Cambria Math" panose="02040503050406030204" pitchFamily="18" charset="0"/>
                          </a:rPr>
                        </m:ctrlPr>
                      </m:sSubPr>
                      <m:e>
                        <m:r>
                          <a:rPr lang="en-AU" sz="2000" b="0" i="1" smtClean="0">
                            <a:latin typeface="Cambria Math" panose="02040503050406030204" pitchFamily="18" charset="0"/>
                          </a:rPr>
                          <m:t>𝑥</m:t>
                        </m:r>
                      </m:e>
                      <m:sub>
                        <m:r>
                          <a:rPr lang="en-AU" sz="2000" b="0" i="1" smtClean="0">
                            <a:latin typeface="Cambria Math" panose="02040503050406030204" pitchFamily="18" charset="0"/>
                          </a:rPr>
                          <m:t>−</m:t>
                        </m:r>
                        <m:r>
                          <a:rPr lang="en-AU" sz="2000" b="0" i="1" smtClean="0">
                            <a:latin typeface="Cambria Math" panose="02040503050406030204" pitchFamily="18" charset="0"/>
                          </a:rPr>
                          <m:t>𝑘</m:t>
                        </m:r>
                      </m:sub>
                    </m:sSub>
                  </m:oMath>
                </a14:m>
                <a:r>
                  <a:rPr lang="en-US" sz="2000" b="0" i="0" u="none" strike="noStrike" baseline="0" dirty="0"/>
                  <a:t> =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b="0" i="1" smtClean="0">
                            <a:latin typeface="Cambria Math" panose="02040503050406030204" pitchFamily="18" charset="0"/>
                          </a:rPr>
                          <m:t>1</m:t>
                        </m:r>
                      </m:sub>
                    </m:sSub>
                  </m:oMath>
                </a14:m>
                <a:r>
                  <a:rPr lang="en-US" sz="2000" dirty="0"/>
                  <a:t> ,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b="0" i="1" smtClean="0">
                            <a:latin typeface="Cambria Math" panose="02040503050406030204" pitchFamily="18" charset="0"/>
                          </a:rPr>
                          <m:t>2</m:t>
                        </m:r>
                      </m:sub>
                    </m:sSub>
                  </m:oMath>
                </a14:m>
                <a:r>
                  <a:rPr lang="en-US" sz="2000" dirty="0"/>
                  <a:t>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b="0" i="1" smtClean="0">
                            <a:latin typeface="Cambria Math" panose="02040503050406030204" pitchFamily="18" charset="0"/>
                          </a:rPr>
                          <m:t>3</m:t>
                        </m:r>
                      </m:sub>
                    </m:sSub>
                  </m:oMath>
                </a14:m>
                <a:r>
                  <a:rPr lang="en-US" sz="2000" dirty="0"/>
                  <a:t> …..</a:t>
                </a:r>
                <a:r>
                  <a:rPr lang="en-AU" sz="2000" dirty="0"/>
                  <a:t> </a:t>
                </a:r>
                <a14:m>
                  <m:oMath xmlns:m="http://schemas.openxmlformats.org/officeDocument/2006/math">
                    <m:sSub>
                      <m:sSubPr>
                        <m:ctrlPr>
                          <a:rPr lang="en-AU" sz="2000" i="1">
                            <a:latin typeface="Cambria Math" panose="02040503050406030204" pitchFamily="18" charset="0"/>
                          </a:rPr>
                        </m:ctrlPr>
                      </m:sSubPr>
                      <m:e>
                        <m:r>
                          <a:rPr lang="en-AU" sz="2000" i="1">
                            <a:latin typeface="Cambria Math" panose="02040503050406030204" pitchFamily="18" charset="0"/>
                          </a:rPr>
                          <m:t>𝑥</m:t>
                        </m:r>
                      </m:e>
                      <m:sub>
                        <m:r>
                          <a:rPr lang="en-AU" sz="2000" i="1">
                            <a:latin typeface="Cambria Math" panose="02040503050406030204" pitchFamily="18" charset="0"/>
                          </a:rPr>
                          <m:t>−</m:t>
                        </m:r>
                        <m:r>
                          <a:rPr lang="en-AU" sz="2000" i="1">
                            <a:latin typeface="Cambria Math" panose="02040503050406030204" pitchFamily="18" charset="0"/>
                          </a:rPr>
                          <m:t>𝑘</m:t>
                        </m:r>
                      </m:sub>
                    </m:sSub>
                    <m:r>
                      <a:rPr lang="en-AU" sz="2000" b="0" i="1" smtClean="0">
                        <a:latin typeface="Cambria Math" panose="02040503050406030204" pitchFamily="18" charset="0"/>
                      </a:rPr>
                      <m:t> </m:t>
                    </m:r>
                  </m:oMath>
                </a14:m>
                <a:r>
                  <a:rPr lang="en-US" sz="1800" b="0" i="0" u="none" strike="noStrike" baseline="0" dirty="0"/>
                  <a:t>represents all the </a:t>
                </a:r>
                <a:r>
                  <a:rPr lang="en-US" sz="1800" i="0" u="none" strike="noStrike" baseline="0" dirty="0"/>
                  <a:t>exogenous regressors </a:t>
                </a:r>
                <a:r>
                  <a:rPr lang="en-US" sz="1800" b="0" i="0" u="none" strike="noStrike" baseline="0" dirty="0"/>
                  <a:t>and </a:t>
                </a:r>
                <a14:m>
                  <m:oMath xmlns:m="http://schemas.openxmlformats.org/officeDocument/2006/math">
                    <m:r>
                      <a:rPr lang="en-AU" sz="1800" i="1">
                        <a:latin typeface="Cambria Math" panose="02040503050406030204" pitchFamily="18" charset="0"/>
                      </a:rPr>
                      <m:t>𝐿</m:t>
                    </m:r>
                    <m:d>
                      <m:dPr>
                        <m:ctrlPr>
                          <a:rPr lang="en-AU" sz="1800" i="1">
                            <a:latin typeface="Cambria Math" panose="02040503050406030204" pitchFamily="18" charset="0"/>
                          </a:rPr>
                        </m:ctrlPr>
                      </m:dPr>
                      <m:e>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𝑘</m:t>
                            </m:r>
                          </m:sub>
                        </m:sSub>
                        <m:r>
                          <a:rPr lang="en-AU" sz="1800" i="1">
                            <a:latin typeface="Cambria Math" panose="02040503050406030204" pitchFamily="18" charset="0"/>
                          </a:rPr>
                          <m:t>|</m:t>
                        </m:r>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m:t>
                            </m:r>
                            <m:r>
                              <a:rPr lang="en-AU" sz="1800" i="1">
                                <a:latin typeface="Cambria Math" panose="02040503050406030204" pitchFamily="18" charset="0"/>
                              </a:rPr>
                              <m:t>𝑘</m:t>
                            </m:r>
                          </m:sub>
                        </m:sSub>
                      </m:e>
                    </m:d>
                    <m:r>
                      <a:rPr lang="en-AU" sz="1800" i="1">
                        <a:latin typeface="Cambria Math" panose="02040503050406030204" pitchFamily="18" charset="0"/>
                      </a:rPr>
                      <m:t> </m:t>
                    </m:r>
                  </m:oMath>
                </a14:m>
                <a:r>
                  <a:rPr lang="en-US" sz="1800" b="0" i="0" u="none" strike="noStrike" baseline="0" dirty="0"/>
                  <a:t>is a linear projection of</a:t>
                </a:r>
                <a:r>
                  <a:rPr lang="en-AU" sz="180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𝑘</m:t>
                        </m:r>
                      </m:sub>
                    </m:sSub>
                  </m:oMath>
                </a14:m>
                <a:r>
                  <a:rPr lang="en-US" sz="1800" b="0" i="0" u="none" strike="noStrike" baseline="0" dirty="0"/>
                  <a:t> on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m:t>
                        </m:r>
                        <m:r>
                          <a:rPr lang="en-AU" sz="1800" i="1">
                            <a:latin typeface="Cambria Math" panose="02040503050406030204" pitchFamily="18" charset="0"/>
                          </a:rPr>
                          <m:t>𝑘</m:t>
                        </m:r>
                      </m:sub>
                    </m:sSub>
                  </m:oMath>
                </a14:m>
                <a:endParaRPr lang="en-US" sz="1800" b="0" i="0" u="none" strike="noStrike" baseline="0" dirty="0"/>
              </a:p>
              <a:p>
                <a:pPr marL="0" indent="0" algn="l">
                  <a:buNone/>
                </a:pPr>
                <a:endParaRPr lang="en-US" sz="1800" b="0" i="0" u="none" strike="noStrike" baseline="0" dirty="0"/>
              </a:p>
            </p:txBody>
          </p:sp>
        </mc:Choice>
        <mc:Fallback xmlns="">
          <p:sp>
            <p:nvSpPr>
              <p:cNvPr id="3" name="Content Placeholder 2">
                <a:extLst>
                  <a:ext uri="{FF2B5EF4-FFF2-40B4-BE49-F238E27FC236}">
                    <a16:creationId xmlns:a16="http://schemas.microsoft.com/office/drawing/2014/main" id="{39D24F51-C1FD-42F2-C355-89AE97267871}"/>
                  </a:ext>
                </a:extLst>
              </p:cNvPr>
              <p:cNvSpPr>
                <a:spLocks noGrp="1" noRot="1" noChangeAspect="1" noMove="1" noResize="1" noEditPoints="1" noAdjustHandles="1" noChangeArrowheads="1" noChangeShapeType="1" noTextEdit="1"/>
              </p:cNvSpPr>
              <p:nvPr>
                <p:ph idx="1"/>
              </p:nvPr>
            </p:nvSpPr>
            <p:spPr>
              <a:xfrm>
                <a:off x="472925" y="908720"/>
                <a:ext cx="8229600" cy="3703142"/>
              </a:xfrm>
              <a:blipFill>
                <a:blip r:embed="rId2"/>
                <a:stretch>
                  <a:fillRect l="-667" t="-822"/>
                </a:stretch>
              </a:blipFill>
            </p:spPr>
            <p:txBody>
              <a:bodyPr/>
              <a:lstStyle/>
              <a:p>
                <a:r>
                  <a:rPr lang="en-AU">
                    <a:noFill/>
                  </a:rPr>
                  <a:t> </a:t>
                </a:r>
              </a:p>
            </p:txBody>
          </p:sp>
        </mc:Fallback>
      </mc:AlternateContent>
      <p:sp>
        <p:nvSpPr>
          <p:cNvPr id="4" name="Slide Number Placeholder 3">
            <a:extLst>
              <a:ext uri="{FF2B5EF4-FFF2-40B4-BE49-F238E27FC236}">
                <a16:creationId xmlns:a16="http://schemas.microsoft.com/office/drawing/2014/main" id="{C15AD9F8-03BC-F253-7110-C8EDFB87FBC1}"/>
              </a:ext>
            </a:extLst>
          </p:cNvPr>
          <p:cNvSpPr>
            <a:spLocks noGrp="1"/>
          </p:cNvSpPr>
          <p:nvPr>
            <p:ph type="sldNum" sz="quarter" idx="12"/>
          </p:nvPr>
        </p:nvSpPr>
        <p:spPr/>
        <p:txBody>
          <a:bodyPr/>
          <a:lstStyle/>
          <a:p>
            <a:pPr>
              <a:defRPr/>
            </a:pPr>
            <a:fld id="{13102EC4-ECBA-422F-9159-C22944D38E99}" type="slidenum">
              <a:rPr lang="en-US" altLang="en-US" smtClean="0"/>
              <a:pPr>
                <a:defRPr/>
              </a:pPr>
              <a:t>11</a:t>
            </a:fld>
            <a:endParaRPr lang="en-US" alt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0262D2B-736E-8BFD-15F9-4B96AB470144}"/>
                  </a:ext>
                </a:extLst>
              </p:cNvPr>
              <p:cNvSpPr txBox="1"/>
              <p:nvPr/>
            </p:nvSpPr>
            <p:spPr>
              <a:xfrm>
                <a:off x="2771800" y="1922349"/>
                <a:ext cx="2577244" cy="276999"/>
              </a:xfrm>
              <a:prstGeom prst="rect">
                <a:avLst/>
              </a:prstGeom>
              <a:noFill/>
            </p:spPr>
            <p:txBody>
              <a:bodyPr wrap="none" lIns="0" tIns="0" rIns="0" bIns="0" rtlCol="0">
                <a:spAutoFit/>
              </a:bodyPr>
              <a:lstStyle/>
              <a:p>
                <a:r>
                  <a:rPr lang="en-AU" dirty="0">
                    <a:latin typeface="+mn-lt"/>
                  </a:rPr>
                  <a:t>Cov </a:t>
                </a:r>
                <a14:m>
                  <m:oMath xmlns:m="http://schemas.openxmlformats.org/officeDocument/2006/math">
                    <m:d>
                      <m:dPr>
                        <m:begChr m:val="["/>
                        <m:endChr m:val="]"/>
                        <m:ctrlPr>
                          <a:rPr lang="en-AU" i="1" smtClean="0">
                            <a:latin typeface="Cambria Math" panose="02040503050406030204" pitchFamily="18" charset="0"/>
                          </a:rPr>
                        </m:ctrlPr>
                      </m:dPr>
                      <m:e>
                        <m:r>
                          <a:rPr lang="en-AU" b="0" i="1" smtClean="0">
                            <a:latin typeface="Cambria Math" panose="02040503050406030204" pitchFamily="18" charset="0"/>
                          </a:rPr>
                          <m:t>𝑧</m:t>
                        </m:r>
                        <m:r>
                          <a:rPr lang="en-AU" b="0" i="1" smtClean="0">
                            <a:latin typeface="Cambria Math" panose="02040503050406030204" pitchFamily="18" charset="0"/>
                          </a:rPr>
                          <m:t>,</m:t>
                        </m:r>
                        <m:sSub>
                          <m:sSubPr>
                            <m:ctrlPr>
                              <a:rPr lang="en-AU"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𝐾</m:t>
                            </m:r>
                          </m:sub>
                        </m:sSub>
                        <m:r>
                          <a:rPr lang="en-AU" b="0" i="1" smtClean="0">
                            <a:latin typeface="Cambria Math" panose="02040503050406030204" pitchFamily="18" charset="0"/>
                          </a:rPr>
                          <m:t>| </m:t>
                        </m:r>
                        <m:r>
                          <a:rPr lang="en-AU" b="0" i="1" smtClean="0">
                            <a:latin typeface="Cambria Math" panose="02040503050406030204" pitchFamily="18" charset="0"/>
                          </a:rPr>
                          <m:t>𝐿</m:t>
                        </m:r>
                        <m:d>
                          <m:dPr>
                            <m:ctrlPr>
                              <a:rPr lang="en-AU" b="0" i="1" smtClean="0">
                                <a:latin typeface="Cambria Math" panose="02040503050406030204" pitchFamily="18" charset="0"/>
                              </a:rPr>
                            </m:ctrlPr>
                          </m:d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𝑘</m:t>
                                </m:r>
                              </m:sub>
                            </m:sSub>
                            <m:r>
                              <a:rPr lang="en-AU" b="0" i="1" smtClean="0">
                                <a:latin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b="0" i="1" smtClean="0">
                                    <a:latin typeface="Cambria Math" panose="02040503050406030204" pitchFamily="18" charset="0"/>
                                  </a:rPr>
                                  <m:t>−</m:t>
                                </m:r>
                                <m:r>
                                  <a:rPr lang="en-AU" i="1">
                                    <a:latin typeface="Cambria Math" panose="02040503050406030204" pitchFamily="18" charset="0"/>
                                  </a:rPr>
                                  <m:t>𝑘</m:t>
                                </m:r>
                              </m:sub>
                            </m:sSub>
                          </m:e>
                        </m:d>
                      </m:e>
                    </m:d>
                  </m:oMath>
                </a14:m>
                <a:r>
                  <a:rPr lang="en-AU" dirty="0">
                    <a:latin typeface="+mn-lt"/>
                  </a:rPr>
                  <a:t> ≠ 0</a:t>
                </a:r>
              </a:p>
            </p:txBody>
          </p:sp>
        </mc:Choice>
        <mc:Fallback xmlns="">
          <p:sp>
            <p:nvSpPr>
              <p:cNvPr id="5" name="TextBox 4">
                <a:extLst>
                  <a:ext uri="{FF2B5EF4-FFF2-40B4-BE49-F238E27FC236}">
                    <a16:creationId xmlns:a16="http://schemas.microsoft.com/office/drawing/2014/main" id="{C0262D2B-736E-8BFD-15F9-4B96AB470144}"/>
                  </a:ext>
                </a:extLst>
              </p:cNvPr>
              <p:cNvSpPr txBox="1">
                <a:spLocks noRot="1" noChangeAspect="1" noMove="1" noResize="1" noEditPoints="1" noAdjustHandles="1" noChangeArrowheads="1" noChangeShapeType="1" noTextEdit="1"/>
              </p:cNvSpPr>
              <p:nvPr/>
            </p:nvSpPr>
            <p:spPr>
              <a:xfrm>
                <a:off x="2771800" y="1922349"/>
                <a:ext cx="2577244" cy="276999"/>
              </a:xfrm>
              <a:prstGeom prst="rect">
                <a:avLst/>
              </a:prstGeom>
              <a:blipFill>
                <a:blip r:embed="rId3"/>
                <a:stretch>
                  <a:fillRect l="-5687" t="-28261" r="-4502" b="-50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8A140A7-5E26-4444-25F9-A714C222A606}"/>
                  </a:ext>
                </a:extLst>
              </p:cNvPr>
              <p:cNvSpPr txBox="1"/>
              <p:nvPr/>
            </p:nvSpPr>
            <p:spPr>
              <a:xfrm>
                <a:off x="683568" y="3212976"/>
                <a:ext cx="8003232" cy="2893100"/>
              </a:xfrm>
              <a:prstGeom prst="rect">
                <a:avLst/>
              </a:prstGeom>
              <a:noFill/>
            </p:spPr>
            <p:txBody>
              <a:bodyPr wrap="square" rtlCol="0">
                <a:spAutoFit/>
              </a:bodyPr>
              <a:lstStyle/>
              <a:p>
                <a:pPr algn="l"/>
                <a:r>
                  <a:rPr lang="en-US" sz="1800" b="0" i="0" u="none" strike="noStrike" baseline="0" dirty="0">
                    <a:latin typeface="+mn-lt"/>
                  </a:rPr>
                  <a:t>Requirement 2 requires that </a:t>
                </a:r>
                <a:r>
                  <a:rPr lang="en-US" sz="1800" b="0" i="1" u="none" strike="noStrike" baseline="0" dirty="0">
                    <a:latin typeface="+mn-lt"/>
                  </a:rPr>
                  <a:t>z</a:t>
                </a:r>
                <a:r>
                  <a:rPr lang="en-US" sz="1800" b="0" i="0" u="none" strike="noStrike" baseline="0" dirty="0">
                    <a:latin typeface="+mn-lt"/>
                  </a:rPr>
                  <a:t> have some explanatory power for </a:t>
                </a:r>
                <a14:m>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𝑘</m:t>
                        </m:r>
                      </m:sub>
                    </m:sSub>
                    <m:r>
                      <a:rPr lang="en-AU" b="0" i="1" smtClean="0">
                        <a:latin typeface="Cambria Math" panose="02040503050406030204" pitchFamily="18" charset="0"/>
                      </a:rPr>
                      <m:t> </m:t>
                    </m:r>
                  </m:oMath>
                </a14:m>
                <a:r>
                  <a:rPr lang="en-US" sz="1800" b="0" i="0" u="none" strike="noStrike" baseline="0" dirty="0">
                    <a:latin typeface="+mn-lt"/>
                  </a:rPr>
                  <a:t>beyond what is obtained from a linear combination of the exogenous </a:t>
                </a:r>
                <a:r>
                  <a:rPr lang="en-AU" sz="1800" b="0" i="0" u="none" strike="noStrike" baseline="0" dirty="0">
                    <a:latin typeface="+mn-lt"/>
                  </a:rPr>
                  <a:t>regressors.</a:t>
                </a:r>
              </a:p>
              <a:p>
                <a:pPr algn="l"/>
                <a:endParaRPr lang="en-US" sz="1800" b="0" i="0" u="none" strike="noStrike" baseline="0" dirty="0">
                  <a:latin typeface="+mn-lt"/>
                </a:endParaRPr>
              </a:p>
              <a:p>
                <a:pPr algn="l"/>
                <a:r>
                  <a:rPr lang="en-US" sz="1800" b="0" i="0" u="none" strike="noStrike" baseline="0" dirty="0">
                    <a:latin typeface="+mn-lt"/>
                  </a:rPr>
                  <a:t>An equivalent condition is that </a:t>
                </a:r>
                <a14:m>
                  <m:oMath xmlns:m="http://schemas.openxmlformats.org/officeDocument/2006/math">
                    <m:sSub>
                      <m:sSubPr>
                        <m:ctrlPr>
                          <a:rPr lang="el-GR" sz="1800" i="1" smtClean="0">
                            <a:latin typeface="Cambria Math" panose="02040503050406030204" pitchFamily="18" charset="0"/>
                          </a:rPr>
                        </m:ctrlPr>
                      </m:sSubPr>
                      <m:e>
                        <m:r>
                          <a:rPr lang="el-GR" sz="1800" i="1" smtClean="0">
                            <a:latin typeface="Cambria Math" panose="02040503050406030204" pitchFamily="18" charset="0"/>
                            <a:ea typeface="Cambria Math" panose="02040503050406030204" pitchFamily="18" charset="0"/>
                          </a:rPr>
                          <m:t>𝜃</m:t>
                        </m:r>
                      </m:e>
                      <m:sub>
                        <m:r>
                          <a:rPr lang="en-AU" sz="1800" i="1">
                            <a:latin typeface="Cambria Math" panose="02040503050406030204" pitchFamily="18" charset="0"/>
                          </a:rPr>
                          <m:t>1</m:t>
                        </m:r>
                      </m:sub>
                    </m:sSub>
                    <m:r>
                      <a:rPr lang="en-AU" i="1">
                        <a:latin typeface="Cambria Math" panose="02040503050406030204" pitchFamily="18" charset="0"/>
                        <a:ea typeface="Cambria Math" panose="02040503050406030204" pitchFamily="18" charset="0"/>
                      </a:rPr>
                      <m:t>≠</m:t>
                    </m:r>
                  </m:oMath>
                </a14:m>
                <a:r>
                  <a:rPr lang="en-US" sz="1800" b="0" i="0" u="none" strike="noStrike" baseline="0" dirty="0">
                    <a:latin typeface="+mn-lt"/>
                  </a:rPr>
                  <a:t> 0 in the first stage model </a:t>
                </a:r>
              </a:p>
              <a:p>
                <a:pPr algn="l"/>
                <a:endParaRPr lang="en-US" sz="1800" b="0" i="0" u="none" strike="noStrike" baseline="0" dirty="0">
                  <a:latin typeface="+mn-lt"/>
                </a:endParaRPr>
              </a:p>
              <a:p>
                <a:r>
                  <a:rPr lang="en-AU" sz="1800" b="0" i="0" u="none" strike="noStrike" baseline="0" dirty="0">
                    <a:latin typeface="+mn-lt"/>
                  </a:rPr>
                  <a:t>where E (v, </a:t>
                </a:r>
                <a14:m>
                  <m:oMath xmlns:m="http://schemas.openxmlformats.org/officeDocument/2006/math">
                    <m:sSub>
                      <m:sSubPr>
                        <m:ctrlPr>
                          <a:rPr lang="en-AU" sz="1800" i="1" smtClean="0">
                            <a:latin typeface="Cambria Math" panose="02040503050406030204" pitchFamily="18" charset="0"/>
                          </a:rPr>
                        </m:ctrlPr>
                      </m:sSubPr>
                      <m:e>
                        <m:r>
                          <a:rPr lang="en-AU" sz="1800" i="1">
                            <a:latin typeface="Cambria Math" panose="02040503050406030204" pitchFamily="18" charset="0"/>
                          </a:rPr>
                          <m:t>𝑥</m:t>
                        </m:r>
                      </m:e>
                      <m:sub>
                        <m:r>
                          <a:rPr lang="en-AU" sz="1800" b="0" i="1" smtClean="0">
                            <a:latin typeface="Cambria Math" panose="02040503050406030204" pitchFamily="18" charset="0"/>
                          </a:rPr>
                          <m:t>1</m:t>
                        </m:r>
                      </m:sub>
                    </m:sSub>
                  </m:oMath>
                </a14:m>
                <a:r>
                  <a:rPr lang="en-US" sz="1800" dirty="0"/>
                  <a:t> ,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b="0" i="1" smtClean="0">
                            <a:latin typeface="Cambria Math" panose="02040503050406030204" pitchFamily="18" charset="0"/>
                          </a:rPr>
                          <m:t>2</m:t>
                        </m:r>
                      </m:sub>
                    </m:sSub>
                  </m:oMath>
                </a14:m>
                <a:r>
                  <a:rPr lang="en-US" sz="180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b="0" i="1" smtClean="0">
                            <a:latin typeface="Cambria Math" panose="02040503050406030204" pitchFamily="18" charset="0"/>
                          </a:rPr>
                          <m:t>3</m:t>
                        </m:r>
                      </m:sub>
                    </m:sSub>
                  </m:oMath>
                </a14:m>
                <a:r>
                  <a:rPr lang="en-US" sz="1800" dirty="0"/>
                  <a:t> …..</a:t>
                </a:r>
                <a:r>
                  <a:rPr lang="en-AU" sz="180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m:t>
                        </m:r>
                        <m:r>
                          <a:rPr lang="en-AU" sz="1800" i="1">
                            <a:latin typeface="Cambria Math" panose="02040503050406030204" pitchFamily="18" charset="0"/>
                          </a:rPr>
                          <m:t>𝑘</m:t>
                        </m:r>
                      </m:sub>
                    </m:sSub>
                    <m:r>
                      <a:rPr lang="en-AU" sz="1800" b="0" i="1" smtClean="0">
                        <a:latin typeface="Cambria Math" panose="02040503050406030204" pitchFamily="18" charset="0"/>
                      </a:rPr>
                      <m:t> </m:t>
                    </m:r>
                  </m:oMath>
                </a14:m>
                <a:r>
                  <a:rPr lang="en-AU" sz="1800" b="0" i="0" u="none" strike="noStrike" baseline="0" dirty="0">
                    <a:latin typeface="+mn-lt"/>
                  </a:rPr>
                  <a:t>, z) = 0 and E (</a:t>
                </a:r>
                <a14:m>
                  <m:oMath xmlns:m="http://schemas.openxmlformats.org/officeDocument/2006/math">
                    <m:sSub>
                      <m:sSubPr>
                        <m:ctrlPr>
                          <a:rPr lang="en-AU" i="1">
                            <a:latin typeface="Cambria Math" panose="02040503050406030204" pitchFamily="18" charset="0"/>
                          </a:rPr>
                        </m:ctrlPr>
                      </m:sSubPr>
                      <m:e>
                        <m:r>
                          <a:rPr lang="en-AU" b="0" i="1" smtClean="0">
                            <a:latin typeface="Cambria Math" panose="02040503050406030204" pitchFamily="18" charset="0"/>
                          </a:rPr>
                          <m:t>𝑈</m:t>
                        </m:r>
                        <m:r>
                          <a:rPr lang="en-AU" b="0" i="1" smtClean="0">
                            <a:latin typeface="Cambria Math" panose="02040503050406030204" pitchFamily="18" charset="0"/>
                          </a:rPr>
                          <m:t>|</m:t>
                        </m:r>
                        <m:r>
                          <a:rPr lang="en-AU" i="1">
                            <a:latin typeface="Cambria Math" panose="02040503050406030204" pitchFamily="18" charset="0"/>
                          </a:rPr>
                          <m:t>𝑥</m:t>
                        </m:r>
                      </m:e>
                      <m:sub>
                        <m:r>
                          <a:rPr lang="en-AU" i="1">
                            <a:latin typeface="Cambria Math" panose="02040503050406030204" pitchFamily="18" charset="0"/>
                          </a:rPr>
                          <m:t>1</m:t>
                        </m:r>
                      </m:sub>
                    </m:sSub>
                  </m:oMath>
                </a14:m>
                <a:r>
                  <a:rPr lang="en-US" dirty="0"/>
                  <a:t> , </a:t>
                </a:r>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2</m:t>
                        </m:r>
                      </m:sub>
                    </m:sSub>
                  </m:oMath>
                </a14:m>
                <a:r>
                  <a:rPr lang="en-US" dirty="0"/>
                  <a:t> </a:t>
                </a:r>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3</m:t>
                        </m:r>
                      </m:sub>
                    </m:sSub>
                  </m:oMath>
                </a14:m>
                <a:r>
                  <a:rPr lang="en-US" dirty="0"/>
                  <a:t> …..</a:t>
                </a:r>
                <a:r>
                  <a:rPr lang="en-AU" dirty="0"/>
                  <a:t> </a:t>
                </a:r>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m:t>
                        </m:r>
                        <m:r>
                          <a:rPr lang="en-AU" i="1">
                            <a:latin typeface="Cambria Math" panose="02040503050406030204" pitchFamily="18" charset="0"/>
                          </a:rPr>
                          <m:t>𝑘</m:t>
                        </m:r>
                      </m:sub>
                    </m:sSub>
                    <m:r>
                      <a:rPr lang="en-AU" i="1">
                        <a:latin typeface="Cambria Math" panose="02040503050406030204" pitchFamily="18" charset="0"/>
                      </a:rPr>
                      <m:t> </m:t>
                    </m:r>
                  </m:oMath>
                </a14:m>
                <a:r>
                  <a:rPr lang="en-AU" sz="1800" b="0" i="0" u="none" strike="noStrike" baseline="0" dirty="0">
                    <a:latin typeface="+mn-lt"/>
                  </a:rPr>
                  <a:t>, z) = 0.</a:t>
                </a:r>
              </a:p>
              <a:p>
                <a:pPr algn="l"/>
                <a:endParaRPr lang="en-US" sz="1800" b="0" i="0" u="none" strike="noStrike" baseline="0" dirty="0">
                  <a:latin typeface="+mn-lt"/>
                </a:endParaRPr>
              </a:p>
              <a:p>
                <a:pPr algn="l"/>
                <a:r>
                  <a:rPr lang="en-US" dirty="0">
                    <a:latin typeface="+mn-lt"/>
                  </a:rPr>
                  <a:t>Requirement</a:t>
                </a:r>
                <a:r>
                  <a:rPr lang="en-US" sz="1800" b="0" i="0" u="none" strike="noStrike" baseline="0" dirty="0">
                    <a:latin typeface="+mn-lt"/>
                  </a:rPr>
                  <a:t> 2 is often stated as requiring that </a:t>
                </a:r>
                <a:r>
                  <a:rPr lang="en-US" sz="1800" b="0" i="1" u="none" strike="noStrike" baseline="0" dirty="0">
                    <a:latin typeface="+mn-lt"/>
                  </a:rPr>
                  <a:t>z</a:t>
                </a:r>
                <a:r>
                  <a:rPr lang="en-US" sz="1800" b="0" i="0" u="none" strike="noStrike" baseline="0" dirty="0">
                    <a:latin typeface="+mn-lt"/>
                  </a:rPr>
                  <a:t> be correlated with </a:t>
                </a:r>
                <a14:m>
                  <m:oMath xmlns:m="http://schemas.openxmlformats.org/officeDocument/2006/math">
                    <m:sSub>
                      <m:sSubPr>
                        <m:ctrlPr>
                          <a:rPr lang="en-AU" sz="1800" i="1" smtClean="0">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𝑘</m:t>
                        </m:r>
                      </m:sub>
                    </m:sSub>
                  </m:oMath>
                </a14:m>
                <a:r>
                  <a:rPr lang="en-US" sz="1800" b="0" i="0" u="none" strike="noStrike" baseline="0" dirty="0">
                    <a:latin typeface="+mn-lt"/>
                  </a:rPr>
                  <a:t>,</a:t>
                </a:r>
              </a:p>
              <a:p>
                <a:r>
                  <a:rPr lang="en-US" sz="1800" b="0" i="0" u="none" strike="noStrike" baseline="0" dirty="0">
                    <a:latin typeface="+mn-lt"/>
                  </a:rPr>
                  <a:t>but this not strong enough. z must explain </a:t>
                </a:r>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𝑘</m:t>
                        </m:r>
                      </m:sub>
                    </m:sSub>
                  </m:oMath>
                </a14:m>
                <a:r>
                  <a:rPr lang="en-US" sz="1800" b="0" i="0" u="none" strike="noStrike" baseline="0" dirty="0">
                    <a:latin typeface="+mn-lt"/>
                  </a:rPr>
                  <a:t>, in addition to the explanatory power of  </a:t>
                </a:r>
                <a:r>
                  <a:rPr lang="en-US" sz="1800" b="0" i="0" u="none" strike="noStrike" baseline="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b="0" i="1" smtClean="0">
                            <a:latin typeface="Cambria Math" panose="02040503050406030204" pitchFamily="18" charset="0"/>
                          </a:rPr>
                          <m:t>1</m:t>
                        </m:r>
                      </m:sub>
                    </m:sSub>
                  </m:oMath>
                </a14:m>
                <a:r>
                  <a:rPr lang="en-US" sz="1800" dirty="0"/>
                  <a:t> ,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b="0" i="1" smtClean="0">
                            <a:latin typeface="Cambria Math" panose="02040503050406030204" pitchFamily="18" charset="0"/>
                          </a:rPr>
                          <m:t>2</m:t>
                        </m:r>
                      </m:sub>
                    </m:sSub>
                  </m:oMath>
                </a14:m>
                <a:r>
                  <a:rPr lang="en-US" sz="180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b="0" i="1" smtClean="0">
                            <a:latin typeface="Cambria Math" panose="02040503050406030204" pitchFamily="18" charset="0"/>
                          </a:rPr>
                          <m:t>3</m:t>
                        </m:r>
                      </m:sub>
                    </m:sSub>
                  </m:oMath>
                </a14:m>
                <a:r>
                  <a:rPr lang="en-US" sz="1800" dirty="0"/>
                  <a:t> …..</a:t>
                </a:r>
                <a:r>
                  <a:rPr lang="en-AU" sz="1800" dirty="0"/>
                  <a:t> </a:t>
                </a:r>
                <a14:m>
                  <m:oMath xmlns:m="http://schemas.openxmlformats.org/officeDocument/2006/math">
                    <m:sSub>
                      <m:sSubPr>
                        <m:ctrlPr>
                          <a:rPr lang="en-AU" sz="1800" i="1">
                            <a:latin typeface="Cambria Math" panose="02040503050406030204" pitchFamily="18" charset="0"/>
                          </a:rPr>
                        </m:ctrlPr>
                      </m:sSubPr>
                      <m:e>
                        <m:r>
                          <a:rPr lang="en-AU" sz="1800" i="1">
                            <a:latin typeface="Cambria Math" panose="02040503050406030204" pitchFamily="18" charset="0"/>
                          </a:rPr>
                          <m:t>𝑥</m:t>
                        </m:r>
                      </m:e>
                      <m:sub>
                        <m:r>
                          <a:rPr lang="en-AU" sz="1800" i="1">
                            <a:latin typeface="Cambria Math" panose="02040503050406030204" pitchFamily="18" charset="0"/>
                          </a:rPr>
                          <m:t>−</m:t>
                        </m:r>
                        <m:r>
                          <a:rPr lang="en-AU" sz="1800" i="1">
                            <a:latin typeface="Cambria Math" panose="02040503050406030204" pitchFamily="18" charset="0"/>
                          </a:rPr>
                          <m:t>𝑘</m:t>
                        </m:r>
                      </m:sub>
                    </m:sSub>
                    <m:r>
                      <a:rPr lang="en-AU" sz="1800" b="0" i="1" smtClean="0">
                        <a:latin typeface="Cambria Math" panose="02040503050406030204" pitchFamily="18" charset="0"/>
                      </a:rPr>
                      <m:t> </m:t>
                    </m:r>
                  </m:oMath>
                </a14:m>
                <a:r>
                  <a:rPr lang="en-US" sz="1800" b="0" i="0" u="none" strike="noStrike" baseline="0" dirty="0">
                    <a:latin typeface="+mn-lt"/>
                  </a:rPr>
                  <a:t>, i.e. it must be </a:t>
                </a:r>
                <a:r>
                  <a:rPr lang="en-US" sz="1800" b="1" i="0" u="none" strike="noStrike" baseline="0" dirty="0">
                    <a:latin typeface="+mn-lt"/>
                  </a:rPr>
                  <a:t>partially </a:t>
                </a:r>
                <a:r>
                  <a:rPr lang="en-AU" sz="1800" b="1" i="0" u="none" strike="noStrike" baseline="0" dirty="0">
                    <a:latin typeface="+mn-lt"/>
                  </a:rPr>
                  <a:t>correlated</a:t>
                </a:r>
                <a:r>
                  <a:rPr lang="en-AU" sz="1800" b="0" i="0" u="none" strike="noStrike" baseline="0" dirty="0">
                    <a:latin typeface="+mn-lt"/>
                  </a:rPr>
                  <a:t>.</a:t>
                </a:r>
                <a:endParaRPr lang="en-AU" dirty="0">
                  <a:latin typeface="+mn-lt"/>
                </a:endParaRPr>
              </a:p>
            </p:txBody>
          </p:sp>
        </mc:Choice>
        <mc:Fallback xmlns="">
          <p:sp>
            <p:nvSpPr>
              <p:cNvPr id="6" name="TextBox 5">
                <a:extLst>
                  <a:ext uri="{FF2B5EF4-FFF2-40B4-BE49-F238E27FC236}">
                    <a16:creationId xmlns:a16="http://schemas.microsoft.com/office/drawing/2014/main" id="{F8A140A7-5E26-4444-25F9-A714C222A606}"/>
                  </a:ext>
                </a:extLst>
              </p:cNvPr>
              <p:cNvSpPr txBox="1">
                <a:spLocks noRot="1" noChangeAspect="1" noMove="1" noResize="1" noEditPoints="1" noAdjustHandles="1" noChangeArrowheads="1" noChangeShapeType="1" noTextEdit="1"/>
              </p:cNvSpPr>
              <p:nvPr/>
            </p:nvSpPr>
            <p:spPr>
              <a:xfrm>
                <a:off x="683568" y="3212976"/>
                <a:ext cx="8003232" cy="2893100"/>
              </a:xfrm>
              <a:prstGeom prst="rect">
                <a:avLst/>
              </a:prstGeom>
              <a:blipFill>
                <a:blip r:embed="rId4"/>
                <a:stretch>
                  <a:fillRect l="-609" t="-1053" b="-1263"/>
                </a:stretch>
              </a:blipFill>
            </p:spPr>
            <p:txBody>
              <a:bodyPr/>
              <a:lstStyle/>
              <a:p>
                <a:r>
                  <a:rPr lang="en-AU">
                    <a:noFill/>
                  </a:rPr>
                  <a:t> </a:t>
                </a:r>
              </a:p>
            </p:txBody>
          </p:sp>
        </mc:Fallback>
      </mc:AlternateContent>
    </p:spTree>
    <p:extLst>
      <p:ext uri="{BB962C8B-B14F-4D97-AF65-F5344CB8AC3E}">
        <p14:creationId xmlns:p14="http://schemas.microsoft.com/office/powerpoint/2010/main" val="37780081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6CEA1-0BE3-B949-64CC-E5EDAFC57818}"/>
              </a:ext>
            </a:extLst>
          </p:cNvPr>
          <p:cNvSpPr>
            <a:spLocks noGrp="1"/>
          </p:cNvSpPr>
          <p:nvPr>
            <p:ph type="title"/>
          </p:nvPr>
        </p:nvSpPr>
        <p:spPr>
          <a:xfrm>
            <a:off x="457200" y="97755"/>
            <a:ext cx="8147248" cy="634082"/>
          </a:xfrm>
        </p:spPr>
        <p:txBody>
          <a:bodyPr/>
          <a:lstStyle/>
          <a:p>
            <a:pPr algn="l"/>
            <a:r>
              <a:rPr lang="en-AU" sz="3200" dirty="0"/>
              <a:t>IV Example </a:t>
            </a:r>
          </a:p>
        </p:txBody>
      </p:sp>
      <p:sp>
        <p:nvSpPr>
          <p:cNvPr id="3" name="Content Placeholder 2">
            <a:extLst>
              <a:ext uri="{FF2B5EF4-FFF2-40B4-BE49-F238E27FC236}">
                <a16:creationId xmlns:a16="http://schemas.microsoft.com/office/drawing/2014/main" id="{68152AFF-E5D1-BE11-25E7-3B954F2714BA}"/>
              </a:ext>
            </a:extLst>
          </p:cNvPr>
          <p:cNvSpPr>
            <a:spLocks noGrp="1"/>
          </p:cNvSpPr>
          <p:nvPr>
            <p:ph idx="1"/>
          </p:nvPr>
        </p:nvSpPr>
        <p:spPr>
          <a:xfrm>
            <a:off x="457200" y="908721"/>
            <a:ext cx="8229600" cy="2448271"/>
          </a:xfrm>
        </p:spPr>
        <p:txBody>
          <a:bodyPr/>
          <a:lstStyle/>
          <a:p>
            <a:pPr marL="0" indent="0" algn="l">
              <a:buNone/>
            </a:pPr>
            <a:r>
              <a:rPr lang="en-US" sz="1800" b="0" i="0" u="none" strike="noStrike" baseline="0" dirty="0">
                <a:latin typeface="TTdcss10"/>
              </a:rPr>
              <a:t>Consider a situation </a:t>
            </a:r>
            <a:r>
              <a:rPr lang="en-US" sz="1800" dirty="0">
                <a:latin typeface="TTdcss10"/>
              </a:rPr>
              <a:t>where the Government decides on a policy to lock down a City or State because of a viral influenza (COVID) outbreak in 2020; business and social interaction cease. What are the implications for the mental health and wellbeing of those affected?</a:t>
            </a:r>
          </a:p>
          <a:p>
            <a:pPr marL="0" indent="0" algn="ctr">
              <a:buNone/>
            </a:pPr>
            <a:r>
              <a:rPr lang="en-US" sz="1800" b="1" dirty="0">
                <a:latin typeface="TTdcss10"/>
              </a:rPr>
              <a:t>In ex post press conferences, politicians cite a positive effect of their lockdown policy on overall wellbeing, their policy benefitted the people. Is this the case?</a:t>
            </a:r>
          </a:p>
          <a:p>
            <a:pPr marL="0" indent="0" algn="l">
              <a:buNone/>
            </a:pPr>
            <a:r>
              <a:rPr lang="en-US" sz="1800" dirty="0">
                <a:latin typeface="TTdcss10"/>
              </a:rPr>
              <a:t>A quick look at mental health &amp; deaths in the HILDA panel data do not appear to support the politician’s claims:</a:t>
            </a:r>
          </a:p>
        </p:txBody>
      </p:sp>
      <p:sp>
        <p:nvSpPr>
          <p:cNvPr id="4" name="Slide Number Placeholder 3">
            <a:extLst>
              <a:ext uri="{FF2B5EF4-FFF2-40B4-BE49-F238E27FC236}">
                <a16:creationId xmlns:a16="http://schemas.microsoft.com/office/drawing/2014/main" id="{2ED9F83F-821D-1870-49C7-F44C922A0FFB}"/>
              </a:ext>
            </a:extLst>
          </p:cNvPr>
          <p:cNvSpPr>
            <a:spLocks noGrp="1"/>
          </p:cNvSpPr>
          <p:nvPr>
            <p:ph type="sldNum" sz="quarter" idx="12"/>
          </p:nvPr>
        </p:nvSpPr>
        <p:spPr/>
        <p:txBody>
          <a:bodyPr/>
          <a:lstStyle/>
          <a:p>
            <a:pPr>
              <a:defRPr/>
            </a:pPr>
            <a:fld id="{13102EC4-ECBA-422F-9159-C22944D38E99}" type="slidenum">
              <a:rPr lang="en-US" altLang="en-US" smtClean="0"/>
              <a:pPr>
                <a:defRPr/>
              </a:pPr>
              <a:t>12</a:t>
            </a:fld>
            <a:endParaRPr lang="en-US" altLang="en-US"/>
          </a:p>
        </p:txBody>
      </p:sp>
      <p:pic>
        <p:nvPicPr>
          <p:cNvPr id="5" name="Picture 4">
            <a:extLst>
              <a:ext uri="{FF2B5EF4-FFF2-40B4-BE49-F238E27FC236}">
                <a16:creationId xmlns:a16="http://schemas.microsoft.com/office/drawing/2014/main" id="{56C86A7F-F6B4-3726-7C16-0CA58A955EB6}"/>
              </a:ext>
            </a:extLst>
          </p:cNvPr>
          <p:cNvPicPr>
            <a:picLocks noChangeAspect="1"/>
          </p:cNvPicPr>
          <p:nvPr/>
        </p:nvPicPr>
        <p:blipFill>
          <a:blip r:embed="rId2"/>
          <a:stretch>
            <a:fillRect/>
          </a:stretch>
        </p:blipFill>
        <p:spPr>
          <a:xfrm>
            <a:off x="1259632" y="4797152"/>
            <a:ext cx="6089402" cy="1776586"/>
          </a:xfrm>
          <a:prstGeom prst="rect">
            <a:avLst/>
          </a:prstGeom>
        </p:spPr>
      </p:pic>
      <p:pic>
        <p:nvPicPr>
          <p:cNvPr id="6" name="Picture 5">
            <a:extLst>
              <a:ext uri="{FF2B5EF4-FFF2-40B4-BE49-F238E27FC236}">
                <a16:creationId xmlns:a16="http://schemas.microsoft.com/office/drawing/2014/main" id="{B9EEA150-ADDF-419C-5381-E99C3A5A2909}"/>
              </a:ext>
            </a:extLst>
          </p:cNvPr>
          <p:cNvPicPr>
            <a:picLocks noChangeAspect="1"/>
          </p:cNvPicPr>
          <p:nvPr/>
        </p:nvPicPr>
        <p:blipFill>
          <a:blip r:embed="rId3"/>
          <a:stretch>
            <a:fillRect/>
          </a:stretch>
        </p:blipFill>
        <p:spPr>
          <a:xfrm>
            <a:off x="3491880" y="3099078"/>
            <a:ext cx="2716605" cy="1580455"/>
          </a:xfrm>
          <a:prstGeom prst="rect">
            <a:avLst/>
          </a:prstGeom>
        </p:spPr>
      </p:pic>
      <p:sp>
        <p:nvSpPr>
          <p:cNvPr id="7" name="TextBox 6">
            <a:extLst>
              <a:ext uri="{FF2B5EF4-FFF2-40B4-BE49-F238E27FC236}">
                <a16:creationId xmlns:a16="http://schemas.microsoft.com/office/drawing/2014/main" id="{E4266A9C-2778-A12A-CA5B-FABBFAAE364B}"/>
              </a:ext>
            </a:extLst>
          </p:cNvPr>
          <p:cNvSpPr txBox="1"/>
          <p:nvPr/>
        </p:nvSpPr>
        <p:spPr>
          <a:xfrm>
            <a:off x="7092280" y="3669875"/>
            <a:ext cx="1620957" cy="369332"/>
          </a:xfrm>
          <a:prstGeom prst="rect">
            <a:avLst/>
          </a:prstGeom>
          <a:noFill/>
        </p:spPr>
        <p:txBody>
          <a:bodyPr wrap="none" rtlCol="0">
            <a:spAutoFit/>
          </a:bodyPr>
          <a:lstStyle/>
          <a:p>
            <a:r>
              <a:rPr lang="en-AU" dirty="0"/>
              <a:t>Discontinuity?</a:t>
            </a:r>
          </a:p>
        </p:txBody>
      </p:sp>
      <p:cxnSp>
        <p:nvCxnSpPr>
          <p:cNvPr id="9" name="Straight Arrow Connector 8">
            <a:extLst>
              <a:ext uri="{FF2B5EF4-FFF2-40B4-BE49-F238E27FC236}">
                <a16:creationId xmlns:a16="http://schemas.microsoft.com/office/drawing/2014/main" id="{73B371DE-BF4F-24F0-7156-72041817D5A2}"/>
              </a:ext>
            </a:extLst>
          </p:cNvPr>
          <p:cNvCxnSpPr>
            <a:cxnSpLocks/>
            <a:stCxn id="7" idx="1"/>
          </p:cNvCxnSpPr>
          <p:nvPr/>
        </p:nvCxnSpPr>
        <p:spPr>
          <a:xfrm flipH="1">
            <a:off x="5673491" y="3854541"/>
            <a:ext cx="1418789" cy="38854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51CA9D13-3208-6159-3006-6B49E028C203}"/>
              </a:ext>
            </a:extLst>
          </p:cNvPr>
          <p:cNvCxnSpPr>
            <a:cxnSpLocks/>
          </p:cNvCxnSpPr>
          <p:nvPr/>
        </p:nvCxnSpPr>
        <p:spPr>
          <a:xfrm flipH="1">
            <a:off x="7380312" y="4005064"/>
            <a:ext cx="1034761" cy="216024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3272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gtEl>
                                        <p:attrNameLst>
                                          <p:attrName>style.visibility</p:attrName>
                                        </p:attrNameLst>
                                      </p:cBhvr>
                                      <p:to>
                                        <p:strVal val="visible"/>
                                      </p:to>
                                    </p:set>
                                    <p:anim calcmode="lin" valueType="num">
                                      <p:cBhvr additive="base">
                                        <p:cTn id="25" dur="500" fill="hold"/>
                                        <p:tgtEl>
                                          <p:spTgt spid="6"/>
                                        </p:tgtEl>
                                        <p:attrNameLst>
                                          <p:attrName>ppt_x</p:attrName>
                                        </p:attrNameLst>
                                      </p:cBhvr>
                                      <p:tavLst>
                                        <p:tav tm="0">
                                          <p:val>
                                            <p:strVal val="#ppt_x"/>
                                          </p:val>
                                        </p:tav>
                                        <p:tav tm="100000">
                                          <p:val>
                                            <p:strVal val="#ppt_x"/>
                                          </p:val>
                                        </p:tav>
                                      </p:tavLst>
                                    </p:anim>
                                    <p:anim calcmode="lin" valueType="num">
                                      <p:cBhvr additive="base">
                                        <p:cTn id="26" dur="500" fill="hold"/>
                                        <p:tgtEl>
                                          <p:spTgt spid="6"/>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ppt_x</p:attrName>
                                        </p:attrNameLst>
                                      </p:cBhvr>
                                      <p:tavLst>
                                        <p:tav tm="0">
                                          <p:val>
                                            <p:strVal val="#ppt_x"/>
                                          </p:val>
                                        </p:tav>
                                        <p:tav tm="100000">
                                          <p:val>
                                            <p:strVal val="#ppt_x"/>
                                          </p:val>
                                        </p:tav>
                                      </p:tavLst>
                                    </p:anim>
                                    <p:anim calcmode="lin" valueType="num">
                                      <p:cBhvr additive="base">
                                        <p:cTn id="30" dur="500" fill="hold"/>
                                        <p:tgtEl>
                                          <p:spTgt spid="9"/>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anim calcmode="lin" valueType="num">
                                      <p:cBhvr additive="base">
                                        <p:cTn id="33" dur="500" fill="hold"/>
                                        <p:tgtEl>
                                          <p:spTgt spid="7"/>
                                        </p:tgtEl>
                                        <p:attrNameLst>
                                          <p:attrName>ppt_x</p:attrName>
                                        </p:attrNameLst>
                                      </p:cBhvr>
                                      <p:tavLst>
                                        <p:tav tm="0">
                                          <p:val>
                                            <p:strVal val="#ppt_x"/>
                                          </p:val>
                                        </p:tav>
                                        <p:tav tm="100000">
                                          <p:val>
                                            <p:strVal val="#ppt_x"/>
                                          </p:val>
                                        </p:tav>
                                      </p:tavLst>
                                    </p:anim>
                                    <p:anim calcmode="lin" valueType="num">
                                      <p:cBhvr additive="base">
                                        <p:cTn id="34" dur="500" fill="hold"/>
                                        <p:tgtEl>
                                          <p:spTgt spid="7"/>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5"/>
                                        </p:tgtEl>
                                        <p:attrNameLst>
                                          <p:attrName>style.visibility</p:attrName>
                                        </p:attrNameLst>
                                      </p:cBhvr>
                                      <p:to>
                                        <p:strVal val="visible"/>
                                      </p:to>
                                    </p:set>
                                    <p:anim calcmode="lin" valueType="num">
                                      <p:cBhvr additive="base">
                                        <p:cTn id="41" dur="500" fill="hold"/>
                                        <p:tgtEl>
                                          <p:spTgt spid="5"/>
                                        </p:tgtEl>
                                        <p:attrNameLst>
                                          <p:attrName>ppt_x</p:attrName>
                                        </p:attrNameLst>
                                      </p:cBhvr>
                                      <p:tavLst>
                                        <p:tav tm="0">
                                          <p:val>
                                            <p:strVal val="#ppt_x"/>
                                          </p:val>
                                        </p:tav>
                                        <p:tav tm="100000">
                                          <p:val>
                                            <p:strVal val="#ppt_x"/>
                                          </p:val>
                                        </p:tav>
                                      </p:tavLst>
                                    </p:anim>
                                    <p:anim calcmode="lin" valueType="num">
                                      <p:cBhvr additive="base">
                                        <p:cTn id="4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6CEA1-0BE3-B949-64CC-E5EDAFC57818}"/>
              </a:ext>
            </a:extLst>
          </p:cNvPr>
          <p:cNvSpPr>
            <a:spLocks noGrp="1"/>
          </p:cNvSpPr>
          <p:nvPr>
            <p:ph type="title"/>
          </p:nvPr>
        </p:nvSpPr>
        <p:spPr>
          <a:xfrm>
            <a:off x="457200" y="97755"/>
            <a:ext cx="8147248" cy="634082"/>
          </a:xfrm>
        </p:spPr>
        <p:txBody>
          <a:bodyPr/>
          <a:lstStyle/>
          <a:p>
            <a:pPr algn="l"/>
            <a:r>
              <a:rPr lang="en-AU" sz="3200" dirty="0"/>
              <a:t>IV Example </a:t>
            </a:r>
          </a:p>
        </p:txBody>
      </p:sp>
      <p:sp>
        <p:nvSpPr>
          <p:cNvPr id="3" name="Content Placeholder 2">
            <a:extLst>
              <a:ext uri="{FF2B5EF4-FFF2-40B4-BE49-F238E27FC236}">
                <a16:creationId xmlns:a16="http://schemas.microsoft.com/office/drawing/2014/main" id="{68152AFF-E5D1-BE11-25E7-3B954F2714BA}"/>
              </a:ext>
            </a:extLst>
          </p:cNvPr>
          <p:cNvSpPr>
            <a:spLocks noGrp="1"/>
          </p:cNvSpPr>
          <p:nvPr>
            <p:ph idx="1"/>
          </p:nvPr>
        </p:nvSpPr>
        <p:spPr>
          <a:xfrm>
            <a:off x="457200" y="908720"/>
            <a:ext cx="8229600" cy="5217443"/>
          </a:xfrm>
        </p:spPr>
        <p:txBody>
          <a:bodyPr/>
          <a:lstStyle/>
          <a:p>
            <a:pPr marL="0" indent="0">
              <a:buNone/>
            </a:pPr>
            <a:r>
              <a:rPr lang="en-US" sz="1800" dirty="0">
                <a:latin typeface="TTdcss10"/>
              </a:rPr>
              <a:t>To test the politician’s claim we decide to uncover the underlying </a:t>
            </a:r>
            <a:r>
              <a:rPr lang="en-US" sz="1800" b="1" u="sng" dirty="0">
                <a:latin typeface="TTdcss10"/>
              </a:rPr>
              <a:t>causation effect </a:t>
            </a:r>
            <a:r>
              <a:rPr lang="en-US" sz="1800" dirty="0">
                <a:latin typeface="TTdcss10"/>
              </a:rPr>
              <a:t>of the lockdowns on life satisfaction (LS) via an endogenous variable mental health (MH). MH is endogenous because all mental health changes may not necessarily arise from the lockdown; e.g. some could emerge from job loss. We decide to use an IV method: </a:t>
            </a:r>
            <a:r>
              <a:rPr lang="en-US" sz="1800" b="1" u="sng" dirty="0">
                <a:latin typeface="TTdcss10"/>
              </a:rPr>
              <a:t>Regression Discontinuity Design (RDD).</a:t>
            </a:r>
          </a:p>
          <a:p>
            <a:pPr marL="0" indent="0" algn="l">
              <a:buNone/>
            </a:pPr>
            <a:r>
              <a:rPr lang="en-US" sz="1800" dirty="0">
                <a:latin typeface="TTdcss10"/>
              </a:rPr>
              <a:t>So, we need an </a:t>
            </a:r>
            <a:r>
              <a:rPr lang="en-US" sz="1800" b="1" u="sng" dirty="0">
                <a:latin typeface="TTdcss10"/>
              </a:rPr>
              <a:t>instrument</a:t>
            </a:r>
            <a:r>
              <a:rPr lang="en-US" sz="1800" dirty="0">
                <a:latin typeface="TTdcss10"/>
              </a:rPr>
              <a:t> where we can clearly identify those who were directly affected by the lockdown in 2020 (treated group) and those who were not (control group.</a:t>
            </a:r>
          </a:p>
          <a:p>
            <a:pPr marL="0" indent="0" algn="l">
              <a:buNone/>
            </a:pPr>
            <a:r>
              <a:rPr lang="en-US" sz="1800" b="1" u="sng" dirty="0">
                <a:latin typeface="TTdcss10"/>
              </a:rPr>
              <a:t>Identification; the IV</a:t>
            </a:r>
            <a:r>
              <a:rPr lang="en-US" sz="1800" u="sng" dirty="0">
                <a:latin typeface="TTdcss10"/>
              </a:rPr>
              <a:t>: </a:t>
            </a:r>
            <a:r>
              <a:rPr lang="en-US" sz="1800" dirty="0">
                <a:latin typeface="TTdcss10"/>
              </a:rPr>
              <a:t>The survey responses from (control group) individuals answering the mental health and life satisfaction questions in 2020 HILDA Survey before the beginning  of the 1 April 2020 lockdowns (231 days) would not have captured the lockdown effect </a:t>
            </a:r>
            <a:r>
              <a:rPr lang="en-US" sz="1800" b="1" dirty="0">
                <a:latin typeface="TTdcss10"/>
              </a:rPr>
              <a:t>(</a:t>
            </a:r>
            <a:r>
              <a:rPr lang="en-US" sz="1800" b="1" i="1" dirty="0">
                <a:latin typeface="TTdcss10"/>
              </a:rPr>
              <a:t>d</a:t>
            </a:r>
            <a:r>
              <a:rPr lang="en-US" sz="1800" b="1" dirty="0">
                <a:latin typeface="TTdcss10"/>
              </a:rPr>
              <a:t>=0), </a:t>
            </a:r>
            <a:r>
              <a:rPr lang="en-US" sz="1800" dirty="0">
                <a:latin typeface="TTdcss10"/>
              </a:rPr>
              <a:t>because they didn’t know the lockdowns were coming. The COVID Lockdown affected responses from individuals who answered after 1 April 2020 are the treated group </a:t>
            </a:r>
            <a:r>
              <a:rPr lang="en-US" sz="1800" b="1" dirty="0">
                <a:latin typeface="TTdcss10"/>
              </a:rPr>
              <a:t>(</a:t>
            </a:r>
            <a:r>
              <a:rPr lang="en-US" sz="1800" b="1" i="1" dirty="0">
                <a:latin typeface="TTdcss10"/>
              </a:rPr>
              <a:t>d</a:t>
            </a:r>
            <a:r>
              <a:rPr lang="en-US" sz="1800" b="1" dirty="0">
                <a:latin typeface="TTdcss10"/>
              </a:rPr>
              <a:t>=1). </a:t>
            </a:r>
          </a:p>
          <a:p>
            <a:pPr marL="0" indent="0" algn="l">
              <a:buNone/>
            </a:pPr>
            <a:endParaRPr lang="en-US" sz="1800" dirty="0">
              <a:latin typeface="TTdcss10"/>
            </a:endParaRPr>
          </a:p>
          <a:p>
            <a:pPr marL="0" indent="0" algn="l">
              <a:buNone/>
            </a:pPr>
            <a:r>
              <a:rPr lang="en-US" sz="1800" dirty="0">
                <a:latin typeface="TTdcss10"/>
              </a:rPr>
              <a:t>Our instrument appears to satisfy the </a:t>
            </a:r>
            <a:r>
              <a:rPr lang="en-US" sz="1800" b="1" u="sng" dirty="0">
                <a:latin typeface="TTdcss10"/>
              </a:rPr>
              <a:t>exclusion restriction </a:t>
            </a:r>
            <a:r>
              <a:rPr lang="en-US" sz="1800" dirty="0">
                <a:latin typeface="TTdcss10"/>
              </a:rPr>
              <a:t>because it does not to have a direct effect on the DV (Life Satisfaction) while it does have an effect on the endogenous IV (Mental Health). </a:t>
            </a:r>
          </a:p>
        </p:txBody>
      </p:sp>
      <p:sp>
        <p:nvSpPr>
          <p:cNvPr id="4" name="Slide Number Placeholder 3">
            <a:extLst>
              <a:ext uri="{FF2B5EF4-FFF2-40B4-BE49-F238E27FC236}">
                <a16:creationId xmlns:a16="http://schemas.microsoft.com/office/drawing/2014/main" id="{2ED9F83F-821D-1870-49C7-F44C922A0FFB}"/>
              </a:ext>
            </a:extLst>
          </p:cNvPr>
          <p:cNvSpPr>
            <a:spLocks noGrp="1"/>
          </p:cNvSpPr>
          <p:nvPr>
            <p:ph type="sldNum" sz="quarter" idx="12"/>
          </p:nvPr>
        </p:nvSpPr>
        <p:spPr/>
        <p:txBody>
          <a:bodyPr/>
          <a:lstStyle/>
          <a:p>
            <a:pPr>
              <a:defRPr/>
            </a:pPr>
            <a:fld id="{13102EC4-ECBA-422F-9159-C22944D38E99}" type="slidenum">
              <a:rPr lang="en-US" altLang="en-US" smtClean="0"/>
              <a:pPr>
                <a:defRPr/>
              </a:pPr>
              <a:t>13</a:t>
            </a:fld>
            <a:endParaRPr lang="en-US" altLang="en-US"/>
          </a:p>
        </p:txBody>
      </p:sp>
    </p:spTree>
    <p:extLst>
      <p:ext uri="{BB962C8B-B14F-4D97-AF65-F5344CB8AC3E}">
        <p14:creationId xmlns:p14="http://schemas.microsoft.com/office/powerpoint/2010/main" val="23532095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64E4E-8E63-D5CE-800A-553280E7C87C}"/>
              </a:ext>
            </a:extLst>
          </p:cNvPr>
          <p:cNvSpPr>
            <a:spLocks noGrp="1"/>
          </p:cNvSpPr>
          <p:nvPr>
            <p:ph type="title"/>
          </p:nvPr>
        </p:nvSpPr>
        <p:spPr>
          <a:xfrm>
            <a:off x="539552" y="179350"/>
            <a:ext cx="7931224" cy="807110"/>
          </a:xfrm>
        </p:spPr>
        <p:txBody>
          <a:bodyPr/>
          <a:lstStyle/>
          <a:p>
            <a:pPr algn="l"/>
            <a:r>
              <a:rPr lang="en-AU" sz="3600" dirty="0"/>
              <a:t>IV Example </a:t>
            </a:r>
            <a:endParaRPr lang="en-AU" dirty="0"/>
          </a:p>
        </p:txBody>
      </p:sp>
      <p:sp>
        <p:nvSpPr>
          <p:cNvPr id="4" name="Slide Number Placeholder 3">
            <a:extLst>
              <a:ext uri="{FF2B5EF4-FFF2-40B4-BE49-F238E27FC236}">
                <a16:creationId xmlns:a16="http://schemas.microsoft.com/office/drawing/2014/main" id="{4BC9D681-EA82-64D3-6729-C2443A98A377}"/>
              </a:ext>
            </a:extLst>
          </p:cNvPr>
          <p:cNvSpPr>
            <a:spLocks noGrp="1"/>
          </p:cNvSpPr>
          <p:nvPr>
            <p:ph type="sldNum" sz="quarter" idx="12"/>
          </p:nvPr>
        </p:nvSpPr>
        <p:spPr/>
        <p:txBody>
          <a:bodyPr/>
          <a:lstStyle/>
          <a:p>
            <a:pPr>
              <a:defRPr/>
            </a:pPr>
            <a:fld id="{13102EC4-ECBA-422F-9159-C22944D38E99}" type="slidenum">
              <a:rPr lang="en-US" altLang="en-US" smtClean="0"/>
              <a:pPr>
                <a:defRPr/>
              </a:pPr>
              <a:t>14</a:t>
            </a:fld>
            <a:endParaRPr lang="en-US" alt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615D26-77A0-80A5-5FF4-BEF539C155B8}"/>
                  </a:ext>
                </a:extLst>
              </p:cNvPr>
              <p:cNvSpPr txBox="1"/>
              <p:nvPr/>
            </p:nvSpPr>
            <p:spPr>
              <a:xfrm>
                <a:off x="971600" y="2022964"/>
                <a:ext cx="6192688"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sz="2400" i="1" smtClean="0">
                              <a:latin typeface="Cambria Math" panose="02040503050406030204" pitchFamily="18" charset="0"/>
                            </a:rPr>
                          </m:ctrlPr>
                        </m:sSubPr>
                        <m:e>
                          <m:r>
                            <a:rPr lang="en-AU" sz="2400" b="0" i="1" smtClean="0">
                              <a:latin typeface="Cambria Math" panose="02040503050406030204" pitchFamily="18" charset="0"/>
                            </a:rPr>
                            <m:t>𝐿𝑆</m:t>
                          </m:r>
                        </m:e>
                        <m:sub/>
                      </m:sSub>
                      <m:r>
                        <a:rPr lang="en-AU" sz="2400" i="1" smtClean="0">
                          <a:latin typeface="Cambria Math" panose="02040503050406030204" pitchFamily="18" charset="0"/>
                        </a:rPr>
                        <m:t>=</m:t>
                      </m:r>
                      <m:sSub>
                        <m:sSubPr>
                          <m:ctrlPr>
                            <a:rPr lang="el-GR" sz="2400" i="1" smtClean="0">
                              <a:latin typeface="Cambria Math" panose="02040503050406030204" pitchFamily="18" charset="0"/>
                            </a:rPr>
                          </m:ctrlPr>
                        </m:sSubPr>
                        <m:e>
                          <m:r>
                            <a:rPr lang="el-GR" sz="2400" i="1">
                              <a:latin typeface="Cambria Math" panose="02040503050406030204" pitchFamily="18" charset="0"/>
                            </a:rPr>
                            <m:t>𝛽</m:t>
                          </m:r>
                        </m:e>
                        <m:sub>
                          <m:r>
                            <a:rPr lang="en-AU" sz="2400" b="0" i="1" smtClean="0">
                              <a:latin typeface="Cambria Math" panose="02040503050406030204" pitchFamily="18" charset="0"/>
                            </a:rPr>
                            <m:t>0</m:t>
                          </m:r>
                        </m:sub>
                      </m:sSub>
                      <m:r>
                        <a:rPr lang="en-AU" sz="2400" b="0" i="1" smtClean="0">
                          <a:latin typeface="Cambria Math" panose="02040503050406030204" pitchFamily="18" charset="0"/>
                        </a:rPr>
                        <m:t>+</m:t>
                      </m:r>
                      <m:sSub>
                        <m:sSubPr>
                          <m:ctrlPr>
                            <a:rPr lang="el-GR" sz="2400" i="1">
                              <a:latin typeface="Cambria Math" panose="02040503050406030204" pitchFamily="18" charset="0"/>
                            </a:rPr>
                          </m:ctrlPr>
                        </m:sSubPr>
                        <m:e>
                          <m:r>
                            <a:rPr lang="el-GR" sz="2400" i="1">
                              <a:latin typeface="Cambria Math" panose="02040503050406030204" pitchFamily="18" charset="0"/>
                            </a:rPr>
                            <m:t>𝛽</m:t>
                          </m:r>
                        </m:e>
                        <m:sub>
                          <m:r>
                            <a:rPr lang="en-AU" sz="2400" b="0" i="1" smtClean="0">
                              <a:latin typeface="Cambria Math" panose="02040503050406030204" pitchFamily="18" charset="0"/>
                            </a:rPr>
                            <m:t>1</m:t>
                          </m:r>
                        </m:sub>
                      </m:sSub>
                      <m:r>
                        <a:rPr lang="en-AU" sz="2400" i="1">
                          <a:latin typeface="Cambria Math" panose="02040503050406030204" pitchFamily="18" charset="0"/>
                        </a:rPr>
                        <m:t>𝑑</m:t>
                      </m:r>
                      <m:r>
                        <a:rPr lang="en-AU" sz="2400" i="1">
                          <a:latin typeface="Cambria Math" panose="02040503050406030204" pitchFamily="18" charset="0"/>
                        </a:rPr>
                        <m:t>+</m:t>
                      </m:r>
                      <m:sSub>
                        <m:sSubPr>
                          <m:ctrlPr>
                            <a:rPr lang="el-GR" sz="2400" i="1">
                              <a:latin typeface="Cambria Math" panose="02040503050406030204" pitchFamily="18" charset="0"/>
                            </a:rPr>
                          </m:ctrlPr>
                        </m:sSubPr>
                        <m:e>
                          <m:r>
                            <a:rPr lang="el-GR" sz="2400" i="1">
                              <a:latin typeface="Cambria Math" panose="02040503050406030204" pitchFamily="18" charset="0"/>
                            </a:rPr>
                            <m:t>𝛽</m:t>
                          </m:r>
                        </m:e>
                        <m:sub>
                          <m:r>
                            <a:rPr lang="en-AU" sz="2400" b="0" i="1" smtClean="0">
                              <a:latin typeface="Cambria Math" panose="02040503050406030204" pitchFamily="18" charset="0"/>
                            </a:rPr>
                            <m:t>2</m:t>
                          </m:r>
                        </m:sub>
                      </m:sSub>
                      <m:r>
                        <a:rPr lang="en-AU" sz="2400" b="0" i="1" smtClean="0">
                          <a:latin typeface="Cambria Math" panose="02040503050406030204" pitchFamily="18" charset="0"/>
                        </a:rPr>
                        <m:t>𝑀𝐻</m:t>
                      </m:r>
                      <m:r>
                        <a:rPr lang="en-AU" sz="2400" b="0" i="1" smtClean="0">
                          <a:latin typeface="Cambria Math" panose="02040503050406030204" pitchFamily="18" charset="0"/>
                        </a:rPr>
                        <m:t>+</m:t>
                      </m:r>
                      <m:sSub>
                        <m:sSubPr>
                          <m:ctrlPr>
                            <a:rPr lang="el-GR" sz="2400" i="1">
                              <a:latin typeface="Cambria Math" panose="02040503050406030204" pitchFamily="18" charset="0"/>
                            </a:rPr>
                          </m:ctrlPr>
                        </m:sSubPr>
                        <m:e>
                          <m:r>
                            <a:rPr lang="el-GR" sz="2400" i="1">
                              <a:latin typeface="Cambria Math" panose="02040503050406030204" pitchFamily="18" charset="0"/>
                            </a:rPr>
                            <m:t>𝛽</m:t>
                          </m:r>
                        </m:e>
                        <m:sub>
                          <m:r>
                            <a:rPr lang="en-AU" sz="2400" b="0" i="1" smtClean="0">
                              <a:latin typeface="Cambria Math" panose="02040503050406030204" pitchFamily="18" charset="0"/>
                            </a:rPr>
                            <m:t>3</m:t>
                          </m:r>
                        </m:sub>
                      </m:sSub>
                      <m:r>
                        <a:rPr lang="en-AU" sz="2400" b="0" i="1" smtClean="0">
                          <a:latin typeface="Cambria Math" panose="02040503050406030204" pitchFamily="18" charset="0"/>
                        </a:rPr>
                        <m:t>𝑥</m:t>
                      </m:r>
                      <m:r>
                        <a:rPr lang="en-AU" sz="2400" b="0" i="1" smtClean="0">
                          <a:latin typeface="Cambria Math" panose="02040503050406030204" pitchFamily="18" charset="0"/>
                        </a:rPr>
                        <m:t>+</m:t>
                      </m:r>
                      <m:r>
                        <a:rPr lang="el-GR" sz="2400" b="0" i="1" smtClean="0">
                          <a:latin typeface="Cambria Math" panose="02040503050406030204" pitchFamily="18" charset="0"/>
                        </a:rPr>
                        <m:t>𝜀</m:t>
                      </m:r>
                      <m:r>
                        <a:rPr lang="en-AU" sz="2400" b="0" i="1" smtClean="0">
                          <a:latin typeface="Cambria Math" panose="02040503050406030204" pitchFamily="18" charset="0"/>
                        </a:rPr>
                        <m:t>           </m:t>
                      </m:r>
                      <m:d>
                        <m:dPr>
                          <m:ctrlPr>
                            <a:rPr lang="en-AU" sz="2400" b="0" i="1" smtClean="0">
                              <a:latin typeface="Cambria Math" panose="02040503050406030204" pitchFamily="18" charset="0"/>
                            </a:rPr>
                          </m:ctrlPr>
                        </m:dPr>
                        <m:e>
                          <m:r>
                            <a:rPr lang="en-AU" sz="2400" b="0" i="1" smtClean="0">
                              <a:latin typeface="Cambria Math" panose="02040503050406030204" pitchFamily="18" charset="0"/>
                            </a:rPr>
                            <m:t>1</m:t>
                          </m:r>
                        </m:e>
                      </m:d>
                    </m:oMath>
                  </m:oMathPara>
                </a14:m>
                <a:endParaRPr lang="en-AU" sz="2400" i="1" dirty="0"/>
              </a:p>
            </p:txBody>
          </p:sp>
        </mc:Choice>
        <mc:Fallback xmlns="">
          <p:sp>
            <p:nvSpPr>
              <p:cNvPr id="5" name="TextBox 4">
                <a:extLst>
                  <a:ext uri="{FF2B5EF4-FFF2-40B4-BE49-F238E27FC236}">
                    <a16:creationId xmlns:a16="http://schemas.microsoft.com/office/drawing/2014/main" id="{AA615D26-77A0-80A5-5FF4-BEF539C155B8}"/>
                  </a:ext>
                </a:extLst>
              </p:cNvPr>
              <p:cNvSpPr txBox="1">
                <a:spLocks noRot="1" noChangeAspect="1" noMove="1" noResize="1" noEditPoints="1" noAdjustHandles="1" noChangeArrowheads="1" noChangeShapeType="1" noTextEdit="1"/>
              </p:cNvSpPr>
              <p:nvPr/>
            </p:nvSpPr>
            <p:spPr>
              <a:xfrm>
                <a:off x="971600" y="2022964"/>
                <a:ext cx="6192688" cy="369332"/>
              </a:xfrm>
              <a:prstGeom prst="rect">
                <a:avLst/>
              </a:prstGeom>
              <a:blipFill>
                <a:blip r:embed="rId3"/>
                <a:stretch>
                  <a:fillRect b="-38333"/>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EB3EC28-816E-0039-40F7-F98F0A1D3B69}"/>
                  </a:ext>
                </a:extLst>
              </p:cNvPr>
              <p:cNvSpPr txBox="1"/>
              <p:nvPr/>
            </p:nvSpPr>
            <p:spPr>
              <a:xfrm>
                <a:off x="2555776" y="3026855"/>
                <a:ext cx="4407810" cy="369332"/>
              </a:xfrm>
              <a:prstGeom prst="rect">
                <a:avLst/>
              </a:prstGeom>
              <a:noFill/>
            </p:spPr>
            <p:txBody>
              <a:bodyPr wrap="none" lIns="0" tIns="0" rIns="0" bIns="0" rtlCol="0">
                <a:spAutoFit/>
              </a:bodyPr>
              <a:lstStyle/>
              <a:p>
                <a14:m>
                  <m:oMath xmlns:m="http://schemas.openxmlformats.org/officeDocument/2006/math">
                    <m:sSub>
                      <m:sSubPr>
                        <m:ctrlPr>
                          <a:rPr lang="en-AU" sz="2400" i="1" smtClean="0">
                            <a:latin typeface="Cambria Math" panose="02040503050406030204" pitchFamily="18" charset="0"/>
                          </a:rPr>
                        </m:ctrlPr>
                      </m:sSubPr>
                      <m:e>
                        <m:r>
                          <a:rPr lang="en-AU" sz="2400" b="0" i="1" smtClean="0">
                            <a:latin typeface="Cambria Math" panose="02040503050406030204" pitchFamily="18" charset="0"/>
                          </a:rPr>
                          <m:t>𝑀𝐻</m:t>
                        </m:r>
                      </m:e>
                      <m:sub>
                        <m:r>
                          <a:rPr lang="en-AU" sz="2400" b="0" i="1" smtClean="0">
                            <a:latin typeface="Cambria Math" panose="02040503050406030204" pitchFamily="18" charset="0"/>
                          </a:rPr>
                          <m:t>𝑖</m:t>
                        </m:r>
                      </m:sub>
                    </m:sSub>
                    <m:r>
                      <a:rPr lang="en-AU" sz="2400" i="1" smtClean="0">
                        <a:latin typeface="Cambria Math" panose="02040503050406030204" pitchFamily="18" charset="0"/>
                      </a:rPr>
                      <m:t>=</m:t>
                    </m:r>
                    <m:sSub>
                      <m:sSubPr>
                        <m:ctrlPr>
                          <a:rPr lang="el-GR" sz="2400" i="1" smtClean="0">
                            <a:latin typeface="Cambria Math" panose="02040503050406030204" pitchFamily="18" charset="0"/>
                          </a:rPr>
                        </m:ctrlPr>
                      </m:sSubPr>
                      <m:e>
                        <m:r>
                          <a:rPr lang="el-GR" sz="2400" i="1">
                            <a:latin typeface="Cambria Math" panose="02040503050406030204" pitchFamily="18" charset="0"/>
                          </a:rPr>
                          <m:t>𝛽</m:t>
                        </m:r>
                      </m:e>
                      <m:sub>
                        <m:r>
                          <a:rPr lang="en-AU" sz="2400" b="0" i="1" smtClean="0">
                            <a:latin typeface="Cambria Math" panose="02040503050406030204" pitchFamily="18" charset="0"/>
                          </a:rPr>
                          <m:t>0</m:t>
                        </m:r>
                      </m:sub>
                    </m:sSub>
                    <m:r>
                      <a:rPr lang="en-AU" sz="2400" i="1">
                        <a:latin typeface="Cambria Math" panose="02040503050406030204" pitchFamily="18" charset="0"/>
                      </a:rPr>
                      <m:t>+</m:t>
                    </m:r>
                    <m:sSub>
                      <m:sSubPr>
                        <m:ctrlPr>
                          <a:rPr lang="el-GR" sz="2400" i="1">
                            <a:latin typeface="Cambria Math" panose="02040503050406030204" pitchFamily="18" charset="0"/>
                          </a:rPr>
                        </m:ctrlPr>
                      </m:sSubPr>
                      <m:e>
                        <m:r>
                          <a:rPr lang="el-GR" sz="2400" i="1">
                            <a:latin typeface="Cambria Math" panose="02040503050406030204" pitchFamily="18" charset="0"/>
                            <a:ea typeface="Cambria Math" panose="02040503050406030204" pitchFamily="18" charset="0"/>
                          </a:rPr>
                          <m:t>𝜃</m:t>
                        </m:r>
                      </m:e>
                      <m:sub>
                        <m:r>
                          <a:rPr lang="en-AU" sz="2400" i="1">
                            <a:latin typeface="Cambria Math" panose="02040503050406030204" pitchFamily="18" charset="0"/>
                          </a:rPr>
                          <m:t>1</m:t>
                        </m:r>
                      </m:sub>
                    </m:sSub>
                    <m:r>
                      <a:rPr lang="en-AU" sz="2400" i="1">
                        <a:latin typeface="Cambria Math" panose="02040503050406030204" pitchFamily="18" charset="0"/>
                      </a:rPr>
                      <m:t>𝑑</m:t>
                    </m:r>
                    <m:r>
                      <a:rPr lang="en-AU" sz="2400" i="1">
                        <a:latin typeface="Cambria Math" panose="02040503050406030204" pitchFamily="18" charset="0"/>
                      </a:rPr>
                      <m:t>+</m:t>
                    </m:r>
                    <m:sSub>
                      <m:sSubPr>
                        <m:ctrlPr>
                          <a:rPr lang="el-GR" sz="2400" i="1">
                            <a:latin typeface="Cambria Math" panose="02040503050406030204" pitchFamily="18" charset="0"/>
                          </a:rPr>
                        </m:ctrlPr>
                      </m:sSubPr>
                      <m:e>
                        <m:r>
                          <a:rPr lang="el-GR" sz="2400" i="1">
                            <a:latin typeface="Cambria Math" panose="02040503050406030204" pitchFamily="18" charset="0"/>
                            <a:ea typeface="Cambria Math" panose="02040503050406030204" pitchFamily="18" charset="0"/>
                          </a:rPr>
                          <m:t>𝜃</m:t>
                        </m:r>
                      </m:e>
                      <m:sub>
                        <m:r>
                          <a:rPr lang="en-AU" sz="2400" b="0" i="1" smtClean="0">
                            <a:latin typeface="Cambria Math" panose="02040503050406030204" pitchFamily="18" charset="0"/>
                            <a:ea typeface="Cambria Math" panose="02040503050406030204" pitchFamily="18" charset="0"/>
                          </a:rPr>
                          <m:t>2</m:t>
                        </m:r>
                      </m:sub>
                    </m:sSub>
                    <m:r>
                      <a:rPr lang="en-AU" sz="2400" b="0" i="1" smtClean="0">
                        <a:latin typeface="Cambria Math" panose="02040503050406030204" pitchFamily="18" charset="0"/>
                      </a:rPr>
                      <m:t>𝑥</m:t>
                    </m:r>
                    <m:r>
                      <a:rPr lang="en-AU" sz="2400" b="0" i="1" smtClean="0">
                        <a:latin typeface="Cambria Math" panose="02040503050406030204" pitchFamily="18" charset="0"/>
                      </a:rPr>
                      <m:t>+</m:t>
                    </m:r>
                    <m:r>
                      <a:rPr lang="en-AU" sz="2400" b="0" i="1" smtClean="0">
                        <a:latin typeface="Cambria Math" panose="02040503050406030204" pitchFamily="18" charset="0"/>
                      </a:rPr>
                      <m:t>𝑢</m:t>
                    </m:r>
                  </m:oMath>
                </a14:m>
                <a:r>
                  <a:rPr lang="en-AU" sz="2400" i="1" dirty="0"/>
                  <a:t>      </a:t>
                </a:r>
                <a:r>
                  <a:rPr lang="en-AU" sz="2400" dirty="0"/>
                  <a:t>(2)</a:t>
                </a:r>
              </a:p>
            </p:txBody>
          </p:sp>
        </mc:Choice>
        <mc:Fallback xmlns="">
          <p:sp>
            <p:nvSpPr>
              <p:cNvPr id="6" name="TextBox 5">
                <a:extLst>
                  <a:ext uri="{FF2B5EF4-FFF2-40B4-BE49-F238E27FC236}">
                    <a16:creationId xmlns:a16="http://schemas.microsoft.com/office/drawing/2014/main" id="{6EB3EC28-816E-0039-40F7-F98F0A1D3B69}"/>
                  </a:ext>
                </a:extLst>
              </p:cNvPr>
              <p:cNvSpPr txBox="1">
                <a:spLocks noRot="1" noChangeAspect="1" noMove="1" noResize="1" noEditPoints="1" noAdjustHandles="1" noChangeArrowheads="1" noChangeShapeType="1" noTextEdit="1"/>
              </p:cNvSpPr>
              <p:nvPr/>
            </p:nvSpPr>
            <p:spPr>
              <a:xfrm>
                <a:off x="2555776" y="3026855"/>
                <a:ext cx="4407810" cy="369332"/>
              </a:xfrm>
              <a:prstGeom prst="rect">
                <a:avLst/>
              </a:prstGeom>
              <a:blipFill>
                <a:blip r:embed="rId4"/>
                <a:stretch>
                  <a:fillRect l="-2351" t="-25000" r="-3458" b="-51667"/>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AB3B935-7F08-ED4F-59FD-141FEA132302}"/>
                  </a:ext>
                </a:extLst>
              </p:cNvPr>
              <p:cNvSpPr txBox="1"/>
              <p:nvPr/>
            </p:nvSpPr>
            <p:spPr>
              <a:xfrm>
                <a:off x="2057658" y="4045584"/>
                <a:ext cx="5028684" cy="369332"/>
              </a:xfrm>
              <a:prstGeom prst="rect">
                <a:avLst/>
              </a:prstGeom>
              <a:noFill/>
            </p:spPr>
            <p:txBody>
              <a:bodyPr wrap="none" lIns="0" tIns="0" rIns="0" bIns="0" rtlCol="0">
                <a:spAutoFit/>
              </a:bodyPr>
              <a:lstStyle/>
              <a:p>
                <a14:m>
                  <m:oMath xmlns:m="http://schemas.openxmlformats.org/officeDocument/2006/math">
                    <m:sSub>
                      <m:sSubPr>
                        <m:ctrlPr>
                          <a:rPr lang="en-AU" sz="2400" i="1" smtClean="0">
                            <a:latin typeface="Cambria Math" panose="02040503050406030204" pitchFamily="18" charset="0"/>
                          </a:rPr>
                        </m:ctrlPr>
                      </m:sSubPr>
                      <m:e>
                        <m:r>
                          <a:rPr lang="en-AU" sz="2400" b="0" i="1" smtClean="0">
                            <a:latin typeface="Cambria Math" panose="02040503050406030204" pitchFamily="18" charset="0"/>
                          </a:rPr>
                          <m:t>𝐿𝑆</m:t>
                        </m:r>
                      </m:e>
                      <m:sub/>
                    </m:sSub>
                    <m:r>
                      <a:rPr lang="en-AU" sz="2400" i="1" smtClean="0">
                        <a:latin typeface="Cambria Math" panose="02040503050406030204" pitchFamily="18" charset="0"/>
                      </a:rPr>
                      <m:t>=</m:t>
                    </m:r>
                    <m:sSub>
                      <m:sSubPr>
                        <m:ctrlPr>
                          <a:rPr lang="el-GR" sz="2400" i="1" smtClean="0">
                            <a:latin typeface="Cambria Math" panose="02040503050406030204" pitchFamily="18" charset="0"/>
                          </a:rPr>
                        </m:ctrlPr>
                      </m:sSubPr>
                      <m:e>
                        <m:r>
                          <a:rPr lang="el-GR" sz="2400" i="1">
                            <a:latin typeface="Cambria Math" panose="02040503050406030204" pitchFamily="18" charset="0"/>
                          </a:rPr>
                          <m:t>𝛽</m:t>
                        </m:r>
                      </m:e>
                      <m:sub>
                        <m:r>
                          <a:rPr lang="en-AU" sz="2400" b="0" i="1" smtClean="0">
                            <a:latin typeface="Cambria Math" panose="02040503050406030204" pitchFamily="18" charset="0"/>
                          </a:rPr>
                          <m:t>0</m:t>
                        </m:r>
                      </m:sub>
                    </m:sSub>
                    <m:r>
                      <a:rPr lang="en-AU" sz="2400" i="1">
                        <a:latin typeface="Cambria Math" panose="02040503050406030204" pitchFamily="18" charset="0"/>
                      </a:rPr>
                      <m:t>+</m:t>
                    </m:r>
                    <m:sSub>
                      <m:sSubPr>
                        <m:ctrlPr>
                          <a:rPr lang="el-GR" sz="2400" i="1">
                            <a:latin typeface="Cambria Math" panose="02040503050406030204" pitchFamily="18" charset="0"/>
                          </a:rPr>
                        </m:ctrlPr>
                      </m:sSubPr>
                      <m:e>
                        <m:r>
                          <a:rPr lang="el-GR" sz="2400" i="1" smtClean="0">
                            <a:latin typeface="Cambria Math" panose="02040503050406030204" pitchFamily="18" charset="0"/>
                            <a:ea typeface="Cambria Math" panose="02040503050406030204" pitchFamily="18" charset="0"/>
                          </a:rPr>
                          <m:t>𝜋</m:t>
                        </m:r>
                      </m:e>
                      <m:sub>
                        <m:r>
                          <a:rPr lang="en-AU" sz="2400" i="1">
                            <a:latin typeface="Cambria Math" panose="02040503050406030204" pitchFamily="18" charset="0"/>
                          </a:rPr>
                          <m:t>1</m:t>
                        </m:r>
                      </m:sub>
                    </m:sSub>
                    <m:r>
                      <a:rPr lang="en-AU" sz="2400" b="0" i="1" smtClean="0">
                        <a:latin typeface="Cambria Math" panose="02040503050406030204" pitchFamily="18" charset="0"/>
                      </a:rPr>
                      <m:t>𝑀𝐻</m:t>
                    </m:r>
                    <m:r>
                      <a:rPr lang="en-AU" sz="2400" i="1">
                        <a:latin typeface="Cambria Math" panose="02040503050406030204" pitchFamily="18" charset="0"/>
                      </a:rPr>
                      <m:t>+</m:t>
                    </m:r>
                    <m:sSub>
                      <m:sSubPr>
                        <m:ctrlPr>
                          <a:rPr lang="el-GR" sz="2400" i="1">
                            <a:latin typeface="Cambria Math" panose="02040503050406030204" pitchFamily="18" charset="0"/>
                          </a:rPr>
                        </m:ctrlPr>
                      </m:sSubPr>
                      <m:e>
                        <m:r>
                          <a:rPr lang="el-GR" sz="2400" i="1" smtClean="0">
                            <a:latin typeface="Cambria Math" panose="02040503050406030204" pitchFamily="18" charset="0"/>
                            <a:ea typeface="Cambria Math" panose="02040503050406030204" pitchFamily="18" charset="0"/>
                          </a:rPr>
                          <m:t>𝜋</m:t>
                        </m:r>
                      </m:e>
                      <m:sub>
                        <m:r>
                          <a:rPr lang="en-AU" sz="2400" b="0" i="1" smtClean="0">
                            <a:latin typeface="Cambria Math" panose="02040503050406030204" pitchFamily="18" charset="0"/>
                            <a:ea typeface="Cambria Math" panose="02040503050406030204" pitchFamily="18" charset="0"/>
                          </a:rPr>
                          <m:t>2</m:t>
                        </m:r>
                      </m:sub>
                    </m:sSub>
                    <m:r>
                      <a:rPr lang="en-AU" sz="2400" b="0" i="1" smtClean="0">
                        <a:latin typeface="Cambria Math" panose="02040503050406030204" pitchFamily="18" charset="0"/>
                      </a:rPr>
                      <m:t>𝑥</m:t>
                    </m:r>
                    <m:r>
                      <a:rPr lang="en-AU" sz="2400" b="0" i="1" smtClean="0">
                        <a:latin typeface="Cambria Math" panose="02040503050406030204" pitchFamily="18" charset="0"/>
                      </a:rPr>
                      <m:t>+</m:t>
                    </m:r>
                    <m:r>
                      <a:rPr lang="en-AU" sz="2400" b="0" i="1" smtClean="0">
                        <a:latin typeface="Cambria Math" panose="02040503050406030204" pitchFamily="18" charset="0"/>
                      </a:rPr>
                      <m:t>𝑢</m:t>
                    </m:r>
                  </m:oMath>
                </a14:m>
                <a:r>
                  <a:rPr lang="en-AU" sz="2400" i="1" dirty="0"/>
                  <a:t> + v   </a:t>
                </a:r>
                <a:r>
                  <a:rPr lang="en-AU" sz="2400" dirty="0"/>
                  <a:t>(3)</a:t>
                </a:r>
              </a:p>
            </p:txBody>
          </p:sp>
        </mc:Choice>
        <mc:Fallback xmlns="">
          <p:sp>
            <p:nvSpPr>
              <p:cNvPr id="7" name="TextBox 6">
                <a:extLst>
                  <a:ext uri="{FF2B5EF4-FFF2-40B4-BE49-F238E27FC236}">
                    <a16:creationId xmlns:a16="http://schemas.microsoft.com/office/drawing/2014/main" id="{EAB3B935-7F08-ED4F-59FD-141FEA132302}"/>
                  </a:ext>
                </a:extLst>
              </p:cNvPr>
              <p:cNvSpPr txBox="1">
                <a:spLocks noRot="1" noChangeAspect="1" noMove="1" noResize="1" noEditPoints="1" noAdjustHandles="1" noChangeArrowheads="1" noChangeShapeType="1" noTextEdit="1"/>
              </p:cNvSpPr>
              <p:nvPr/>
            </p:nvSpPr>
            <p:spPr>
              <a:xfrm>
                <a:off x="2057658" y="4045584"/>
                <a:ext cx="5028684" cy="369332"/>
              </a:xfrm>
              <a:prstGeom prst="rect">
                <a:avLst/>
              </a:prstGeom>
              <a:blipFill>
                <a:blip r:embed="rId5"/>
                <a:stretch>
                  <a:fillRect l="-2184" t="-25000" r="-1942" b="-51667"/>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D923658-F4FD-CC98-3B82-8516CE68F536}"/>
                  </a:ext>
                </a:extLst>
              </p:cNvPr>
              <p:cNvSpPr txBox="1"/>
              <p:nvPr/>
            </p:nvSpPr>
            <p:spPr>
              <a:xfrm>
                <a:off x="2699792" y="2579488"/>
                <a:ext cx="3097148" cy="36933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AU" sz="1800" b="1" i="0" smtClean="0">
                          <a:latin typeface="Cambria Math" panose="02040503050406030204" pitchFamily="18" charset="0"/>
                        </a:rPr>
                        <m:t>𝐅𝐢𝐫𝐬𝐭</m:t>
                      </m:r>
                      <m:r>
                        <a:rPr lang="en-AU" sz="1800" b="1" i="0" smtClean="0">
                          <a:latin typeface="Cambria Math" panose="02040503050406030204" pitchFamily="18" charset="0"/>
                        </a:rPr>
                        <m:t> </m:t>
                      </m:r>
                      <m:r>
                        <a:rPr lang="en-AU" sz="1800" b="1" i="0" smtClean="0">
                          <a:latin typeface="Cambria Math" panose="02040503050406030204" pitchFamily="18" charset="0"/>
                        </a:rPr>
                        <m:t>𝐒𝐭𝐚𝐠𝐞</m:t>
                      </m:r>
                      <m:r>
                        <a:rPr lang="en-AU" sz="1800" b="1" i="0" smtClean="0">
                          <a:latin typeface="Cambria Math" panose="02040503050406030204" pitchFamily="18" charset="0"/>
                        </a:rPr>
                        <m:t>:</m:t>
                      </m:r>
                      <m:r>
                        <a:rPr lang="en-AU" sz="1800" b="1" i="0" smtClean="0">
                          <a:latin typeface="Cambria Math" panose="02040503050406030204" pitchFamily="18" charset="0"/>
                        </a:rPr>
                        <m:t>𝐑𝐞𝐝𝐮𝐜𝐞𝐝</m:t>
                      </m:r>
                      <m:r>
                        <a:rPr lang="en-AU" sz="1800" b="1" i="0" smtClean="0">
                          <a:latin typeface="Cambria Math" panose="02040503050406030204" pitchFamily="18" charset="0"/>
                        </a:rPr>
                        <m:t> </m:t>
                      </m:r>
                      <m:r>
                        <a:rPr lang="en-AU" sz="1800" b="1" i="0" smtClean="0">
                          <a:latin typeface="Cambria Math" panose="02040503050406030204" pitchFamily="18" charset="0"/>
                        </a:rPr>
                        <m:t>𝐅𝐨𝐫𝐦</m:t>
                      </m:r>
                    </m:oMath>
                  </m:oMathPara>
                </a14:m>
                <a:endParaRPr lang="en-AU" b="1" dirty="0">
                  <a:latin typeface="+mn-lt"/>
                </a:endParaRPr>
              </a:p>
            </p:txBody>
          </p:sp>
        </mc:Choice>
        <mc:Fallback xmlns="">
          <p:sp>
            <p:nvSpPr>
              <p:cNvPr id="9" name="TextBox 8">
                <a:extLst>
                  <a:ext uri="{FF2B5EF4-FFF2-40B4-BE49-F238E27FC236}">
                    <a16:creationId xmlns:a16="http://schemas.microsoft.com/office/drawing/2014/main" id="{7D923658-F4FD-CC98-3B82-8516CE68F536}"/>
                  </a:ext>
                </a:extLst>
              </p:cNvPr>
              <p:cNvSpPr txBox="1">
                <a:spLocks noRot="1" noChangeAspect="1" noMove="1" noResize="1" noEditPoints="1" noAdjustHandles="1" noChangeArrowheads="1" noChangeShapeType="1" noTextEdit="1"/>
              </p:cNvSpPr>
              <p:nvPr/>
            </p:nvSpPr>
            <p:spPr>
              <a:xfrm>
                <a:off x="2699792" y="2579488"/>
                <a:ext cx="3097148" cy="369332"/>
              </a:xfrm>
              <a:prstGeom prst="rect">
                <a:avLst/>
              </a:prstGeom>
              <a:blipFill>
                <a:blip r:embed="rId6"/>
                <a:stretch>
                  <a:fillRect b="-13115"/>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7D86A7B-25C3-7EDF-5B42-F01E984BA86B}"/>
                  </a:ext>
                </a:extLst>
              </p:cNvPr>
              <p:cNvSpPr txBox="1"/>
              <p:nvPr/>
            </p:nvSpPr>
            <p:spPr>
              <a:xfrm>
                <a:off x="3698731" y="1537981"/>
                <a:ext cx="881653" cy="36933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AU" sz="1800" b="1" i="0" smtClean="0">
                          <a:latin typeface="Cambria Math" panose="02040503050406030204" pitchFamily="18" charset="0"/>
                        </a:rPr>
                        <m:t>𝐎𝐋𝐒</m:t>
                      </m:r>
                    </m:oMath>
                  </m:oMathPara>
                </a14:m>
                <a:endParaRPr lang="en-AU" b="1" dirty="0">
                  <a:latin typeface="+mn-lt"/>
                </a:endParaRPr>
              </a:p>
            </p:txBody>
          </p:sp>
        </mc:Choice>
        <mc:Fallback xmlns="">
          <p:sp>
            <p:nvSpPr>
              <p:cNvPr id="10" name="TextBox 9">
                <a:extLst>
                  <a:ext uri="{FF2B5EF4-FFF2-40B4-BE49-F238E27FC236}">
                    <a16:creationId xmlns:a16="http://schemas.microsoft.com/office/drawing/2014/main" id="{37D86A7B-25C3-7EDF-5B42-F01E984BA86B}"/>
                  </a:ext>
                </a:extLst>
              </p:cNvPr>
              <p:cNvSpPr txBox="1">
                <a:spLocks noRot="1" noChangeAspect="1" noMove="1" noResize="1" noEditPoints="1" noAdjustHandles="1" noChangeArrowheads="1" noChangeShapeType="1" noTextEdit="1"/>
              </p:cNvSpPr>
              <p:nvPr/>
            </p:nvSpPr>
            <p:spPr>
              <a:xfrm>
                <a:off x="3698731" y="1537981"/>
                <a:ext cx="881653" cy="369332"/>
              </a:xfrm>
              <a:prstGeom prst="rect">
                <a:avLst/>
              </a:prstGeom>
              <a:blipFill>
                <a:blip r:embed="rId7"/>
                <a:stretch>
                  <a:fillRect/>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31E228-5F57-86AD-310A-950969D14C0A}"/>
                  </a:ext>
                </a:extLst>
              </p:cNvPr>
              <p:cNvSpPr txBox="1"/>
              <p:nvPr/>
            </p:nvSpPr>
            <p:spPr>
              <a:xfrm>
                <a:off x="2699792" y="3609647"/>
                <a:ext cx="3097148" cy="36933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AU" sz="1800" b="1" i="0" smtClean="0">
                          <a:latin typeface="Cambria Math" panose="02040503050406030204" pitchFamily="18" charset="0"/>
                        </a:rPr>
                        <m:t>𝐒𝐞𝐜𝐨𝐧𝐝</m:t>
                      </m:r>
                      <m:r>
                        <a:rPr lang="en-AU" sz="1800" b="1" i="0" smtClean="0">
                          <a:latin typeface="Cambria Math" panose="02040503050406030204" pitchFamily="18" charset="0"/>
                        </a:rPr>
                        <m:t> </m:t>
                      </m:r>
                      <m:r>
                        <a:rPr lang="en-AU" sz="1800" b="1" i="0" smtClean="0">
                          <a:latin typeface="Cambria Math" panose="02040503050406030204" pitchFamily="18" charset="0"/>
                        </a:rPr>
                        <m:t>𝐒𝐭𝐚𝐠𝐞</m:t>
                      </m:r>
                      <m:r>
                        <a:rPr lang="en-AU" sz="1800" b="1" i="0" smtClean="0">
                          <a:latin typeface="Cambria Math" panose="02040503050406030204" pitchFamily="18" charset="0"/>
                        </a:rPr>
                        <m:t>:</m:t>
                      </m:r>
                      <m:r>
                        <a:rPr lang="en-AU" sz="1800" b="1" i="0" smtClean="0">
                          <a:latin typeface="Cambria Math" panose="02040503050406030204" pitchFamily="18" charset="0"/>
                        </a:rPr>
                        <m:t>𝐒𝐭𝐫𝐮𝐜𝐭𝐮𝐫𝐚𝐥</m:t>
                      </m:r>
                      <m:r>
                        <a:rPr lang="en-AU" sz="1800" b="1" i="0" smtClean="0">
                          <a:latin typeface="Cambria Math" panose="02040503050406030204" pitchFamily="18" charset="0"/>
                        </a:rPr>
                        <m:t> </m:t>
                      </m:r>
                      <m:r>
                        <a:rPr lang="en-AU" sz="1800" b="1" i="0" smtClean="0">
                          <a:latin typeface="Cambria Math" panose="02040503050406030204" pitchFamily="18" charset="0"/>
                        </a:rPr>
                        <m:t>𝐅𝐨𝐫𝐦</m:t>
                      </m:r>
                    </m:oMath>
                  </m:oMathPara>
                </a14:m>
                <a:endParaRPr lang="en-AU" b="1" dirty="0">
                  <a:latin typeface="+mn-lt"/>
                </a:endParaRPr>
              </a:p>
            </p:txBody>
          </p:sp>
        </mc:Choice>
        <mc:Fallback xmlns="">
          <p:sp>
            <p:nvSpPr>
              <p:cNvPr id="11" name="TextBox 10">
                <a:extLst>
                  <a:ext uri="{FF2B5EF4-FFF2-40B4-BE49-F238E27FC236}">
                    <a16:creationId xmlns:a16="http://schemas.microsoft.com/office/drawing/2014/main" id="{DC31E228-5F57-86AD-310A-950969D14C0A}"/>
                  </a:ext>
                </a:extLst>
              </p:cNvPr>
              <p:cNvSpPr txBox="1">
                <a:spLocks noRot="1" noChangeAspect="1" noMove="1" noResize="1" noEditPoints="1" noAdjustHandles="1" noChangeArrowheads="1" noChangeShapeType="1" noTextEdit="1"/>
              </p:cNvSpPr>
              <p:nvPr/>
            </p:nvSpPr>
            <p:spPr>
              <a:xfrm>
                <a:off x="2699792" y="3609647"/>
                <a:ext cx="3097148" cy="369332"/>
              </a:xfrm>
              <a:prstGeom prst="rect">
                <a:avLst/>
              </a:prstGeom>
              <a:blipFill>
                <a:blip r:embed="rId8"/>
                <a:stretch>
                  <a:fillRect r="-10236" b="-13115"/>
                </a:stretch>
              </a:blipFill>
            </p:spPr>
            <p:txBody>
              <a:bodyPr/>
              <a:lstStyle/>
              <a:p>
                <a:r>
                  <a:rPr lang="en-AU">
                    <a:noFill/>
                  </a:rPr>
                  <a:t> </a:t>
                </a:r>
              </a:p>
            </p:txBody>
          </p:sp>
        </mc:Fallback>
      </mc:AlternateContent>
      <p:sp>
        <p:nvSpPr>
          <p:cNvPr id="12" name="TextBox 11">
            <a:extLst>
              <a:ext uri="{FF2B5EF4-FFF2-40B4-BE49-F238E27FC236}">
                <a16:creationId xmlns:a16="http://schemas.microsoft.com/office/drawing/2014/main" id="{0A8C03EE-8D65-1987-2F94-FEC33B372E1E}"/>
              </a:ext>
            </a:extLst>
          </p:cNvPr>
          <p:cNvSpPr txBox="1"/>
          <p:nvPr/>
        </p:nvSpPr>
        <p:spPr>
          <a:xfrm>
            <a:off x="51050" y="5169224"/>
            <a:ext cx="9041899" cy="369332"/>
          </a:xfrm>
          <a:prstGeom prst="rect">
            <a:avLst/>
          </a:prstGeom>
          <a:noFill/>
        </p:spPr>
        <p:txBody>
          <a:bodyPr wrap="none" rtlCol="0">
            <a:spAutoFit/>
          </a:bodyPr>
          <a:lstStyle/>
          <a:p>
            <a:r>
              <a:rPr lang="en-AU" dirty="0"/>
              <a:t>Victorian State HILDA Data: 2019 to 2020; one year either side of the 2020 Lockdowns.</a:t>
            </a:r>
          </a:p>
        </p:txBody>
      </p:sp>
    </p:spTree>
    <p:extLst>
      <p:ext uri="{BB962C8B-B14F-4D97-AF65-F5344CB8AC3E}">
        <p14:creationId xmlns:p14="http://schemas.microsoft.com/office/powerpoint/2010/main" val="6657497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6CEA1-0BE3-B949-64CC-E5EDAFC57818}"/>
              </a:ext>
            </a:extLst>
          </p:cNvPr>
          <p:cNvSpPr>
            <a:spLocks noGrp="1"/>
          </p:cNvSpPr>
          <p:nvPr>
            <p:ph type="title"/>
          </p:nvPr>
        </p:nvSpPr>
        <p:spPr>
          <a:xfrm>
            <a:off x="498376" y="68962"/>
            <a:ext cx="8147248" cy="634082"/>
          </a:xfrm>
        </p:spPr>
        <p:txBody>
          <a:bodyPr/>
          <a:lstStyle/>
          <a:p>
            <a:pPr algn="l"/>
            <a:r>
              <a:rPr lang="en-AU" sz="3200" dirty="0"/>
              <a:t>IV Example </a:t>
            </a:r>
          </a:p>
        </p:txBody>
      </p:sp>
      <p:sp>
        <p:nvSpPr>
          <p:cNvPr id="4" name="Slide Number Placeholder 3">
            <a:extLst>
              <a:ext uri="{FF2B5EF4-FFF2-40B4-BE49-F238E27FC236}">
                <a16:creationId xmlns:a16="http://schemas.microsoft.com/office/drawing/2014/main" id="{2ED9F83F-821D-1870-49C7-F44C922A0FFB}"/>
              </a:ext>
            </a:extLst>
          </p:cNvPr>
          <p:cNvSpPr>
            <a:spLocks noGrp="1"/>
          </p:cNvSpPr>
          <p:nvPr>
            <p:ph type="sldNum" sz="quarter" idx="12"/>
          </p:nvPr>
        </p:nvSpPr>
        <p:spPr/>
        <p:txBody>
          <a:bodyPr/>
          <a:lstStyle/>
          <a:p>
            <a:pPr>
              <a:defRPr/>
            </a:pPr>
            <a:fld id="{13102EC4-ECBA-422F-9159-C22944D38E99}" type="slidenum">
              <a:rPr lang="en-US" altLang="en-US" smtClean="0"/>
              <a:pPr>
                <a:defRPr/>
              </a:pPr>
              <a:t>15</a:t>
            </a:fld>
            <a:endParaRPr lang="en-US" altLang="en-US"/>
          </a:p>
        </p:txBody>
      </p:sp>
      <p:pic>
        <p:nvPicPr>
          <p:cNvPr id="5" name="Picture 4">
            <a:extLst>
              <a:ext uri="{FF2B5EF4-FFF2-40B4-BE49-F238E27FC236}">
                <a16:creationId xmlns:a16="http://schemas.microsoft.com/office/drawing/2014/main" id="{906E5BAB-3050-B066-22A6-A7BA1E88AB5D}"/>
              </a:ext>
            </a:extLst>
          </p:cNvPr>
          <p:cNvPicPr>
            <a:picLocks noChangeAspect="1"/>
          </p:cNvPicPr>
          <p:nvPr/>
        </p:nvPicPr>
        <p:blipFill>
          <a:blip r:embed="rId3"/>
          <a:stretch>
            <a:fillRect/>
          </a:stretch>
        </p:blipFill>
        <p:spPr>
          <a:xfrm>
            <a:off x="1331640" y="1615293"/>
            <a:ext cx="5472608" cy="2977668"/>
          </a:xfrm>
          <a:prstGeom prst="rect">
            <a:avLst/>
          </a:prstGeom>
        </p:spPr>
      </p:pic>
      <p:sp>
        <p:nvSpPr>
          <p:cNvPr id="6" name="TextBox 5">
            <a:extLst>
              <a:ext uri="{FF2B5EF4-FFF2-40B4-BE49-F238E27FC236}">
                <a16:creationId xmlns:a16="http://schemas.microsoft.com/office/drawing/2014/main" id="{B6464B57-048E-BE52-B49E-006291294647}"/>
              </a:ext>
            </a:extLst>
          </p:cNvPr>
          <p:cNvSpPr txBox="1"/>
          <p:nvPr/>
        </p:nvSpPr>
        <p:spPr>
          <a:xfrm>
            <a:off x="1259632" y="4592961"/>
            <a:ext cx="4248472" cy="738664"/>
          </a:xfrm>
          <a:prstGeom prst="rect">
            <a:avLst/>
          </a:prstGeom>
          <a:noFill/>
        </p:spPr>
        <p:txBody>
          <a:bodyPr wrap="square">
            <a:spAutoFit/>
          </a:bodyPr>
          <a:lstStyle/>
          <a:p>
            <a:r>
              <a:rPr lang="en-US" sz="1400" b="0" i="0" u="none" strike="noStrike" dirty="0">
                <a:effectLst/>
                <a:latin typeface="Arial" panose="020B0604020202020204" pitchFamily="34" charset="0"/>
              </a:rPr>
              <a:t>Marginal effects; Standard errors in parentheses</a:t>
            </a:r>
          </a:p>
          <a:p>
            <a:r>
              <a:rPr lang="nn-NO" sz="1400" b="0" i="0" u="none" strike="noStrike" dirty="0">
                <a:effectLst/>
                <a:latin typeface="Arial" panose="020B0604020202020204" pitchFamily="34" charset="0"/>
              </a:rPr>
              <a:t>+ p&lt;0.10, * p&lt;0.05, ** p&lt;0.01</a:t>
            </a:r>
            <a:r>
              <a:rPr lang="nn-NO" sz="1400" dirty="0"/>
              <a:t> </a:t>
            </a:r>
            <a:r>
              <a:rPr lang="en-US" sz="1400" dirty="0"/>
              <a:t> </a:t>
            </a:r>
          </a:p>
          <a:p>
            <a:r>
              <a:rPr lang="en-US" sz="1400" dirty="0"/>
              <a:t>F-stat requirements per Lee et. al., 2022.</a:t>
            </a:r>
            <a:endParaRPr lang="en-AU" sz="1400" dirty="0"/>
          </a:p>
        </p:txBody>
      </p:sp>
      <p:pic>
        <p:nvPicPr>
          <p:cNvPr id="8" name="Picture 7">
            <a:extLst>
              <a:ext uri="{FF2B5EF4-FFF2-40B4-BE49-F238E27FC236}">
                <a16:creationId xmlns:a16="http://schemas.microsoft.com/office/drawing/2014/main" id="{0BF36074-9AD2-D4D4-4EE9-935E7618426A}"/>
              </a:ext>
            </a:extLst>
          </p:cNvPr>
          <p:cNvPicPr>
            <a:picLocks noChangeAspect="1"/>
          </p:cNvPicPr>
          <p:nvPr/>
        </p:nvPicPr>
        <p:blipFill>
          <a:blip r:embed="rId4"/>
          <a:stretch>
            <a:fillRect/>
          </a:stretch>
        </p:blipFill>
        <p:spPr>
          <a:xfrm>
            <a:off x="2339752" y="5525512"/>
            <a:ext cx="5522854" cy="1072599"/>
          </a:xfrm>
          <a:prstGeom prst="rect">
            <a:avLst/>
          </a:prstGeom>
        </p:spPr>
      </p:pic>
      <p:sp>
        <p:nvSpPr>
          <p:cNvPr id="10" name="TextBox 9">
            <a:extLst>
              <a:ext uri="{FF2B5EF4-FFF2-40B4-BE49-F238E27FC236}">
                <a16:creationId xmlns:a16="http://schemas.microsoft.com/office/drawing/2014/main" id="{1B98DB83-11C8-76D5-CC29-5506B2C5488D}"/>
              </a:ext>
            </a:extLst>
          </p:cNvPr>
          <p:cNvSpPr txBox="1"/>
          <p:nvPr/>
        </p:nvSpPr>
        <p:spPr>
          <a:xfrm>
            <a:off x="827584" y="6061811"/>
            <a:ext cx="1120820" cy="369332"/>
          </a:xfrm>
          <a:prstGeom prst="rect">
            <a:avLst/>
          </a:prstGeom>
          <a:noFill/>
        </p:spPr>
        <p:txBody>
          <a:bodyPr wrap="none" rtlCol="0">
            <a:spAutoFit/>
          </a:bodyPr>
          <a:lstStyle/>
          <a:p>
            <a:r>
              <a:rPr lang="en-AU" b="1" dirty="0">
                <a:solidFill>
                  <a:srgbClr val="00B050"/>
                </a:solidFill>
              </a:rPr>
              <a:t>Interpret</a:t>
            </a:r>
          </a:p>
        </p:txBody>
      </p:sp>
      <p:sp>
        <p:nvSpPr>
          <p:cNvPr id="11" name="TextBox 10">
            <a:extLst>
              <a:ext uri="{FF2B5EF4-FFF2-40B4-BE49-F238E27FC236}">
                <a16:creationId xmlns:a16="http://schemas.microsoft.com/office/drawing/2014/main" id="{18924DB7-2D46-292B-04CA-04244220FFEF}"/>
              </a:ext>
            </a:extLst>
          </p:cNvPr>
          <p:cNvSpPr txBox="1"/>
          <p:nvPr/>
        </p:nvSpPr>
        <p:spPr>
          <a:xfrm>
            <a:off x="519728" y="647447"/>
            <a:ext cx="7167347" cy="923330"/>
          </a:xfrm>
          <a:prstGeom prst="rect">
            <a:avLst/>
          </a:prstGeom>
          <a:noFill/>
        </p:spPr>
        <p:txBody>
          <a:bodyPr wrap="none" rtlCol="0">
            <a:spAutoFit/>
          </a:bodyPr>
          <a:lstStyle/>
          <a:p>
            <a:r>
              <a:rPr lang="en-AU" dirty="0"/>
              <a:t>Stata: </a:t>
            </a:r>
            <a:r>
              <a:rPr lang="en-US" dirty="0"/>
              <a:t>xi </a:t>
            </a:r>
            <a:r>
              <a:rPr lang="en-US" dirty="0" err="1"/>
              <a:t>i.age</a:t>
            </a:r>
            <a:endParaRPr lang="en-US" dirty="0"/>
          </a:p>
          <a:p>
            <a:r>
              <a:rPr lang="en-AU" dirty="0"/>
              <a:t>ivreg2 </a:t>
            </a:r>
            <a:r>
              <a:rPr lang="en-AU" dirty="0" err="1"/>
              <a:t>lifesat</a:t>
            </a:r>
            <a:r>
              <a:rPr lang="en-AU" dirty="0"/>
              <a:t>  female _</a:t>
            </a:r>
            <a:r>
              <a:rPr lang="en-AU" dirty="0" err="1"/>
              <a:t>Iage</a:t>
            </a:r>
            <a:r>
              <a:rPr lang="en-AU" dirty="0"/>
              <a:t>_*  (</a:t>
            </a:r>
            <a:r>
              <a:rPr lang="en-AU" dirty="0" err="1"/>
              <a:t>mental_health</a:t>
            </a:r>
            <a:r>
              <a:rPr lang="en-AU" dirty="0"/>
              <a:t>=</a:t>
            </a:r>
            <a:r>
              <a:rPr lang="en-AU" dirty="0" err="1"/>
              <a:t>covic</a:t>
            </a:r>
            <a:r>
              <a:rPr lang="en-AU" dirty="0"/>
              <a:t>), cluster(</a:t>
            </a:r>
            <a:r>
              <a:rPr lang="en-AU" dirty="0" err="1"/>
              <a:t>persnr</a:t>
            </a:r>
            <a:r>
              <a:rPr lang="en-AU" dirty="0"/>
              <a:t>) </a:t>
            </a:r>
          </a:p>
          <a:p>
            <a:r>
              <a:rPr lang="en-AU" dirty="0"/>
              <a:t>first </a:t>
            </a:r>
            <a:r>
              <a:rPr lang="en-AU" dirty="0" err="1"/>
              <a:t>savefirst</a:t>
            </a:r>
            <a:r>
              <a:rPr lang="en-AU" dirty="0"/>
              <a:t> </a:t>
            </a:r>
            <a:r>
              <a:rPr lang="en-AU" dirty="0" err="1"/>
              <a:t>savefprefix</a:t>
            </a:r>
            <a:r>
              <a:rPr lang="en-AU" dirty="0"/>
              <a:t>(first)</a:t>
            </a:r>
          </a:p>
        </p:txBody>
      </p:sp>
    </p:spTree>
    <p:extLst>
      <p:ext uri="{BB962C8B-B14F-4D97-AF65-F5344CB8AC3E}">
        <p14:creationId xmlns:p14="http://schemas.microsoft.com/office/powerpoint/2010/main" val="36053176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42A57-8C9D-32BF-388E-B014A49256C7}"/>
              </a:ext>
            </a:extLst>
          </p:cNvPr>
          <p:cNvSpPr>
            <a:spLocks noGrp="1"/>
          </p:cNvSpPr>
          <p:nvPr>
            <p:ph type="title"/>
          </p:nvPr>
        </p:nvSpPr>
        <p:spPr>
          <a:xfrm>
            <a:off x="467544" y="136525"/>
            <a:ext cx="8075240" cy="634082"/>
          </a:xfrm>
        </p:spPr>
        <p:txBody>
          <a:bodyPr/>
          <a:lstStyle/>
          <a:p>
            <a:pPr algn="l"/>
            <a:r>
              <a:rPr lang="en-AU" sz="3200" dirty="0"/>
              <a:t>IV Tests using IVREG2 in Stata</a:t>
            </a:r>
          </a:p>
        </p:txBody>
      </p:sp>
      <p:sp>
        <p:nvSpPr>
          <p:cNvPr id="4" name="Slide Number Placeholder 3">
            <a:extLst>
              <a:ext uri="{FF2B5EF4-FFF2-40B4-BE49-F238E27FC236}">
                <a16:creationId xmlns:a16="http://schemas.microsoft.com/office/drawing/2014/main" id="{AE415849-D994-F2EC-1191-8436069961B3}"/>
              </a:ext>
            </a:extLst>
          </p:cNvPr>
          <p:cNvSpPr>
            <a:spLocks noGrp="1"/>
          </p:cNvSpPr>
          <p:nvPr>
            <p:ph type="sldNum" sz="quarter" idx="12"/>
          </p:nvPr>
        </p:nvSpPr>
        <p:spPr/>
        <p:txBody>
          <a:bodyPr/>
          <a:lstStyle/>
          <a:p>
            <a:pPr>
              <a:defRPr/>
            </a:pPr>
            <a:fld id="{13102EC4-ECBA-422F-9159-C22944D38E99}" type="slidenum">
              <a:rPr lang="en-US" altLang="en-US" smtClean="0"/>
              <a:pPr>
                <a:defRPr/>
              </a:pPr>
              <a:t>16</a:t>
            </a:fld>
            <a:endParaRPr lang="en-US" altLang="en-US"/>
          </a:p>
        </p:txBody>
      </p:sp>
      <p:sp>
        <p:nvSpPr>
          <p:cNvPr id="6" name="TextBox 5">
            <a:extLst>
              <a:ext uri="{FF2B5EF4-FFF2-40B4-BE49-F238E27FC236}">
                <a16:creationId xmlns:a16="http://schemas.microsoft.com/office/drawing/2014/main" id="{F87A5A9A-7917-62DF-578D-F03587A7AFA6}"/>
              </a:ext>
            </a:extLst>
          </p:cNvPr>
          <p:cNvSpPr txBox="1"/>
          <p:nvPr/>
        </p:nvSpPr>
        <p:spPr>
          <a:xfrm>
            <a:off x="467544" y="764927"/>
            <a:ext cx="8219256" cy="6186309"/>
          </a:xfrm>
          <a:prstGeom prst="rect">
            <a:avLst/>
          </a:prstGeom>
          <a:noFill/>
        </p:spPr>
        <p:txBody>
          <a:bodyPr wrap="square">
            <a:spAutoFit/>
          </a:bodyPr>
          <a:lstStyle/>
          <a:p>
            <a:endParaRPr lang="en-AU" dirty="0"/>
          </a:p>
          <a:p>
            <a:r>
              <a:rPr lang="en-AU" b="1" dirty="0"/>
              <a:t>First Stage F-Statistic (note: Lee et al., 2021)</a:t>
            </a:r>
          </a:p>
          <a:p>
            <a:r>
              <a:rPr lang="en-AU" b="1" dirty="0"/>
              <a:t>Test of excluded instruments:</a:t>
            </a:r>
          </a:p>
          <a:p>
            <a:r>
              <a:rPr lang="en-AU" b="1" dirty="0" err="1"/>
              <a:t>Underidentification</a:t>
            </a:r>
            <a:r>
              <a:rPr lang="en-AU" b="1" dirty="0"/>
              <a:t> tests</a:t>
            </a:r>
          </a:p>
          <a:p>
            <a:r>
              <a:rPr lang="en-AU" b="1" dirty="0"/>
              <a:t>Weak identification test</a:t>
            </a:r>
          </a:p>
          <a:p>
            <a:r>
              <a:rPr lang="en-AU" b="1" dirty="0"/>
              <a:t>Weak-instrument-robust inference</a:t>
            </a:r>
          </a:p>
          <a:p>
            <a:r>
              <a:rPr lang="en-AU" b="1" dirty="0"/>
              <a:t>Weak Instrument Tests</a:t>
            </a:r>
          </a:p>
          <a:p>
            <a:r>
              <a:rPr lang="en-AU" b="1" dirty="0" err="1"/>
              <a:t>Underidentification</a:t>
            </a:r>
            <a:endParaRPr lang="en-AU" b="1" dirty="0"/>
          </a:p>
          <a:p>
            <a:r>
              <a:rPr lang="en-AU" b="1" dirty="0"/>
              <a:t>Identification Tests</a:t>
            </a:r>
          </a:p>
          <a:p>
            <a:r>
              <a:rPr lang="en-AU" b="1" dirty="0"/>
              <a:t>Test of endogeneity</a:t>
            </a:r>
          </a:p>
          <a:p>
            <a:endParaRPr lang="en-AU" dirty="0"/>
          </a:p>
          <a:p>
            <a:r>
              <a:rPr lang="en-AU" dirty="0"/>
              <a:t>Stata Example: </a:t>
            </a:r>
          </a:p>
          <a:p>
            <a:r>
              <a:rPr lang="en-US" dirty="0"/>
              <a:t>use istat_v6.dta, clear </a:t>
            </a:r>
            <a:endParaRPr lang="en-AU" dirty="0"/>
          </a:p>
          <a:p>
            <a:r>
              <a:rPr lang="en-US" dirty="0"/>
              <a:t>ivreg2 </a:t>
            </a:r>
            <a:r>
              <a:rPr lang="en-US" dirty="0" err="1"/>
              <a:t>lifesat</a:t>
            </a:r>
            <a:r>
              <a:rPr lang="en-US" dirty="0"/>
              <a:t>  female _</a:t>
            </a:r>
            <a:r>
              <a:rPr lang="en-US" dirty="0" err="1"/>
              <a:t>Iage</a:t>
            </a:r>
            <a:r>
              <a:rPr lang="en-US" dirty="0"/>
              <a:t>_*  (</a:t>
            </a:r>
            <a:r>
              <a:rPr lang="en-US" dirty="0" err="1"/>
              <a:t>mental_health</a:t>
            </a:r>
            <a:r>
              <a:rPr lang="en-US" dirty="0"/>
              <a:t>=</a:t>
            </a:r>
            <a:r>
              <a:rPr lang="en-US" dirty="0" err="1"/>
              <a:t>covic</a:t>
            </a:r>
            <a:r>
              <a:rPr lang="en-US" dirty="0"/>
              <a:t>), cluster(`cluster') first </a:t>
            </a:r>
            <a:r>
              <a:rPr lang="en-US" dirty="0" err="1"/>
              <a:t>savefirst</a:t>
            </a:r>
            <a:r>
              <a:rPr lang="en-US" dirty="0"/>
              <a:t> </a:t>
            </a:r>
            <a:r>
              <a:rPr lang="en-US" dirty="0" err="1"/>
              <a:t>savefprefix</a:t>
            </a:r>
            <a:r>
              <a:rPr lang="en-US" dirty="0"/>
              <a:t>(first) </a:t>
            </a:r>
            <a:r>
              <a:rPr lang="en-US" dirty="0" err="1"/>
              <a:t>endog</a:t>
            </a:r>
            <a:r>
              <a:rPr lang="en-US" dirty="0"/>
              <a:t>(</a:t>
            </a:r>
            <a:r>
              <a:rPr lang="en-US" dirty="0" err="1"/>
              <a:t>mental_health</a:t>
            </a:r>
            <a:r>
              <a:rPr lang="en-US" dirty="0"/>
              <a:t>)</a:t>
            </a:r>
            <a:endParaRPr lang="en-AU" dirty="0"/>
          </a:p>
          <a:p>
            <a:endParaRPr lang="en-AU" dirty="0"/>
          </a:p>
          <a:p>
            <a:endParaRPr lang="en-AU" dirty="0"/>
          </a:p>
          <a:p>
            <a:endParaRPr lang="en-AU" dirty="0"/>
          </a:p>
          <a:p>
            <a:endParaRPr lang="en-AU" dirty="0"/>
          </a:p>
          <a:p>
            <a:endParaRPr lang="en-AU" dirty="0"/>
          </a:p>
          <a:p>
            <a:endParaRPr lang="en-AU" dirty="0"/>
          </a:p>
          <a:p>
            <a:endParaRPr lang="en-US" dirty="0"/>
          </a:p>
        </p:txBody>
      </p:sp>
    </p:spTree>
    <p:extLst>
      <p:ext uri="{BB962C8B-B14F-4D97-AF65-F5344CB8AC3E}">
        <p14:creationId xmlns:p14="http://schemas.microsoft.com/office/powerpoint/2010/main" val="17442149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B25C7-7160-EC11-5EAA-41BD6753E34E}"/>
              </a:ext>
            </a:extLst>
          </p:cNvPr>
          <p:cNvSpPr>
            <a:spLocks noGrp="1"/>
          </p:cNvSpPr>
          <p:nvPr>
            <p:ph type="title"/>
          </p:nvPr>
        </p:nvSpPr>
        <p:spPr>
          <a:xfrm>
            <a:off x="457200" y="-7957"/>
            <a:ext cx="8229600" cy="1143000"/>
          </a:xfrm>
        </p:spPr>
        <p:txBody>
          <a:bodyPr/>
          <a:lstStyle/>
          <a:p>
            <a:r>
              <a:rPr lang="en-AU" sz="3200" dirty="0">
                <a:solidFill>
                  <a:srgbClr val="00B050"/>
                </a:solidFill>
              </a:rPr>
              <a:t>Self-Completion tasks</a:t>
            </a:r>
          </a:p>
        </p:txBody>
      </p:sp>
      <p:sp>
        <p:nvSpPr>
          <p:cNvPr id="3" name="Content Placeholder 2">
            <a:extLst>
              <a:ext uri="{FF2B5EF4-FFF2-40B4-BE49-F238E27FC236}">
                <a16:creationId xmlns:a16="http://schemas.microsoft.com/office/drawing/2014/main" id="{6C4DBF85-62D5-3554-0010-2C29266492B0}"/>
              </a:ext>
            </a:extLst>
          </p:cNvPr>
          <p:cNvSpPr>
            <a:spLocks noGrp="1"/>
          </p:cNvSpPr>
          <p:nvPr>
            <p:ph idx="1"/>
          </p:nvPr>
        </p:nvSpPr>
        <p:spPr>
          <a:xfrm>
            <a:off x="489046" y="1093070"/>
            <a:ext cx="8229600" cy="4968551"/>
          </a:xfrm>
        </p:spPr>
        <p:txBody>
          <a:bodyPr/>
          <a:lstStyle/>
          <a:p>
            <a:pPr marL="0" indent="0">
              <a:buNone/>
            </a:pPr>
            <a:r>
              <a:rPr lang="en-AU" sz="1800" b="1" kern="1200" dirty="0">
                <a:solidFill>
                  <a:srgbClr val="00B050"/>
                </a:solidFill>
                <a:latin typeface="Arial" panose="020B0604020202020204" pitchFamily="34" charset="0"/>
              </a:rPr>
              <a:t>IV1: Using the 2019 to 2020 panel data, run a OLS regression including the variables from the dataset that you consider have an  effect on the dependent variable,  Life Satisfaction; include the COVID dummy (</a:t>
            </a:r>
            <a:r>
              <a:rPr lang="en-AU" sz="1800" b="1" kern="1200" dirty="0" err="1">
                <a:solidFill>
                  <a:srgbClr val="00B050"/>
                </a:solidFill>
                <a:latin typeface="Arial" panose="020B0604020202020204" pitchFamily="34" charset="0"/>
              </a:rPr>
              <a:t>covic</a:t>
            </a:r>
            <a:r>
              <a:rPr lang="en-AU" sz="1800" b="1" kern="1200" dirty="0">
                <a:solidFill>
                  <a:srgbClr val="00B050"/>
                </a:solidFill>
                <a:latin typeface="Arial" panose="020B0604020202020204" pitchFamily="34" charset="0"/>
              </a:rPr>
              <a:t>). Report the: effect(s), standard errors, sample size, level of explanation for and interpret the results in terms of the research question. </a:t>
            </a:r>
          </a:p>
          <a:p>
            <a:pPr marL="0" indent="0">
              <a:buNone/>
            </a:pPr>
            <a:endParaRPr lang="en-AU" sz="1800" b="1" kern="1200" dirty="0">
              <a:solidFill>
                <a:srgbClr val="00B050"/>
              </a:solidFill>
              <a:latin typeface="Arial" panose="020B0604020202020204" pitchFamily="34" charset="0"/>
            </a:endParaRPr>
          </a:p>
          <a:p>
            <a:pPr marL="0" indent="0">
              <a:buNone/>
            </a:pPr>
            <a:r>
              <a:rPr lang="en-AU" sz="1800" b="1" kern="1200" dirty="0">
                <a:solidFill>
                  <a:srgbClr val="00B050"/>
                </a:solidFill>
                <a:latin typeface="Arial" panose="020B0604020202020204" pitchFamily="34" charset="0"/>
              </a:rPr>
              <a:t>IV1: Repeat then above using IVREG2. Incorporate the causal evidence from this analysis in a letter to the Government that reveals the effect of the COVID Lockdowns on Victoria (</a:t>
            </a:r>
            <a:r>
              <a:rPr lang="en-AU" sz="1800" b="1" kern="1200" dirty="0" err="1">
                <a:solidFill>
                  <a:srgbClr val="00B050"/>
                </a:solidFill>
                <a:latin typeface="Arial" panose="020B0604020202020204" pitchFamily="34" charset="0"/>
              </a:rPr>
              <a:t>hhstate</a:t>
            </a:r>
            <a:r>
              <a:rPr lang="en-AU" sz="1800" b="1" kern="1200" dirty="0">
                <a:solidFill>
                  <a:srgbClr val="00B050"/>
                </a:solidFill>
                <a:latin typeface="Arial" panose="020B0604020202020204" pitchFamily="34" charset="0"/>
              </a:rPr>
              <a:t>==2).</a:t>
            </a:r>
          </a:p>
          <a:p>
            <a:pPr marL="0" indent="0">
              <a:buNone/>
            </a:pPr>
            <a:endParaRPr lang="en-AU" sz="1800" b="1" kern="1200" dirty="0">
              <a:solidFill>
                <a:srgbClr val="00B050"/>
              </a:solidFill>
              <a:latin typeface="Arial" panose="020B0604020202020204" pitchFamily="34" charset="0"/>
            </a:endParaRPr>
          </a:p>
          <a:p>
            <a:pPr marL="0" indent="0">
              <a:buNone/>
            </a:pPr>
            <a:endParaRPr lang="en-AU" sz="1800" b="1" kern="1200" dirty="0">
              <a:solidFill>
                <a:srgbClr val="00B050"/>
              </a:solidFill>
              <a:latin typeface="Arial" panose="020B0604020202020204" pitchFamily="34" charset="0"/>
            </a:endParaRPr>
          </a:p>
          <a:p>
            <a:pPr marL="0" indent="0">
              <a:buNone/>
            </a:pPr>
            <a:endParaRPr lang="en-AU" sz="1800" b="1" kern="1200" dirty="0">
              <a:solidFill>
                <a:srgbClr val="00B050"/>
              </a:solidFill>
              <a:latin typeface="Arial" panose="020B0604020202020204" pitchFamily="34" charset="0"/>
            </a:endParaRPr>
          </a:p>
          <a:p>
            <a:pPr marL="0" indent="0">
              <a:buNone/>
            </a:pPr>
            <a:endParaRPr lang="en-AU" sz="1800" b="1" kern="1200" dirty="0">
              <a:solidFill>
                <a:srgbClr val="00B050"/>
              </a:solidFill>
              <a:latin typeface="Arial" panose="020B0604020202020204" pitchFamily="34" charset="0"/>
            </a:endParaRPr>
          </a:p>
          <a:p>
            <a:pPr>
              <a:buFont typeface="+mj-lt"/>
              <a:buAutoNum type="arabicPeriod" startAt="8"/>
            </a:pPr>
            <a:endParaRPr lang="en-AU" sz="1800" b="1" kern="1200" dirty="0">
              <a:solidFill>
                <a:srgbClr val="00B050"/>
              </a:solidFill>
              <a:latin typeface="Arial" panose="020B0604020202020204" pitchFamily="34" charset="0"/>
            </a:endParaRPr>
          </a:p>
        </p:txBody>
      </p:sp>
      <p:sp>
        <p:nvSpPr>
          <p:cNvPr id="4" name="Slide Number Placeholder 3">
            <a:extLst>
              <a:ext uri="{FF2B5EF4-FFF2-40B4-BE49-F238E27FC236}">
                <a16:creationId xmlns:a16="http://schemas.microsoft.com/office/drawing/2014/main" id="{84024791-C321-F1C8-AC61-D54EF4169E68}"/>
              </a:ext>
            </a:extLst>
          </p:cNvPr>
          <p:cNvSpPr>
            <a:spLocks noGrp="1"/>
          </p:cNvSpPr>
          <p:nvPr>
            <p:ph type="sldNum" sz="quarter" idx="12"/>
          </p:nvPr>
        </p:nvSpPr>
        <p:spPr/>
        <p:txBody>
          <a:bodyPr/>
          <a:lstStyle/>
          <a:p>
            <a:pPr>
              <a:defRPr/>
            </a:pPr>
            <a:fld id="{13102EC4-ECBA-422F-9159-C22944D38E99}" type="slidenum">
              <a:rPr lang="en-US" altLang="en-US" smtClean="0"/>
              <a:pPr>
                <a:defRPr/>
              </a:pPr>
              <a:t>17</a:t>
            </a:fld>
            <a:endParaRPr lang="en-US" altLang="en-US"/>
          </a:p>
        </p:txBody>
      </p:sp>
    </p:spTree>
    <p:extLst>
      <p:ext uri="{BB962C8B-B14F-4D97-AF65-F5344CB8AC3E}">
        <p14:creationId xmlns:p14="http://schemas.microsoft.com/office/powerpoint/2010/main" val="40412248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42A57-8C9D-32BF-388E-B014A49256C7}"/>
              </a:ext>
            </a:extLst>
          </p:cNvPr>
          <p:cNvSpPr>
            <a:spLocks noGrp="1"/>
          </p:cNvSpPr>
          <p:nvPr>
            <p:ph type="title"/>
          </p:nvPr>
        </p:nvSpPr>
        <p:spPr>
          <a:xfrm>
            <a:off x="467544" y="136525"/>
            <a:ext cx="8075240" cy="634082"/>
          </a:xfrm>
        </p:spPr>
        <p:txBody>
          <a:bodyPr/>
          <a:lstStyle/>
          <a:p>
            <a:pPr algn="l"/>
            <a:r>
              <a:rPr lang="en-AU" sz="3200" dirty="0"/>
              <a:t>Other IV Methods</a:t>
            </a:r>
          </a:p>
        </p:txBody>
      </p:sp>
      <p:sp>
        <p:nvSpPr>
          <p:cNvPr id="4" name="Slide Number Placeholder 3">
            <a:extLst>
              <a:ext uri="{FF2B5EF4-FFF2-40B4-BE49-F238E27FC236}">
                <a16:creationId xmlns:a16="http://schemas.microsoft.com/office/drawing/2014/main" id="{AE415849-D994-F2EC-1191-8436069961B3}"/>
              </a:ext>
            </a:extLst>
          </p:cNvPr>
          <p:cNvSpPr>
            <a:spLocks noGrp="1"/>
          </p:cNvSpPr>
          <p:nvPr>
            <p:ph type="sldNum" sz="quarter" idx="12"/>
          </p:nvPr>
        </p:nvSpPr>
        <p:spPr/>
        <p:txBody>
          <a:bodyPr/>
          <a:lstStyle/>
          <a:p>
            <a:pPr>
              <a:defRPr/>
            </a:pPr>
            <a:fld id="{13102EC4-ECBA-422F-9159-C22944D38E99}" type="slidenum">
              <a:rPr lang="en-US" altLang="en-US" smtClean="0"/>
              <a:pPr>
                <a:defRPr/>
              </a:pPr>
              <a:t>18</a:t>
            </a:fld>
            <a:endParaRPr lang="en-US" altLang="en-US"/>
          </a:p>
        </p:txBody>
      </p:sp>
      <p:sp>
        <p:nvSpPr>
          <p:cNvPr id="6" name="TextBox 5">
            <a:extLst>
              <a:ext uri="{FF2B5EF4-FFF2-40B4-BE49-F238E27FC236}">
                <a16:creationId xmlns:a16="http://schemas.microsoft.com/office/drawing/2014/main" id="{F87A5A9A-7917-62DF-578D-F03587A7AFA6}"/>
              </a:ext>
            </a:extLst>
          </p:cNvPr>
          <p:cNvSpPr txBox="1"/>
          <p:nvPr/>
        </p:nvSpPr>
        <p:spPr>
          <a:xfrm>
            <a:off x="467544" y="764927"/>
            <a:ext cx="8219256" cy="3970318"/>
          </a:xfrm>
          <a:prstGeom prst="rect">
            <a:avLst/>
          </a:prstGeom>
          <a:noFill/>
        </p:spPr>
        <p:txBody>
          <a:bodyPr wrap="square">
            <a:spAutoFit/>
          </a:bodyPr>
          <a:lstStyle/>
          <a:p>
            <a:r>
              <a:rPr lang="en-US" dirty="0"/>
              <a:t>Two Staged Least Squares (2SLS)</a:t>
            </a:r>
          </a:p>
          <a:p>
            <a:r>
              <a:rPr lang="en-US" dirty="0"/>
              <a:t>Stata: </a:t>
            </a:r>
            <a:r>
              <a:rPr lang="en-AU" dirty="0" err="1"/>
              <a:t>ivregress</a:t>
            </a:r>
            <a:r>
              <a:rPr lang="en-AU" dirty="0"/>
              <a:t> 2sls </a:t>
            </a:r>
            <a:r>
              <a:rPr lang="en-AU" dirty="0" err="1"/>
              <a:t>lifesat</a:t>
            </a:r>
            <a:r>
              <a:rPr lang="en-AU" dirty="0"/>
              <a:t> </a:t>
            </a:r>
            <a:r>
              <a:rPr lang="en-AU" dirty="0" err="1"/>
              <a:t>i.age</a:t>
            </a:r>
            <a:r>
              <a:rPr lang="en-AU" dirty="0"/>
              <a:t> (</a:t>
            </a:r>
            <a:r>
              <a:rPr lang="en-AU" dirty="0" err="1"/>
              <a:t>mental_health</a:t>
            </a:r>
            <a:r>
              <a:rPr lang="en-AU" dirty="0"/>
              <a:t>=</a:t>
            </a:r>
            <a:r>
              <a:rPr lang="en-AU" dirty="0" err="1"/>
              <a:t>covic</a:t>
            </a:r>
            <a:r>
              <a:rPr lang="en-AU" dirty="0"/>
              <a:t>), </a:t>
            </a:r>
            <a:r>
              <a:rPr lang="en-AU" dirty="0" err="1"/>
              <a:t>vce</a:t>
            </a:r>
            <a:r>
              <a:rPr lang="en-AU" dirty="0"/>
              <a:t>(robust) first</a:t>
            </a:r>
          </a:p>
          <a:p>
            <a:r>
              <a:rPr lang="en-AU" dirty="0" err="1"/>
              <a:t>estat</a:t>
            </a:r>
            <a:r>
              <a:rPr lang="en-AU" dirty="0"/>
              <a:t> endogenous </a:t>
            </a:r>
          </a:p>
          <a:p>
            <a:endParaRPr lang="en-AU" dirty="0"/>
          </a:p>
          <a:p>
            <a:r>
              <a:rPr lang="en-AU" dirty="0"/>
              <a:t>Non-Linear Models (not covered)</a:t>
            </a:r>
          </a:p>
          <a:p>
            <a:r>
              <a:rPr lang="en-AU" dirty="0"/>
              <a:t>Bivariate Probit Model</a:t>
            </a:r>
          </a:p>
          <a:p>
            <a:r>
              <a:rPr lang="en-AU" dirty="0"/>
              <a:t>Difference-in- Difference models</a:t>
            </a:r>
          </a:p>
          <a:p>
            <a:endParaRPr lang="en-AU" dirty="0"/>
          </a:p>
          <a:p>
            <a:endParaRPr lang="en-AU" dirty="0"/>
          </a:p>
          <a:p>
            <a:endParaRPr lang="en-AU" dirty="0"/>
          </a:p>
          <a:p>
            <a:endParaRPr lang="en-AU" dirty="0"/>
          </a:p>
          <a:p>
            <a:endParaRPr lang="en-AU" dirty="0"/>
          </a:p>
          <a:p>
            <a:endParaRPr lang="en-AU" dirty="0"/>
          </a:p>
          <a:p>
            <a:endParaRPr lang="en-US" dirty="0"/>
          </a:p>
        </p:txBody>
      </p:sp>
    </p:spTree>
    <p:extLst>
      <p:ext uri="{BB962C8B-B14F-4D97-AF65-F5344CB8AC3E}">
        <p14:creationId xmlns:p14="http://schemas.microsoft.com/office/powerpoint/2010/main" val="2021553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20201-8304-D2DF-40E7-61E20CD304A2}"/>
              </a:ext>
            </a:extLst>
          </p:cNvPr>
          <p:cNvSpPr>
            <a:spLocks noGrp="1"/>
          </p:cNvSpPr>
          <p:nvPr>
            <p:ph type="title"/>
          </p:nvPr>
        </p:nvSpPr>
        <p:spPr>
          <a:xfrm>
            <a:off x="179512" y="5157192"/>
            <a:ext cx="8229600" cy="1143000"/>
          </a:xfrm>
        </p:spPr>
        <p:txBody>
          <a:bodyPr/>
          <a:lstStyle/>
          <a:p>
            <a:r>
              <a:rPr lang="en-AU" sz="2400" dirty="0"/>
              <a:t>Alternative: Difference in Difference Models</a:t>
            </a:r>
          </a:p>
        </p:txBody>
      </p:sp>
      <p:sp>
        <p:nvSpPr>
          <p:cNvPr id="4" name="Slide Number Placeholder 3">
            <a:extLst>
              <a:ext uri="{FF2B5EF4-FFF2-40B4-BE49-F238E27FC236}">
                <a16:creationId xmlns:a16="http://schemas.microsoft.com/office/drawing/2014/main" id="{B6982AE5-A2AC-D366-E512-A9655A57F642}"/>
              </a:ext>
            </a:extLst>
          </p:cNvPr>
          <p:cNvSpPr>
            <a:spLocks noGrp="1"/>
          </p:cNvSpPr>
          <p:nvPr>
            <p:ph type="sldNum" sz="quarter" idx="12"/>
          </p:nvPr>
        </p:nvSpPr>
        <p:spPr/>
        <p:txBody>
          <a:bodyPr/>
          <a:lstStyle/>
          <a:p>
            <a:pPr>
              <a:defRPr/>
            </a:pPr>
            <a:fld id="{13102EC4-ECBA-422F-9159-C22944D38E99}" type="slidenum">
              <a:rPr lang="en-US" altLang="en-US" smtClean="0"/>
              <a:pPr>
                <a:defRPr/>
              </a:pPr>
              <a:t>19</a:t>
            </a:fld>
            <a:endParaRPr lang="en-US" altLang="en-US" dirty="0"/>
          </a:p>
        </p:txBody>
      </p:sp>
      <p:sp>
        <p:nvSpPr>
          <p:cNvPr id="3" name="TextBox 2">
            <a:extLst>
              <a:ext uri="{FF2B5EF4-FFF2-40B4-BE49-F238E27FC236}">
                <a16:creationId xmlns:a16="http://schemas.microsoft.com/office/drawing/2014/main" id="{9DD2E24B-455F-0B57-6AB0-DDFAA836E0D3}"/>
              </a:ext>
            </a:extLst>
          </p:cNvPr>
          <p:cNvSpPr txBox="1"/>
          <p:nvPr/>
        </p:nvSpPr>
        <p:spPr>
          <a:xfrm>
            <a:off x="323528" y="1196752"/>
            <a:ext cx="8363272" cy="3785652"/>
          </a:xfrm>
          <a:prstGeom prst="rect">
            <a:avLst/>
          </a:prstGeom>
          <a:noFill/>
        </p:spPr>
        <p:txBody>
          <a:bodyPr wrap="square" rtlCol="0">
            <a:spAutoFit/>
          </a:bodyPr>
          <a:lstStyle/>
          <a:p>
            <a:r>
              <a:rPr lang="en-AU" sz="2000" b="1" dirty="0"/>
              <a:t>If you want, I can go through, in detail, how to design a ‘causation’ analysis’ using a natural experiment as the exogenous shock. </a:t>
            </a:r>
          </a:p>
          <a:p>
            <a:pPr lvl="1"/>
            <a:r>
              <a:rPr lang="en-AU" sz="2000" dirty="0"/>
              <a:t>Items covered would include:</a:t>
            </a:r>
          </a:p>
          <a:p>
            <a:pPr marL="800100" lvl="1" indent="-342900">
              <a:buFont typeface="Arial" panose="020B0604020202020204" pitchFamily="34" charset="0"/>
              <a:buChar char="•"/>
            </a:pPr>
            <a:r>
              <a:rPr lang="en-AU" sz="2000" dirty="0"/>
              <a:t>How to identify a natural experiment;</a:t>
            </a:r>
          </a:p>
          <a:p>
            <a:pPr marL="800100" lvl="1" indent="-342900">
              <a:buFont typeface="Arial" panose="020B0604020202020204" pitchFamily="34" charset="0"/>
              <a:buChar char="•"/>
            </a:pPr>
            <a:r>
              <a:rPr lang="en-AU" sz="2000" dirty="0"/>
              <a:t>How to select the sample frames for intensive and extensive regression continuity analysis;</a:t>
            </a:r>
          </a:p>
          <a:p>
            <a:pPr marL="800100" lvl="1" indent="-342900">
              <a:buFont typeface="Arial" panose="020B0604020202020204" pitchFamily="34" charset="0"/>
              <a:buChar char="•"/>
            </a:pPr>
            <a:r>
              <a:rPr lang="en-AU" sz="2000" dirty="0"/>
              <a:t>	How to prepare the data for analysis;</a:t>
            </a:r>
          </a:p>
          <a:p>
            <a:pPr marL="800100" lvl="1" indent="-342900">
              <a:buFont typeface="Arial" panose="020B0604020202020204" pitchFamily="34" charset="0"/>
              <a:buChar char="•"/>
            </a:pPr>
            <a:r>
              <a:rPr lang="en-AU" sz="2000" dirty="0"/>
              <a:t>	STATA IV command selection; RDD versus Fuzzy RDD;</a:t>
            </a:r>
          </a:p>
          <a:p>
            <a:pPr marL="800100" lvl="1" indent="-342900">
              <a:buFont typeface="Arial" panose="020B0604020202020204" pitchFamily="34" charset="0"/>
              <a:buChar char="•"/>
            </a:pPr>
            <a:r>
              <a:rPr lang="en-AU" sz="2000" dirty="0"/>
              <a:t>	Selecting tests that support validity of the analysis;</a:t>
            </a:r>
          </a:p>
          <a:p>
            <a:pPr marL="800100" lvl="1" indent="-342900">
              <a:buFont typeface="Arial" panose="020B0604020202020204" pitchFamily="34" charset="0"/>
              <a:buChar char="•"/>
            </a:pPr>
            <a:r>
              <a:rPr lang="en-AU" sz="2000" dirty="0"/>
              <a:t>	How to interpret results;</a:t>
            </a:r>
          </a:p>
          <a:p>
            <a:pPr marL="800100" lvl="1" indent="-342900">
              <a:buFont typeface="Arial" panose="020B0604020202020204" pitchFamily="34" charset="0"/>
              <a:buChar char="•"/>
            </a:pPr>
            <a:r>
              <a:rPr lang="en-AU" sz="2000" dirty="0"/>
              <a:t>	How to report results;</a:t>
            </a:r>
          </a:p>
          <a:p>
            <a:pPr marL="800100" lvl="1" indent="-342900">
              <a:buFont typeface="Arial" panose="020B0604020202020204" pitchFamily="34" charset="0"/>
              <a:buChar char="•"/>
            </a:pPr>
            <a:r>
              <a:rPr lang="en-AU" sz="2000" dirty="0"/>
              <a:t> Other items of interest…..</a:t>
            </a:r>
          </a:p>
        </p:txBody>
      </p:sp>
    </p:spTree>
    <p:extLst>
      <p:ext uri="{BB962C8B-B14F-4D97-AF65-F5344CB8AC3E}">
        <p14:creationId xmlns:p14="http://schemas.microsoft.com/office/powerpoint/2010/main" val="21167141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C14BA-306C-4196-B9C4-5C669EDF6C28}"/>
              </a:ext>
            </a:extLst>
          </p:cNvPr>
          <p:cNvSpPr>
            <a:spLocks noGrp="1"/>
          </p:cNvSpPr>
          <p:nvPr>
            <p:ph type="title"/>
          </p:nvPr>
        </p:nvSpPr>
        <p:spPr>
          <a:xfrm>
            <a:off x="390525" y="780890"/>
            <a:ext cx="7886700" cy="585071"/>
          </a:xfrm>
        </p:spPr>
        <p:txBody>
          <a:bodyPr>
            <a:normAutofit/>
          </a:bodyPr>
          <a:lstStyle/>
          <a:p>
            <a:r>
              <a:rPr lang="en-US" sz="2100" dirty="0"/>
              <a:t>References:</a:t>
            </a:r>
            <a:endParaRPr lang="en-AU" sz="2100" dirty="0"/>
          </a:p>
        </p:txBody>
      </p:sp>
      <p:sp>
        <p:nvSpPr>
          <p:cNvPr id="3" name="Content Placeholder 2">
            <a:extLst>
              <a:ext uri="{FF2B5EF4-FFF2-40B4-BE49-F238E27FC236}">
                <a16:creationId xmlns:a16="http://schemas.microsoft.com/office/drawing/2014/main" id="{B56AAEDD-E05C-4273-A538-8F0866DFFFD0}"/>
              </a:ext>
            </a:extLst>
          </p:cNvPr>
          <p:cNvSpPr>
            <a:spLocks noGrp="1"/>
          </p:cNvSpPr>
          <p:nvPr>
            <p:ph sz="half" idx="1"/>
          </p:nvPr>
        </p:nvSpPr>
        <p:spPr>
          <a:xfrm>
            <a:off x="390525" y="1178447"/>
            <a:ext cx="8515350" cy="4752855"/>
          </a:xfrm>
        </p:spPr>
        <p:txBody>
          <a:bodyPr>
            <a:normAutofit fontScale="25000" lnSpcReduction="20000"/>
          </a:bodyPr>
          <a:lstStyle/>
          <a:p>
            <a:pPr marL="0" indent="0" algn="just">
              <a:buNone/>
            </a:pPr>
            <a:r>
              <a:rPr lang="en-GB" sz="3600" dirty="0">
                <a:solidFill>
                  <a:srgbClr val="000000"/>
                </a:solidFill>
                <a:latin typeface="Arial" panose="020B0604020202020204" pitchFamily="34" charset="0"/>
                <a:ea typeface="SimSun" panose="02010600030101010101" pitchFamily="2" charset="-122"/>
                <a:cs typeface="Arial" panose="020B0604020202020204" pitchFamily="34" charset="0"/>
              </a:rPr>
              <a:t>ABS (2016). Technical Paper Socio-Economic Indexes for Areas (SEIFA). 2033.0.55.001. Australian Bureau of Statistics, Canberra, Australia </a:t>
            </a:r>
            <a:endParaRPr lang="en-AU" sz="3600" dirty="0">
              <a:solidFill>
                <a:srgbClr val="000000"/>
              </a:solidFill>
              <a:latin typeface="Arial" panose="020B0604020202020204" pitchFamily="34" charset="0"/>
              <a:ea typeface="SimSun" panose="02010600030101010101" pitchFamily="2" charset="-122"/>
              <a:cs typeface="Arial" panose="020B0604020202020204" pitchFamily="34" charset="0"/>
            </a:endParaRPr>
          </a:p>
          <a:p>
            <a:pPr marL="0" indent="0" algn="just">
              <a:buNone/>
            </a:pPr>
            <a:r>
              <a:rPr lang="en-GB" sz="3600" dirty="0">
                <a:solidFill>
                  <a:srgbClr val="000000"/>
                </a:solidFill>
                <a:latin typeface="Arial" panose="020B0604020202020204" pitchFamily="34" charset="0"/>
                <a:ea typeface="SimSun" panose="02010600030101010101" pitchFamily="2" charset="-122"/>
                <a:cs typeface="Arial" panose="020B0604020202020204" pitchFamily="34" charset="0"/>
              </a:rPr>
              <a:t>ACARA (2020) National Report on Schooling in Australia. The Australian Curriculum, Assessment and Reporting Authority. Australian Government. Sydney, Australia. </a:t>
            </a:r>
            <a:r>
              <a:rPr lang="en-GB" sz="3600" u="sng" dirty="0">
                <a:solidFill>
                  <a:srgbClr val="000000"/>
                </a:solidFill>
                <a:latin typeface="Arial" panose="020B0604020202020204" pitchFamily="34" charset="0"/>
                <a:ea typeface="Times New Roman" panose="02020603050405020304" pitchFamily="18" charset="0"/>
                <a:cs typeface="Arial" panose="020B0604020202020204" pitchFamily="34" charset="0"/>
                <a:hlinkClick r:id="rId3"/>
              </a:rPr>
              <a:t>http://www.acara.edu.au/reporting/nrosia2009, accessed 23 November 2020</a:t>
            </a:r>
            <a:r>
              <a:rPr lang="en-GB" sz="3600" u="sng" dirty="0">
                <a:solidFill>
                  <a:srgbClr val="000000"/>
                </a:solidFill>
                <a:latin typeface="Arial" panose="020B0604020202020204" pitchFamily="34" charset="0"/>
                <a:ea typeface="Times New Roman" panose="02020603050405020304" pitchFamily="18" charset="0"/>
                <a:cs typeface="Arial" panose="020B0604020202020204" pitchFamily="34" charset="0"/>
              </a:rPr>
              <a:t>.</a:t>
            </a:r>
            <a:endParaRPr lang="en-AU" sz="3600" dirty="0">
              <a:latin typeface="Arial" panose="020B0604020202020204" pitchFamily="34" charset="0"/>
              <a:ea typeface="Times New Roman" panose="02020603050405020304" pitchFamily="18" charset="0"/>
              <a:cs typeface="Arial" panose="020B0604020202020204" pitchFamily="34" charset="0"/>
            </a:endParaRPr>
          </a:p>
          <a:p>
            <a:pPr marL="0" indent="0" algn="just">
              <a:buNone/>
            </a:pPr>
            <a:r>
              <a:rPr lang="en-AU" sz="3600" dirty="0">
                <a:latin typeface="Arial" panose="020B0604020202020204" pitchFamily="34" charset="0"/>
                <a:cs typeface="Arial" panose="020B0604020202020204" pitchFamily="34" charset="0"/>
              </a:rPr>
              <a:t>Anderson, M. L. (2008). Multiple inference and gender differences in the effects of early intervention: a re-evaluation of the abecedarian, Perry preschool, and early training projects. </a:t>
            </a:r>
            <a:r>
              <a:rPr lang="en-AU" sz="3600" i="1" dirty="0">
                <a:latin typeface="Arial" panose="020B0604020202020204" pitchFamily="34" charset="0"/>
                <a:cs typeface="Arial" panose="020B0604020202020204" pitchFamily="34" charset="0"/>
              </a:rPr>
              <a:t>Journal of the American Statistics Association</a:t>
            </a:r>
            <a:r>
              <a:rPr lang="en-AU" sz="3600" dirty="0">
                <a:latin typeface="Arial" panose="020B0604020202020204" pitchFamily="34" charset="0"/>
                <a:cs typeface="Arial" panose="020B0604020202020204" pitchFamily="34" charset="0"/>
              </a:rPr>
              <a:t>, 103 (484), 1481–1495 </a:t>
            </a:r>
          </a:p>
          <a:p>
            <a:pPr marL="0" indent="0" algn="just">
              <a:buNone/>
            </a:pPr>
            <a:r>
              <a:rPr lang="en-GB" sz="3600" dirty="0">
                <a:latin typeface="Arial" panose="020B0604020202020204" pitchFamily="34" charset="0"/>
                <a:cs typeface="Arial" panose="020B0604020202020204" pitchFamily="34" charset="0"/>
              </a:rPr>
              <a:t>Anderson, D. (2014) In School and Out of Trouble? The Minimum Dropout Age and Juvenile Crime, Review of Economics and Statistics, 96, 318-31. </a:t>
            </a:r>
            <a:endParaRPr lang="en-AU" sz="3600" dirty="0">
              <a:latin typeface="Arial" panose="020B0604020202020204" pitchFamily="34" charset="0"/>
              <a:cs typeface="Arial" panose="020B0604020202020204" pitchFamily="34" charset="0"/>
            </a:endParaRPr>
          </a:p>
          <a:p>
            <a:pPr marL="0" indent="0" algn="just">
              <a:buNone/>
            </a:pPr>
            <a:r>
              <a:rPr lang="en-AU" sz="3600" dirty="0">
                <a:latin typeface="Arial" panose="020B0604020202020204" pitchFamily="34" charset="0"/>
                <a:cs typeface="Arial" panose="020B0604020202020204" pitchFamily="34" charset="0"/>
              </a:rPr>
              <a:t>Artega, I., Humpage, S. Reynolds, A.J. &amp; Temple, J.A. (2014). </a:t>
            </a:r>
            <a:r>
              <a:rPr lang="en-US" sz="3600" dirty="0">
                <a:latin typeface="Arial" panose="020B0604020202020204" pitchFamily="34" charset="0"/>
                <a:cs typeface="Arial" panose="020B0604020202020204" pitchFamily="34" charset="0"/>
              </a:rPr>
              <a:t>One year of preschool or two: Is it important for adult outcomes?</a:t>
            </a:r>
            <a:r>
              <a:rPr lang="en-AU" sz="3600" dirty="0">
                <a:latin typeface="Arial" panose="020B0604020202020204" pitchFamily="34" charset="0"/>
                <a:cs typeface="Arial" panose="020B0604020202020204" pitchFamily="34" charset="0"/>
              </a:rPr>
              <a:t> Economics of Education Review, 40, 221-237.</a:t>
            </a:r>
          </a:p>
          <a:p>
            <a:pPr marL="0" indent="0">
              <a:buNone/>
            </a:pPr>
            <a:r>
              <a:rPr lang="en-AU" sz="3600" dirty="0">
                <a:latin typeface="Arial" panose="020B0604020202020204" pitchFamily="34" charset="0"/>
                <a:ea typeface="Calibri" panose="020F0502020204030204" pitchFamily="34" charset="0"/>
                <a:cs typeface="Arial" panose="020B0604020202020204" pitchFamily="34" charset="0"/>
              </a:rPr>
              <a:t>Autor, D., Figlio, D., Karbownik, K., Roth, J, &amp; Wasserman, M. (2019). </a:t>
            </a:r>
            <a:r>
              <a:rPr lang="en-AU" sz="3600" dirty="0">
                <a:latin typeface="Arial" panose="020B0604020202020204" pitchFamily="34" charset="0"/>
                <a:ea typeface="Calibri" panose="020F0502020204030204" pitchFamily="34" charset="0"/>
                <a:cs typeface="Arial" panose="020B0604020202020204" pitchFamily="34" charset="0"/>
                <a:hlinkClick r:id="rId4"/>
              </a:rPr>
              <a:t>Family disadvantage and the gender gap in behavioral and educational outcomes </a:t>
            </a:r>
            <a:r>
              <a:rPr lang="en-AU" sz="3600" i="1" dirty="0">
                <a:latin typeface="Arial" panose="020B0604020202020204" pitchFamily="34" charset="0"/>
                <a:ea typeface="Calibri" panose="020F0502020204030204" pitchFamily="34" charset="0"/>
                <a:cs typeface="Arial" panose="020B0604020202020204" pitchFamily="34" charset="0"/>
              </a:rPr>
              <a:t>American Economic Journal: Applied Economics</a:t>
            </a:r>
            <a:r>
              <a:rPr lang="en-AU" sz="3600" dirty="0">
                <a:latin typeface="Arial" panose="020B0604020202020204" pitchFamily="34" charset="0"/>
                <a:ea typeface="Calibri" panose="020F0502020204030204" pitchFamily="34" charset="0"/>
                <a:cs typeface="Arial" panose="020B0604020202020204" pitchFamily="34" charset="0"/>
              </a:rPr>
              <a:t>, 11 (3) 338-381.</a:t>
            </a:r>
          </a:p>
          <a:p>
            <a:pPr marL="0" indent="0">
              <a:buNone/>
            </a:pPr>
            <a:r>
              <a:rPr lang="en-AU" sz="3600" dirty="0">
                <a:latin typeface="Arial" panose="020B0604020202020204" pitchFamily="34" charset="0"/>
                <a:ea typeface="Calibri" panose="020F0502020204030204" pitchFamily="34" charset="0"/>
                <a:cs typeface="Arial" panose="020B0604020202020204" pitchFamily="34" charset="0"/>
              </a:rPr>
              <a:t>Baum, C.F., Schaffer, M.E. &amp; Stillman, S. (2007). Enhanced routines for instrumental variables/generalised method of moments estimation &amp; testing. The Stat Journal 7(4), 465-506.</a:t>
            </a:r>
          </a:p>
          <a:p>
            <a:pPr marL="0" indent="0">
              <a:buNone/>
            </a:pPr>
            <a:r>
              <a:rPr lang="en-AU" sz="3600" dirty="0">
                <a:latin typeface="Arial" panose="020B0604020202020204" pitchFamily="34" charset="0"/>
                <a:cs typeface="Arial" panose="020B0604020202020204" pitchFamily="34" charset="0"/>
              </a:rPr>
              <a:t>Baum, C., Schaffer, M., &amp; Stillman, S. (2022). IVREG2: Stata module for extended instrumental variables/2SLS and GMM estimation.</a:t>
            </a:r>
          </a:p>
          <a:p>
            <a:pPr marL="0" indent="0">
              <a:buNone/>
            </a:pPr>
            <a:r>
              <a:rPr lang="en-US" altLang="en-US" sz="3600" dirty="0">
                <a:solidFill>
                  <a:srgbClr val="222222"/>
                </a:solidFill>
                <a:latin typeface="Arial" panose="020B0604020202020204" pitchFamily="34" charset="0"/>
                <a:cs typeface="Arial" panose="020B0604020202020204" pitchFamily="34" charset="0"/>
              </a:rPr>
              <a:t>Beatton, T. &amp; Sandi, M. (2023). </a:t>
            </a:r>
            <a:r>
              <a:rPr lang="en-GB" sz="3600" dirty="0">
                <a:solidFill>
                  <a:srgbClr val="222222"/>
                </a:solidFill>
                <a:latin typeface="Arial" panose="020B0604020202020204" pitchFamily="34" charset="0"/>
                <a:cs typeface="Arial" panose="020B0604020202020204" pitchFamily="34" charset="0"/>
              </a:rPr>
              <a:t>Why doesn’t free Prep do less to reduce crime among the most disadvantaged? </a:t>
            </a:r>
            <a:r>
              <a:rPr lang="en-GB" sz="3600" i="1" dirty="0">
                <a:solidFill>
                  <a:srgbClr val="222222"/>
                </a:solidFill>
                <a:latin typeface="Arial" panose="020B0604020202020204" pitchFamily="34" charset="0"/>
                <a:cs typeface="Arial" panose="020B0604020202020204" pitchFamily="34" charset="0"/>
              </a:rPr>
              <a:t>BEST Working Paper</a:t>
            </a:r>
            <a:r>
              <a:rPr lang="en-GB" sz="3600" dirty="0">
                <a:solidFill>
                  <a:srgbClr val="222222"/>
                </a:solidFill>
                <a:latin typeface="Arial" panose="020B0604020202020204" pitchFamily="34" charset="0"/>
                <a:cs typeface="Arial" panose="020B0604020202020204" pitchFamily="34" charset="0"/>
              </a:rPr>
              <a:t>. </a:t>
            </a:r>
            <a:r>
              <a:rPr lang="en-AU" sz="3600" dirty="0">
                <a:solidFill>
                  <a:srgbClr val="222222"/>
                </a:solidFill>
                <a:latin typeface="Arial" panose="020B0604020202020204" pitchFamily="34" charset="0"/>
                <a:cs typeface="Arial" panose="020B0604020202020204" pitchFamily="34" charset="0"/>
              </a:rPr>
              <a:t>Behavioural Economics Society &amp; Technology Research Centre, Queensland University of Technology</a:t>
            </a:r>
          </a:p>
          <a:p>
            <a:pPr marL="0" indent="0">
              <a:buNone/>
            </a:pPr>
            <a:r>
              <a:rPr lang="en-AU" sz="3600" dirty="0">
                <a:latin typeface="Arial" panose="020B0604020202020204" pitchFamily="34" charset="0"/>
                <a:cs typeface="Arial" panose="020B0604020202020204" pitchFamily="34" charset="0"/>
              </a:rPr>
              <a:t>Beatton, Tony; Kidd, Michael ; Niu, Anthony; Vella, F. (2023). Age of Starting School, Academic Performance, and the Impact of non-compliance: An experiment within an experiment, evidence from Australia. AASLE 2017 Conference, IZA Working Paper dp14168/2021; forthcoming Economic Record/2023.</a:t>
            </a:r>
            <a:endParaRPr lang="en-AU" sz="3600" dirty="0">
              <a:solidFill>
                <a:srgbClr val="222222"/>
              </a:solidFill>
              <a:latin typeface="Arial" panose="020B0604020202020204" pitchFamily="34" charset="0"/>
              <a:cs typeface="Arial" panose="020B0604020202020204" pitchFamily="34" charset="0"/>
            </a:endParaRPr>
          </a:p>
          <a:p>
            <a:pPr marL="0" indent="0">
              <a:buNone/>
            </a:pPr>
            <a:r>
              <a:rPr lang="en-AU" sz="3600" dirty="0">
                <a:latin typeface="Arial" panose="020B0604020202020204" pitchFamily="34" charset="0"/>
                <a:ea typeface="Times New Roman" panose="02020603050405020304" pitchFamily="18" charset="0"/>
                <a:cs typeface="Arial" panose="020B0604020202020204" pitchFamily="34" charset="0"/>
              </a:rPr>
              <a:t>Beatton, T., Kidd, M. P. &amp; Sandi, M. (2019). </a:t>
            </a:r>
            <a:r>
              <a:rPr lang="en-AU" sz="3600" dirty="0">
                <a:solidFill>
                  <a:srgbClr val="51247A"/>
                </a:solidFill>
                <a:latin typeface="Arial" panose="020B0604020202020204" pitchFamily="34" charset="0"/>
                <a:ea typeface="Times New Roman" panose="02020603050405020304" pitchFamily="18" charset="0"/>
                <a:cs typeface="Arial" panose="020B0604020202020204" pitchFamily="34" charset="0"/>
                <a:hlinkClick r:id="rId5"/>
              </a:rPr>
              <a:t>Age in Cohort, School Indiscipline and Crime: Regression-Discontinuity Estimates for Queensland.</a:t>
            </a:r>
            <a:r>
              <a:rPr lang="en-AU" sz="3600" dirty="0">
                <a:latin typeface="Arial" panose="020B0604020202020204" pitchFamily="34" charset="0"/>
                <a:ea typeface="Times New Roman" panose="02020603050405020304" pitchFamily="18" charset="0"/>
                <a:cs typeface="Arial" panose="020B0604020202020204" pitchFamily="34" charset="0"/>
              </a:rPr>
              <a:t> August 13, 2018. </a:t>
            </a:r>
            <a:r>
              <a:rPr lang="en-AU" sz="3600" i="1" dirty="0">
                <a:latin typeface="Arial" panose="020B0604020202020204" pitchFamily="34" charset="0"/>
                <a:ea typeface="Times New Roman" panose="02020603050405020304" pitchFamily="18" charset="0"/>
                <a:cs typeface="Arial" panose="020B0604020202020204" pitchFamily="34" charset="0"/>
              </a:rPr>
              <a:t>Life Course Centre Working Paper Series</a:t>
            </a:r>
            <a:r>
              <a:rPr lang="en-AU" sz="3600" dirty="0">
                <a:latin typeface="Arial" panose="020B0604020202020204" pitchFamily="34" charset="0"/>
                <a:ea typeface="Times New Roman" panose="02020603050405020304" pitchFamily="18" charset="0"/>
                <a:cs typeface="Arial" panose="020B0604020202020204" pitchFamily="34" charset="0"/>
              </a:rPr>
              <a:t>. The University of Queensland.</a:t>
            </a:r>
          </a:p>
          <a:p>
            <a:pPr marL="0" indent="0">
              <a:buNone/>
            </a:pPr>
            <a:r>
              <a:rPr lang="en-AU" sz="3600" dirty="0">
                <a:latin typeface="Arial" panose="020B0604020202020204" pitchFamily="34" charset="0"/>
                <a:ea typeface="Calibri" panose="020F0502020204030204" pitchFamily="34" charset="0"/>
                <a:cs typeface="Arial" panose="020B0604020202020204" pitchFamily="34" charset="0"/>
              </a:rPr>
              <a:t>Beatton, T., Kidd, M. P. and Machin, S. &amp; Sarkar, D. (2018). </a:t>
            </a:r>
            <a:r>
              <a:rPr lang="en-AU" sz="3600" dirty="0">
                <a:solidFill>
                  <a:srgbClr val="0563C1"/>
                </a:solidFill>
                <a:latin typeface="Arial" panose="020B0604020202020204" pitchFamily="34" charset="0"/>
                <a:ea typeface="Calibri" panose="020F0502020204030204" pitchFamily="34" charset="0"/>
                <a:cs typeface="Arial" panose="020B0604020202020204" pitchFamily="34" charset="0"/>
                <a:hlinkClick r:id="rId6"/>
              </a:rPr>
              <a:t>Larrikin Youth: New Evidence on Crime and Schooling</a:t>
            </a:r>
            <a:r>
              <a:rPr lang="en-AU" sz="3600" dirty="0">
                <a:latin typeface="Arial" panose="020B0604020202020204" pitchFamily="34" charset="0"/>
                <a:ea typeface="Calibri" panose="020F0502020204030204" pitchFamily="34" charset="0"/>
                <a:cs typeface="Arial" panose="020B0604020202020204" pitchFamily="34" charset="0"/>
              </a:rPr>
              <a:t>. </a:t>
            </a:r>
            <a:r>
              <a:rPr lang="en-AU" sz="3600" i="1" dirty="0">
                <a:latin typeface="Arial" panose="020B0604020202020204" pitchFamily="34" charset="0"/>
                <a:ea typeface="Calibri" panose="020F0502020204030204" pitchFamily="34" charset="0"/>
                <a:cs typeface="Arial" panose="020B0604020202020204" pitchFamily="34" charset="0"/>
              </a:rPr>
              <a:t>Labour Economics </a:t>
            </a:r>
            <a:r>
              <a:rPr lang="en-AU" sz="3600" u="sng" dirty="0">
                <a:solidFill>
                  <a:srgbClr val="0070C0"/>
                </a:solidFill>
                <a:latin typeface="Arial" panose="020B0604020202020204" pitchFamily="34" charset="0"/>
                <a:ea typeface="Calibri" panose="020F0502020204030204" pitchFamily="34" charset="0"/>
                <a:cs typeface="Arial" panose="020B0604020202020204" pitchFamily="34" charset="0"/>
                <a:hlinkClick r:id="rId7" tooltip="Go to table of contents for this volume/issue"/>
              </a:rPr>
              <a:t>Volume 52</a:t>
            </a:r>
            <a:r>
              <a:rPr lang="en-AU" sz="3600" dirty="0">
                <a:solidFill>
                  <a:srgbClr val="2E2E2E"/>
                </a:solidFill>
                <a:latin typeface="Arial" panose="020B0604020202020204" pitchFamily="34" charset="0"/>
                <a:ea typeface="Calibri" panose="020F0502020204030204" pitchFamily="34" charset="0"/>
                <a:cs typeface="Arial" panose="020B0604020202020204" pitchFamily="34" charset="0"/>
              </a:rPr>
              <a:t>, June 2018, Pages 149-159.</a:t>
            </a:r>
          </a:p>
          <a:p>
            <a:pPr marL="0" indent="0">
              <a:buNone/>
            </a:pPr>
            <a:r>
              <a:rPr lang="en-AU" sz="3600" dirty="0">
                <a:solidFill>
                  <a:srgbClr val="333333"/>
                </a:solidFill>
                <a:latin typeface="Arial" panose="020B0604020202020204" pitchFamily="34" charset="0"/>
                <a:ea typeface="Calibri" panose="020F0502020204030204" pitchFamily="34" charset="0"/>
                <a:cs typeface="Arial" panose="020B0604020202020204" pitchFamily="34" charset="0"/>
              </a:rPr>
              <a:t>Beatton, T., &amp; Kidd, M. P. &amp; Machin, S. (2018). "</a:t>
            </a:r>
            <a:r>
              <a:rPr lang="en-AU" sz="3600" b="1" u="sng" dirty="0">
                <a:solidFill>
                  <a:srgbClr val="2D4E8B"/>
                </a:solidFill>
                <a:latin typeface="Arial" panose="020B0604020202020204" pitchFamily="34" charset="0"/>
                <a:ea typeface="Calibri" panose="020F0502020204030204" pitchFamily="34" charset="0"/>
                <a:cs typeface="Arial" panose="020B0604020202020204" pitchFamily="34" charset="0"/>
                <a:hlinkClick r:id="rId8"/>
              </a:rPr>
              <a:t>Gender crime convergence over twenty years: Evidence from Australia</a:t>
            </a:r>
            <a:r>
              <a:rPr lang="en-AU" sz="3600" dirty="0">
                <a:solidFill>
                  <a:srgbClr val="333333"/>
                </a:solidFill>
                <a:latin typeface="Arial" panose="020B0604020202020204" pitchFamily="34" charset="0"/>
                <a:ea typeface="Calibri" panose="020F0502020204030204" pitchFamily="34" charset="0"/>
                <a:cs typeface="Arial" panose="020B0604020202020204" pitchFamily="34" charset="0"/>
              </a:rPr>
              <a:t>," </a:t>
            </a:r>
            <a:r>
              <a:rPr lang="en-AU" sz="3600" i="1" u="sng" dirty="0">
                <a:solidFill>
                  <a:srgbClr val="2D4E8B"/>
                </a:solidFill>
                <a:latin typeface="Arial" panose="020B0604020202020204" pitchFamily="34" charset="0"/>
                <a:ea typeface="Calibri" panose="020F0502020204030204" pitchFamily="34" charset="0"/>
                <a:cs typeface="Arial" panose="020B0604020202020204" pitchFamily="34" charset="0"/>
                <a:hlinkClick r:id="rId9"/>
              </a:rPr>
              <a:t>European Economic Review</a:t>
            </a:r>
            <a:r>
              <a:rPr lang="en-AU" sz="3600" dirty="0">
                <a:solidFill>
                  <a:srgbClr val="333333"/>
                </a:solidFill>
                <a:latin typeface="Arial" panose="020B0604020202020204" pitchFamily="34" charset="0"/>
                <a:ea typeface="Calibri" panose="020F0502020204030204" pitchFamily="34" charset="0"/>
                <a:cs typeface="Arial" panose="020B0604020202020204" pitchFamily="34" charset="0"/>
              </a:rPr>
              <a:t>, Elsevier, vol. 109(C), pages 275-288.</a:t>
            </a:r>
          </a:p>
          <a:p>
            <a:pPr marL="0" indent="0">
              <a:buNone/>
            </a:pPr>
            <a:r>
              <a:rPr lang="en-GB" sz="3600" dirty="0">
                <a:latin typeface="Arial" panose="020B0604020202020204" pitchFamily="34" charset="0"/>
                <a:ea typeface="Times New Roman" panose="02020603050405020304" pitchFamily="18" charset="0"/>
                <a:cs typeface="Arial" panose="020B0604020202020204" pitchFamily="34" charset="0"/>
              </a:rPr>
              <a:t>Black, S.E., Devereux, P.J. &amp; Salvanes, K.G. (2011). TOO YOUNG TO LEAVE THE NEST? THE EFFECTS OF SCHOOL STARTING AGE. </a:t>
            </a:r>
            <a:r>
              <a:rPr lang="en-GB" sz="3600" i="1" dirty="0">
                <a:latin typeface="Arial" panose="020B0604020202020204" pitchFamily="34" charset="0"/>
                <a:ea typeface="Times New Roman" panose="02020603050405020304" pitchFamily="18" charset="0"/>
                <a:cs typeface="Arial" panose="020B0604020202020204" pitchFamily="34" charset="0"/>
              </a:rPr>
              <a:t>The Review of Economics and Statistics</a:t>
            </a:r>
            <a:r>
              <a:rPr lang="en-GB" sz="3600" dirty="0">
                <a:latin typeface="Arial" panose="020B0604020202020204" pitchFamily="34" charset="0"/>
                <a:ea typeface="Times New Roman" panose="02020603050405020304" pitchFamily="18" charset="0"/>
                <a:cs typeface="Arial" panose="020B0604020202020204" pitchFamily="34" charset="0"/>
              </a:rPr>
              <a:t>, 93(2): 455–467.</a:t>
            </a:r>
          </a:p>
          <a:p>
            <a:pPr marL="0" indent="0">
              <a:buNone/>
            </a:pPr>
            <a:r>
              <a:rPr lang="it-IT" sz="3600" dirty="0">
                <a:solidFill>
                  <a:srgbClr val="333333"/>
                </a:solidFill>
                <a:latin typeface="Arial" panose="020B0604020202020204" pitchFamily="34" charset="0"/>
                <a:ea typeface="Calibri" panose="020F0502020204030204" pitchFamily="34" charset="0"/>
                <a:cs typeface="Arial" panose="020B0604020202020204" pitchFamily="34" charset="0"/>
              </a:rPr>
              <a:t>Brutti, Z. &amp; Montolio, D. (2021). </a:t>
            </a:r>
            <a:r>
              <a:rPr lang="en-US" sz="3600" dirty="0">
                <a:solidFill>
                  <a:srgbClr val="333333"/>
                </a:solidFill>
                <a:latin typeface="Arial" panose="020B0604020202020204" pitchFamily="34" charset="0"/>
                <a:ea typeface="Calibri" panose="020F0502020204030204" pitchFamily="34" charset="0"/>
                <a:cs typeface="Arial" panose="020B0604020202020204" pitchFamily="34" charset="0"/>
              </a:rPr>
              <a:t> Preventing criminal minds: Early education access and adult offending behavior. Journal of Economic Behavior and Organization, 191, 97–126 </a:t>
            </a:r>
            <a:endParaRPr lang="en-AU" sz="3600" dirty="0">
              <a:solidFill>
                <a:srgbClr val="333333"/>
              </a:solidFill>
              <a:latin typeface="Arial" panose="020B0604020202020204" pitchFamily="34" charset="0"/>
              <a:ea typeface="Calibri" panose="020F0502020204030204" pitchFamily="34" charset="0"/>
              <a:cs typeface="Arial" panose="020B0604020202020204" pitchFamily="34" charset="0"/>
            </a:endParaRPr>
          </a:p>
          <a:p>
            <a:pPr marL="0" indent="0">
              <a:buNone/>
            </a:pPr>
            <a:r>
              <a:rPr lang="en-GB" sz="3600" dirty="0">
                <a:latin typeface="Arial" panose="020B0604020202020204" pitchFamily="34" charset="0"/>
                <a:ea typeface="Times New Roman" panose="02020603050405020304" pitchFamily="18" charset="0"/>
                <a:cs typeface="Arial" panose="020B0604020202020204" pitchFamily="34" charset="0"/>
              </a:rPr>
              <a:t>Crawford, C., Dearden, L. &amp; Greaves, E. (2014). The drivers of month-of-birth differences in children’s cognitive and non-cognitive skills. </a:t>
            </a:r>
            <a:r>
              <a:rPr lang="en-GB" sz="3600" i="1" dirty="0">
                <a:latin typeface="Arial" panose="020B0604020202020204" pitchFamily="34" charset="0"/>
                <a:ea typeface="Times New Roman" panose="02020603050405020304" pitchFamily="18" charset="0"/>
                <a:cs typeface="Arial" panose="020B0604020202020204" pitchFamily="34" charset="0"/>
              </a:rPr>
              <a:t>Journal of the Royal Statistical Society Statistics in Society Series A </a:t>
            </a:r>
            <a:r>
              <a:rPr lang="en-GB" sz="3600" dirty="0">
                <a:latin typeface="Arial" panose="020B0604020202020204" pitchFamily="34" charset="0"/>
                <a:ea typeface="Times New Roman" panose="02020603050405020304" pitchFamily="18" charset="0"/>
                <a:cs typeface="Arial" panose="020B0604020202020204" pitchFamily="34" charset="0"/>
              </a:rPr>
              <a:t>177(4) 829-860.</a:t>
            </a:r>
          </a:p>
          <a:p>
            <a:pPr marL="0" indent="0">
              <a:buNone/>
            </a:pPr>
            <a:r>
              <a:rPr lang="en-GB" sz="3600" dirty="0">
                <a:latin typeface="Arial" panose="020B0604020202020204" pitchFamily="34" charset="0"/>
                <a:ea typeface="Times New Roman" panose="02020603050405020304" pitchFamily="18" charset="0"/>
                <a:cs typeface="Arial" panose="020B0604020202020204" pitchFamily="34" charset="0"/>
              </a:rPr>
              <a:t>DoE (2009). A Flying Start for Queensland Children. Queensland Government Education White Paper. Department of Education, </a:t>
            </a:r>
            <a:r>
              <a:rPr lang="en-GB" sz="3600" i="1" dirty="0">
                <a:latin typeface="Arial" panose="020B0604020202020204" pitchFamily="34" charset="0"/>
                <a:ea typeface="Times New Roman" panose="02020603050405020304" pitchFamily="18" charset="0"/>
                <a:cs typeface="Arial" panose="020B0604020202020204" pitchFamily="34" charset="0"/>
              </a:rPr>
              <a:t>Queensland Government</a:t>
            </a:r>
            <a:r>
              <a:rPr lang="en-GB" sz="3600" dirty="0">
                <a:latin typeface="Arial" panose="020B0604020202020204" pitchFamily="34" charset="0"/>
                <a:ea typeface="Times New Roman" panose="02020603050405020304" pitchFamily="18" charset="0"/>
                <a:cs typeface="Arial" panose="020B0604020202020204" pitchFamily="34" charset="0"/>
              </a:rPr>
              <a:t>, Australia.</a:t>
            </a:r>
            <a:endParaRPr lang="en-AU" sz="3600" dirty="0">
              <a:latin typeface="Arial" panose="020B0604020202020204" pitchFamily="34" charset="0"/>
              <a:ea typeface="Times New Roman" panose="02020603050405020304" pitchFamily="18" charset="0"/>
              <a:cs typeface="Arial" panose="020B0604020202020204" pitchFamily="34" charset="0"/>
            </a:endParaRPr>
          </a:p>
          <a:p>
            <a:pPr marL="0" indent="0">
              <a:buNone/>
            </a:pPr>
            <a:r>
              <a:rPr lang="en-GB" sz="3600" u="sng" dirty="0">
                <a:solidFill>
                  <a:srgbClr val="0000FF"/>
                </a:solidFill>
                <a:latin typeface="Arial" panose="020B0604020202020204" pitchFamily="34" charset="0"/>
                <a:ea typeface="Times New Roman" panose="02020603050405020304" pitchFamily="18" charset="0"/>
                <a:cs typeface="Arial" panose="020B0604020202020204" pitchFamily="34" charset="0"/>
                <a:hlinkClick r:id="rId10"/>
              </a:rPr>
              <a:t>https://cabinet.qld.gov.au/documents/2010/Feb/Flying%20Start%20for%20Children%20Discussion%20Paper/Attachments/discussion%20paper%20flying%20start.pdf</a:t>
            </a:r>
            <a:endParaRPr lang="en-GB" sz="3600" u="sng" dirty="0">
              <a:solidFill>
                <a:srgbClr val="0000FF"/>
              </a:solidFill>
              <a:latin typeface="Arial" panose="020B0604020202020204" pitchFamily="34" charset="0"/>
              <a:ea typeface="Times New Roman" panose="02020603050405020304" pitchFamily="18" charset="0"/>
              <a:cs typeface="Arial" panose="020B0604020202020204" pitchFamily="34" charset="0"/>
            </a:endParaRPr>
          </a:p>
        </p:txBody>
      </p:sp>
      <p:sp>
        <p:nvSpPr>
          <p:cNvPr id="5" name="Slide Number Placeholder 4">
            <a:extLst>
              <a:ext uri="{FF2B5EF4-FFF2-40B4-BE49-F238E27FC236}">
                <a16:creationId xmlns:a16="http://schemas.microsoft.com/office/drawing/2014/main" id="{6F0FDF68-5C0D-4DF1-B005-78113CCE2ED6}"/>
              </a:ext>
            </a:extLst>
          </p:cNvPr>
          <p:cNvSpPr>
            <a:spLocks noGrp="1"/>
          </p:cNvSpPr>
          <p:nvPr>
            <p:ph type="sldNum" sz="quarter" idx="12"/>
          </p:nvPr>
        </p:nvSpPr>
        <p:spPr/>
        <p:txBody>
          <a:bodyPr/>
          <a:lstStyle/>
          <a:p>
            <a:fld id="{265EA017-FED2-434E-B83D-D6FB009D181D}" type="slidenum">
              <a:rPr lang="en-AU" smtClean="0"/>
              <a:t>20</a:t>
            </a:fld>
            <a:endParaRPr lang="en-AU" dirty="0"/>
          </a:p>
        </p:txBody>
      </p:sp>
    </p:spTree>
    <p:extLst>
      <p:ext uri="{BB962C8B-B14F-4D97-AF65-F5344CB8AC3E}">
        <p14:creationId xmlns:p14="http://schemas.microsoft.com/office/powerpoint/2010/main" val="22715921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C14BA-306C-4196-B9C4-5C669EDF6C28}"/>
              </a:ext>
            </a:extLst>
          </p:cNvPr>
          <p:cNvSpPr>
            <a:spLocks noGrp="1"/>
          </p:cNvSpPr>
          <p:nvPr>
            <p:ph type="title"/>
          </p:nvPr>
        </p:nvSpPr>
        <p:spPr>
          <a:xfrm>
            <a:off x="628650" y="857250"/>
            <a:ext cx="7886700" cy="585071"/>
          </a:xfrm>
        </p:spPr>
        <p:txBody>
          <a:bodyPr>
            <a:normAutofit/>
          </a:bodyPr>
          <a:lstStyle/>
          <a:p>
            <a:r>
              <a:rPr lang="en-US" sz="2100" dirty="0"/>
              <a:t>References:</a:t>
            </a:r>
            <a:endParaRPr lang="en-AU" sz="2100" dirty="0"/>
          </a:p>
        </p:txBody>
      </p:sp>
      <p:sp>
        <p:nvSpPr>
          <p:cNvPr id="3" name="Content Placeholder 2">
            <a:extLst>
              <a:ext uri="{FF2B5EF4-FFF2-40B4-BE49-F238E27FC236}">
                <a16:creationId xmlns:a16="http://schemas.microsoft.com/office/drawing/2014/main" id="{B56AAEDD-E05C-4273-A538-8F0866DFFFD0}"/>
              </a:ext>
            </a:extLst>
          </p:cNvPr>
          <p:cNvSpPr>
            <a:spLocks noGrp="1"/>
          </p:cNvSpPr>
          <p:nvPr>
            <p:ph sz="half" idx="1"/>
          </p:nvPr>
        </p:nvSpPr>
        <p:spPr>
          <a:xfrm>
            <a:off x="383071" y="1286961"/>
            <a:ext cx="8515350" cy="4546385"/>
          </a:xfrm>
        </p:spPr>
        <p:txBody>
          <a:bodyPr>
            <a:normAutofit fontScale="92500" lnSpcReduction="10000"/>
          </a:bodyPr>
          <a:lstStyle/>
          <a:p>
            <a:pPr marL="0" indent="0">
              <a:buNone/>
            </a:pPr>
            <a:r>
              <a:rPr lang="en-AU" sz="900" dirty="0">
                <a:latin typeface="Arial" panose="020B0604020202020204" pitchFamily="34" charset="0"/>
                <a:cs typeface="Arial" panose="020B0604020202020204" pitchFamily="34" charset="0"/>
              </a:rPr>
              <a:t>Drange, N. </a:t>
            </a:r>
            <a:r>
              <a:rPr lang="en-AU" sz="900" dirty="0">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Havnes</a:t>
            </a:r>
            <a:r>
              <a:rPr lang="en-AU" sz="900" dirty="0">
                <a:latin typeface="Arial" panose="020B0604020202020204" pitchFamily="34" charset="0"/>
                <a:cs typeface="Arial" panose="020B0604020202020204" pitchFamily="34" charset="0"/>
              </a:rPr>
              <a:t>, T. &amp; </a:t>
            </a:r>
            <a:r>
              <a:rPr lang="en-AU" sz="900" dirty="0">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Sandsør</a:t>
            </a:r>
            <a:r>
              <a:rPr lang="en-AU" sz="900" dirty="0">
                <a:latin typeface="Arial" panose="020B0604020202020204" pitchFamily="34" charset="0"/>
                <a:cs typeface="Arial" panose="020B0604020202020204" pitchFamily="34" charset="0"/>
              </a:rPr>
              <a:t>, A.M.J. (2016). </a:t>
            </a:r>
            <a:r>
              <a:rPr lang="en-AU" sz="900" dirty="0">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Kindergarten for all: Long run effects of a universal intervention</a:t>
            </a:r>
            <a:r>
              <a:rPr lang="en-AU" sz="900" dirty="0">
                <a:latin typeface="Arial" panose="020B0604020202020204" pitchFamily="34" charset="0"/>
                <a:cs typeface="Arial" panose="020B0604020202020204" pitchFamily="34" charset="0"/>
              </a:rPr>
              <a:t>. Economics of Education Review, 53, 164-181.</a:t>
            </a:r>
          </a:p>
          <a:p>
            <a:pPr marL="0" indent="0">
              <a:buNone/>
            </a:pPr>
            <a:r>
              <a:rPr lang="en-AU" sz="900" dirty="0">
                <a:latin typeface="Arial" panose="020B0604020202020204" pitchFamily="34" charset="0"/>
                <a:cs typeface="Arial" panose="020B0604020202020204" pitchFamily="34" charset="0"/>
              </a:rPr>
              <a:t> </a:t>
            </a:r>
            <a:r>
              <a:rPr lang="en-GB" sz="900" dirty="0">
                <a:latin typeface="Arial" panose="020B0604020202020204" pitchFamily="34" charset="0"/>
                <a:cs typeface="Arial" panose="020B0604020202020204" pitchFamily="34" charset="0"/>
              </a:rPr>
              <a:t>Imbens, G. and Lemieux, T. (2008) Regression Discontinuity Designs: A Guide to Practice. Journal of Econometrics, 142, 615-635.</a:t>
            </a:r>
            <a:endParaRPr lang="en-AU" sz="600" dirty="0">
              <a:latin typeface="Arial" panose="020B0604020202020204" pitchFamily="34" charset="0"/>
              <a:ea typeface="Times New Roman" panose="02020603050405020304" pitchFamily="18" charset="0"/>
              <a:cs typeface="Arial" panose="020B0604020202020204" pitchFamily="34" charset="0"/>
            </a:endParaRPr>
          </a:p>
          <a:p>
            <a:pPr marL="0" indent="0">
              <a:buNone/>
            </a:pPr>
            <a:r>
              <a:rPr lang="en-US" sz="900" dirty="0">
                <a:solidFill>
                  <a:srgbClr val="222222"/>
                </a:solidFill>
                <a:latin typeface="Arial" panose="020B0604020202020204" pitchFamily="34" charset="0"/>
              </a:rPr>
              <a:t>Gramlich, E.M. (1986). Evaluation of Education Projects: the Case of the Perry Preschool Program. </a:t>
            </a:r>
            <a:r>
              <a:rPr lang="en-US" sz="900" i="1" dirty="0">
                <a:solidFill>
                  <a:srgbClr val="222222"/>
                </a:solidFill>
                <a:latin typeface="Arial" panose="020B0604020202020204" pitchFamily="34" charset="0"/>
              </a:rPr>
              <a:t>Economics of Education Review</a:t>
            </a:r>
            <a:r>
              <a:rPr lang="en-US" sz="900" dirty="0">
                <a:solidFill>
                  <a:srgbClr val="222222"/>
                </a:solidFill>
                <a:latin typeface="Arial" panose="020B0604020202020204" pitchFamily="34" charset="0"/>
              </a:rPr>
              <a:t>, 5(1), 17-21</a:t>
            </a:r>
            <a:r>
              <a:rPr lang="en-US" sz="750" dirty="0"/>
              <a:t>.</a:t>
            </a:r>
            <a:endParaRPr lang="en-US" sz="900" dirty="0">
              <a:solidFill>
                <a:srgbClr val="222222"/>
              </a:solidFill>
              <a:latin typeface="Arial" panose="020B0604020202020204" pitchFamily="34" charset="0"/>
            </a:endParaRPr>
          </a:p>
          <a:p>
            <a:pPr marL="0" indent="0">
              <a:buNone/>
            </a:pPr>
            <a:r>
              <a:rPr lang="en-US" sz="900" dirty="0">
                <a:solidFill>
                  <a:srgbClr val="222222"/>
                </a:solidFill>
                <a:latin typeface="Arial" panose="020B0604020202020204" pitchFamily="34" charset="0"/>
              </a:rPr>
              <a:t>Garcia, J.L. Heckman, J.J.  &amp; Ziff, A.L. (2019). Early Childhood education &amp; crime. </a:t>
            </a:r>
            <a:r>
              <a:rPr lang="en-US" sz="750" u="sng" dirty="0">
                <a:solidFill>
                  <a:srgbClr val="205493"/>
                </a:solidFill>
                <a:latin typeface="Helvetica Neue"/>
                <a:hlinkClick r:id="rId6"/>
              </a:rPr>
              <a:t>Infant Ment Health J. 2019 Jan; 40(1): 141–151.</a:t>
            </a:r>
            <a:endParaRPr lang="en-US" sz="900" dirty="0">
              <a:solidFill>
                <a:srgbClr val="222222"/>
              </a:solidFill>
              <a:latin typeface="Arial" panose="020B0604020202020204" pitchFamily="34" charset="0"/>
            </a:endParaRPr>
          </a:p>
          <a:p>
            <a:pPr marL="0" indent="0">
              <a:buNone/>
            </a:pPr>
            <a:r>
              <a:rPr lang="en-US" sz="825" dirty="0">
                <a:latin typeface="Arial" panose="020B0604020202020204" pitchFamily="34" charset="0"/>
                <a:cs typeface="Arial" panose="020B0604020202020204" pitchFamily="34" charset="0"/>
              </a:rPr>
              <a:t>Heckman, J.J. &amp; </a:t>
            </a:r>
            <a:r>
              <a:rPr lang="en-AU" sz="825" dirty="0">
                <a:latin typeface="Arial" panose="020B0604020202020204" pitchFamily="34" charset="0"/>
                <a:cs typeface="Arial" panose="020B0604020202020204" pitchFamily="34" charset="0"/>
              </a:rPr>
              <a:t>Karapakula, G. (2019). </a:t>
            </a:r>
            <a:r>
              <a:rPr lang="en-US" sz="825" dirty="0">
                <a:latin typeface="Arial" panose="020B0604020202020204" pitchFamily="34" charset="0"/>
                <a:cs typeface="Arial" panose="020B0604020202020204" pitchFamily="34" charset="0"/>
              </a:rPr>
              <a:t>INTERGENERATIONAL AND INTRAGENERATIONAL EXTERNALITIES OF THE PERRY PRESCHOOL PROJECT. </a:t>
            </a:r>
            <a:r>
              <a:rPr lang="en-AU" sz="825" dirty="0">
                <a:latin typeface="Arial" panose="020B0604020202020204" pitchFamily="34" charset="0"/>
                <a:cs typeface="Arial" panose="020B0604020202020204" pitchFamily="34" charset="0"/>
              </a:rPr>
              <a:t>Working Paper 25889, NBER.</a:t>
            </a:r>
          </a:p>
          <a:p>
            <a:pPr marL="0" indent="0">
              <a:buNone/>
            </a:pPr>
            <a:r>
              <a:rPr lang="en-GB" sz="825" dirty="0">
                <a:latin typeface="Arial" panose="020B0604020202020204" pitchFamily="34" charset="0"/>
                <a:cs typeface="Arial" panose="020B0604020202020204" pitchFamily="34" charset="0"/>
              </a:rPr>
              <a:t>Jacob, B. and Lefgren, L. (2003) Are Idle Hands the Devil’s Workshop? Incapacitation, Concentration and Juvenile Crime, American Economic Review, 93, 1560-77.</a:t>
            </a:r>
            <a:endParaRPr lang="en-AU" sz="825" dirty="0">
              <a:latin typeface="Arial" panose="020B0604020202020204" pitchFamily="34" charset="0"/>
              <a:cs typeface="Arial" panose="020B0604020202020204" pitchFamily="34" charset="0"/>
            </a:endParaRPr>
          </a:p>
          <a:p>
            <a:pPr marL="0" indent="0">
              <a:buNone/>
            </a:pPr>
            <a:r>
              <a:rPr lang="en-US" sz="825" dirty="0">
                <a:latin typeface="Arial" panose="020B0604020202020204" pitchFamily="34" charset="0"/>
                <a:cs typeface="Arial" panose="020B0604020202020204" pitchFamily="34" charset="0"/>
              </a:rPr>
              <a:t>Landersø</a:t>
            </a:r>
            <a:r>
              <a:rPr lang="en-US" sz="900" dirty="0">
                <a:solidFill>
                  <a:srgbClr val="222222"/>
                </a:solidFill>
                <a:latin typeface="Arial" panose="020B0604020202020204" pitchFamily="34" charset="0"/>
              </a:rPr>
              <a:t>, R., Nielsen, H. S., &amp; Simonsen, M. (2017). School starting age and the crime‐age profile. </a:t>
            </a:r>
            <a:r>
              <a:rPr lang="en-US" sz="900" i="1" dirty="0">
                <a:solidFill>
                  <a:srgbClr val="222222"/>
                </a:solidFill>
                <a:latin typeface="Arial" panose="020B0604020202020204" pitchFamily="34" charset="0"/>
              </a:rPr>
              <a:t>The Economic Journal</a:t>
            </a:r>
            <a:r>
              <a:rPr lang="en-US" sz="900" dirty="0">
                <a:solidFill>
                  <a:srgbClr val="222222"/>
                </a:solidFill>
                <a:latin typeface="Arial" panose="020B0604020202020204" pitchFamily="34" charset="0"/>
              </a:rPr>
              <a:t>, </a:t>
            </a:r>
            <a:r>
              <a:rPr lang="en-US" sz="900" i="1" dirty="0">
                <a:solidFill>
                  <a:srgbClr val="222222"/>
                </a:solidFill>
                <a:latin typeface="Arial" panose="020B0604020202020204" pitchFamily="34" charset="0"/>
              </a:rPr>
              <a:t>127</a:t>
            </a:r>
            <a:r>
              <a:rPr lang="en-US" sz="900" dirty="0">
                <a:solidFill>
                  <a:srgbClr val="222222"/>
                </a:solidFill>
                <a:latin typeface="Arial" panose="020B0604020202020204" pitchFamily="34" charset="0"/>
              </a:rPr>
              <a:t>(602), 1096-1118.</a:t>
            </a:r>
            <a:endParaRPr lang="en-GB" sz="900" dirty="0">
              <a:latin typeface="Arial" panose="020B0604020202020204" pitchFamily="34" charset="0"/>
              <a:ea typeface="Times New Roman" panose="02020603050405020304" pitchFamily="18" charset="0"/>
              <a:cs typeface="Arial" panose="020B0604020202020204" pitchFamily="34" charset="0"/>
            </a:endParaRPr>
          </a:p>
          <a:p>
            <a:pPr marL="0" indent="0">
              <a:buNone/>
            </a:pPr>
            <a:r>
              <a:rPr lang="en-GB" sz="900" dirty="0">
                <a:latin typeface="Arial" panose="020B0604020202020204" pitchFamily="34" charset="0"/>
                <a:ea typeface="Times New Roman" panose="02020603050405020304" pitchFamily="18" charset="0"/>
                <a:cs typeface="Arial" panose="020B0604020202020204" pitchFamily="34" charset="0"/>
              </a:rPr>
              <a:t>Lee, D. S., McCrary, J., Moreira, M. J., and Porter, J. (2021) ‘Valid T-Ratio Inference for IV’, </a:t>
            </a:r>
            <a:r>
              <a:rPr lang="en-GB" sz="900" i="1" dirty="0">
                <a:latin typeface="Arial" panose="020B0604020202020204" pitchFamily="34" charset="0"/>
                <a:ea typeface="Times New Roman" panose="02020603050405020304" pitchFamily="18" charset="0"/>
                <a:cs typeface="Arial" panose="020B0604020202020204" pitchFamily="34" charset="0"/>
              </a:rPr>
              <a:t>National Bureau of Economic Research,</a:t>
            </a:r>
            <a:r>
              <a:rPr lang="en-GB" sz="900" dirty="0">
                <a:latin typeface="Arial" panose="020B0604020202020204" pitchFamily="34" charset="0"/>
                <a:ea typeface="Times New Roman" panose="02020603050405020304" pitchFamily="18" charset="0"/>
                <a:cs typeface="Arial" panose="020B0604020202020204" pitchFamily="34" charset="0"/>
              </a:rPr>
              <a:t> Working Paper 29124.</a:t>
            </a:r>
          </a:p>
          <a:p>
            <a:pPr marL="0" indent="0">
              <a:buNone/>
            </a:pPr>
            <a:r>
              <a:rPr lang="en-GB" sz="900" dirty="0">
                <a:solidFill>
                  <a:srgbClr val="222222"/>
                </a:solidFill>
                <a:latin typeface="Arial" panose="020B0604020202020204" pitchFamily="34" charset="0"/>
                <a:cs typeface="Arial" panose="020B0604020202020204" pitchFamily="34" charset="0"/>
              </a:rPr>
              <a:t>Lochner, L. and Moretti, E. (2004) The Effect of Education on Crime: Evidence from Prison Inmates, Arrests and Self-Reports, American Economic Review, 94, 155-89.</a:t>
            </a:r>
          </a:p>
          <a:p>
            <a:pPr marL="0" indent="0">
              <a:buNone/>
            </a:pPr>
            <a:r>
              <a:rPr lang="en-GB" sz="900" dirty="0">
                <a:solidFill>
                  <a:srgbClr val="222222"/>
                </a:solidFill>
                <a:latin typeface="Arial" panose="020B0604020202020204" pitchFamily="34" charset="0"/>
                <a:cs typeface="Arial" panose="020B0604020202020204" pitchFamily="34" charset="0"/>
              </a:rPr>
              <a:t>Luallen, J. (2006) School’s Out… Forever: A Study of Juvenile Crime, At-Risk Youths and Teacher Strikes, Journal of Urban Economics, 59, 75-103.</a:t>
            </a:r>
            <a:endParaRPr lang="en-AU" sz="900" dirty="0">
              <a:solidFill>
                <a:srgbClr val="222222"/>
              </a:solidFill>
              <a:latin typeface="Arial" panose="020B0604020202020204" pitchFamily="34" charset="0"/>
              <a:cs typeface="Arial" panose="020B0604020202020204" pitchFamily="34" charset="0"/>
            </a:endParaRPr>
          </a:p>
          <a:p>
            <a:pPr marL="0" indent="0">
              <a:buNone/>
            </a:pPr>
            <a:r>
              <a:rPr lang="en-AU" sz="900" dirty="0">
                <a:solidFill>
                  <a:srgbClr val="222222"/>
                </a:solidFill>
                <a:latin typeface="Arial" panose="020B0604020202020204" pitchFamily="34" charset="0"/>
                <a:cs typeface="Arial" panose="020B0604020202020204" pitchFamily="34" charset="0"/>
              </a:rPr>
              <a:t>Kling</a:t>
            </a:r>
            <a:r>
              <a:rPr lang="en-AU" sz="900" dirty="0">
                <a:latin typeface="Arial" panose="020B0604020202020204" pitchFamily="34" charset="0"/>
                <a:cs typeface="Arial" panose="020B0604020202020204" pitchFamily="34" charset="0"/>
              </a:rPr>
              <a:t>, J.R. Liebman, J. B. &amp; Katz, L.F. (2007). Experimental analysis of neighborhood effects. Econometrica, 75 (1), 83–119. </a:t>
            </a:r>
          </a:p>
          <a:p>
            <a:pPr marL="0" indent="0">
              <a:buNone/>
            </a:pPr>
            <a:r>
              <a:rPr lang="en-GB" sz="900" dirty="0">
                <a:latin typeface="Arial" panose="020B0604020202020204" pitchFamily="34" charset="0"/>
                <a:cs typeface="Arial" panose="020B0604020202020204" pitchFamily="34" charset="0"/>
              </a:rPr>
              <a:t>Machin, S., Marie, O. and Vujic, S. (2011) The Crime Reducing Effect of Education, Economic Journal, 121, 463-84.</a:t>
            </a:r>
            <a:endParaRPr lang="en-AU" sz="900" dirty="0">
              <a:latin typeface="Arial" panose="020B0604020202020204" pitchFamily="34" charset="0"/>
              <a:cs typeface="Arial" panose="020B0604020202020204" pitchFamily="34" charset="0"/>
            </a:endParaRPr>
          </a:p>
          <a:p>
            <a:pPr marL="0" indent="0">
              <a:buNone/>
            </a:pPr>
            <a:r>
              <a:rPr lang="en-AU" sz="900" dirty="0">
                <a:latin typeface="Arial" panose="020B0604020202020204" pitchFamily="34" charset="0"/>
                <a:cs typeface="Arial" panose="020B0604020202020204" pitchFamily="34" charset="0"/>
              </a:rPr>
              <a:t>Morgan, H. (2019). </a:t>
            </a:r>
            <a:r>
              <a:rPr lang="en-US" sz="900" dirty="0">
                <a:latin typeface="Arial" panose="020B0604020202020204" pitchFamily="34" charset="0"/>
                <a:cs typeface="Arial" panose="020B0604020202020204" pitchFamily="34" charset="0"/>
              </a:rPr>
              <a:t>Does High-Quality Preschool </a:t>
            </a:r>
            <a:r>
              <a:rPr lang="en-US" sz="900" dirty="0">
                <a:latin typeface="Arial" panose="020B0604020202020204" pitchFamily="34" charset="0"/>
                <a:ea typeface="Calibri" panose="020F0502020204030204" pitchFamily="34" charset="0"/>
                <a:cs typeface="Arial" panose="020B0604020202020204" pitchFamily="34" charset="0"/>
              </a:rPr>
              <a:t>Benefit Children? </a:t>
            </a:r>
            <a:r>
              <a:rPr lang="en-AU" sz="900" dirty="0">
                <a:latin typeface="Arial" panose="020B0604020202020204" pitchFamily="34" charset="0"/>
                <a:ea typeface="Calibri" panose="020F0502020204030204" pitchFamily="34" charset="0"/>
                <a:cs typeface="Arial" panose="020B0604020202020204" pitchFamily="34" charset="0"/>
              </a:rPr>
              <a:t>What the Research Shows. </a:t>
            </a:r>
            <a:r>
              <a:rPr lang="en-AU" sz="900" i="1" dirty="0">
                <a:latin typeface="Arial" panose="020B0604020202020204" pitchFamily="34" charset="0"/>
                <a:ea typeface="Calibri" panose="020F0502020204030204" pitchFamily="34" charset="0"/>
                <a:cs typeface="Arial" panose="020B0604020202020204" pitchFamily="34" charset="0"/>
              </a:rPr>
              <a:t>Education Sciences </a:t>
            </a:r>
            <a:r>
              <a:rPr lang="en-AU" sz="900" dirty="0">
                <a:latin typeface="Arial" panose="020B0604020202020204" pitchFamily="34" charset="0"/>
                <a:ea typeface="Calibri" panose="020F0502020204030204" pitchFamily="34" charset="0"/>
                <a:cs typeface="Arial" panose="020B0604020202020204" pitchFamily="34" charset="0"/>
              </a:rPr>
              <a:t>9(19). doi:10.3390/educsci9010019</a:t>
            </a:r>
          </a:p>
          <a:p>
            <a:pPr marL="0" indent="0">
              <a:buNone/>
            </a:pPr>
            <a:r>
              <a:rPr lang="en-AU" sz="900" dirty="0">
                <a:latin typeface="Arial" panose="020B0604020202020204" pitchFamily="34" charset="0"/>
                <a:ea typeface="Calibri" panose="020F0502020204030204" pitchFamily="34" charset="0"/>
                <a:cs typeface="Arial" panose="020B0604020202020204" pitchFamily="34" charset="0"/>
              </a:rPr>
              <a:t>OECD (2012), Equity and Quality in Education: Supporting Disadvantaged Students and Schools, </a:t>
            </a:r>
            <a:r>
              <a:rPr lang="en-AU" sz="900" i="1" dirty="0">
                <a:latin typeface="Arial" panose="020B0604020202020204" pitchFamily="34" charset="0"/>
                <a:ea typeface="Calibri" panose="020F0502020204030204" pitchFamily="34" charset="0"/>
                <a:cs typeface="Arial" panose="020B0604020202020204" pitchFamily="34" charset="0"/>
              </a:rPr>
              <a:t>OECD Publishing</a:t>
            </a:r>
            <a:r>
              <a:rPr lang="en-AU" sz="900" dirty="0">
                <a:latin typeface="Arial" panose="020B0604020202020204" pitchFamily="34" charset="0"/>
                <a:ea typeface="Calibri" panose="020F0502020204030204" pitchFamily="34" charset="0"/>
                <a:cs typeface="Arial" panose="020B0604020202020204" pitchFamily="34" charset="0"/>
              </a:rPr>
              <a:t>. </a:t>
            </a:r>
            <a:r>
              <a:rPr lang="en-AU" sz="900" u="sng" dirty="0">
                <a:solidFill>
                  <a:srgbClr val="0000FF"/>
                </a:solidFill>
                <a:latin typeface="Arial" panose="020B0604020202020204" pitchFamily="34" charset="0"/>
                <a:ea typeface="Calibri" panose="020F0502020204030204" pitchFamily="34" charset="0"/>
                <a:cs typeface="Arial" panose="020B0604020202020204" pitchFamily="34" charset="0"/>
                <a:hlinkClick r:id="rId7"/>
              </a:rPr>
              <a:t>http://dx.doi.org/10.1787/9789264130852-en</a:t>
            </a:r>
            <a:endParaRPr lang="en-AU" sz="900" u="sng" dirty="0">
              <a:solidFill>
                <a:srgbClr val="0000FF"/>
              </a:solidFill>
              <a:latin typeface="Arial" panose="020B0604020202020204" pitchFamily="34" charset="0"/>
              <a:ea typeface="Calibri" panose="020F0502020204030204" pitchFamily="34" charset="0"/>
              <a:cs typeface="Arial" panose="020B0604020202020204" pitchFamily="34" charset="0"/>
            </a:endParaRPr>
          </a:p>
          <a:p>
            <a:pPr marL="0" indent="0">
              <a:buNone/>
            </a:pPr>
            <a:r>
              <a:rPr lang="en-GB" sz="900" dirty="0">
                <a:solidFill>
                  <a:srgbClr val="222222"/>
                </a:solidFill>
                <a:latin typeface="Arial" panose="020B0604020202020204" pitchFamily="34" charset="0"/>
                <a:cs typeface="Arial" panose="020B0604020202020204" pitchFamily="34" charset="0"/>
              </a:rPr>
              <a:t>Oreopoulos, P. (2009) Would More Compulsory Schooling Help Disadvantaged Youth?  Evidence From Recent Changes to School- Leaving Laws, in Gruber, J. (ed.) The Problems of Disadvantaged Youth: An Economic Perspective,  National Bureau of Economic Research. University of Chicago Press. </a:t>
            </a:r>
            <a:endParaRPr lang="en-AU" sz="900" dirty="0">
              <a:solidFill>
                <a:srgbClr val="222222"/>
              </a:solidFill>
              <a:latin typeface="Arial" panose="020B0604020202020204" pitchFamily="34" charset="0"/>
              <a:cs typeface="Arial" panose="020B0604020202020204" pitchFamily="34" charset="0"/>
            </a:endParaRPr>
          </a:p>
          <a:p>
            <a:pPr marL="0" indent="0">
              <a:buNone/>
            </a:pPr>
            <a:r>
              <a:rPr lang="en-AU" sz="900" dirty="0">
                <a:solidFill>
                  <a:srgbClr val="222222"/>
                </a:solidFill>
                <a:latin typeface="Arial" panose="020B0604020202020204" pitchFamily="34" charset="0"/>
                <a:cs typeface="Arial" panose="020B0604020202020204" pitchFamily="34" charset="0"/>
              </a:rPr>
              <a:t>Pianta, R., La Paro, K. M., and Hamre, B. K. (2008). Classroom Assessment Scoring System: </a:t>
            </a:r>
            <a:r>
              <a:rPr lang="en-AU" sz="900" i="1" dirty="0">
                <a:solidFill>
                  <a:srgbClr val="222222"/>
                </a:solidFill>
                <a:latin typeface="Arial" panose="020B0604020202020204" pitchFamily="34" charset="0"/>
                <a:cs typeface="Arial" panose="020B0604020202020204" pitchFamily="34" charset="0"/>
              </a:rPr>
              <a:t>Manual Pre-K</a:t>
            </a:r>
            <a:r>
              <a:rPr lang="en-AU" sz="900" dirty="0">
                <a:solidFill>
                  <a:srgbClr val="222222"/>
                </a:solidFill>
                <a:latin typeface="Arial" panose="020B0604020202020204" pitchFamily="34" charset="0"/>
                <a:cs typeface="Arial" panose="020B0604020202020204" pitchFamily="34" charset="0"/>
              </a:rPr>
              <a:t>. Baltimore: Paul. H. Brookes.</a:t>
            </a:r>
          </a:p>
          <a:p>
            <a:pPr marL="0" indent="0">
              <a:buNone/>
            </a:pPr>
            <a:r>
              <a:rPr lang="en-AU" sz="900" dirty="0">
                <a:solidFill>
                  <a:srgbClr val="222222"/>
                </a:solidFill>
                <a:latin typeface="Arial" panose="020B0604020202020204" pitchFamily="34" charset="0"/>
                <a:cs typeface="Arial" panose="020B0604020202020204" pitchFamily="34" charset="0"/>
              </a:rPr>
              <a:t>Reynolds, A.J.,   Temple, J.A. &amp; Ou, S-R (2010). </a:t>
            </a:r>
            <a:r>
              <a:rPr lang="en-US" sz="900" dirty="0">
                <a:solidFill>
                  <a:srgbClr val="222222"/>
                </a:solidFill>
                <a:latin typeface="Arial" panose="020B0604020202020204" pitchFamily="34" charset="0"/>
                <a:cs typeface="Arial" panose="020B0604020202020204" pitchFamily="34" charset="0"/>
              </a:rPr>
              <a:t>Preschool education, educational attainment, and crime prevention: Contributions of cognitive and non-cognitive skills. </a:t>
            </a:r>
            <a:r>
              <a:rPr lang="en-AU" sz="900" i="1" dirty="0">
                <a:solidFill>
                  <a:srgbClr val="222222"/>
                </a:solidFill>
                <a:latin typeface="Arial" panose="020B0604020202020204" pitchFamily="34" charset="0"/>
                <a:cs typeface="Arial" panose="020B0604020202020204" pitchFamily="34" charset="0"/>
              </a:rPr>
              <a:t>Children &amp; Youth Services Review</a:t>
            </a:r>
            <a:r>
              <a:rPr lang="en-AU" sz="900" dirty="0">
                <a:solidFill>
                  <a:srgbClr val="222222"/>
                </a:solidFill>
                <a:latin typeface="Arial" panose="020B0604020202020204" pitchFamily="34" charset="0"/>
                <a:cs typeface="Arial" panose="020B0604020202020204" pitchFamily="34" charset="0"/>
              </a:rPr>
              <a:t>, 32, 1054-1063.</a:t>
            </a:r>
          </a:p>
          <a:p>
            <a:pPr marL="0" indent="0">
              <a:buNone/>
            </a:pPr>
            <a:r>
              <a:rPr lang="en-AU" sz="900" dirty="0">
                <a:solidFill>
                  <a:srgbClr val="222222"/>
                </a:solidFill>
                <a:latin typeface="Arial" panose="020B0604020202020204" pitchFamily="34" charset="0"/>
                <a:ea typeface="Calibri" panose="020F0502020204030204" pitchFamily="34" charset="0"/>
                <a:cs typeface="Arial" panose="020B0604020202020204" pitchFamily="34" charset="0"/>
              </a:rPr>
              <a:t>Rodríguez-Planas, N, (2012). Longer-term impacts of mentoring, educational services, and learning incentives: evidence from a randomized trial in the United States. </a:t>
            </a:r>
            <a:r>
              <a:rPr lang="en-AU" sz="900" i="1" dirty="0">
                <a:solidFill>
                  <a:srgbClr val="222222"/>
                </a:solidFill>
                <a:latin typeface="Arial" panose="020B0604020202020204" pitchFamily="34" charset="0"/>
                <a:ea typeface="Calibri" panose="020F0502020204030204" pitchFamily="34" charset="0"/>
                <a:cs typeface="Arial" panose="020B0604020202020204" pitchFamily="34" charset="0"/>
              </a:rPr>
              <a:t>American. Economic. Journal: Applied Economics</a:t>
            </a:r>
            <a:r>
              <a:rPr lang="en-AU" sz="900" dirty="0">
                <a:solidFill>
                  <a:srgbClr val="222222"/>
                </a:solidFill>
                <a:latin typeface="Arial" panose="020B0604020202020204" pitchFamily="34" charset="0"/>
                <a:ea typeface="Calibri" panose="020F0502020204030204" pitchFamily="34" charset="0"/>
                <a:cs typeface="Arial" panose="020B0604020202020204" pitchFamily="34" charset="0"/>
              </a:rPr>
              <a:t>. 4 (4), 121–139.</a:t>
            </a:r>
          </a:p>
          <a:p>
            <a:pPr marL="0" indent="0">
              <a:buNone/>
            </a:pPr>
            <a:r>
              <a:rPr lang="en-AU" sz="900" dirty="0">
                <a:solidFill>
                  <a:srgbClr val="222222"/>
                </a:solidFill>
                <a:latin typeface="Arial" panose="020B0604020202020204" pitchFamily="34" charset="0"/>
                <a:ea typeface="Calibri" panose="020F0502020204030204" pitchFamily="34" charset="0"/>
                <a:cs typeface="Arial" panose="020B0604020202020204" pitchFamily="34" charset="0"/>
              </a:rPr>
              <a:t>Rotger, G.P. &amp; Galster, G.C. (2019). Neighborhood peer effects on youth crime: natural experiment evidence. Journal of Economic Geography, 19(3), 655-676.</a:t>
            </a:r>
          </a:p>
          <a:p>
            <a:pPr marL="0" indent="0">
              <a:buNone/>
            </a:pPr>
            <a:r>
              <a:rPr lang="en-AU" sz="900" dirty="0">
                <a:latin typeface="Arial" panose="020B0604020202020204" pitchFamily="34" charset="0"/>
                <a:cs typeface="Arial" panose="020B0604020202020204" pitchFamily="34" charset="0"/>
              </a:rPr>
              <a:t>Tayler, C., Ishimine, K., Cloney, D., Cleveland, G., &amp; Thorpe, K. (2013). The quality of early childhood education and care services in Australia. Australasian Journal of Early Childhood, 38(2), 13-21</a:t>
            </a:r>
          </a:p>
          <a:p>
            <a:pPr marL="0" indent="0">
              <a:buNone/>
            </a:pPr>
            <a:r>
              <a:rPr lang="en-AU" sz="900" dirty="0">
                <a:latin typeface="Arial" panose="020B0604020202020204" pitchFamily="34" charset="0"/>
                <a:cs typeface="Arial" panose="020B0604020202020204" pitchFamily="34" charset="0"/>
              </a:rPr>
              <a:t>Temple &amp; Reynolds, 2007). </a:t>
            </a:r>
            <a:r>
              <a:rPr lang="en-US" sz="900" dirty="0">
                <a:latin typeface="Arial" panose="020B0604020202020204" pitchFamily="34" charset="0"/>
                <a:cs typeface="Arial" panose="020B0604020202020204" pitchFamily="34" charset="0"/>
              </a:rPr>
              <a:t>Benefits and costs of investments in preschool education: Evidence from the Child–Parent Centers and related programs. Economics of Education Review 26, 126–144.</a:t>
            </a:r>
            <a:endParaRPr lang="en-AU" sz="900" dirty="0">
              <a:latin typeface="Arial" panose="020B0604020202020204" pitchFamily="34" charset="0"/>
              <a:cs typeface="Arial" panose="020B0604020202020204" pitchFamily="34" charset="0"/>
            </a:endParaRPr>
          </a:p>
          <a:p>
            <a:pPr marL="0" indent="0">
              <a:buNone/>
            </a:pPr>
            <a:r>
              <a:rPr lang="en-US" sz="900" dirty="0">
                <a:latin typeface="Arial" panose="020B0604020202020204" pitchFamily="34" charset="0"/>
                <a:cs typeface="Arial" panose="020B0604020202020204" pitchFamily="34" charset="0"/>
              </a:rPr>
              <a:t>Thorpe, K., Potia, A., Beatton, T., Rankin, P., &amp; Staton, S. (2020). Educational Outcomes of Queensland’s  Investment in Early Childhood Education and Care 2007- 2020, Queensland Government Final Report. University of Queensland, Queensland Australia.</a:t>
            </a:r>
          </a:p>
          <a:p>
            <a:pPr marL="0" indent="0">
              <a:buNone/>
            </a:pPr>
            <a:r>
              <a:rPr lang="en-US" sz="900" dirty="0">
                <a:solidFill>
                  <a:srgbClr val="222222"/>
                </a:solidFill>
                <a:latin typeface="Arial" panose="020B0604020202020204" pitchFamily="34" charset="0"/>
                <a:cs typeface="Arial" panose="020B0604020202020204" pitchFamily="34" charset="0"/>
              </a:rPr>
              <a:t>Vincent, C. G., Sprague, J. R., CHiXapkaid, M., Tobin, T. J., &amp; Gau, J. M. (2015). Effectiveness of schoolwide positive behavior interventions and supports in reducing racially inequitable disciplinary exclusion. In D. J. Losen (Ed.), Closing the school discipline gap: Equitable remedies for excessive exclusion (pp.  207–221). New York: Teachers College Press.</a:t>
            </a:r>
          </a:p>
          <a:p>
            <a:pPr marL="0" indent="0">
              <a:buNone/>
            </a:pPr>
            <a:r>
              <a:rPr lang="en-AU" sz="900" dirty="0">
                <a:solidFill>
                  <a:srgbClr val="222222"/>
                </a:solidFill>
                <a:latin typeface="Arial" panose="020B0604020202020204" pitchFamily="34" charset="0"/>
                <a:cs typeface="Arial" panose="020B0604020202020204" pitchFamily="34" charset="0"/>
              </a:rPr>
              <a:t>Warren, D., O’Connor, M., Smart, D. &amp; Edwards, B. (2016). A Critical Review of the Early Childhood Literature. </a:t>
            </a:r>
            <a:r>
              <a:rPr lang="en-AU" sz="900" i="1" dirty="0">
                <a:solidFill>
                  <a:srgbClr val="222222"/>
                </a:solidFill>
                <a:latin typeface="Arial" panose="020B0604020202020204" pitchFamily="34" charset="0"/>
                <a:cs typeface="Arial" panose="020B0604020202020204" pitchFamily="34" charset="0"/>
              </a:rPr>
              <a:t>Australian Institute of Family Studies</a:t>
            </a:r>
            <a:r>
              <a:rPr lang="en-AU" sz="900" dirty="0">
                <a:solidFill>
                  <a:srgbClr val="222222"/>
                </a:solidFill>
                <a:latin typeface="Arial" panose="020B0604020202020204" pitchFamily="34" charset="0"/>
                <a:cs typeface="Arial" panose="020B0604020202020204" pitchFamily="34" charset="0"/>
              </a:rPr>
              <a:t>. Australian Government.</a:t>
            </a:r>
            <a:endParaRPr lang="en-AU" sz="1350" dirty="0">
              <a:latin typeface="Arial" panose="020B0604020202020204" pitchFamily="34" charset="0"/>
              <a:ea typeface="Times New Roman" panose="02020603050405020304" pitchFamily="18" charset="0"/>
              <a:cs typeface="Arial" panose="020B0604020202020204" pitchFamily="34" charset="0"/>
            </a:endParaRPr>
          </a:p>
          <a:p>
            <a:endParaRPr lang="en-AU"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6F0FDF68-5C0D-4DF1-B005-78113CCE2ED6}"/>
              </a:ext>
            </a:extLst>
          </p:cNvPr>
          <p:cNvSpPr>
            <a:spLocks noGrp="1"/>
          </p:cNvSpPr>
          <p:nvPr>
            <p:ph type="sldNum" sz="quarter" idx="12"/>
          </p:nvPr>
        </p:nvSpPr>
        <p:spPr/>
        <p:txBody>
          <a:bodyPr/>
          <a:lstStyle/>
          <a:p>
            <a:fld id="{265EA017-FED2-434E-B83D-D6FB009D181D}" type="slidenum">
              <a:rPr lang="en-AU" smtClean="0"/>
              <a:t>21</a:t>
            </a:fld>
            <a:endParaRPr lang="en-AU" dirty="0"/>
          </a:p>
        </p:txBody>
      </p:sp>
    </p:spTree>
    <p:extLst>
      <p:ext uri="{BB962C8B-B14F-4D97-AF65-F5344CB8AC3E}">
        <p14:creationId xmlns:p14="http://schemas.microsoft.com/office/powerpoint/2010/main" val="1375838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05E72D0-355C-1E6B-BEE3-B559DA97D249}"/>
              </a:ext>
            </a:extLst>
          </p:cNvPr>
          <p:cNvSpPr>
            <a:spLocks noGrp="1"/>
          </p:cNvSpPr>
          <p:nvPr>
            <p:ph type="sldNum" sz="quarter" idx="12"/>
          </p:nvPr>
        </p:nvSpPr>
        <p:spPr/>
        <p:txBody>
          <a:bodyPr/>
          <a:lstStyle/>
          <a:p>
            <a:pPr>
              <a:defRPr/>
            </a:pPr>
            <a:fld id="{1BF4DAD2-EF8C-45D1-99EF-6F8FF6D5B0B6}" type="slidenum">
              <a:rPr lang="en-US" altLang="en-US" smtClean="0"/>
              <a:pPr>
                <a:defRPr/>
              </a:pPr>
              <a:t>22</a:t>
            </a:fld>
            <a:endParaRPr lang="en-US" altLang="en-US"/>
          </a:p>
        </p:txBody>
      </p:sp>
      <p:sp>
        <p:nvSpPr>
          <p:cNvPr id="3" name="TextBox 2">
            <a:extLst>
              <a:ext uri="{FF2B5EF4-FFF2-40B4-BE49-F238E27FC236}">
                <a16:creationId xmlns:a16="http://schemas.microsoft.com/office/drawing/2014/main" id="{A0DAE1DD-4BCC-7DC4-4224-9D9F2CA37C47}"/>
              </a:ext>
            </a:extLst>
          </p:cNvPr>
          <p:cNvSpPr txBox="1"/>
          <p:nvPr/>
        </p:nvSpPr>
        <p:spPr>
          <a:xfrm>
            <a:off x="3101084" y="3136612"/>
            <a:ext cx="2941831" cy="584775"/>
          </a:xfrm>
          <a:prstGeom prst="rect">
            <a:avLst/>
          </a:prstGeom>
          <a:noFill/>
        </p:spPr>
        <p:txBody>
          <a:bodyPr wrap="none" rtlCol="0">
            <a:spAutoFit/>
          </a:bodyPr>
          <a:lstStyle/>
          <a:p>
            <a:r>
              <a:rPr lang="en-AU" sz="3200" dirty="0">
                <a:solidFill>
                  <a:srgbClr val="0066FF"/>
                </a:solidFill>
              </a:rPr>
              <a:t>End of Session</a:t>
            </a:r>
          </a:p>
        </p:txBody>
      </p:sp>
    </p:spTree>
    <p:extLst>
      <p:ext uri="{BB962C8B-B14F-4D97-AF65-F5344CB8AC3E}">
        <p14:creationId xmlns:p14="http://schemas.microsoft.com/office/powerpoint/2010/main" val="1161144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20B1-6ADC-0BC8-F049-5EC44C94BE14}"/>
              </a:ext>
            </a:extLst>
          </p:cNvPr>
          <p:cNvSpPr>
            <a:spLocks noGrp="1"/>
          </p:cNvSpPr>
          <p:nvPr>
            <p:ph type="title"/>
          </p:nvPr>
        </p:nvSpPr>
        <p:spPr>
          <a:xfrm>
            <a:off x="457200" y="274638"/>
            <a:ext cx="7859216" cy="457199"/>
          </a:xfrm>
        </p:spPr>
        <p:txBody>
          <a:bodyPr/>
          <a:lstStyle/>
          <a:p>
            <a:pPr algn="l"/>
            <a:r>
              <a:rPr lang="en-AU" sz="3200" dirty="0"/>
              <a:t>Wald Estimator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DD891EF-F186-B0A4-87D9-B51C7FA45DC6}"/>
                  </a:ext>
                </a:extLst>
              </p:cNvPr>
              <p:cNvSpPr>
                <a:spLocks noGrp="1"/>
              </p:cNvSpPr>
              <p:nvPr>
                <p:ph idx="1"/>
              </p:nvPr>
            </p:nvSpPr>
            <p:spPr>
              <a:xfrm>
                <a:off x="457200" y="980729"/>
                <a:ext cx="8229600" cy="2448272"/>
              </a:xfrm>
            </p:spPr>
            <p:txBody>
              <a:bodyPr/>
              <a:lstStyle/>
              <a:p>
                <a:pPr marL="0" indent="0">
                  <a:buNone/>
                </a:pPr>
                <a:r>
                  <a:rPr lang="en-AU" sz="1800" dirty="0"/>
                  <a:t>We can also handle endogeneity when there is a binary DV; here the estimator is called a </a:t>
                </a:r>
                <a:r>
                  <a:rPr lang="en-AU" sz="1800" b="1" dirty="0"/>
                  <a:t>Wald estimator.</a:t>
                </a:r>
              </a:p>
              <a:p>
                <a:pPr marL="0" indent="0">
                  <a:buNone/>
                </a:pPr>
                <a:endParaRPr lang="en-AU" sz="1800" b="1" dirty="0"/>
              </a:p>
              <a:p>
                <a:pPr marL="0" indent="0">
                  <a:buNone/>
                </a:pPr>
                <a:r>
                  <a:rPr lang="en-AU" sz="1800" b="1" dirty="0"/>
                  <a:t>Reduced form model</a:t>
                </a:r>
                <a:r>
                  <a:rPr lang="en-AU" sz="1800" dirty="0"/>
                  <a:t>:  </a:t>
                </a:r>
                <a:r>
                  <a:rPr lang="es-ES" sz="1800" b="0" i="0" u="none" strike="noStrike" baseline="0" dirty="0"/>
                  <a:t>y = </a:t>
                </a:r>
                <a14:m>
                  <m:oMath xmlns:m="http://schemas.openxmlformats.org/officeDocument/2006/math">
                    <m:sSub>
                      <m:sSubPr>
                        <m:ctrlPr>
                          <a:rPr lang="el-GR" sz="1800" i="1" smtClean="0">
                            <a:latin typeface="Cambria Math" panose="02040503050406030204" pitchFamily="18" charset="0"/>
                          </a:rPr>
                        </m:ctrlPr>
                      </m:sSubPr>
                      <m:e>
                        <m:r>
                          <m:rPr>
                            <m:sty m:val="p"/>
                          </m:rPr>
                          <a:rPr lang="el-GR" sz="1800" i="1" smtClean="0">
                            <a:latin typeface="Cambria Math" panose="02040503050406030204" pitchFamily="18" charset="0"/>
                          </a:rPr>
                          <m:t>π</m:t>
                        </m:r>
                      </m:e>
                      <m:sub>
                        <m:r>
                          <a:rPr lang="en-AU" sz="1800" b="0" i="1" smtClean="0">
                            <a:latin typeface="Cambria Math" panose="02040503050406030204" pitchFamily="18" charset="0"/>
                          </a:rPr>
                          <m:t>0</m:t>
                        </m:r>
                      </m:sub>
                    </m:sSub>
                    <m:r>
                      <a:rPr lang="en-AU" sz="1800" b="0" i="1" smtClean="0">
                        <a:latin typeface="Cambria Math" panose="02040503050406030204" pitchFamily="18" charset="0"/>
                      </a:rPr>
                      <m:t> </m:t>
                    </m:r>
                  </m:oMath>
                </a14:m>
                <a:r>
                  <a:rPr lang="es-ES" sz="1800" b="0" i="0" u="none" strike="noStrike" baseline="0" dirty="0"/>
                  <a:t> + </a:t>
                </a:r>
                <a14:m>
                  <m:oMath xmlns:m="http://schemas.openxmlformats.org/officeDocument/2006/math">
                    <m:sSub>
                      <m:sSubPr>
                        <m:ctrlPr>
                          <a:rPr lang="el-GR" sz="1800" i="1">
                            <a:latin typeface="Cambria Math" panose="02040503050406030204" pitchFamily="18" charset="0"/>
                          </a:rPr>
                        </m:ctrlPr>
                      </m:sSubPr>
                      <m:e>
                        <m:r>
                          <m:rPr>
                            <m:sty m:val="p"/>
                          </m:rPr>
                          <a:rPr lang="el-GR" sz="1800" i="1">
                            <a:latin typeface="Cambria Math" panose="02040503050406030204" pitchFamily="18" charset="0"/>
                          </a:rPr>
                          <m:t>π</m:t>
                        </m:r>
                      </m:e>
                      <m:sub>
                        <m:r>
                          <a:rPr lang="en-AU" sz="1800" b="0" i="1" smtClean="0">
                            <a:latin typeface="Cambria Math" panose="02040503050406030204" pitchFamily="18" charset="0"/>
                          </a:rPr>
                          <m:t>1</m:t>
                        </m:r>
                      </m:sub>
                    </m:sSub>
                    <m:r>
                      <a:rPr lang="en-AU" sz="1800" i="1">
                        <a:latin typeface="Cambria Math" panose="02040503050406030204" pitchFamily="18" charset="0"/>
                      </a:rPr>
                      <m:t> </m:t>
                    </m:r>
                    <m:r>
                      <a:rPr lang="en-AU" sz="1800" b="0" i="1" smtClean="0">
                        <a:latin typeface="Cambria Math" panose="02040503050406030204" pitchFamily="18" charset="0"/>
                      </a:rPr>
                      <m:t>𝑍</m:t>
                    </m:r>
                  </m:oMath>
                </a14:m>
                <a:r>
                  <a:rPr lang="es-ES" sz="1800" b="0" i="0" u="none" strike="noStrike" baseline="0" dirty="0"/>
                  <a:t> + v. The </a:t>
                </a:r>
                <a:r>
                  <a:rPr lang="es-ES" sz="1800" b="0" i="0" u="none" strike="noStrike" baseline="0" dirty="0" err="1"/>
                  <a:t>coefficient</a:t>
                </a:r>
                <a:r>
                  <a:rPr lang="es-ES" sz="1800" b="0" i="0" u="none" strike="noStrike" baseline="0" dirty="0"/>
                  <a:t> </a:t>
                </a:r>
                <a:r>
                  <a:rPr lang="en-AU" sz="1800" b="0" i="0" u="none" strike="noStrike" baseline="0" dirty="0"/>
                  <a:t>on the instrument equals:</a:t>
                </a:r>
              </a:p>
              <a:p>
                <a:endParaRPr lang="en-AU" sz="1800" b="1" dirty="0"/>
              </a:p>
            </p:txBody>
          </p:sp>
        </mc:Choice>
        <mc:Fallback xmlns="">
          <p:sp>
            <p:nvSpPr>
              <p:cNvPr id="3" name="Content Placeholder 2">
                <a:extLst>
                  <a:ext uri="{FF2B5EF4-FFF2-40B4-BE49-F238E27FC236}">
                    <a16:creationId xmlns:a16="http://schemas.microsoft.com/office/drawing/2014/main" id="{6DD891EF-F186-B0A4-87D9-B51C7FA45DC6}"/>
                  </a:ext>
                </a:extLst>
              </p:cNvPr>
              <p:cNvSpPr>
                <a:spLocks noGrp="1" noRot="1" noChangeAspect="1" noMove="1" noResize="1" noEditPoints="1" noAdjustHandles="1" noChangeArrowheads="1" noChangeShapeType="1" noTextEdit="1"/>
              </p:cNvSpPr>
              <p:nvPr>
                <p:ph idx="1"/>
              </p:nvPr>
            </p:nvSpPr>
            <p:spPr>
              <a:xfrm>
                <a:off x="457200" y="980729"/>
                <a:ext cx="8229600" cy="2448272"/>
              </a:xfrm>
              <a:blipFill>
                <a:blip r:embed="rId2"/>
                <a:stretch>
                  <a:fillRect l="-593" t="-1493" r="-370"/>
                </a:stretch>
              </a:blipFill>
            </p:spPr>
            <p:txBody>
              <a:bodyPr/>
              <a:lstStyle/>
              <a:p>
                <a:r>
                  <a:rPr lang="en-AU">
                    <a:noFill/>
                  </a:rPr>
                  <a:t> </a:t>
                </a:r>
              </a:p>
            </p:txBody>
          </p:sp>
        </mc:Fallback>
      </mc:AlternateContent>
      <p:sp>
        <p:nvSpPr>
          <p:cNvPr id="4" name="Slide Number Placeholder 3">
            <a:extLst>
              <a:ext uri="{FF2B5EF4-FFF2-40B4-BE49-F238E27FC236}">
                <a16:creationId xmlns:a16="http://schemas.microsoft.com/office/drawing/2014/main" id="{4B563B14-5803-8032-D3C0-2F61B6A8A2EE}"/>
              </a:ext>
            </a:extLst>
          </p:cNvPr>
          <p:cNvSpPr>
            <a:spLocks noGrp="1"/>
          </p:cNvSpPr>
          <p:nvPr>
            <p:ph type="sldNum" sz="quarter" idx="12"/>
          </p:nvPr>
        </p:nvSpPr>
        <p:spPr/>
        <p:txBody>
          <a:bodyPr/>
          <a:lstStyle/>
          <a:p>
            <a:pPr>
              <a:defRPr/>
            </a:pPr>
            <a:fld id="{13102EC4-ECBA-422F-9159-C22944D38E99}" type="slidenum">
              <a:rPr lang="en-US" altLang="en-US" smtClean="0"/>
              <a:pPr>
                <a:defRPr/>
              </a:pPr>
              <a:t>23</a:t>
            </a:fld>
            <a:endParaRPr lang="en-US" alt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8E90CFD-134E-050D-C048-039761821A89}"/>
                  </a:ext>
                </a:extLst>
              </p:cNvPr>
              <p:cNvSpPr txBox="1"/>
              <p:nvPr/>
            </p:nvSpPr>
            <p:spPr>
              <a:xfrm>
                <a:off x="2931435" y="2348880"/>
                <a:ext cx="3599190" cy="3161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l-GR" sz="2000" i="1" smtClean="0">
                              <a:latin typeface="Cambria Math" panose="02040503050406030204" pitchFamily="18" charset="0"/>
                            </a:rPr>
                          </m:ctrlPr>
                        </m:sSubPr>
                        <m:e>
                          <m:r>
                            <m:rPr>
                              <m:sty m:val="p"/>
                            </m:rPr>
                            <a:rPr lang="el-GR" sz="2000" i="1">
                              <a:latin typeface="Cambria Math" panose="02040503050406030204" pitchFamily="18" charset="0"/>
                            </a:rPr>
                            <m:t>π</m:t>
                          </m:r>
                        </m:e>
                        <m:sub>
                          <m:r>
                            <a:rPr lang="en-AU" sz="2000" i="1">
                              <a:latin typeface="Cambria Math" panose="02040503050406030204" pitchFamily="18" charset="0"/>
                            </a:rPr>
                            <m:t>1</m:t>
                          </m:r>
                        </m:sub>
                      </m:sSub>
                      <m:r>
                        <a:rPr lang="en-AU" sz="2000" b="0" i="1" smtClean="0">
                          <a:latin typeface="Cambria Math" panose="02040503050406030204" pitchFamily="18" charset="0"/>
                        </a:rPr>
                        <m:t>=</m:t>
                      </m:r>
                      <m:sSub>
                        <m:sSubPr>
                          <m:ctrlPr>
                            <a:rPr lang="el-GR" sz="2000" i="1" smtClean="0">
                              <a:latin typeface="Cambria Math" panose="02040503050406030204" pitchFamily="18" charset="0"/>
                            </a:rPr>
                          </m:ctrlPr>
                        </m:sSubPr>
                        <m:e>
                          <m:acc>
                            <m:accPr>
                              <m:chr m:val="̂"/>
                              <m:ctrlPr>
                                <a:rPr lang="en-AU" sz="2000" i="1" smtClean="0">
                                  <a:latin typeface="Cambria Math" panose="02040503050406030204" pitchFamily="18" charset="0"/>
                                </a:rPr>
                              </m:ctrlPr>
                            </m:accPr>
                            <m:e>
                              <m:r>
                                <a:rPr lang="en-AU" sz="2000" b="0" i="1" smtClean="0">
                                  <a:latin typeface="Cambria Math" panose="02040503050406030204" pitchFamily="18" charset="0"/>
                                </a:rPr>
                                <m:t>𝐸</m:t>
                              </m:r>
                            </m:e>
                          </m:acc>
                          <m:d>
                            <m:dPr>
                              <m:ctrlPr>
                                <a:rPr lang="el-GR" sz="2000" i="1" smtClean="0">
                                  <a:latin typeface="Cambria Math" panose="02040503050406030204" pitchFamily="18" charset="0"/>
                                </a:rPr>
                              </m:ctrlPr>
                            </m:dPr>
                            <m:e>
                              <m:r>
                                <a:rPr lang="en-AU" sz="2000" b="0" i="1" smtClean="0">
                                  <a:latin typeface="Cambria Math" panose="02040503050406030204" pitchFamily="18" charset="0"/>
                                </a:rPr>
                                <m:t>𝑦</m:t>
                              </m:r>
                              <m:r>
                                <a:rPr lang="en-AU" sz="2000" b="0" i="1" smtClean="0">
                                  <a:latin typeface="Cambria Math" panose="02040503050406030204" pitchFamily="18" charset="0"/>
                                </a:rPr>
                                <m:t>|</m:t>
                              </m:r>
                              <m:r>
                                <a:rPr lang="en-AU" sz="2000" b="0" i="1" smtClean="0">
                                  <a:latin typeface="Cambria Math" panose="02040503050406030204" pitchFamily="18" charset="0"/>
                                </a:rPr>
                                <m:t>𝑧</m:t>
                              </m:r>
                              <m:r>
                                <a:rPr lang="en-AU" sz="2000" b="0" i="1" smtClean="0">
                                  <a:latin typeface="Cambria Math" panose="02040503050406030204" pitchFamily="18" charset="0"/>
                                </a:rPr>
                                <m:t>=1</m:t>
                              </m:r>
                            </m:e>
                          </m:d>
                          <m:r>
                            <a:rPr lang="en-AU" sz="2000" b="0" i="1" smtClean="0">
                              <a:latin typeface="Cambria Math" panose="02040503050406030204" pitchFamily="18" charset="0"/>
                            </a:rPr>
                            <m:t>−</m:t>
                          </m:r>
                          <m:acc>
                            <m:accPr>
                              <m:chr m:val="̂"/>
                              <m:ctrlPr>
                                <a:rPr lang="en-AU" sz="2000" i="1">
                                  <a:latin typeface="Cambria Math" panose="02040503050406030204" pitchFamily="18" charset="0"/>
                                </a:rPr>
                              </m:ctrlPr>
                            </m:accPr>
                            <m:e>
                              <m:r>
                                <a:rPr lang="en-AU" sz="2000" i="1">
                                  <a:latin typeface="Cambria Math" panose="02040503050406030204" pitchFamily="18" charset="0"/>
                                </a:rPr>
                                <m:t>𝐸</m:t>
                              </m:r>
                            </m:e>
                          </m:acc>
                          <m:d>
                            <m:dPr>
                              <m:ctrlPr>
                                <a:rPr lang="el-GR" sz="2000" i="1">
                                  <a:latin typeface="Cambria Math" panose="02040503050406030204" pitchFamily="18" charset="0"/>
                                </a:rPr>
                              </m:ctrlPr>
                            </m:dPr>
                            <m:e>
                              <m:r>
                                <a:rPr lang="en-AU" sz="2000" i="1">
                                  <a:latin typeface="Cambria Math" panose="02040503050406030204" pitchFamily="18" charset="0"/>
                                </a:rPr>
                                <m:t>𝑦</m:t>
                              </m:r>
                              <m:r>
                                <a:rPr lang="en-AU" sz="2000" i="1">
                                  <a:latin typeface="Cambria Math" panose="02040503050406030204" pitchFamily="18" charset="0"/>
                                </a:rPr>
                                <m:t>|</m:t>
                              </m:r>
                              <m:r>
                                <a:rPr lang="en-AU" sz="2000" i="1">
                                  <a:latin typeface="Cambria Math" panose="02040503050406030204" pitchFamily="18" charset="0"/>
                                </a:rPr>
                                <m:t>𝑧</m:t>
                              </m:r>
                              <m:r>
                                <a:rPr lang="en-AU" sz="2000" i="1">
                                  <a:latin typeface="Cambria Math" panose="02040503050406030204" pitchFamily="18" charset="0"/>
                                </a:rPr>
                                <m:t>=0</m:t>
                              </m:r>
                            </m:e>
                          </m:d>
                        </m:e>
                        <m:sub/>
                      </m:sSub>
                    </m:oMath>
                  </m:oMathPara>
                </a14:m>
                <a:endParaRPr lang="en-AU" sz="2000" dirty="0"/>
              </a:p>
            </p:txBody>
          </p:sp>
        </mc:Choice>
        <mc:Fallback xmlns="">
          <p:sp>
            <p:nvSpPr>
              <p:cNvPr id="5" name="TextBox 4">
                <a:extLst>
                  <a:ext uri="{FF2B5EF4-FFF2-40B4-BE49-F238E27FC236}">
                    <a16:creationId xmlns:a16="http://schemas.microsoft.com/office/drawing/2014/main" id="{38E90CFD-134E-050D-C048-039761821A89}"/>
                  </a:ext>
                </a:extLst>
              </p:cNvPr>
              <p:cNvSpPr txBox="1">
                <a:spLocks noRot="1" noChangeAspect="1" noMove="1" noResize="1" noEditPoints="1" noAdjustHandles="1" noChangeArrowheads="1" noChangeShapeType="1" noTextEdit="1"/>
              </p:cNvSpPr>
              <p:nvPr/>
            </p:nvSpPr>
            <p:spPr>
              <a:xfrm>
                <a:off x="2931435" y="2348880"/>
                <a:ext cx="3599190" cy="316112"/>
              </a:xfrm>
              <a:prstGeom prst="rect">
                <a:avLst/>
              </a:prstGeom>
              <a:blipFill>
                <a:blip r:embed="rId3"/>
                <a:stretch>
                  <a:fillRect l="-339" t="-23077" b="-36538"/>
                </a:stretch>
              </a:blipFill>
            </p:spPr>
            <p:txBody>
              <a:bodyPr/>
              <a:lstStyle/>
              <a:p>
                <a:r>
                  <a:rPr lang="en-AU">
                    <a:noFill/>
                  </a:rPr>
                  <a:t> </a:t>
                </a:r>
              </a:p>
            </p:txBody>
          </p:sp>
        </mc:Fallback>
      </mc:AlternateContent>
      <p:sp>
        <p:nvSpPr>
          <p:cNvPr id="7" name="TextBox 6">
            <a:extLst>
              <a:ext uri="{FF2B5EF4-FFF2-40B4-BE49-F238E27FC236}">
                <a16:creationId xmlns:a16="http://schemas.microsoft.com/office/drawing/2014/main" id="{B0E5E75E-590D-CD3A-FB62-1303A790C031}"/>
              </a:ext>
            </a:extLst>
          </p:cNvPr>
          <p:cNvSpPr txBox="1"/>
          <p:nvPr/>
        </p:nvSpPr>
        <p:spPr>
          <a:xfrm>
            <a:off x="683568" y="2862330"/>
            <a:ext cx="7632848" cy="369332"/>
          </a:xfrm>
          <a:prstGeom prst="rect">
            <a:avLst/>
          </a:prstGeom>
          <a:noFill/>
        </p:spPr>
        <p:txBody>
          <a:bodyPr wrap="square">
            <a:spAutoFit/>
          </a:bodyPr>
          <a:lstStyle/>
          <a:p>
            <a:r>
              <a:rPr lang="en-US" sz="1800" b="0" i="0" u="none" strike="noStrike" baseline="0" dirty="0">
                <a:latin typeface="TTdcss10"/>
              </a:rPr>
              <a:t>	</a:t>
            </a:r>
            <a:r>
              <a:rPr lang="en-US" sz="1800" b="0" i="0" u="none" strike="noStrike" baseline="0" dirty="0">
                <a:latin typeface="+mn-lt"/>
              </a:rPr>
              <a:t>where the expectations are estimated by sample means.</a:t>
            </a:r>
            <a:endParaRPr lang="en-AU" dirty="0">
              <a:latin typeface="+mn-lt"/>
            </a:endParaRPr>
          </a:p>
        </p:txBody>
      </p:sp>
      <p:sp>
        <p:nvSpPr>
          <p:cNvPr id="9" name="TextBox 8">
            <a:extLst>
              <a:ext uri="{FF2B5EF4-FFF2-40B4-BE49-F238E27FC236}">
                <a16:creationId xmlns:a16="http://schemas.microsoft.com/office/drawing/2014/main" id="{9AB66200-1120-76EE-AE47-AFB99B81205F}"/>
              </a:ext>
            </a:extLst>
          </p:cNvPr>
          <p:cNvSpPr txBox="1"/>
          <p:nvPr/>
        </p:nvSpPr>
        <p:spPr>
          <a:xfrm>
            <a:off x="491592" y="3514652"/>
            <a:ext cx="8229600" cy="646331"/>
          </a:xfrm>
          <a:prstGeom prst="rect">
            <a:avLst/>
          </a:prstGeom>
          <a:noFill/>
        </p:spPr>
        <p:txBody>
          <a:bodyPr wrap="square">
            <a:spAutoFit/>
          </a:bodyPr>
          <a:lstStyle/>
          <a:p>
            <a:pPr algn="l"/>
            <a:r>
              <a:rPr lang="en-US" sz="1800" b="0" i="0" u="none" strike="noStrike" baseline="0" dirty="0">
                <a:latin typeface="+mn-lt"/>
              </a:rPr>
              <a:t>Similarly, the </a:t>
            </a:r>
            <a:r>
              <a:rPr lang="en-US" sz="1800" b="1" i="0" u="none" strike="noStrike" baseline="0" dirty="0">
                <a:latin typeface="+mn-lt"/>
              </a:rPr>
              <a:t>first stage model</a:t>
            </a:r>
            <a:r>
              <a:rPr lang="en-US" sz="1800" b="0" i="0" u="none" strike="noStrike" baseline="0" dirty="0">
                <a:latin typeface="+mn-lt"/>
              </a:rPr>
              <a:t>:  </a:t>
            </a:r>
          </a:p>
          <a:p>
            <a:pPr algn="l"/>
            <a:r>
              <a:rPr lang="en-US" sz="1800" b="0" i="0" u="none" strike="noStrike" baseline="0" dirty="0">
                <a:latin typeface="+mn-lt"/>
              </a:rPr>
              <a:t>The coefficient on the instrument equals</a:t>
            </a:r>
            <a:r>
              <a:rPr lang="en-US" sz="1800" b="0" i="0" u="none" strike="noStrike" baseline="0" dirty="0">
                <a:latin typeface="TTdcss10"/>
              </a:rPr>
              <a:t>:</a:t>
            </a:r>
            <a:endParaRPr lang="en-AU"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9A9F036-B404-5F5F-79FD-2E12FDFC5F09}"/>
                  </a:ext>
                </a:extLst>
              </p:cNvPr>
              <p:cNvSpPr txBox="1"/>
              <p:nvPr/>
            </p:nvSpPr>
            <p:spPr>
              <a:xfrm>
                <a:off x="4731030" y="3514652"/>
                <a:ext cx="201702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AU" sz="2000" b="0" i="1" smtClean="0">
                          <a:latin typeface="Cambria Math" panose="02040503050406030204" pitchFamily="18" charset="0"/>
                        </a:rPr>
                        <m:t>𝑑</m:t>
                      </m:r>
                      <m:r>
                        <a:rPr lang="en-AU" sz="2000" b="0" i="1" smtClean="0">
                          <a:latin typeface="Cambria Math" panose="02040503050406030204" pitchFamily="18" charset="0"/>
                        </a:rPr>
                        <m:t>= </m:t>
                      </m:r>
                      <m:sSub>
                        <m:sSubPr>
                          <m:ctrlPr>
                            <a:rPr lang="el-GR" sz="2000" i="1" smtClean="0">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0</m:t>
                          </m:r>
                        </m:sub>
                      </m:sSub>
                      <m:r>
                        <a:rPr lang="en-AU" sz="2000" b="0" i="1" smtClean="0">
                          <a:latin typeface="Cambria Math" panose="02040503050406030204" pitchFamily="18" charset="0"/>
                        </a:rPr>
                        <m:t>+</m:t>
                      </m:r>
                      <m:sSub>
                        <m:sSubPr>
                          <m:ctrlPr>
                            <a:rPr lang="el-GR" sz="2000" i="1">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1</m:t>
                          </m:r>
                        </m:sub>
                      </m:sSub>
                      <m:r>
                        <a:rPr lang="en-AU" sz="2000" b="0" i="1" smtClean="0">
                          <a:latin typeface="Cambria Math" panose="02040503050406030204" pitchFamily="18" charset="0"/>
                        </a:rPr>
                        <m:t>𝑧</m:t>
                      </m:r>
                      <m:r>
                        <a:rPr lang="en-AU" sz="2000" b="0" i="1" smtClean="0">
                          <a:latin typeface="Cambria Math" panose="02040503050406030204" pitchFamily="18" charset="0"/>
                        </a:rPr>
                        <m:t>+</m:t>
                      </m:r>
                      <m:r>
                        <a:rPr lang="en-AU" sz="2000" b="0" i="1" smtClean="0">
                          <a:latin typeface="Cambria Math" panose="02040503050406030204" pitchFamily="18" charset="0"/>
                        </a:rPr>
                        <m:t>𝑢</m:t>
                      </m:r>
                    </m:oMath>
                  </m:oMathPara>
                </a14:m>
                <a:endParaRPr lang="en-AU" sz="2000" dirty="0"/>
              </a:p>
            </p:txBody>
          </p:sp>
        </mc:Choice>
        <mc:Fallback xmlns="">
          <p:sp>
            <p:nvSpPr>
              <p:cNvPr id="10" name="TextBox 9">
                <a:extLst>
                  <a:ext uri="{FF2B5EF4-FFF2-40B4-BE49-F238E27FC236}">
                    <a16:creationId xmlns:a16="http://schemas.microsoft.com/office/drawing/2014/main" id="{D9A9F036-B404-5F5F-79FD-2E12FDFC5F09}"/>
                  </a:ext>
                </a:extLst>
              </p:cNvPr>
              <p:cNvSpPr txBox="1">
                <a:spLocks noRot="1" noChangeAspect="1" noMove="1" noResize="1" noEditPoints="1" noAdjustHandles="1" noChangeArrowheads="1" noChangeShapeType="1" noTextEdit="1"/>
              </p:cNvSpPr>
              <p:nvPr/>
            </p:nvSpPr>
            <p:spPr>
              <a:xfrm>
                <a:off x="4731030" y="3514652"/>
                <a:ext cx="2017026" cy="307777"/>
              </a:xfrm>
              <a:prstGeom prst="rect">
                <a:avLst/>
              </a:prstGeom>
              <a:blipFill>
                <a:blip r:embed="rId4"/>
                <a:stretch>
                  <a:fillRect l="-2417" r="-604" b="-20000"/>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2B162-A95F-4221-DB3A-61206B62030A}"/>
                  </a:ext>
                </a:extLst>
              </p:cNvPr>
              <p:cNvSpPr txBox="1"/>
              <p:nvPr/>
            </p:nvSpPr>
            <p:spPr>
              <a:xfrm>
                <a:off x="2962433" y="4492202"/>
                <a:ext cx="3878691" cy="3161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l-GR" sz="2000" i="1" smtClean="0">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i="1">
                              <a:latin typeface="Cambria Math" panose="02040503050406030204" pitchFamily="18" charset="0"/>
                            </a:rPr>
                            <m:t>1</m:t>
                          </m:r>
                        </m:sub>
                      </m:sSub>
                      <m:r>
                        <a:rPr lang="en-AU" sz="2000" b="0" i="1" smtClean="0">
                          <a:latin typeface="Cambria Math" panose="02040503050406030204" pitchFamily="18" charset="0"/>
                        </a:rPr>
                        <m:t>=</m:t>
                      </m:r>
                      <m:sSub>
                        <m:sSubPr>
                          <m:ctrlPr>
                            <a:rPr lang="el-GR" sz="2000" i="1" smtClean="0">
                              <a:latin typeface="Cambria Math" panose="02040503050406030204" pitchFamily="18" charset="0"/>
                            </a:rPr>
                          </m:ctrlPr>
                        </m:sSubPr>
                        <m:e>
                          <m:acc>
                            <m:accPr>
                              <m:chr m:val="̂"/>
                              <m:ctrlPr>
                                <a:rPr lang="en-AU" sz="2000" i="1" smtClean="0">
                                  <a:latin typeface="Cambria Math" panose="02040503050406030204" pitchFamily="18" charset="0"/>
                                </a:rPr>
                              </m:ctrlPr>
                            </m:accPr>
                            <m:e>
                              <m:r>
                                <a:rPr lang="en-AU" sz="2000" b="0" i="1" smtClean="0">
                                  <a:latin typeface="Cambria Math" panose="02040503050406030204" pitchFamily="18" charset="0"/>
                                </a:rPr>
                                <m:t>𝐸</m:t>
                              </m:r>
                            </m:e>
                          </m:acc>
                          <m:d>
                            <m:dPr>
                              <m:ctrlPr>
                                <a:rPr lang="el-GR" sz="2000" i="1" smtClean="0">
                                  <a:latin typeface="Cambria Math" panose="02040503050406030204" pitchFamily="18" charset="0"/>
                                </a:rPr>
                              </m:ctrlPr>
                            </m:dPr>
                            <m:e>
                              <m:r>
                                <a:rPr lang="en-AU" sz="2000" b="0" i="1" smtClean="0">
                                  <a:latin typeface="Cambria Math" panose="02040503050406030204" pitchFamily="18" charset="0"/>
                                </a:rPr>
                                <m:t>𝑑𝑦</m:t>
                              </m:r>
                              <m:r>
                                <a:rPr lang="en-AU" sz="2000" b="0" i="1" smtClean="0">
                                  <a:latin typeface="Cambria Math" panose="02040503050406030204" pitchFamily="18" charset="0"/>
                                </a:rPr>
                                <m:t>|</m:t>
                              </m:r>
                              <m:r>
                                <a:rPr lang="en-AU" sz="2000" b="0" i="1" smtClean="0">
                                  <a:latin typeface="Cambria Math" panose="02040503050406030204" pitchFamily="18" charset="0"/>
                                </a:rPr>
                                <m:t>𝑧</m:t>
                              </m:r>
                              <m:r>
                                <a:rPr lang="en-AU" sz="2000" b="0" i="1" smtClean="0">
                                  <a:latin typeface="Cambria Math" panose="02040503050406030204" pitchFamily="18" charset="0"/>
                                </a:rPr>
                                <m:t>=1</m:t>
                              </m:r>
                            </m:e>
                          </m:d>
                          <m:r>
                            <a:rPr lang="en-AU" sz="2000" b="0" i="1" smtClean="0">
                              <a:latin typeface="Cambria Math" panose="02040503050406030204" pitchFamily="18" charset="0"/>
                            </a:rPr>
                            <m:t>−</m:t>
                          </m:r>
                          <m:acc>
                            <m:accPr>
                              <m:chr m:val="̂"/>
                              <m:ctrlPr>
                                <a:rPr lang="en-AU" sz="2000" i="1">
                                  <a:latin typeface="Cambria Math" panose="02040503050406030204" pitchFamily="18" charset="0"/>
                                </a:rPr>
                              </m:ctrlPr>
                            </m:accPr>
                            <m:e>
                              <m:r>
                                <a:rPr lang="en-AU" sz="2000" i="1">
                                  <a:latin typeface="Cambria Math" panose="02040503050406030204" pitchFamily="18" charset="0"/>
                                </a:rPr>
                                <m:t>𝐸</m:t>
                              </m:r>
                            </m:e>
                          </m:acc>
                          <m:d>
                            <m:dPr>
                              <m:ctrlPr>
                                <a:rPr lang="el-GR" sz="2000" i="1">
                                  <a:latin typeface="Cambria Math" panose="02040503050406030204" pitchFamily="18" charset="0"/>
                                </a:rPr>
                              </m:ctrlPr>
                            </m:dPr>
                            <m:e>
                              <m:r>
                                <a:rPr lang="en-AU" sz="2000" b="0" i="1" smtClean="0">
                                  <a:latin typeface="Cambria Math" panose="02040503050406030204" pitchFamily="18" charset="0"/>
                                </a:rPr>
                                <m:t>𝑑</m:t>
                              </m:r>
                              <m:r>
                                <a:rPr lang="en-AU" sz="2000" i="1">
                                  <a:latin typeface="Cambria Math" panose="02040503050406030204" pitchFamily="18" charset="0"/>
                                </a:rPr>
                                <m:t>|</m:t>
                              </m:r>
                              <m:r>
                                <a:rPr lang="en-AU" sz="2000" i="1">
                                  <a:latin typeface="Cambria Math" panose="02040503050406030204" pitchFamily="18" charset="0"/>
                                </a:rPr>
                                <m:t>𝑧</m:t>
                              </m:r>
                              <m:r>
                                <a:rPr lang="en-AU" sz="2000" i="1">
                                  <a:latin typeface="Cambria Math" panose="02040503050406030204" pitchFamily="18" charset="0"/>
                                </a:rPr>
                                <m:t>=0</m:t>
                              </m:r>
                            </m:e>
                          </m:d>
                        </m:e>
                        <m:sub/>
                      </m:sSub>
                    </m:oMath>
                  </m:oMathPara>
                </a14:m>
                <a:endParaRPr lang="en-AU" sz="2000" dirty="0"/>
              </a:p>
            </p:txBody>
          </p:sp>
        </mc:Choice>
        <mc:Fallback xmlns="">
          <p:sp>
            <p:nvSpPr>
              <p:cNvPr id="11" name="TextBox 10">
                <a:extLst>
                  <a:ext uri="{FF2B5EF4-FFF2-40B4-BE49-F238E27FC236}">
                    <a16:creationId xmlns:a16="http://schemas.microsoft.com/office/drawing/2014/main" id="{2542B162-A95F-4221-DB3A-61206B62030A}"/>
                  </a:ext>
                </a:extLst>
              </p:cNvPr>
              <p:cNvSpPr txBox="1">
                <a:spLocks noRot="1" noChangeAspect="1" noMove="1" noResize="1" noEditPoints="1" noAdjustHandles="1" noChangeArrowheads="1" noChangeShapeType="1" noTextEdit="1"/>
              </p:cNvSpPr>
              <p:nvPr/>
            </p:nvSpPr>
            <p:spPr>
              <a:xfrm>
                <a:off x="2962433" y="4492202"/>
                <a:ext cx="3878691" cy="316112"/>
              </a:xfrm>
              <a:prstGeom prst="rect">
                <a:avLst/>
              </a:prstGeom>
              <a:blipFill>
                <a:blip r:embed="rId5"/>
                <a:stretch>
                  <a:fillRect t="-25000" b="-34615"/>
                </a:stretch>
              </a:blipFill>
            </p:spPr>
            <p:txBody>
              <a:bodyPr/>
              <a:lstStyle/>
              <a:p>
                <a:r>
                  <a:rPr lang="en-AU">
                    <a:noFill/>
                  </a:rPr>
                  <a:t> </a:t>
                </a:r>
              </a:p>
            </p:txBody>
          </p:sp>
        </mc:Fallback>
      </mc:AlternateContent>
      <p:sp>
        <p:nvSpPr>
          <p:cNvPr id="13" name="TextBox 12">
            <a:extLst>
              <a:ext uri="{FF2B5EF4-FFF2-40B4-BE49-F238E27FC236}">
                <a16:creationId xmlns:a16="http://schemas.microsoft.com/office/drawing/2014/main" id="{F5A59E0F-2D7B-58DE-AA40-2976DDC29034}"/>
              </a:ext>
            </a:extLst>
          </p:cNvPr>
          <p:cNvSpPr txBox="1"/>
          <p:nvPr/>
        </p:nvSpPr>
        <p:spPr>
          <a:xfrm>
            <a:off x="1691680" y="5306672"/>
            <a:ext cx="4572000" cy="369332"/>
          </a:xfrm>
          <a:prstGeom prst="rect">
            <a:avLst/>
          </a:prstGeom>
          <a:noFill/>
        </p:spPr>
        <p:txBody>
          <a:bodyPr wrap="square">
            <a:spAutoFit/>
          </a:bodyPr>
          <a:lstStyle/>
          <a:p>
            <a:r>
              <a:rPr lang="en-US" sz="1800" b="0" i="0" u="none" strike="noStrike" baseline="0" dirty="0">
                <a:latin typeface="TTdcss10"/>
              </a:rPr>
              <a:t>where </a:t>
            </a:r>
            <a:r>
              <a:rPr lang="en-US" sz="1800" b="0" i="0" u="none" strike="noStrike" baseline="0" dirty="0">
                <a:latin typeface="TTdcssi10"/>
              </a:rPr>
              <a:t>d </a:t>
            </a:r>
            <a:r>
              <a:rPr lang="en-US" sz="1800" b="0" i="0" u="none" strike="noStrike" baseline="0" dirty="0">
                <a:latin typeface="TTdcss10"/>
              </a:rPr>
              <a:t>is the endogenous binary variable.</a:t>
            </a:r>
            <a:endParaRPr lang="en-AU" dirty="0"/>
          </a:p>
        </p:txBody>
      </p:sp>
    </p:spTree>
    <p:extLst>
      <p:ext uri="{BB962C8B-B14F-4D97-AF65-F5344CB8AC3E}">
        <p14:creationId xmlns:p14="http://schemas.microsoft.com/office/powerpoint/2010/main" val="30226309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20B1-6ADC-0BC8-F049-5EC44C94BE14}"/>
              </a:ext>
            </a:extLst>
          </p:cNvPr>
          <p:cNvSpPr>
            <a:spLocks noGrp="1"/>
          </p:cNvSpPr>
          <p:nvPr>
            <p:ph type="title"/>
          </p:nvPr>
        </p:nvSpPr>
        <p:spPr>
          <a:xfrm>
            <a:off x="457200" y="274638"/>
            <a:ext cx="7859216" cy="457199"/>
          </a:xfrm>
        </p:spPr>
        <p:txBody>
          <a:bodyPr/>
          <a:lstStyle/>
          <a:p>
            <a:pPr algn="l"/>
            <a:r>
              <a:rPr lang="en-AU" sz="3200" dirty="0"/>
              <a:t>Wald Estimator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DD891EF-F186-B0A4-87D9-B51C7FA45DC6}"/>
                  </a:ext>
                </a:extLst>
              </p:cNvPr>
              <p:cNvSpPr>
                <a:spLocks noGrp="1"/>
              </p:cNvSpPr>
              <p:nvPr>
                <p:ph idx="1"/>
              </p:nvPr>
            </p:nvSpPr>
            <p:spPr>
              <a:xfrm>
                <a:off x="457200" y="980729"/>
                <a:ext cx="8229600" cy="2448272"/>
              </a:xfrm>
            </p:spPr>
            <p:txBody>
              <a:bodyPr/>
              <a:lstStyle/>
              <a:p>
                <a:pPr marL="0" indent="0" algn="l">
                  <a:buNone/>
                </a:pPr>
                <a:r>
                  <a:rPr lang="en-US" sz="1800" b="0" i="0" u="none" strike="noStrike" baseline="0" dirty="0">
                    <a:latin typeface="TTdcss10"/>
                  </a:rPr>
                  <a:t>Recall from above that the IV estimator when there is only one regressor and one instrument is:</a:t>
                </a:r>
              </a:p>
              <a:p>
                <a:pPr algn="l"/>
                <a:endParaRPr lang="en-US" sz="1800" dirty="0">
                  <a:latin typeface="TTdcss10"/>
                </a:endParaRPr>
              </a:p>
              <a:p>
                <a:pPr marL="0" indent="0" algn="l">
                  <a:buNone/>
                </a:pPr>
                <a:r>
                  <a:rPr lang="en-US" sz="1800" b="0" i="0" u="none" strike="noStrike" baseline="0" dirty="0">
                    <a:latin typeface="TTdcss10"/>
                  </a:rPr>
                  <a:t>Combining the estimates of </a:t>
                </a:r>
                <a:r>
                  <a:rPr lang="en-US" sz="1800" b="0" i="0" u="none" strike="noStrike" baseline="0" dirty="0">
                    <a:latin typeface="URWPalladioL-Roma"/>
                  </a:rPr>
                  <a:t>ˆ</a:t>
                </a:r>
                <a:r>
                  <a:rPr lang="en-US" sz="1800" b="0" i="1" u="none" strike="noStrike" baseline="0" dirty="0">
                    <a:latin typeface="PazoMath-Italic"/>
                  </a:rPr>
                  <a:t>p </a:t>
                </a:r>
                <a:r>
                  <a:rPr lang="en-US" sz="1800" b="0" i="0" u="none" strike="noStrike" baseline="0" dirty="0">
                    <a:latin typeface="TTdcss10"/>
                  </a:rPr>
                  <a:t>and </a:t>
                </a:r>
                <a:r>
                  <a:rPr lang="en-US" sz="1800" b="0" i="0" u="none" strike="noStrike" baseline="0" dirty="0">
                    <a:latin typeface="URWPalladioL-Roma"/>
                  </a:rPr>
                  <a:t>ˆ</a:t>
                </a:r>
                <a:r>
                  <a:rPr lang="en-US" sz="1800" b="0" i="1" u="none" strike="noStrike" baseline="0" dirty="0">
                    <a:latin typeface="PazoMath-Italic"/>
                  </a:rPr>
                  <a:t>q </a:t>
                </a:r>
                <a:r>
                  <a:rPr lang="en-US" sz="1800" b="0" i="0" u="none" strike="noStrike" baseline="0" dirty="0">
                    <a:latin typeface="TTdcss10"/>
                  </a:rPr>
                  <a:t>with the above formula gives the </a:t>
                </a:r>
                <a:r>
                  <a:rPr lang="en-AU" sz="1800" b="0" i="0" u="none" strike="noStrike" baseline="0" dirty="0">
                    <a:latin typeface="TTdcss10"/>
                  </a:rPr>
                  <a:t>Wald estimator:</a:t>
                </a:r>
                <a:endParaRPr lang="en-US" sz="1800" b="1" dirty="0">
                  <a:latin typeface="TTdcss10"/>
                </a:endParaRPr>
              </a:p>
              <a:p>
                <a:pPr algn="l"/>
                <a:endParaRPr lang="en-AU" sz="1800" b="1" dirty="0"/>
              </a:p>
              <a:p>
                <a:pPr marL="0" indent="0">
                  <a:buNone/>
                </a:pPr>
                <a:r>
                  <a:rPr lang="en-AU" sz="1800" b="1" dirty="0"/>
                  <a:t>Reduced form model</a:t>
                </a:r>
                <a:r>
                  <a:rPr lang="en-AU" sz="1800" dirty="0"/>
                  <a:t>:  </a:t>
                </a:r>
                <a:r>
                  <a:rPr lang="es-ES" sz="1800" b="0" i="0" u="none" strike="noStrike" baseline="0" dirty="0"/>
                  <a:t>y = </a:t>
                </a:r>
                <a14:m>
                  <m:oMath xmlns:m="http://schemas.openxmlformats.org/officeDocument/2006/math">
                    <m:sSub>
                      <m:sSubPr>
                        <m:ctrlPr>
                          <a:rPr lang="el-GR" sz="1800" i="1" smtClean="0">
                            <a:latin typeface="Cambria Math" panose="02040503050406030204" pitchFamily="18" charset="0"/>
                          </a:rPr>
                        </m:ctrlPr>
                      </m:sSubPr>
                      <m:e>
                        <m:r>
                          <m:rPr>
                            <m:sty m:val="p"/>
                          </m:rPr>
                          <a:rPr lang="el-GR" sz="1800" i="1" smtClean="0">
                            <a:latin typeface="Cambria Math" panose="02040503050406030204" pitchFamily="18" charset="0"/>
                          </a:rPr>
                          <m:t>π</m:t>
                        </m:r>
                      </m:e>
                      <m:sub>
                        <m:r>
                          <a:rPr lang="en-AU" sz="1800" b="0" i="1" smtClean="0">
                            <a:latin typeface="Cambria Math" panose="02040503050406030204" pitchFamily="18" charset="0"/>
                          </a:rPr>
                          <m:t>0</m:t>
                        </m:r>
                      </m:sub>
                    </m:sSub>
                    <m:r>
                      <a:rPr lang="en-AU" sz="1800" b="0" i="1" smtClean="0">
                        <a:latin typeface="Cambria Math" panose="02040503050406030204" pitchFamily="18" charset="0"/>
                      </a:rPr>
                      <m:t> </m:t>
                    </m:r>
                  </m:oMath>
                </a14:m>
                <a:r>
                  <a:rPr lang="es-ES" sz="1800" b="0" i="0" u="none" strike="noStrike" baseline="0" dirty="0"/>
                  <a:t> + </a:t>
                </a:r>
                <a14:m>
                  <m:oMath xmlns:m="http://schemas.openxmlformats.org/officeDocument/2006/math">
                    <m:sSub>
                      <m:sSubPr>
                        <m:ctrlPr>
                          <a:rPr lang="el-GR" sz="1800" i="1">
                            <a:latin typeface="Cambria Math" panose="02040503050406030204" pitchFamily="18" charset="0"/>
                          </a:rPr>
                        </m:ctrlPr>
                      </m:sSubPr>
                      <m:e>
                        <m:r>
                          <m:rPr>
                            <m:sty m:val="p"/>
                          </m:rPr>
                          <a:rPr lang="el-GR" sz="1800" i="1">
                            <a:latin typeface="Cambria Math" panose="02040503050406030204" pitchFamily="18" charset="0"/>
                          </a:rPr>
                          <m:t>π</m:t>
                        </m:r>
                      </m:e>
                      <m:sub>
                        <m:r>
                          <a:rPr lang="en-AU" sz="1800" b="0" i="1" smtClean="0">
                            <a:latin typeface="Cambria Math" panose="02040503050406030204" pitchFamily="18" charset="0"/>
                          </a:rPr>
                          <m:t>1</m:t>
                        </m:r>
                      </m:sub>
                    </m:sSub>
                    <m:r>
                      <a:rPr lang="en-AU" sz="1800" i="1">
                        <a:latin typeface="Cambria Math" panose="02040503050406030204" pitchFamily="18" charset="0"/>
                      </a:rPr>
                      <m:t> </m:t>
                    </m:r>
                    <m:r>
                      <a:rPr lang="en-AU" sz="1800" b="0" i="1" smtClean="0">
                        <a:latin typeface="Cambria Math" panose="02040503050406030204" pitchFamily="18" charset="0"/>
                      </a:rPr>
                      <m:t>𝑍</m:t>
                    </m:r>
                  </m:oMath>
                </a14:m>
                <a:r>
                  <a:rPr lang="es-ES" sz="1800" b="0" i="0" u="none" strike="noStrike" baseline="0" dirty="0"/>
                  <a:t> + v. The </a:t>
                </a:r>
                <a:r>
                  <a:rPr lang="es-ES" sz="1800" b="0" i="0" u="none" strike="noStrike" baseline="0" dirty="0" err="1"/>
                  <a:t>coefficient</a:t>
                </a:r>
                <a:r>
                  <a:rPr lang="es-ES" sz="1800" b="0" i="0" u="none" strike="noStrike" baseline="0" dirty="0"/>
                  <a:t> </a:t>
                </a:r>
                <a:r>
                  <a:rPr lang="en-AU" sz="1800" b="0" i="0" u="none" strike="noStrike" baseline="0" dirty="0"/>
                  <a:t>on the instrument equals:</a:t>
                </a:r>
              </a:p>
              <a:p>
                <a:endParaRPr lang="en-AU" sz="1800" b="1" dirty="0"/>
              </a:p>
            </p:txBody>
          </p:sp>
        </mc:Choice>
        <mc:Fallback xmlns="">
          <p:sp>
            <p:nvSpPr>
              <p:cNvPr id="3" name="Content Placeholder 2">
                <a:extLst>
                  <a:ext uri="{FF2B5EF4-FFF2-40B4-BE49-F238E27FC236}">
                    <a16:creationId xmlns:a16="http://schemas.microsoft.com/office/drawing/2014/main" id="{6DD891EF-F186-B0A4-87D9-B51C7FA45DC6}"/>
                  </a:ext>
                </a:extLst>
              </p:cNvPr>
              <p:cNvSpPr>
                <a:spLocks noGrp="1" noRot="1" noChangeAspect="1" noMove="1" noResize="1" noEditPoints="1" noAdjustHandles="1" noChangeArrowheads="1" noChangeShapeType="1" noTextEdit="1"/>
              </p:cNvSpPr>
              <p:nvPr>
                <p:ph idx="1"/>
              </p:nvPr>
            </p:nvSpPr>
            <p:spPr>
              <a:xfrm>
                <a:off x="457200" y="980729"/>
                <a:ext cx="8229600" cy="2448272"/>
              </a:xfrm>
              <a:blipFill>
                <a:blip r:embed="rId2"/>
                <a:stretch>
                  <a:fillRect l="-593" t="-1493" b="-6219"/>
                </a:stretch>
              </a:blipFill>
            </p:spPr>
            <p:txBody>
              <a:bodyPr/>
              <a:lstStyle/>
              <a:p>
                <a:r>
                  <a:rPr lang="en-AU">
                    <a:noFill/>
                  </a:rPr>
                  <a:t> </a:t>
                </a:r>
              </a:p>
            </p:txBody>
          </p:sp>
        </mc:Fallback>
      </mc:AlternateContent>
      <p:sp>
        <p:nvSpPr>
          <p:cNvPr id="4" name="Slide Number Placeholder 3">
            <a:extLst>
              <a:ext uri="{FF2B5EF4-FFF2-40B4-BE49-F238E27FC236}">
                <a16:creationId xmlns:a16="http://schemas.microsoft.com/office/drawing/2014/main" id="{4B563B14-5803-8032-D3C0-2F61B6A8A2EE}"/>
              </a:ext>
            </a:extLst>
          </p:cNvPr>
          <p:cNvSpPr>
            <a:spLocks noGrp="1"/>
          </p:cNvSpPr>
          <p:nvPr>
            <p:ph type="sldNum" sz="quarter" idx="12"/>
          </p:nvPr>
        </p:nvSpPr>
        <p:spPr/>
        <p:txBody>
          <a:bodyPr/>
          <a:lstStyle/>
          <a:p>
            <a:pPr>
              <a:defRPr/>
            </a:pPr>
            <a:fld id="{13102EC4-ECBA-422F-9159-C22944D38E99}" type="slidenum">
              <a:rPr lang="en-US" altLang="en-US" smtClean="0"/>
              <a:pPr>
                <a:defRPr/>
              </a:pPr>
              <a:t>24</a:t>
            </a:fld>
            <a:endParaRPr lang="en-US" altLang="en-US"/>
          </a:p>
        </p:txBody>
      </p:sp>
      <p:sp>
        <p:nvSpPr>
          <p:cNvPr id="7" name="TextBox 6">
            <a:extLst>
              <a:ext uri="{FF2B5EF4-FFF2-40B4-BE49-F238E27FC236}">
                <a16:creationId xmlns:a16="http://schemas.microsoft.com/office/drawing/2014/main" id="{B0E5E75E-590D-CD3A-FB62-1303A790C031}"/>
              </a:ext>
            </a:extLst>
          </p:cNvPr>
          <p:cNvSpPr txBox="1"/>
          <p:nvPr/>
        </p:nvSpPr>
        <p:spPr>
          <a:xfrm>
            <a:off x="457200" y="2431147"/>
            <a:ext cx="7632848" cy="369332"/>
          </a:xfrm>
          <a:prstGeom prst="rect">
            <a:avLst/>
          </a:prstGeom>
          <a:noFill/>
        </p:spPr>
        <p:txBody>
          <a:bodyPr wrap="square">
            <a:spAutoFit/>
          </a:bodyPr>
          <a:lstStyle/>
          <a:p>
            <a:r>
              <a:rPr lang="en-US" sz="1800" b="0" i="0" u="none" strike="noStrike" baseline="0" dirty="0">
                <a:latin typeface="TTdcss10"/>
              </a:rPr>
              <a:t>	</a:t>
            </a:r>
            <a:r>
              <a:rPr lang="en-US" sz="1800" b="0" i="0" u="none" strike="noStrike" baseline="0" dirty="0">
                <a:latin typeface="+mn-lt"/>
              </a:rPr>
              <a:t>where the expectations are estimated by sample means.</a:t>
            </a:r>
            <a:endParaRPr lang="en-AU" dirty="0">
              <a:latin typeface="+mn-lt"/>
            </a:endParaRPr>
          </a:p>
        </p:txBody>
      </p:sp>
      <p:sp>
        <p:nvSpPr>
          <p:cNvPr id="9" name="TextBox 8">
            <a:extLst>
              <a:ext uri="{FF2B5EF4-FFF2-40B4-BE49-F238E27FC236}">
                <a16:creationId xmlns:a16="http://schemas.microsoft.com/office/drawing/2014/main" id="{9AB66200-1120-76EE-AE47-AFB99B81205F}"/>
              </a:ext>
            </a:extLst>
          </p:cNvPr>
          <p:cNvSpPr txBox="1"/>
          <p:nvPr/>
        </p:nvSpPr>
        <p:spPr>
          <a:xfrm>
            <a:off x="564005" y="4664271"/>
            <a:ext cx="8229600" cy="923330"/>
          </a:xfrm>
          <a:prstGeom prst="rect">
            <a:avLst/>
          </a:prstGeom>
          <a:noFill/>
        </p:spPr>
        <p:txBody>
          <a:bodyPr wrap="square">
            <a:spAutoFit/>
          </a:bodyPr>
          <a:lstStyle/>
          <a:p>
            <a:pPr algn="l"/>
            <a:endParaRPr lang="en-US" sz="1800" b="0" i="0" u="none" strike="noStrike" baseline="0" dirty="0">
              <a:latin typeface="TTdcss10"/>
            </a:endParaRPr>
          </a:p>
          <a:p>
            <a:pPr algn="l"/>
            <a:r>
              <a:rPr lang="en-US" sz="1800" b="0" i="0" u="none" strike="noStrike" baseline="0" dirty="0">
                <a:latin typeface="TTdcss10"/>
              </a:rPr>
              <a:t>The Wald (1940) estimator was originally developed for a bivariate </a:t>
            </a:r>
            <a:r>
              <a:rPr lang="en-AU" sz="1800" b="0" i="0" u="none" strike="noStrike" baseline="0" dirty="0">
                <a:latin typeface="TTdcss10"/>
              </a:rPr>
              <a:t>regression with mismeasured regressors.</a:t>
            </a:r>
            <a:endParaRPr lang="en-AU"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9A9F036-B404-5F5F-79FD-2E12FDFC5F09}"/>
                  </a:ext>
                </a:extLst>
              </p:cNvPr>
              <p:cNvSpPr txBox="1"/>
              <p:nvPr/>
            </p:nvSpPr>
            <p:spPr>
              <a:xfrm>
                <a:off x="2195736" y="1494849"/>
                <a:ext cx="201702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AU" sz="2000" b="0" i="1" smtClean="0">
                          <a:latin typeface="Cambria Math" panose="02040503050406030204" pitchFamily="18" charset="0"/>
                        </a:rPr>
                        <m:t>𝑑</m:t>
                      </m:r>
                      <m:r>
                        <a:rPr lang="en-AU" sz="2000" b="0" i="1" smtClean="0">
                          <a:latin typeface="Cambria Math" panose="02040503050406030204" pitchFamily="18" charset="0"/>
                        </a:rPr>
                        <m:t>= </m:t>
                      </m:r>
                      <m:sSub>
                        <m:sSubPr>
                          <m:ctrlPr>
                            <a:rPr lang="el-GR" sz="2000" i="1" smtClean="0">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0</m:t>
                          </m:r>
                        </m:sub>
                      </m:sSub>
                      <m:r>
                        <a:rPr lang="en-AU" sz="2000" b="0" i="1" smtClean="0">
                          <a:latin typeface="Cambria Math" panose="02040503050406030204" pitchFamily="18" charset="0"/>
                        </a:rPr>
                        <m:t>+</m:t>
                      </m:r>
                      <m:sSub>
                        <m:sSubPr>
                          <m:ctrlPr>
                            <a:rPr lang="el-GR" sz="2000" i="1">
                              <a:latin typeface="Cambria Math" panose="02040503050406030204" pitchFamily="18" charset="0"/>
                            </a:rPr>
                          </m:ctrlPr>
                        </m:sSubPr>
                        <m:e>
                          <m:r>
                            <a:rPr lang="el-GR" sz="2000" i="1" smtClean="0">
                              <a:latin typeface="Cambria Math" panose="02040503050406030204" pitchFamily="18" charset="0"/>
                              <a:ea typeface="Cambria Math" panose="02040503050406030204" pitchFamily="18" charset="0"/>
                            </a:rPr>
                            <m:t>𝜃</m:t>
                          </m:r>
                        </m:e>
                        <m:sub>
                          <m:r>
                            <a:rPr lang="en-AU" sz="2000" b="0" i="1" smtClean="0">
                              <a:latin typeface="Cambria Math" panose="02040503050406030204" pitchFamily="18" charset="0"/>
                            </a:rPr>
                            <m:t>1</m:t>
                          </m:r>
                        </m:sub>
                      </m:sSub>
                      <m:r>
                        <a:rPr lang="en-AU" sz="2000" b="0" i="1" smtClean="0">
                          <a:latin typeface="Cambria Math" panose="02040503050406030204" pitchFamily="18" charset="0"/>
                        </a:rPr>
                        <m:t>𝑧</m:t>
                      </m:r>
                      <m:r>
                        <a:rPr lang="en-AU" sz="2000" b="0" i="1" smtClean="0">
                          <a:latin typeface="Cambria Math" panose="02040503050406030204" pitchFamily="18" charset="0"/>
                        </a:rPr>
                        <m:t>+</m:t>
                      </m:r>
                      <m:r>
                        <a:rPr lang="en-AU" sz="2000" b="0" i="1" smtClean="0">
                          <a:latin typeface="Cambria Math" panose="02040503050406030204" pitchFamily="18" charset="0"/>
                        </a:rPr>
                        <m:t>𝑢</m:t>
                      </m:r>
                    </m:oMath>
                  </m:oMathPara>
                </a14:m>
                <a:endParaRPr lang="en-AU" sz="2000" dirty="0"/>
              </a:p>
            </p:txBody>
          </p:sp>
        </mc:Choice>
        <mc:Fallback xmlns="">
          <p:sp>
            <p:nvSpPr>
              <p:cNvPr id="10" name="TextBox 9">
                <a:extLst>
                  <a:ext uri="{FF2B5EF4-FFF2-40B4-BE49-F238E27FC236}">
                    <a16:creationId xmlns:a16="http://schemas.microsoft.com/office/drawing/2014/main" id="{D9A9F036-B404-5F5F-79FD-2E12FDFC5F09}"/>
                  </a:ext>
                </a:extLst>
              </p:cNvPr>
              <p:cNvSpPr txBox="1">
                <a:spLocks noRot="1" noChangeAspect="1" noMove="1" noResize="1" noEditPoints="1" noAdjustHandles="1" noChangeArrowheads="1" noChangeShapeType="1" noTextEdit="1"/>
              </p:cNvSpPr>
              <p:nvPr/>
            </p:nvSpPr>
            <p:spPr>
              <a:xfrm>
                <a:off x="2195736" y="1494849"/>
                <a:ext cx="2017026" cy="307777"/>
              </a:xfrm>
              <a:prstGeom prst="rect">
                <a:avLst/>
              </a:prstGeom>
              <a:blipFill>
                <a:blip r:embed="rId4"/>
                <a:stretch>
                  <a:fillRect l="-2417" r="-604" b="-19608"/>
                </a:stretch>
              </a:blipFill>
            </p:spPr>
            <p:txBody>
              <a:bodyPr/>
              <a:lstStyle/>
              <a:p>
                <a:r>
                  <a:rPr lang="en-AU">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F336B2D-CF64-4FB2-6A79-9009B9F60DF1}"/>
                  </a:ext>
                </a:extLst>
              </p:cNvPr>
              <p:cNvSpPr txBox="1"/>
              <p:nvPr/>
            </p:nvSpPr>
            <p:spPr>
              <a:xfrm>
                <a:off x="683568" y="3737639"/>
                <a:ext cx="8004306" cy="9578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AU" sz="2400" b="1" i="1" smtClean="0">
                              <a:latin typeface="Cambria Math" panose="02040503050406030204" pitchFamily="18" charset="0"/>
                            </a:rPr>
                          </m:ctrlPr>
                        </m:sSubSupPr>
                        <m:e>
                          <m:r>
                            <a:rPr lang="el-GR" sz="2400" b="1" i="1">
                              <a:latin typeface="Cambria Math" panose="02040503050406030204" pitchFamily="18" charset="0"/>
                            </a:rPr>
                            <m:t>𝜷</m:t>
                          </m:r>
                        </m:e>
                        <m:sub>
                          <m:r>
                            <a:rPr lang="en-AU" sz="2400" b="1" i="1" smtClean="0">
                              <a:latin typeface="Cambria Math" panose="02040503050406030204" pitchFamily="18" charset="0"/>
                            </a:rPr>
                            <m:t>𝟏</m:t>
                          </m:r>
                        </m:sub>
                        <m:sup/>
                      </m:sSubSup>
                      <m:sSub>
                        <m:sSubPr>
                          <m:ctrlPr>
                            <a:rPr lang="el-GR" sz="2400" b="1" i="1" smtClean="0">
                              <a:latin typeface="Cambria Math" panose="02040503050406030204" pitchFamily="18" charset="0"/>
                            </a:rPr>
                          </m:ctrlPr>
                        </m:sSubPr>
                        <m:e>
                          <m:r>
                            <a:rPr lang="en-AU" sz="2400" b="1" i="1" smtClean="0">
                              <a:latin typeface="Cambria Math" panose="02040503050406030204" pitchFamily="18" charset="0"/>
                            </a:rPr>
                            <m:t>=</m:t>
                          </m:r>
                          <m:sSub>
                            <m:sSubPr>
                              <m:ctrlPr>
                                <a:rPr lang="el-GR" sz="2400" b="1" i="1">
                                  <a:latin typeface="Cambria Math" panose="02040503050406030204" pitchFamily="18" charset="0"/>
                                </a:rPr>
                              </m:ctrlPr>
                            </m:sSubPr>
                            <m:e>
                              <m:f>
                                <m:fPr>
                                  <m:ctrlPr>
                                    <a:rPr lang="el-GR" sz="2400" b="1" i="1" smtClean="0">
                                      <a:latin typeface="Cambria Math" panose="02040503050406030204" pitchFamily="18" charset="0"/>
                                    </a:rPr>
                                  </m:ctrlPr>
                                </m:fPr>
                                <m:num>
                                  <m:acc>
                                    <m:accPr>
                                      <m:chr m:val="̂"/>
                                      <m:ctrlPr>
                                        <a:rPr lang="el-GR" sz="2400" b="1" i="1" smtClean="0">
                                          <a:latin typeface="Cambria Math" panose="02040503050406030204" pitchFamily="18" charset="0"/>
                                        </a:rPr>
                                      </m:ctrlPr>
                                    </m:accPr>
                                    <m:e>
                                      <m:sSub>
                                        <m:sSubPr>
                                          <m:ctrlPr>
                                            <a:rPr lang="el-GR" sz="2400" b="1" i="1" smtClean="0">
                                              <a:latin typeface="Cambria Math" panose="02040503050406030204" pitchFamily="18" charset="0"/>
                                            </a:rPr>
                                          </m:ctrlPr>
                                        </m:sSubPr>
                                        <m:e>
                                          <m:r>
                                            <a:rPr lang="el-GR" sz="2400" b="1" i="1" smtClean="0">
                                              <a:latin typeface="Cambria Math" panose="02040503050406030204" pitchFamily="18" charset="0"/>
                                              <a:ea typeface="Cambria Math" panose="02040503050406030204" pitchFamily="18" charset="0"/>
                                            </a:rPr>
                                            <m:t>𝝅</m:t>
                                          </m:r>
                                        </m:e>
                                        <m:sub>
                                          <m:r>
                                            <a:rPr lang="en-AU" sz="2400" b="1" i="1" smtClean="0">
                                              <a:latin typeface="Cambria Math" panose="02040503050406030204" pitchFamily="18" charset="0"/>
                                            </a:rPr>
                                            <m:t>𝟏</m:t>
                                          </m:r>
                                        </m:sub>
                                      </m:sSub>
                                    </m:e>
                                  </m:acc>
                                </m:num>
                                <m:den>
                                  <m:acc>
                                    <m:accPr>
                                      <m:chr m:val="̂"/>
                                      <m:ctrlPr>
                                        <a:rPr lang="el-GR" sz="2400" b="1" i="1" smtClean="0">
                                          <a:latin typeface="Cambria Math" panose="02040503050406030204" pitchFamily="18" charset="0"/>
                                        </a:rPr>
                                      </m:ctrlPr>
                                    </m:accPr>
                                    <m:e>
                                      <m:sSub>
                                        <m:sSubPr>
                                          <m:ctrlPr>
                                            <a:rPr lang="el-GR" sz="2400" b="1" i="1" smtClean="0">
                                              <a:latin typeface="Cambria Math" panose="02040503050406030204" pitchFamily="18" charset="0"/>
                                            </a:rPr>
                                          </m:ctrlPr>
                                        </m:sSubPr>
                                        <m:e>
                                          <m:r>
                                            <a:rPr lang="el-GR" sz="2400" b="1" i="1" smtClean="0">
                                              <a:latin typeface="Cambria Math" panose="02040503050406030204" pitchFamily="18" charset="0"/>
                                              <a:ea typeface="Cambria Math" panose="02040503050406030204" pitchFamily="18" charset="0"/>
                                            </a:rPr>
                                            <m:t>𝜽</m:t>
                                          </m:r>
                                        </m:e>
                                        <m:sub>
                                          <m:r>
                                            <a:rPr lang="en-AU" sz="2400" b="1" i="1" smtClean="0">
                                              <a:latin typeface="Cambria Math" panose="02040503050406030204" pitchFamily="18" charset="0"/>
                                            </a:rPr>
                                            <m:t>𝟏</m:t>
                                          </m:r>
                                        </m:sub>
                                      </m:sSub>
                                    </m:e>
                                  </m:acc>
                                </m:den>
                              </m:f>
                              <m:r>
                                <a:rPr lang="en-AU" sz="2400" b="1" i="1" smtClean="0">
                                  <a:latin typeface="Cambria Math" panose="02040503050406030204" pitchFamily="18" charset="0"/>
                                </a:rPr>
                                <m:t>=</m:t>
                              </m:r>
                              <m:f>
                                <m:fPr>
                                  <m:ctrlPr>
                                    <a:rPr lang="en-AU" sz="2400" b="1" i="1" smtClean="0">
                                      <a:latin typeface="Cambria Math" panose="02040503050406030204" pitchFamily="18" charset="0"/>
                                    </a:rPr>
                                  </m:ctrlPr>
                                </m:fPr>
                                <m:num>
                                  <m:sSub>
                                    <m:sSubPr>
                                      <m:ctrlPr>
                                        <a:rPr lang="el-GR" sz="2400" i="1">
                                          <a:latin typeface="Cambria Math" panose="02040503050406030204" pitchFamily="18" charset="0"/>
                                        </a:rPr>
                                      </m:ctrlPr>
                                    </m:sSubPr>
                                    <m:e>
                                      <m:acc>
                                        <m:accPr>
                                          <m:chr m:val="̂"/>
                                          <m:ctrlPr>
                                            <a:rPr lang="en-AU" sz="2400" i="1">
                                              <a:latin typeface="Cambria Math" panose="02040503050406030204" pitchFamily="18" charset="0"/>
                                            </a:rPr>
                                          </m:ctrlPr>
                                        </m:accPr>
                                        <m:e>
                                          <m:r>
                                            <a:rPr lang="en-AU" sz="2400" i="1">
                                              <a:latin typeface="Cambria Math" panose="02040503050406030204" pitchFamily="18" charset="0"/>
                                            </a:rPr>
                                            <m:t>𝐸</m:t>
                                          </m:r>
                                        </m:e>
                                      </m:acc>
                                      <m:d>
                                        <m:dPr>
                                          <m:ctrlPr>
                                            <a:rPr lang="el-GR" sz="2400" i="1">
                                              <a:latin typeface="Cambria Math" panose="02040503050406030204" pitchFamily="18" charset="0"/>
                                            </a:rPr>
                                          </m:ctrlPr>
                                        </m:dPr>
                                        <m:e>
                                          <m:r>
                                            <a:rPr lang="en-AU" sz="2400" i="1">
                                              <a:latin typeface="Cambria Math" panose="02040503050406030204" pitchFamily="18" charset="0"/>
                                            </a:rPr>
                                            <m:t>𝑦</m:t>
                                          </m:r>
                                          <m:r>
                                            <a:rPr lang="en-AU" sz="2400" i="1">
                                              <a:latin typeface="Cambria Math" panose="02040503050406030204" pitchFamily="18" charset="0"/>
                                            </a:rPr>
                                            <m:t>|</m:t>
                                          </m:r>
                                          <m:r>
                                            <a:rPr lang="en-AU" sz="2400" i="1">
                                              <a:latin typeface="Cambria Math" panose="02040503050406030204" pitchFamily="18" charset="0"/>
                                            </a:rPr>
                                            <m:t>𝑧</m:t>
                                          </m:r>
                                          <m:r>
                                            <a:rPr lang="en-AU" sz="2400" i="1">
                                              <a:latin typeface="Cambria Math" panose="02040503050406030204" pitchFamily="18" charset="0"/>
                                            </a:rPr>
                                            <m:t>=1</m:t>
                                          </m:r>
                                        </m:e>
                                      </m:d>
                                      <m:r>
                                        <a:rPr lang="en-AU" sz="2400" i="1">
                                          <a:latin typeface="Cambria Math" panose="02040503050406030204" pitchFamily="18" charset="0"/>
                                        </a:rPr>
                                        <m:t>−</m:t>
                                      </m:r>
                                      <m:acc>
                                        <m:accPr>
                                          <m:chr m:val="̂"/>
                                          <m:ctrlPr>
                                            <a:rPr lang="en-AU" sz="2400" i="1">
                                              <a:latin typeface="Cambria Math" panose="02040503050406030204" pitchFamily="18" charset="0"/>
                                            </a:rPr>
                                          </m:ctrlPr>
                                        </m:accPr>
                                        <m:e>
                                          <m:r>
                                            <a:rPr lang="en-AU" sz="2400" i="1">
                                              <a:latin typeface="Cambria Math" panose="02040503050406030204" pitchFamily="18" charset="0"/>
                                            </a:rPr>
                                            <m:t>𝐸</m:t>
                                          </m:r>
                                        </m:e>
                                      </m:acc>
                                      <m:d>
                                        <m:dPr>
                                          <m:ctrlPr>
                                            <a:rPr lang="el-GR" sz="2400" i="1">
                                              <a:latin typeface="Cambria Math" panose="02040503050406030204" pitchFamily="18" charset="0"/>
                                            </a:rPr>
                                          </m:ctrlPr>
                                        </m:dPr>
                                        <m:e>
                                          <m:r>
                                            <a:rPr lang="en-AU" sz="2400" i="1">
                                              <a:latin typeface="Cambria Math" panose="02040503050406030204" pitchFamily="18" charset="0"/>
                                            </a:rPr>
                                            <m:t>𝑦</m:t>
                                          </m:r>
                                          <m:r>
                                            <a:rPr lang="en-AU" sz="2400" i="1">
                                              <a:latin typeface="Cambria Math" panose="02040503050406030204" pitchFamily="18" charset="0"/>
                                            </a:rPr>
                                            <m:t>|</m:t>
                                          </m:r>
                                          <m:r>
                                            <a:rPr lang="en-AU" sz="2400" i="1">
                                              <a:latin typeface="Cambria Math" panose="02040503050406030204" pitchFamily="18" charset="0"/>
                                            </a:rPr>
                                            <m:t>𝑧</m:t>
                                          </m:r>
                                          <m:r>
                                            <a:rPr lang="en-AU" sz="2400" i="1">
                                              <a:latin typeface="Cambria Math" panose="02040503050406030204" pitchFamily="18" charset="0"/>
                                            </a:rPr>
                                            <m:t>=0</m:t>
                                          </m:r>
                                        </m:e>
                                      </m:d>
                                    </m:e>
                                    <m:sub/>
                                  </m:sSub>
                                </m:num>
                                <m:den>
                                  <m:sSub>
                                    <m:sSubPr>
                                      <m:ctrlPr>
                                        <a:rPr lang="el-GR" sz="2400" i="1">
                                          <a:latin typeface="Cambria Math" panose="02040503050406030204" pitchFamily="18" charset="0"/>
                                        </a:rPr>
                                      </m:ctrlPr>
                                    </m:sSubPr>
                                    <m:e>
                                      <m:acc>
                                        <m:accPr>
                                          <m:chr m:val="̂"/>
                                          <m:ctrlPr>
                                            <a:rPr lang="en-AU" sz="2400" i="1">
                                              <a:latin typeface="Cambria Math" panose="02040503050406030204" pitchFamily="18" charset="0"/>
                                            </a:rPr>
                                          </m:ctrlPr>
                                        </m:accPr>
                                        <m:e>
                                          <m:r>
                                            <a:rPr lang="en-AU" sz="2400" i="1">
                                              <a:latin typeface="Cambria Math" panose="02040503050406030204" pitchFamily="18" charset="0"/>
                                            </a:rPr>
                                            <m:t>𝐸</m:t>
                                          </m:r>
                                        </m:e>
                                      </m:acc>
                                      <m:d>
                                        <m:dPr>
                                          <m:ctrlPr>
                                            <a:rPr lang="el-GR" sz="2400" i="1">
                                              <a:latin typeface="Cambria Math" panose="02040503050406030204" pitchFamily="18" charset="0"/>
                                            </a:rPr>
                                          </m:ctrlPr>
                                        </m:dPr>
                                        <m:e>
                                          <m:r>
                                            <a:rPr lang="en-AU" sz="2400" b="0" i="1" smtClean="0">
                                              <a:latin typeface="Cambria Math" panose="02040503050406030204" pitchFamily="18" charset="0"/>
                                            </a:rPr>
                                            <m:t>𝑑</m:t>
                                          </m:r>
                                          <m:r>
                                            <a:rPr lang="en-AU" sz="2400" i="1">
                                              <a:latin typeface="Cambria Math" panose="02040503050406030204" pitchFamily="18" charset="0"/>
                                            </a:rPr>
                                            <m:t>𝑦</m:t>
                                          </m:r>
                                          <m:r>
                                            <a:rPr lang="en-AU" sz="2400" i="1">
                                              <a:latin typeface="Cambria Math" panose="02040503050406030204" pitchFamily="18" charset="0"/>
                                            </a:rPr>
                                            <m:t>|</m:t>
                                          </m:r>
                                          <m:r>
                                            <a:rPr lang="en-AU" sz="2400" i="1">
                                              <a:latin typeface="Cambria Math" panose="02040503050406030204" pitchFamily="18" charset="0"/>
                                            </a:rPr>
                                            <m:t>𝑧</m:t>
                                          </m:r>
                                          <m:r>
                                            <a:rPr lang="en-AU" sz="2400" i="1">
                                              <a:latin typeface="Cambria Math" panose="02040503050406030204" pitchFamily="18" charset="0"/>
                                            </a:rPr>
                                            <m:t>=1</m:t>
                                          </m:r>
                                        </m:e>
                                      </m:d>
                                      <m:r>
                                        <a:rPr lang="en-AU" sz="2400" i="1">
                                          <a:latin typeface="Cambria Math" panose="02040503050406030204" pitchFamily="18" charset="0"/>
                                        </a:rPr>
                                        <m:t>−</m:t>
                                      </m:r>
                                      <m:acc>
                                        <m:accPr>
                                          <m:chr m:val="̂"/>
                                          <m:ctrlPr>
                                            <a:rPr lang="en-AU" sz="2400" i="1">
                                              <a:latin typeface="Cambria Math" panose="02040503050406030204" pitchFamily="18" charset="0"/>
                                            </a:rPr>
                                          </m:ctrlPr>
                                        </m:accPr>
                                        <m:e>
                                          <m:r>
                                            <a:rPr lang="en-AU" sz="2400" i="1">
                                              <a:latin typeface="Cambria Math" panose="02040503050406030204" pitchFamily="18" charset="0"/>
                                            </a:rPr>
                                            <m:t>𝐸</m:t>
                                          </m:r>
                                        </m:e>
                                      </m:acc>
                                      <m:d>
                                        <m:dPr>
                                          <m:ctrlPr>
                                            <a:rPr lang="el-GR" sz="2400" i="1">
                                              <a:latin typeface="Cambria Math" panose="02040503050406030204" pitchFamily="18" charset="0"/>
                                            </a:rPr>
                                          </m:ctrlPr>
                                        </m:dPr>
                                        <m:e>
                                          <m:r>
                                            <a:rPr lang="en-AU" sz="2400" b="0" i="1" smtClean="0">
                                              <a:latin typeface="Cambria Math" panose="02040503050406030204" pitchFamily="18" charset="0"/>
                                            </a:rPr>
                                            <m:t>𝑑</m:t>
                                          </m:r>
                                          <m:r>
                                            <a:rPr lang="en-AU" sz="2400" i="1">
                                              <a:latin typeface="Cambria Math" panose="02040503050406030204" pitchFamily="18" charset="0"/>
                                            </a:rPr>
                                            <m:t>|</m:t>
                                          </m:r>
                                          <m:r>
                                            <a:rPr lang="en-AU" sz="2400" i="1">
                                              <a:latin typeface="Cambria Math" panose="02040503050406030204" pitchFamily="18" charset="0"/>
                                            </a:rPr>
                                            <m:t>𝑧</m:t>
                                          </m:r>
                                          <m:r>
                                            <a:rPr lang="en-AU" sz="2400" i="1">
                                              <a:latin typeface="Cambria Math" panose="02040503050406030204" pitchFamily="18" charset="0"/>
                                            </a:rPr>
                                            <m:t>=0</m:t>
                                          </m:r>
                                        </m:e>
                                      </m:d>
                                    </m:e>
                                    <m:sub/>
                                  </m:sSub>
                                </m:den>
                              </m:f>
                            </m:e>
                            <m:sub/>
                          </m:sSub>
                          <m:r>
                            <a:rPr lang="en-AU" sz="2400" b="1" i="1" smtClean="0">
                              <a:latin typeface="Cambria Math" panose="02040503050406030204" pitchFamily="18" charset="0"/>
                            </a:rPr>
                            <m:t>= </m:t>
                          </m:r>
                          <m:f>
                            <m:fPr>
                              <m:ctrlPr>
                                <a:rPr lang="en-AU" sz="2400" b="1" i="1" smtClean="0">
                                  <a:latin typeface="Cambria Math" panose="02040503050406030204" pitchFamily="18" charset="0"/>
                                </a:rPr>
                              </m:ctrlPr>
                            </m:fPr>
                            <m:num>
                              <m:sSub>
                                <m:sSubPr>
                                  <m:ctrlPr>
                                    <a:rPr lang="en-AU" sz="2400" b="1" i="1" smtClean="0">
                                      <a:latin typeface="Cambria Math" panose="02040503050406030204" pitchFamily="18" charset="0"/>
                                    </a:rPr>
                                  </m:ctrlPr>
                                </m:sSubPr>
                                <m:e>
                                  <m:acc>
                                    <m:accPr>
                                      <m:chr m:val="̅"/>
                                      <m:ctrlPr>
                                        <a:rPr lang="en-AU" sz="2400" b="1" i="1" smtClean="0">
                                          <a:latin typeface="Cambria Math" panose="02040503050406030204" pitchFamily="18" charset="0"/>
                                        </a:rPr>
                                      </m:ctrlPr>
                                    </m:accPr>
                                    <m:e>
                                      <m:r>
                                        <a:rPr lang="en-AU" sz="2400" b="1" i="1" smtClean="0">
                                          <a:latin typeface="Cambria Math" panose="02040503050406030204" pitchFamily="18" charset="0"/>
                                        </a:rPr>
                                        <m:t>𝒚</m:t>
                                      </m:r>
                                    </m:e>
                                  </m:acc>
                                </m:e>
                                <m:sub>
                                  <m:r>
                                    <a:rPr lang="en-AU" sz="2400" b="1" i="1">
                                      <a:latin typeface="Cambria Math" panose="02040503050406030204" pitchFamily="18" charset="0"/>
                                    </a:rPr>
                                    <m:t>𝒛</m:t>
                                  </m:r>
                                  <m:r>
                                    <a:rPr lang="en-AU" sz="2400" b="1" i="1">
                                      <a:latin typeface="Cambria Math" panose="02040503050406030204" pitchFamily="18" charset="0"/>
                                    </a:rPr>
                                    <m:t>=</m:t>
                                  </m:r>
                                  <m:r>
                                    <a:rPr lang="en-AU" sz="2400" b="1" i="1">
                                      <a:latin typeface="Cambria Math" panose="02040503050406030204" pitchFamily="18" charset="0"/>
                                    </a:rPr>
                                    <m:t>𝟏</m:t>
                                  </m:r>
                                  <m:r>
                                    <a:rPr lang="en-AU" sz="2400" b="1" i="1" smtClean="0">
                                      <a:latin typeface="Cambria Math" panose="02040503050406030204" pitchFamily="18" charset="0"/>
                                    </a:rPr>
                                    <m:t> −</m:t>
                                  </m:r>
                                </m:sub>
                              </m:sSub>
                              <m:sSub>
                                <m:sSubPr>
                                  <m:ctrlPr>
                                    <a:rPr lang="en-AU" sz="2400" b="1" i="1">
                                      <a:latin typeface="Cambria Math" panose="02040503050406030204" pitchFamily="18" charset="0"/>
                                    </a:rPr>
                                  </m:ctrlPr>
                                </m:sSubPr>
                                <m:e>
                                  <m:acc>
                                    <m:accPr>
                                      <m:chr m:val="̅"/>
                                      <m:ctrlPr>
                                        <a:rPr lang="en-AU" sz="2400" b="1" i="1">
                                          <a:latin typeface="Cambria Math" panose="02040503050406030204" pitchFamily="18" charset="0"/>
                                        </a:rPr>
                                      </m:ctrlPr>
                                    </m:accPr>
                                    <m:e>
                                      <m:r>
                                        <a:rPr lang="en-AU" sz="2400" b="1" i="1" smtClean="0">
                                          <a:latin typeface="Cambria Math" panose="02040503050406030204" pitchFamily="18" charset="0"/>
                                        </a:rPr>
                                        <m:t>𝒅</m:t>
                                      </m:r>
                                    </m:e>
                                  </m:acc>
                                </m:e>
                                <m:sub>
                                  <m:r>
                                    <a:rPr lang="en-AU" sz="2400" b="1" i="1">
                                      <a:latin typeface="Cambria Math" panose="02040503050406030204" pitchFamily="18" charset="0"/>
                                    </a:rPr>
                                    <m:t>𝒛</m:t>
                                  </m:r>
                                  <m:r>
                                    <a:rPr lang="en-AU" sz="2400" b="1" i="1">
                                      <a:latin typeface="Cambria Math" panose="02040503050406030204" pitchFamily="18" charset="0"/>
                                    </a:rPr>
                                    <m:t>=</m:t>
                                  </m:r>
                                  <m:r>
                                    <a:rPr lang="en-AU" sz="2400" b="1" i="1">
                                      <a:latin typeface="Cambria Math" panose="02040503050406030204" pitchFamily="18" charset="0"/>
                                    </a:rPr>
                                    <m:t>𝟎</m:t>
                                  </m:r>
                                  <m:r>
                                    <a:rPr lang="en-AU" sz="2400" b="1" i="1">
                                      <a:latin typeface="Cambria Math" panose="02040503050406030204" pitchFamily="18" charset="0"/>
                                    </a:rPr>
                                    <m:t> </m:t>
                                  </m:r>
                                </m:sub>
                              </m:sSub>
                            </m:num>
                            <m:den>
                              <m:sSub>
                                <m:sSubPr>
                                  <m:ctrlPr>
                                    <a:rPr lang="en-AU" sz="2400" b="1" i="1">
                                      <a:latin typeface="Cambria Math" panose="02040503050406030204" pitchFamily="18" charset="0"/>
                                    </a:rPr>
                                  </m:ctrlPr>
                                </m:sSubPr>
                                <m:e>
                                  <m:acc>
                                    <m:accPr>
                                      <m:chr m:val="̅"/>
                                      <m:ctrlPr>
                                        <a:rPr lang="en-AU" sz="2400" b="1" i="1">
                                          <a:latin typeface="Cambria Math" panose="02040503050406030204" pitchFamily="18" charset="0"/>
                                        </a:rPr>
                                      </m:ctrlPr>
                                    </m:accPr>
                                    <m:e>
                                      <m:r>
                                        <a:rPr lang="en-AU" sz="2400" b="1" i="1" smtClean="0">
                                          <a:latin typeface="Cambria Math" panose="02040503050406030204" pitchFamily="18" charset="0"/>
                                        </a:rPr>
                                        <m:t>𝒅</m:t>
                                      </m:r>
                                    </m:e>
                                  </m:acc>
                                </m:e>
                                <m:sub>
                                  <m:r>
                                    <a:rPr lang="en-AU" sz="2400" b="1" i="1">
                                      <a:latin typeface="Cambria Math" panose="02040503050406030204" pitchFamily="18" charset="0"/>
                                    </a:rPr>
                                    <m:t>𝒛</m:t>
                                  </m:r>
                                  <m:r>
                                    <a:rPr lang="en-AU" sz="2400" b="1" i="1">
                                      <a:latin typeface="Cambria Math" panose="02040503050406030204" pitchFamily="18" charset="0"/>
                                    </a:rPr>
                                    <m:t>=</m:t>
                                  </m:r>
                                  <m:r>
                                    <a:rPr lang="en-AU" sz="2400" b="1" i="1">
                                      <a:latin typeface="Cambria Math" panose="02040503050406030204" pitchFamily="18" charset="0"/>
                                    </a:rPr>
                                    <m:t>𝟏</m:t>
                                  </m:r>
                                </m:sub>
                              </m:sSub>
                              <m:r>
                                <a:rPr lang="en-AU" sz="2400" b="1" i="1" smtClean="0">
                                  <a:latin typeface="Cambria Math" panose="02040503050406030204" pitchFamily="18" charset="0"/>
                                </a:rPr>
                                <m:t> −</m:t>
                              </m:r>
                              <m:sSub>
                                <m:sSubPr>
                                  <m:ctrlPr>
                                    <a:rPr lang="en-AU" sz="2400" b="1" i="1">
                                      <a:latin typeface="Cambria Math" panose="02040503050406030204" pitchFamily="18" charset="0"/>
                                    </a:rPr>
                                  </m:ctrlPr>
                                </m:sSubPr>
                                <m:e>
                                  <m:acc>
                                    <m:accPr>
                                      <m:chr m:val="̅"/>
                                      <m:ctrlPr>
                                        <a:rPr lang="en-AU" sz="2400" b="1" i="1">
                                          <a:latin typeface="Cambria Math" panose="02040503050406030204" pitchFamily="18" charset="0"/>
                                        </a:rPr>
                                      </m:ctrlPr>
                                    </m:accPr>
                                    <m:e>
                                      <m:r>
                                        <a:rPr lang="en-AU" sz="2400" b="1" i="1" smtClean="0">
                                          <a:latin typeface="Cambria Math" panose="02040503050406030204" pitchFamily="18" charset="0"/>
                                        </a:rPr>
                                        <m:t>𝒅</m:t>
                                      </m:r>
                                    </m:e>
                                  </m:acc>
                                </m:e>
                                <m:sub>
                                  <m:r>
                                    <a:rPr lang="en-AU" sz="2400" b="1" i="1" smtClean="0">
                                      <a:latin typeface="Cambria Math" panose="02040503050406030204" pitchFamily="18" charset="0"/>
                                    </a:rPr>
                                    <m:t>𝒛</m:t>
                                  </m:r>
                                  <m:r>
                                    <a:rPr lang="en-AU" sz="2400" b="1" i="1">
                                      <a:latin typeface="Cambria Math" panose="02040503050406030204" pitchFamily="18" charset="0"/>
                                    </a:rPr>
                                    <m:t>=</m:t>
                                  </m:r>
                                  <m:r>
                                    <a:rPr lang="en-AU" sz="2400" b="1" i="1" smtClean="0">
                                      <a:latin typeface="Cambria Math" panose="02040503050406030204" pitchFamily="18" charset="0"/>
                                    </a:rPr>
                                    <m:t>𝟎</m:t>
                                  </m:r>
                                  <m:r>
                                    <a:rPr lang="en-AU" sz="2400" b="1" i="1">
                                      <a:latin typeface="Cambria Math" panose="02040503050406030204" pitchFamily="18" charset="0"/>
                                    </a:rPr>
                                    <m:t> </m:t>
                                  </m:r>
                                </m:sub>
                              </m:sSub>
                            </m:den>
                          </m:f>
                        </m:e>
                        <m:sub/>
                      </m:sSub>
                    </m:oMath>
                  </m:oMathPara>
                </a14:m>
                <a:endParaRPr lang="en-AU" sz="2400" b="1" dirty="0"/>
              </a:p>
            </p:txBody>
          </p:sp>
        </mc:Choice>
        <mc:Fallback xmlns="">
          <p:sp>
            <p:nvSpPr>
              <p:cNvPr id="6" name="TextBox 5">
                <a:extLst>
                  <a:ext uri="{FF2B5EF4-FFF2-40B4-BE49-F238E27FC236}">
                    <a16:creationId xmlns:a16="http://schemas.microsoft.com/office/drawing/2014/main" id="{1F336B2D-CF64-4FB2-6A79-9009B9F60DF1}"/>
                  </a:ext>
                </a:extLst>
              </p:cNvPr>
              <p:cNvSpPr txBox="1">
                <a:spLocks noRot="1" noChangeAspect="1" noMove="1" noResize="1" noEditPoints="1" noAdjustHandles="1" noChangeArrowheads="1" noChangeShapeType="1" noTextEdit="1"/>
              </p:cNvSpPr>
              <p:nvPr/>
            </p:nvSpPr>
            <p:spPr>
              <a:xfrm>
                <a:off x="683568" y="3737639"/>
                <a:ext cx="8004306" cy="957826"/>
              </a:xfrm>
              <a:prstGeom prst="rect">
                <a:avLst/>
              </a:prstGeom>
              <a:blipFill>
                <a:blip r:embed="rId5"/>
                <a:stretch>
                  <a:fillRect/>
                </a:stretch>
              </a:blipFill>
            </p:spPr>
            <p:txBody>
              <a:bodyPr/>
              <a:lstStyle/>
              <a:p>
                <a:r>
                  <a:rPr lang="en-AU">
                    <a:noFill/>
                  </a:rPr>
                  <a:t> </a:t>
                </a:r>
              </a:p>
            </p:txBody>
          </p:sp>
        </mc:Fallback>
      </mc:AlternateContent>
    </p:spTree>
    <p:extLst>
      <p:ext uri="{BB962C8B-B14F-4D97-AF65-F5344CB8AC3E}">
        <p14:creationId xmlns:p14="http://schemas.microsoft.com/office/powerpoint/2010/main" val="4053833762"/>
      </p:ext>
    </p:extLst>
  </p:cSld>
  <p:clrMapOvr>
    <a:masterClrMapping/>
  </p:clrMapOvr>
</p:sld>
</file>

<file path=ppt/theme/theme1.xml><?xml version="1.0" encoding="utf-8"?>
<a:theme xmlns:a="http://schemas.openxmlformats.org/drawingml/2006/main" name="Default Desig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5527</TotalTime>
  <Words>4659</Words>
  <Application>Microsoft Office PowerPoint</Application>
  <PresentationFormat>On-screen Show (4:3)</PresentationFormat>
  <Paragraphs>367</Paragraphs>
  <Slides>24</Slides>
  <Notes>12</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24</vt:i4>
      </vt:variant>
    </vt:vector>
  </HeadingPairs>
  <TitlesOfParts>
    <vt:vector size="39" baseType="lpstr">
      <vt:lpstr>Arial</vt:lpstr>
      <vt:lpstr>Arial Black</vt:lpstr>
      <vt:lpstr>Cambria Math</vt:lpstr>
      <vt:lpstr>cmmi10</vt:lpstr>
      <vt:lpstr>Comic Sans MS</vt:lpstr>
      <vt:lpstr>Ginto</vt:lpstr>
      <vt:lpstr>Helvetica Neue</vt:lpstr>
      <vt:lpstr>Open Sans</vt:lpstr>
      <vt:lpstr>PazoMath-Italic</vt:lpstr>
      <vt:lpstr>Roboto</vt:lpstr>
      <vt:lpstr>TTdcss10</vt:lpstr>
      <vt:lpstr>TTdcssbx10</vt:lpstr>
      <vt:lpstr>TTdcssi10</vt:lpstr>
      <vt:lpstr>URWPalladioL-Roma</vt:lpstr>
      <vt:lpstr>Default Design</vt:lpstr>
      <vt:lpstr>Using Data Analysis to Address  Important Social Questions</vt:lpstr>
      <vt:lpstr>PowerPoint Presentation</vt:lpstr>
      <vt:lpstr>PowerPoint Presentation</vt:lpstr>
      <vt:lpstr>PowerPoint Presentation</vt:lpstr>
      <vt:lpstr>Reverse Causality</vt:lpstr>
      <vt:lpstr>Measurement Error</vt:lpstr>
      <vt:lpstr>Measurement Error</vt:lpstr>
      <vt:lpstr>IV Example 1</vt:lpstr>
      <vt:lpstr>IV Example 1</vt:lpstr>
      <vt:lpstr>Instrument (IV) Requirements</vt:lpstr>
      <vt:lpstr>Instrument (IV) Requirements</vt:lpstr>
      <vt:lpstr>IV Example </vt:lpstr>
      <vt:lpstr>IV Example </vt:lpstr>
      <vt:lpstr>IV Example </vt:lpstr>
      <vt:lpstr>IV Example </vt:lpstr>
      <vt:lpstr>IV Tests using IVREG2 in Stata</vt:lpstr>
      <vt:lpstr>Self-Completion tasks</vt:lpstr>
      <vt:lpstr>Other IV Methods</vt:lpstr>
      <vt:lpstr>Alternative: Difference in Difference Models</vt:lpstr>
      <vt:lpstr>References:</vt:lpstr>
      <vt:lpstr>References:</vt:lpstr>
      <vt:lpstr>PowerPoint Presentation</vt:lpstr>
      <vt:lpstr>Wald Estimator</vt:lpstr>
      <vt:lpstr>Wald Estimator</vt:lpstr>
    </vt:vector>
  </TitlesOfParts>
  <Company>Queensland University of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BSB123</dc:title>
  <dc:subject>Data Analysis - Lecture 02</dc:subject>
  <dc:creator>QUT - Faculty of Business</dc:creator>
  <cp:lastModifiedBy>Tony Beatton</cp:lastModifiedBy>
  <cp:revision>304</cp:revision>
  <cp:lastPrinted>2024-08-02T05:38:03Z</cp:lastPrinted>
  <dcterms:created xsi:type="dcterms:W3CDTF">2007-01-04T00:57:51Z</dcterms:created>
  <dcterms:modified xsi:type="dcterms:W3CDTF">2026-01-14T05:12:23Z</dcterms:modified>
</cp:coreProperties>
</file>